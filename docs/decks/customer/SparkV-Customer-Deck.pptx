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Year 1</c:v>
                </c:pt>
              </c:strCache>
            </c:strRef>
          </c:tx>
          <c:spPr>
            <a:solidFill>
              <a:srgbClr val="AEAEB2"/>
            </a:solidFill>
            <a:ln>
              <a:noFill/>
            </a:ln>
          </c:spPr>
          <c:invertIfNegative val="0"/>
          <c:dPt>
            <c:idx val="6"/>
            <c:spPr>
              <a:solidFill>
                <a:srgbClr val="1D1D1F"/>
              </a:solidFill>
            </c:spPr>
          </c:dPt>
          <c:dPt>
            <c:idx val="7"/>
            <c:spPr>
              <a:solidFill>
                <a:srgbClr val="F01822"/>
              </a:solidFill>
            </c:spPr>
          </c:dPt>
          <c:cat>
            <c:strRef>
              <c:f>Sheet1!$A$2:$A$9</c:f>
              <c:strCache>
                <c:ptCount val="8"/>
                <c:pt idx="0">
                  <c:v>NotchNook</c:v>
                </c:pt>
                <c:pt idx="1">
                  <c:v>Raycast Pro (yearly)</c:v>
                </c:pt>
                <c:pt idx="2">
                  <c:v>Wispr Flow (yearly)</c:v>
                </c:pt>
                <c:pt idx="3">
                  <c:v>Granola Business</c:v>
                </c:pt>
                <c:pt idx="4">
                  <c:v>Paste (yearly)</c:v>
                </c:pt>
                <c:pt idx="5">
                  <c:v>CleanShot X</c:v>
                </c:pt>
                <c:pt idx="6">
                  <c:v>Separate apps total</c:v>
                </c:pt>
                <c:pt idx="7">
                  <c:v>SparkV Pro</c:v>
                </c:pt>
              </c:strCache>
            </c:strRef>
          </c:cat>
          <c:val>
            <c:numRef>
              <c:f>Sheet1!$B$2:$B$9</c:f>
              <c:numCache>
                <c:formatCode>$#,##0.00</c:formatCode>
                <c:ptCount val="8"/>
                <c:pt idx="0">
                  <c:v>25.0</c:v>
                </c:pt>
                <c:pt idx="1">
                  <c:v>96.0</c:v>
                </c:pt>
                <c:pt idx="2">
                  <c:v>144.0</c:v>
                </c:pt>
                <c:pt idx="3">
                  <c:v>168.0</c:v>
                </c:pt>
                <c:pt idx="4">
                  <c:v>29.99</c:v>
                </c:pt>
                <c:pt idx="5">
                  <c:v>29.0</c:v>
                </c:pt>
                <c:pt idx="6">
                  <c:v>491.99</c:v>
                </c:pt>
                <c:pt idx="7">
                  <c:v>39.0</c:v>
                </c:pt>
              </c:numCache>
            </c:numRef>
          </c:val>
        </c:ser>
        <c:ser>
          <c:idx val="1"/>
          <c:order val="1"/>
          <c:tx>
            <c:strRef>
              <c:f>Sheet1!$C$1</c:f>
              <c:strCache>
                <c:ptCount val="1"/>
                <c:pt idx="0">
                  <c:v>Year 2</c:v>
                </c:pt>
              </c:strCache>
            </c:strRef>
          </c:tx>
          <c:spPr>
            <a:solidFill>
              <a:srgbClr val="D2D2D7"/>
            </a:solidFill>
            <a:ln>
              <a:noFill/>
            </a:ln>
          </c:spPr>
          <c:invertIfNegative val="0"/>
          <c:dPt>
            <c:idx val="6"/>
            <c:spPr>
              <a:solidFill>
                <a:srgbClr val="86868B"/>
              </a:solidFill>
            </c:spPr>
          </c:dPt>
          <c:cat>
            <c:strRef>
              <c:f>Sheet1!$A$2:$A$9</c:f>
              <c:strCache>
                <c:ptCount val="8"/>
                <c:pt idx="0">
                  <c:v>NotchNook</c:v>
                </c:pt>
                <c:pt idx="1">
                  <c:v>Raycast Pro (yearly)</c:v>
                </c:pt>
                <c:pt idx="2">
                  <c:v>Wispr Flow (yearly)</c:v>
                </c:pt>
                <c:pt idx="3">
                  <c:v>Granola Business</c:v>
                </c:pt>
                <c:pt idx="4">
                  <c:v>Paste (yearly)</c:v>
                </c:pt>
                <c:pt idx="5">
                  <c:v>CleanShot X</c:v>
                </c:pt>
                <c:pt idx="6">
                  <c:v>Separate apps total</c:v>
                </c:pt>
                <c:pt idx="7">
                  <c:v>SparkV Pro</c:v>
                </c:pt>
              </c:strCache>
            </c:strRef>
          </c:cat>
          <c:val>
            <c:numRef>
              <c:f>Sheet1!$C$2:$C$9</c:f>
              <c:numCache>
                <c:formatCode>$#,##0.00</c:formatCode>
                <c:ptCount val="8"/>
                <c:pt idx="0">
                  <c:v>0.0</c:v>
                </c:pt>
                <c:pt idx="1">
                  <c:v>96.0</c:v>
                </c:pt>
                <c:pt idx="2">
                  <c:v>144.0</c:v>
                </c:pt>
                <c:pt idx="3">
                  <c:v>168.0</c:v>
                </c:pt>
                <c:pt idx="4">
                  <c:v>29.99</c:v>
                </c:pt>
                <c:pt idx="5">
                  <c:v>19.0</c:v>
                </c:pt>
                <c:pt idx="6">
                  <c:v>456.99</c:v>
                </c:pt>
                <c:pt idx="7">
                  <c:v>0.0</c:v>
                </c:pt>
              </c:numCache>
            </c:numRef>
          </c:val>
        </c:ser>
        <c:dLbls>
          <c:numFmt formatCode="$#,##0.0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overlap val="-12"/>
        <c:axId val="-2068027336"/>
        <c:axId val="-2113994440"/>
      </c:barChart>
      <c:catAx>
        <c:axId val="-2068027336"/>
        <c:scaling>
          <c:orientation val="maxMin"/>
        </c:scaling>
        <c:delete val="0"/>
        <c:axPos val="l"/>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600.0"/>
          <c:min val="0.0"/>
        </c:scaling>
        <c:delete/>
        <c:axPos val="b"/>
        <c:majorTickMark val="out"/>
        <c:minorTickMark val="none"/>
        <c:tickLblPos val="nextTo"/>
        <c:crossAx val="-2068027336"/>
        <c:crosses val="autoZero"/>
      </c:valAx>
      <c:spPr>
        <a:noFill/>
      </c:spPr>
    </c:plotArea>
    <c:legend>
      <c:legendPos val="b"/>
      <c:overlay val="0"/>
      <c:txPr>
        <a:bodyPr/>
        <a:lstStyle/>
        <a:p>
          <a:pPr>
            <a:defRPr sz="900">
              <a:solidFill>
                <a:srgbClr val="6E6E73"/>
              </a:solidFill>
            </a:defRPr>
          </a:pPr>
        </a:p>
      </c:txPr>
    </c:legend>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Mac shipments (M units)</c:v>
                </c:pt>
              </c:strCache>
            </c:strRef>
          </c:tx>
          <c:spPr>
            <a:solidFill>
              <a:srgbClr val="AEAEB2"/>
            </a:solidFill>
            <a:ln>
              <a:noFill/>
            </a:ln>
          </c:spPr>
          <c:invertIfNegative val="0"/>
          <c:dPt>
            <c:idx val="3"/>
            <c:spPr>
              <a:solidFill>
                <a:srgbClr val="1D1D1F"/>
              </a:solidFill>
            </c:spPr>
          </c:dPt>
          <c:cat>
            <c:strRef>
              <c:f>Sheet1!$A$2:$A$5</c:f>
              <c:strCache>
                <c:ptCount val="4"/>
                <c:pt idx="0">
                  <c:v>Q1 2025</c:v>
                </c:pt>
                <c:pt idx="1">
                  <c:v>Q2 2025</c:v>
                </c:pt>
                <c:pt idx="2">
                  <c:v>Q3 2025</c:v>
                </c:pt>
                <c:pt idx="3">
                  <c:v>Q4 2025</c:v>
                </c:pt>
              </c:strCache>
            </c:strRef>
          </c:cat>
          <c:val>
            <c:numRef>
              <c:f>Sheet1!$B$2:$B$5</c:f>
              <c:numCache>
                <c:formatCode>0.0"M"</c:formatCode>
                <c:ptCount val="4"/>
                <c:pt idx="0">
                  <c:v>5.5</c:v>
                </c:pt>
                <c:pt idx="1">
                  <c:v>6.2</c:v>
                </c:pt>
                <c:pt idx="3">
                  <c:v>7.1</c:v>
                </c:pt>
              </c:numCache>
            </c:numRef>
          </c:val>
        </c:ser>
        <c:dLbls>
          <c:numFmt formatCode="0.0&quot;M&quot;"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8.0"/>
          <c:min val="0.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USD</c:v>
                </c:pt>
              </c:strCache>
            </c:strRef>
          </c:tx>
          <c:spPr>
            <a:solidFill>
              <a:srgbClr val="AEAEB2"/>
            </a:solidFill>
            <a:ln>
              <a:noFill/>
            </a:ln>
          </c:spPr>
          <c:invertIfNegative val="0"/>
          <c:dPt>
            <c:idx val="0"/>
            <c:spPr>
              <a:solidFill>
                <a:srgbClr val="1D1D1F"/>
              </a:solidFill>
            </c:spPr>
          </c:dPt>
          <c:dPt>
            <c:idx val="3"/>
            <c:spPr>
              <a:solidFill>
                <a:srgbClr val="F01822"/>
              </a:solidFill>
            </c:spPr>
          </c:dPt>
          <c:cat>
            <c:strRef>
              <c:f>Sheet1!$A$2:$A$5</c:f>
              <c:strCache>
                <c:ptCount val="4"/>
                <c:pt idx="0">
                  <c:v>Pro price</c:v>
                </c:pt>
                <c:pt idx="1">
                  <c:v>Merchant-of-record fee (5% + $0.50)</c:v>
                </c:pt>
                <c:pt idx="2">
                  <c:v>Cloud AI cost</c:v>
                </c:pt>
                <c:pt idx="3">
                  <c:v>Kept by SparkV</c:v>
                </c:pt>
              </c:strCache>
            </c:strRef>
          </c:cat>
          <c:val>
            <c:numRef>
              <c:f>Sheet1!$B$2:$B$5</c:f>
              <c:numCache>
                <c:formatCode>$#,##0.00</c:formatCode>
                <c:ptCount val="4"/>
                <c:pt idx="0">
                  <c:v>39.0</c:v>
                </c:pt>
                <c:pt idx="1">
                  <c:v>-2.45</c:v>
                </c:pt>
                <c:pt idx="2">
                  <c:v>0.0</c:v>
                </c:pt>
                <c:pt idx="3">
                  <c:v>36.55</c:v>
                </c:pt>
              </c:numCache>
            </c:numRef>
          </c:val>
        </c:ser>
        <c:dLbls>
          <c:numFmt formatCode="$#,##0.0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50.0"/>
          <c:min val="-3.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MacBook notch. Most of us look straight past it. SparkV turns it into a drawer: hover, and your music, your files, your day and more than 20 AI agents slide out. The AI runs on your Mac, and Pro is a one-time purchase. Everything you will see today is the real app, not a mock-up.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the small tools a busy Mac user pays for: a dictation app, an AI meeting recorder, a clipboard manager, a screenshot tool, a launcher with AI, a notch app. Bought one by one, that comes to about four hundred and ninety-two dollars in the first year; slide 13 shows the breakdown. Many of those charge monthly for AI. Meanwhile, the notch sits in the middle of your screen doing nothing. [Figure = sum of year-one prices on slide 13; third-party listings, re-check before publishing.]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the pointer onto the notch and the drawer opens; move away and it closes half a second later. The header switches pages: Home, Widgets, Tray, Today, Converter, Spaces. The grid icon opens the Agents hub, 22 tiles that launch every tool in SparkV. Most also have a hotkey, so you rarely need the mouse.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a normal day looks like. A meeting shows up under the notch ten minutes before it starts, with a Join button. One click records it; SparkV listens to your mic and the call audio, so no bot joins. At lunch you answer messages by voice. In the afternoon you convert a PDF without opening a website. You finish with focus rounds and a short recap. [Times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free plan, and it is already a full notch app. Media controls work with any player that reports Now Playing. The Tray holds files you are moving between apps, with AirDrop built in. Today shows your next meetings with a Join button and runs a Pomodoro timer. When the drawer is closed, volume, battery and notifications appear as small live activities around the camera. [Live check required: media, tray drag, AirDrop, calendar, live activities.]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cursor in any text field, hold fn, speak, let go. SparkV cleans up the text and types it in. Double-tap fn for hands-free. In Mail, Slack or Messages, Control-Option-R reads the thread and drafts a reply in your tone; you check it and press Send yourself. Prompt Refiner asks two to five quick questions and gives you a structured prompt for whichever AI tool you use. [Live check required: fn key, speech, Reply Drafter.]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Stuck in an app you don't know? Hold Control-Option and ask out loud. Clicky looks at the screen under your mouse, answers out loud and in the band under the notch, and flies a pointer to the right spot. It points; it doesn't click for you. Control-Option-S lets you select part of the screen and ask about it. Control-Option-T copies the text out of anything: a screenshot, a video frame, a locked PDF. [Without an optional Groq key, Clicky reads screen text on device. Live check required.]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the red button and SparkV records your microphone and the call's audio. Nothing joins the meeting. If someone asks you a question, a suggested answer appears under the notch. When you stop, you get minutes, decisions, your own tasks with due days, other people's tasks and the full transcript, filed into the right Space. Turn on Live Translation and other people's speech becomes captions in your language, translated on your Mac. [Live check required: audio capture,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Option-Space searches everything SparkV knows: Spaces, meetings, dictations, clipboard and Tray. Press Tab and it writes an answer from your own items with citations. Clipboard history is off until you turn it on, and it skips passwords; Command-Shift-V opens a paste stack right at your cursor. The Converter handles merge, split, compress, OCR and more without uploading anything. Downloads get sorted as they finish. [Search verified on sample data: 21 results for 'launch'. Downloads and drag need a live check.]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a rhythm and start Focus. SparkV turns on Do Not Disturb, runs the rounds, nudges you when you open a distracting app and writes a recap. A glowing border marks the start, breaks and the end. Modes switch your whole setup in one click, Study, Meeting, Presentation, and put everything back when you turn them off. Screen Distance is off by default; switch it on and it reminds you to move back from the screen. [Live check required: DND, glow, modes, camera.]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your site's address into UI Audit and SparkV walks it like a tester: forms, buttons, mobile and desktop layouts, accessibility and console errors. One button copies a fix prompt you can paste into your AI coding assistant. Flow Canvas is a whiteboard for AI workflows. Job Agent saves a posting with fn plus Control and scores your fit against your resume. Browser Flows is in beta. UI Audit and Browser Flows need Node.js and only run on sites you own or may test. [UI Audit verified end to end; Job Agent scoring verified (fit 81% on sample data); Browser Flows self-test not clean.]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default, everything stays on your Mac: speech, screenshots, clipboard, meeting audio. Groq is optional and only used with your own key, only when you turn it on. Every screen in this deck is the real app rendered from the current source. Before launch we ran the test suites: UI Audit found 69 planted issues on a test site, clipboard checks passed 195 of 195, widget checks passed all 29,283. Beta numbers and quotes go here once the private beta has run. [These are internal tests, not customer metrics; keep the subtitle visible.]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honest maths. These are the public prices of popular single-purpose apps that do jobs SparkV also does. Bought separately, the first year is about four hundred and ninety-two dollars, and most of it repeats every year. SparkV Pro is thirty-nine dollars once, twenty-nine during launch week. These apps have features we don't have, and we don't claim otherwise; the point is the jobs most people actually use them for. [Legal review required before naming competitors. Re-check every price on vendor sites on publish 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honest maths. These are the public prices of popular single-purpose apps that do jobs SparkV also does. Bought separately, the first year is about four hundred and ninety-two dollars, and most of it repeats every year. SparkV Pro is thirty-nine dollars once, twenty-nine during launch week. These apps have features we don't have, and we don't claim otherwise; the point is the jobs most people actually use them for. [Legal review required before naming competitors. Re-check every price on vendor sites on publish 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SparkV is built for Apple silicon Macs on macOS 15 or later, and it is best on a 14 or 16-inch MacBook Pro with a notch. On other displays the island sits in the menu bar. Apple last said there were over 100 million active Macs, back in 2018, and IDC estimates Apple shipped more than seven million Macs in the last quarter of 2025 alone. This is a large and growing group of people who already own the hardware. [Do not imply all of these Macs can run SparkV.]</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plans. Free is a complete notch app. Pro is thirty-nine dollars once, or fourteen ninety-nine rupees, and includes everything plus a year of updates; after that, updates are optional and the app keeps working. Launch week, Pro is twenty-nine dollars. Teams pay eight dollars per seat per month, billed yearly, with one invoice and priority support. Every Pro feature can be tried free for fourteen days without a card; when the trial ends you simply drop to Free and keep your data. [INR launch price is ₹999 per Business Plan §6a. Team shared Spaces means file packages, not live sync.]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Download SparkV from sparkv.si, start the fourteen-day trial, and see what your notch can do. Launch week, Pro is twenty-nine dollars for the first seven days or the first five hundred buyers. Students get half off. Thanks for watching. [Do not publish until Developer ID notarization and Lemon Squeezy licensing exist.]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 The business plan recommends launching with three plans, not packs. Use this if the launch audience asks for a cheaper single-purpose entry, for example Meetings 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'why isn't this a subscription?'. Because the AI runs on Apple's on-device frameworks, we pay nothing per user for AI, so a one-time price is sustainable.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detailed plan questions: the full plan table behind slide 15 (part 1 of 2). Three plans. Free is a complete notch app. Pro is thirty-nine dollars once, or fourteen ninety-nine rupees, and includes everything plus a year of updates; after that, updates are optional and the app keeps working. Launch week, Pro is twenty-nine dollars. Teams pay eight dollars per seat per month, billed yearly, with one invoice and priority support. Every Pro feature can be tried free for fourteen days without a card; when the trial ends you simply drop to Free and keep your data. [INR launch price is ₹999 per Business Plan §6a. Team shared Spaces means file packages, not live sync.]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detailed plan questions: the full plan table behind slide 15 (part 2 of 2). Three plans. Free is a complete notch app. Pro is thirty-nine dollars once, or fourteen ninety-nine rupees, and includes everything plus a year of updates; after that, updates are optional and the app keeps working. Launch week, Pro is twenty-nine dollars. Teams pay eight dollars per seat per month, billed yearly, with one invoice and priority support. Every Pro feature can be tried free for fourteen days without a card; when the trial ends you simply drop to Free and keep your data. [INR launch price is ₹999 per Business Plan §6a. Team shared Spaces means file packages, not live sync.]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chart" Target="../charts/char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eyebrow"/>
          <p:cNvSpPr txBox="1"/>
          <p:nvPr/>
        </p:nvSpPr>
        <p:spPr>
          <a:xfrm>
            <a:off x="914400" y="731520"/>
            <a:ext cx="10363200" cy="213817"/>
          </a:xfrm>
          <a:prstGeom prst="rect">
            <a:avLst/>
          </a:prstGeom>
          <a:noFill/>
        </p:spPr>
        <p:txBody>
          <a:bodyPr wrap="square" lIns="0" tIns="0" rIns="0" bIns="0" anchor="t">
            <a:noAutofit/>
          </a:bodyPr>
          <a:lstStyle/>
          <a:p>
            <a:pPr algn="ctr">
              <a:lnSpc>
                <a:spcPts val="1680"/>
              </a:lnSpc>
              <a:spcBef>
                <a:spcPts val="0"/>
              </a:spcBef>
              <a:spcAft>
                <a:spcPts val="0"/>
              </a:spcAft>
            </a:pPr>
            <a:r>
              <a:rPr sz="1320" b="0" i="0">
                <a:solidFill>
                  <a:srgbClr val="F01822"/>
                </a:solidFill>
                <a:latin typeface="Helvetica Neue Medium"/>
              </a:rPr>
              <a:t>SparkV for macOS</a:t>
            </a:r>
            <a:endParaRPr sz="1320"/>
          </a:p>
        </p:txBody>
      </p:sp>
      <p:sp>
        <p:nvSpPr>
          <p:cNvPr id="3" name="headline"/>
          <p:cNvSpPr txBox="1"/>
          <p:nvPr/>
        </p:nvSpPr>
        <p:spPr>
          <a:xfrm>
            <a:off x="914400" y="1082497"/>
            <a:ext cx="10363200" cy="1514704"/>
          </a:xfrm>
          <a:prstGeom prst="rect">
            <a:avLst/>
          </a:prstGeom>
          <a:noFill/>
        </p:spPr>
        <p:txBody>
          <a:bodyPr wrap="square" lIns="0" tIns="0" rIns="0" bIns="0" anchor="t">
            <a:noAutofit/>
          </a:bodyPr>
          <a:lstStyle/>
          <a:p>
            <a:pPr algn="ctr">
              <a:lnSpc>
                <a:spcPts val="5962"/>
              </a:lnSpc>
              <a:spcBef>
                <a:spcPts val="0"/>
              </a:spcBef>
              <a:spcAft>
                <a:spcPts val="0"/>
              </a:spcAft>
            </a:pPr>
            <a:r>
              <a:rPr sz="5520" b="0" i="0" spc="-110">
                <a:solidFill>
                  <a:srgbClr val="1D1D1F"/>
                </a:solidFill>
                <a:latin typeface="Helvetica Neue Light"/>
              </a:rPr>
              <a:t>Your notch, now an </a:t>
            </a:r>
            <a:r>
              <a:rPr sz="5520" b="0" i="0" spc="-110">
                <a:solidFill>
                  <a:srgbClr val="1D1D1F"/>
                </a:solidFill>
                <a:latin typeface="Helvetica Neue Medium"/>
              </a:rPr>
              <a:t>AI command center.</a:t>
            </a:r>
            <a:endParaRPr sz="5520"/>
          </a:p>
        </p:txBody>
      </p:sp>
      <p:sp>
        <p:nvSpPr>
          <p:cNvPr id="4" name="lead"/>
          <p:cNvSpPr txBox="1"/>
          <p:nvPr/>
        </p:nvSpPr>
        <p:spPr>
          <a:xfrm>
            <a:off x="914400" y="2795321"/>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Dictation, meetings, screen help and 20 more tools. Private by default, pay once.</a:t>
            </a:r>
            <a:endParaRPr sz="1680"/>
          </a:p>
        </p:txBody>
      </p:sp>
      <p:sp>
        <p:nvSpPr>
          <p:cNvPr id="5" name="cta"/>
          <p:cNvSpPr/>
          <p:nvPr/>
        </p:nvSpPr>
        <p:spPr>
          <a:xfrm>
            <a:off x="4604008" y="3314548"/>
            <a:ext cx="2983984" cy="411480"/>
          </a:xfrm>
          <a:prstGeom prst="roundRect">
            <a:avLst>
              <a:gd name="adj" fmla="val 50000"/>
            </a:avLst>
          </a:prstGeom>
          <a:solidFill>
            <a:srgbClr val="F01822"/>
          </a:solidFill>
          <a:ln>
            <a:noFill/>
          </a:ln>
        </p:spPr>
        <p:txBody>
          <a:bodyPr rtlCol="0" anchor="ctr" wrap="square" lIns="228600" tIns="114300" rIns="228600" bIns="114300">
            <a:noAutofit/>
          </a:bodyPr>
          <a:lstStyle/>
          <a:p>
            <a:pPr algn="ctr">
              <a:lnSpc>
                <a:spcPts val="1440"/>
              </a:lnSpc>
              <a:spcBef>
                <a:spcPts val="0"/>
              </a:spcBef>
              <a:spcAft>
                <a:spcPts val="0"/>
              </a:spcAft>
            </a:pPr>
            <a:r>
              <a:rPr sz="1200" b="0" i="0">
                <a:solidFill>
                  <a:srgbClr val="FFFFFF"/>
                </a:solidFill>
                <a:latin typeface="Helvetica Neue Medium"/>
              </a:rPr>
              <a:t>Try Pro free for 14 days · sparkv.si</a:t>
            </a:r>
            <a:endParaRPr sz="1200"/>
          </a:p>
        </p:txBody>
      </p:sp>
      <p:sp>
        <p:nvSpPr>
          <p:cNvPr id="6" name="hero device lid"/>
          <p:cNvSpPr/>
          <p:nvPr/>
        </p:nvSpPr>
        <p:spPr>
          <a:xfrm>
            <a:off x="1904848" y="4046068"/>
            <a:ext cx="8382305" cy="2811932"/>
          </a:xfrm>
          <a:prstGeom prst="round2SameRect">
            <a:avLst>
              <a:gd name="adj1" fmla="val 7045"/>
              <a:gd name="adj2" fmla="val 0"/>
            </a:avLst>
          </a:prstGeom>
          <a:solidFill>
            <a:srgbClr val="0A0A0B"/>
          </a:solidFill>
          <a:ln w="15240">
            <a:solidFill>
              <a:srgbClr val="BDBDC2"/>
            </a:solidFill>
          </a:ln>
        </p:spPr>
        <p:txBody>
          <a:bodyPr rtlCol="0" anchor="ctr"/>
          <a:lstStyle/>
          <a:p>
            <a:pPr algn="ctr"/>
          </a:p>
        </p:txBody>
      </p:sp>
      <p:sp>
        <p:nvSpPr>
          <p:cNvPr id="7" name="hero device screen"/>
          <p:cNvSpPr/>
          <p:nvPr/>
        </p:nvSpPr>
        <p:spPr>
          <a:xfrm>
            <a:off x="2042008" y="4183228"/>
            <a:ext cx="8107985" cy="2674772"/>
          </a:xfrm>
          <a:prstGeom prst="round2SameRect">
            <a:avLst>
              <a:gd name="adj1" fmla="val 2848"/>
              <a:gd name="adj2" fmla="val 0"/>
            </a:avLst>
          </a:prstGeom>
          <a:gradFill rotWithShape="1">
            <a:gsLst>
              <a:gs pos="0">
                <a:srgbClr val="130A0E"/>
              </a:gs>
              <a:gs pos="69838">
                <a:srgbClr val="1C1717"/>
              </a:gs>
              <a:gs pos="100000">
                <a:srgbClr val="0F1119"/>
              </a:gs>
            </a:gsLst>
            <a:lin ang="5400000" scaled="0"/>
          </a:gradFill>
          <a:ln>
            <a:noFill/>
          </a:ln>
        </p:spPr>
        <p:txBody>
          <a:bodyPr rtlCol="0" anchor="ctr"/>
          <a:lstStyle/>
          <a:p>
            <a:pPr algn="ctr"/>
          </a:p>
        </p:txBody>
      </p:sp>
      <p:pic>
        <p:nvPicPr>
          <p:cNvPr id="8" name="hero device screenshot 01-home.png" descr="01-home.png"/>
          <p:cNvPicPr>
            <a:picLocks noChangeAspect="1"/>
          </p:cNvPicPr>
          <p:nvPr/>
        </p:nvPicPr>
        <p:blipFill>
          <a:blip r:embed="rId3"/>
          <a:stretch>
            <a:fillRect/>
          </a:stretch>
        </p:blipFill>
        <p:spPr>
          <a:xfrm>
            <a:off x="2042008" y="4183228"/>
            <a:ext cx="8107985" cy="1868016"/>
          </a:xfrm>
          <a:prstGeom prst="rect">
            <a:avLst/>
          </a:prstGeom>
        </p:spPr>
      </p:pic>
      <p:sp>
        <p:nvSpPr>
          <p:cNvPr id="9" name="hero device notch"/>
          <p:cNvSpPr/>
          <p:nvPr/>
        </p:nvSpPr>
        <p:spPr>
          <a:xfrm>
            <a:off x="4879802" y="4183228"/>
            <a:ext cx="2432395" cy="359995"/>
          </a:xfrm>
          <a:prstGeom prst="round2SameRect">
            <a:avLst>
              <a:gd name="adj1" fmla="val 0"/>
              <a:gd name="adj2" fmla="val 37843"/>
            </a:avLst>
          </a:prstGeom>
          <a:solidFill>
            <a:srgbClr val="000000"/>
          </a:solidFill>
          <a:ln>
            <a:noFill/>
          </a:ln>
        </p:spPr>
        <p:txBody>
          <a:bodyPr rtlCol="0" anchor="ctr"/>
          <a:lstStyle/>
          <a:p>
            <a:pPr algn="ctr"/>
          </a:p>
        </p:txBody>
      </p:sp>
      <p:sp>
        <p:nvSpPr>
          <p:cNvPr id="10" name="hero device camera"/>
          <p:cNvSpPr/>
          <p:nvPr/>
        </p:nvSpPr>
        <p:spPr>
          <a:xfrm>
            <a:off x="6057900" y="4325125"/>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$492 = sum of the year-one prices on slide 13; third-party listings, re-check before publishing.</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02</a:t>
            </a:r>
            <a:endParaRPr sz="840"/>
          </a:p>
        </p:txBody>
      </p:sp>
      <p:sp>
        <p:nvSpPr>
          <p:cNvPr id="4" name="eyebrow"/>
          <p:cNvSpPr txBox="1"/>
          <p:nvPr/>
        </p:nvSpPr>
        <p:spPr>
          <a:xfrm>
            <a:off x="914400" y="731520"/>
            <a:ext cx="85953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Problem</a:t>
            </a:r>
            <a:endParaRPr sz="1320"/>
          </a:p>
        </p:txBody>
      </p:sp>
      <p:sp>
        <p:nvSpPr>
          <p:cNvPr id="5" name="headline"/>
          <p:cNvSpPr txBox="1"/>
          <p:nvPr/>
        </p:nvSpPr>
        <p:spPr>
          <a:xfrm>
            <a:off x="914400" y="1067257"/>
            <a:ext cx="8595360" cy="1414729"/>
          </a:xfrm>
          <a:prstGeom prst="rect">
            <a:avLst/>
          </a:prstGeom>
          <a:noFill/>
        </p:spPr>
        <p:txBody>
          <a:bodyPr wrap="square" lIns="0" tIns="0" rIns="0" bIns="0" anchor="t">
            <a:noAutofit/>
          </a:bodyPr>
          <a:lstStyle/>
          <a:p>
            <a:pPr algn="l">
              <a:lnSpc>
                <a:spcPts val="5568"/>
              </a:lnSpc>
              <a:spcBef>
                <a:spcPts val="0"/>
              </a:spcBef>
              <a:spcAft>
                <a:spcPts val="0"/>
              </a:spcAft>
            </a:pPr>
            <a:r>
              <a:rPr sz="4800" b="0" i="0" spc="-72">
                <a:solidFill>
                  <a:srgbClr val="1D1D1F"/>
                </a:solidFill>
                <a:latin typeface="Helvetica Neue Light"/>
              </a:rPr>
              <a:t>Your Mac work lives in six apps and </a:t>
            </a:r>
            <a:r>
              <a:rPr sz="4800" b="0" i="0" spc="-72">
                <a:solidFill>
                  <a:srgbClr val="1D1D1F"/>
                </a:solidFill>
                <a:latin typeface="Helvetica Neue Medium"/>
              </a:rPr>
              <a:t>six bills.</a:t>
            </a:r>
            <a:endParaRPr sz="4800"/>
          </a:p>
        </p:txBody>
      </p:sp>
      <p:sp>
        <p:nvSpPr>
          <p:cNvPr id="6" name="lead"/>
          <p:cNvSpPr txBox="1"/>
          <p:nvPr/>
        </p:nvSpPr>
        <p:spPr>
          <a:xfrm>
            <a:off x="914400" y="2680106"/>
            <a:ext cx="859536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And the best spot on your screen does nothing.</a:t>
            </a:r>
            <a:endParaRPr sz="1680"/>
          </a:p>
        </p:txBody>
      </p:sp>
      <p:cxnSp>
        <p:nvCxnSpPr>
          <p:cNvPr id="7" name="point rule"/>
          <p:cNvCxnSpPr/>
          <p:nvPr/>
        </p:nvCxnSpPr>
        <p:spPr>
          <a:xfrm>
            <a:off x="914400" y="4600042"/>
            <a:ext cx="2407920" cy="0"/>
          </a:xfrm>
          <a:prstGeom prst="line">
            <a:avLst/>
          </a:prstGeom>
          <a:ln w="9525">
            <a:solidFill>
              <a:srgbClr val="D2D2D7"/>
            </a:solidFill>
          </a:ln>
        </p:spPr>
      </p:cxnSp>
      <p:sp>
        <p:nvSpPr>
          <p:cNvPr id="8" name="point label"/>
          <p:cNvSpPr txBox="1"/>
          <p:nvPr/>
        </p:nvSpPr>
        <p:spPr>
          <a:xfrm>
            <a:off x="914400" y="4813402"/>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01</a:t>
            </a:r>
            <a:endParaRPr sz="900"/>
          </a:p>
        </p:txBody>
      </p:sp>
      <p:sp>
        <p:nvSpPr>
          <p:cNvPr id="9" name="point lead"/>
          <p:cNvSpPr txBox="1"/>
          <p:nvPr/>
        </p:nvSpPr>
        <p:spPr>
          <a:xfrm>
            <a:off x="914400" y="5088179"/>
            <a:ext cx="2407920" cy="116113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Dictation, meeting notes, clipboard, screenshots, a launcher, a notch app.</a:t>
            </a:r>
            <a:endParaRPr sz="1680"/>
          </a:p>
        </p:txBody>
      </p:sp>
      <p:cxnSp>
        <p:nvCxnSpPr>
          <p:cNvPr id="10" name="point rule"/>
          <p:cNvCxnSpPr/>
          <p:nvPr/>
        </p:nvCxnSpPr>
        <p:spPr>
          <a:xfrm>
            <a:off x="3566160" y="4600042"/>
            <a:ext cx="2407920" cy="0"/>
          </a:xfrm>
          <a:prstGeom prst="line">
            <a:avLst/>
          </a:prstGeom>
          <a:ln w="9525">
            <a:solidFill>
              <a:srgbClr val="D2D2D7"/>
            </a:solidFill>
          </a:ln>
        </p:spPr>
      </p:cxnSp>
      <p:sp>
        <p:nvSpPr>
          <p:cNvPr id="11" name="point label"/>
          <p:cNvSpPr txBox="1"/>
          <p:nvPr/>
        </p:nvSpPr>
        <p:spPr>
          <a:xfrm>
            <a:off x="3566160" y="4813402"/>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02</a:t>
            </a:r>
            <a:endParaRPr sz="900"/>
          </a:p>
        </p:txBody>
      </p:sp>
      <p:sp>
        <p:nvSpPr>
          <p:cNvPr id="12" name="point lead"/>
          <p:cNvSpPr txBox="1"/>
          <p:nvPr/>
        </p:nvSpPr>
        <p:spPr>
          <a:xfrm>
            <a:off x="3566160" y="5088179"/>
            <a:ext cx="2407920" cy="58079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Bought separately: about $492 in year one.</a:t>
            </a:r>
            <a:endParaRPr sz="1680"/>
          </a:p>
        </p:txBody>
      </p:sp>
      <p:cxnSp>
        <p:nvCxnSpPr>
          <p:cNvPr id="13" name="point rule"/>
          <p:cNvCxnSpPr/>
          <p:nvPr/>
        </p:nvCxnSpPr>
        <p:spPr>
          <a:xfrm>
            <a:off x="6217920" y="4600042"/>
            <a:ext cx="2407920" cy="0"/>
          </a:xfrm>
          <a:prstGeom prst="line">
            <a:avLst/>
          </a:prstGeom>
          <a:ln w="9525">
            <a:solidFill>
              <a:srgbClr val="D2D2D7"/>
            </a:solidFill>
          </a:ln>
        </p:spPr>
      </p:cxnSp>
      <p:sp>
        <p:nvSpPr>
          <p:cNvPr id="14" name="point label"/>
          <p:cNvSpPr txBox="1"/>
          <p:nvPr/>
        </p:nvSpPr>
        <p:spPr>
          <a:xfrm>
            <a:off x="6217920" y="4813402"/>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03</a:t>
            </a:r>
            <a:endParaRPr sz="900"/>
          </a:p>
        </p:txBody>
      </p:sp>
      <p:sp>
        <p:nvSpPr>
          <p:cNvPr id="15" name="point lead"/>
          <p:cNvSpPr txBox="1"/>
          <p:nvPr/>
        </p:nvSpPr>
        <p:spPr>
          <a:xfrm>
            <a:off x="6217920" y="5088179"/>
            <a:ext cx="2407920" cy="87096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Monthly AI fees for work your Mac can do itself.</a:t>
            </a:r>
            <a:endParaRPr sz="1680"/>
          </a:p>
        </p:txBody>
      </p:sp>
      <p:cxnSp>
        <p:nvCxnSpPr>
          <p:cNvPr id="16" name="point rule"/>
          <p:cNvCxnSpPr/>
          <p:nvPr/>
        </p:nvCxnSpPr>
        <p:spPr>
          <a:xfrm>
            <a:off x="8869680" y="4600042"/>
            <a:ext cx="2407920" cy="0"/>
          </a:xfrm>
          <a:prstGeom prst="line">
            <a:avLst/>
          </a:prstGeom>
          <a:ln w="9525">
            <a:solidFill>
              <a:srgbClr val="D2D2D7"/>
            </a:solidFill>
          </a:ln>
        </p:spPr>
      </p:cxnSp>
      <p:sp>
        <p:nvSpPr>
          <p:cNvPr id="17" name="point label"/>
          <p:cNvSpPr txBox="1"/>
          <p:nvPr/>
        </p:nvSpPr>
        <p:spPr>
          <a:xfrm>
            <a:off x="8869680" y="4813402"/>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04</a:t>
            </a:r>
            <a:endParaRPr sz="900"/>
          </a:p>
        </p:txBody>
      </p:sp>
      <p:sp>
        <p:nvSpPr>
          <p:cNvPr id="18" name="point lead"/>
          <p:cNvSpPr txBox="1"/>
          <p:nvPr/>
        </p:nvSpPr>
        <p:spPr>
          <a:xfrm>
            <a:off x="8869680" y="5088179"/>
            <a:ext cx="2407920" cy="58079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The notch: prime screen space, zero use.</a:t>
            </a:r>
            <a:endParaRPr sz="168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03</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ctr">
              <a:lnSpc>
                <a:spcPts val="1680"/>
              </a:lnSpc>
              <a:spcBef>
                <a:spcPts val="0"/>
              </a:spcBef>
              <a:spcAft>
                <a:spcPts val="0"/>
              </a:spcAft>
            </a:pPr>
            <a:r>
              <a:rPr sz="1320" b="0" i="0">
                <a:solidFill>
                  <a:srgbClr val="6E6E73"/>
                </a:solidFill>
                <a:latin typeface="Helvetica Neue Medium"/>
              </a:rPr>
              <a:t>Solution</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ctr">
              <a:lnSpc>
                <a:spcPts val="4301"/>
              </a:lnSpc>
              <a:spcBef>
                <a:spcPts val="0"/>
              </a:spcBef>
              <a:spcAft>
                <a:spcPts val="0"/>
              </a:spcAft>
            </a:pPr>
            <a:r>
              <a:rPr sz="3840" b="0" i="0" spc="-58">
                <a:solidFill>
                  <a:srgbClr val="1D1D1F"/>
                </a:solidFill>
                <a:latin typeface="Helvetica Neue Light"/>
              </a:rPr>
              <a:t>Hover the notch. </a:t>
            </a:r>
            <a:r>
              <a:rPr sz="3840" b="0" i="0" spc="-58">
                <a:solidFill>
                  <a:srgbClr val="1D1D1F"/>
                </a:solidFill>
                <a:latin typeface="Helvetica Neue Medium"/>
              </a:rPr>
              <a:t>Everything</a:t>
            </a:r>
            <a:r>
              <a:rPr sz="3840" b="0" i="0" spc="-58">
                <a:solidFill>
                  <a:srgbClr val="1D1D1F"/>
                </a:solidFill>
                <a:latin typeface="Helvetica Neue Light"/>
              </a:rPr>
              <a:t> is there.</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One black drawer: media, files, your day, and a hub of 20+ agents.</a:t>
            </a:r>
            <a:endParaRPr sz="1680"/>
          </a:p>
        </p:txBody>
      </p:sp>
      <p:cxnSp>
        <p:nvCxnSpPr>
          <p:cNvPr id="7" name="caption rule"/>
          <p:cNvCxnSpPr/>
          <p:nvPr/>
        </p:nvCxnSpPr>
        <p:spPr>
          <a:xfrm>
            <a:off x="914400" y="5625084"/>
            <a:ext cx="3291840" cy="0"/>
          </a:xfrm>
          <a:prstGeom prst="line">
            <a:avLst/>
          </a:prstGeom>
          <a:ln w="9525">
            <a:solidFill>
              <a:srgbClr val="D2D2D7"/>
            </a:solidFill>
          </a:ln>
        </p:spPr>
      </p:cxnSp>
      <p:sp>
        <p:nvSpPr>
          <p:cNvPr id="8" name="caption"/>
          <p:cNvSpPr txBox="1"/>
          <p:nvPr/>
        </p:nvSpPr>
        <p:spPr>
          <a:xfrm>
            <a:off x="914400" y="5762244"/>
            <a:ext cx="329184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Hover to open. Move away to close.</a:t>
            </a:r>
            <a:endParaRPr sz="1320"/>
          </a:p>
        </p:txBody>
      </p:sp>
      <p:cxnSp>
        <p:nvCxnSpPr>
          <p:cNvPr id="9" name="caption rule"/>
          <p:cNvCxnSpPr/>
          <p:nvPr/>
        </p:nvCxnSpPr>
        <p:spPr>
          <a:xfrm>
            <a:off x="4450080" y="5625084"/>
            <a:ext cx="3291840" cy="0"/>
          </a:xfrm>
          <a:prstGeom prst="line">
            <a:avLst/>
          </a:prstGeom>
          <a:ln w="9525">
            <a:solidFill>
              <a:srgbClr val="D2D2D7"/>
            </a:solidFill>
          </a:ln>
        </p:spPr>
      </p:cxnSp>
      <p:sp>
        <p:nvSpPr>
          <p:cNvPr id="10" name="caption"/>
          <p:cNvSpPr txBox="1"/>
          <p:nvPr/>
        </p:nvSpPr>
        <p:spPr>
          <a:xfrm>
            <a:off x="4450080" y="5762244"/>
            <a:ext cx="329184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Drop any file on the notch.</a:t>
            </a:r>
            <a:endParaRPr sz="1320"/>
          </a:p>
        </p:txBody>
      </p:sp>
      <p:cxnSp>
        <p:nvCxnSpPr>
          <p:cNvPr id="11" name="caption rule"/>
          <p:cNvCxnSpPr/>
          <p:nvPr/>
        </p:nvCxnSpPr>
        <p:spPr>
          <a:xfrm>
            <a:off x="7985760" y="5625084"/>
            <a:ext cx="3291840" cy="0"/>
          </a:xfrm>
          <a:prstGeom prst="line">
            <a:avLst/>
          </a:prstGeom>
          <a:ln w="9525">
            <a:solidFill>
              <a:srgbClr val="D2D2D7"/>
            </a:solidFill>
          </a:ln>
        </p:spPr>
      </p:cxnSp>
      <p:sp>
        <p:nvSpPr>
          <p:cNvPr id="12" name="caption"/>
          <p:cNvSpPr txBox="1"/>
          <p:nvPr/>
        </p:nvSpPr>
        <p:spPr>
          <a:xfrm>
            <a:off x="7985760" y="5762244"/>
            <a:ext cx="329184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Every agent is one click or one hotkey away.</a:t>
            </a:r>
            <a:endParaRPr sz="1320"/>
          </a:p>
        </p:txBody>
      </p:sp>
      <p:sp>
        <p:nvSpPr>
          <p:cNvPr id="13" name="device lid"/>
          <p:cNvSpPr/>
          <p:nvPr/>
        </p:nvSpPr>
        <p:spPr>
          <a:xfrm>
            <a:off x="4016348" y="2376983"/>
            <a:ext cx="4159304" cy="2806141"/>
          </a:xfrm>
          <a:prstGeom prst="round2SameRect">
            <a:avLst>
              <a:gd name="adj1" fmla="val 7060"/>
              <a:gd name="adj2" fmla="val 1629"/>
            </a:avLst>
          </a:prstGeom>
          <a:solidFill>
            <a:srgbClr val="0A0A0B"/>
          </a:solidFill>
          <a:ln w="15240">
            <a:solidFill>
              <a:srgbClr val="BDBDC2"/>
            </a:solidFill>
          </a:ln>
        </p:spPr>
        <p:txBody>
          <a:bodyPr rtlCol="0" anchor="ctr"/>
          <a:lstStyle/>
          <a:p>
            <a:pPr algn="ctr"/>
          </a:p>
        </p:txBody>
      </p:sp>
      <p:sp>
        <p:nvSpPr>
          <p:cNvPr id="14" name="device screen"/>
          <p:cNvSpPr/>
          <p:nvPr/>
        </p:nvSpPr>
        <p:spPr>
          <a:xfrm>
            <a:off x="4123028" y="2483663"/>
            <a:ext cx="3945944" cy="2562301"/>
          </a:xfrm>
          <a:prstGeom prst="round2SameRect">
            <a:avLst>
              <a:gd name="adj1" fmla="val 2973"/>
              <a:gd name="adj2" fmla="val 594"/>
            </a:avLst>
          </a:prstGeom>
          <a:gradFill rotWithShape="1">
            <a:gsLst>
              <a:gs pos="0">
                <a:srgbClr val="040403"/>
              </a:gs>
              <a:gs pos="58379">
                <a:srgbClr val="1A1616"/>
              </a:gs>
              <a:gs pos="100000">
                <a:srgbClr val="0F1119"/>
              </a:gs>
            </a:gsLst>
            <a:lin ang="5400000" scaled="0"/>
          </a:gradFill>
          <a:ln>
            <a:noFill/>
          </a:ln>
        </p:spPr>
        <p:txBody>
          <a:bodyPr rtlCol="0" anchor="ctr"/>
          <a:lstStyle/>
          <a:p>
            <a:pPr algn="ctr"/>
          </a:p>
        </p:txBody>
      </p:sp>
      <p:pic>
        <p:nvPicPr>
          <p:cNvPr id="15" name="device screenshot 10-agents-hub.png" descr="10-agents-hub.png"/>
          <p:cNvPicPr>
            <a:picLocks noChangeAspect="1"/>
          </p:cNvPicPr>
          <p:nvPr/>
        </p:nvPicPr>
        <p:blipFill>
          <a:blip r:embed="rId3"/>
          <a:stretch>
            <a:fillRect/>
          </a:stretch>
        </p:blipFill>
        <p:spPr>
          <a:xfrm>
            <a:off x="4123028" y="2483663"/>
            <a:ext cx="3945944" cy="1495848"/>
          </a:xfrm>
          <a:prstGeom prst="rect">
            <a:avLst/>
          </a:prstGeom>
        </p:spPr>
      </p:pic>
      <p:sp>
        <p:nvSpPr>
          <p:cNvPr id="16" name="device notch"/>
          <p:cNvSpPr/>
          <p:nvPr/>
        </p:nvSpPr>
        <p:spPr>
          <a:xfrm>
            <a:off x="5504108" y="2483663"/>
            <a:ext cx="1183783" cy="175200"/>
          </a:xfrm>
          <a:prstGeom prst="round2SameRect">
            <a:avLst>
              <a:gd name="adj1" fmla="val 0"/>
              <a:gd name="adj2" fmla="val 37843"/>
            </a:avLst>
          </a:prstGeom>
          <a:solidFill>
            <a:srgbClr val="000000"/>
          </a:solidFill>
          <a:ln>
            <a:noFill/>
          </a:ln>
        </p:spPr>
        <p:txBody>
          <a:bodyPr rtlCol="0" anchor="ctr"/>
          <a:lstStyle/>
          <a:p>
            <a:pPr algn="ctr"/>
          </a:p>
        </p:txBody>
      </p:sp>
      <p:sp>
        <p:nvSpPr>
          <p:cNvPr id="17" name="device camera"/>
          <p:cNvSpPr/>
          <p:nvPr/>
        </p:nvSpPr>
        <p:spPr>
          <a:xfrm>
            <a:off x="6057900" y="2533163"/>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18" name="device base"/>
          <p:cNvSpPr/>
          <p:nvPr/>
        </p:nvSpPr>
        <p:spPr>
          <a:xfrm>
            <a:off x="3823388" y="5183124"/>
            <a:ext cx="4545225"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19" name="device thumb cut"/>
          <p:cNvSpPr/>
          <p:nvPr/>
        </p:nvSpPr>
        <p:spPr>
          <a:xfrm>
            <a:off x="5732382" y="5183124"/>
            <a:ext cx="727236"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Times are illustrative. Real render of the current build,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04</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Timeline</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A day with SparkV</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One notch, every part of your day.</a:t>
            </a:r>
            <a:endParaRPr sz="1680"/>
          </a:p>
        </p:txBody>
      </p:sp>
      <p:sp>
        <p:nvSpPr>
          <p:cNvPr id="7" name="timeline thumb card"/>
          <p:cNvSpPr/>
          <p:nvPr/>
        </p:nvSpPr>
        <p:spPr>
          <a:xfrm>
            <a:off x="914400" y="3019501"/>
            <a:ext cx="1877568" cy="1051560"/>
          </a:xfrm>
          <a:prstGeom prst="roundRect">
            <a:avLst>
              <a:gd name="adj" fmla="val 8695"/>
            </a:avLst>
          </a:prstGeom>
          <a:gradFill rotWithShape="1">
            <a:gsLst>
              <a:gs pos="0">
                <a:srgbClr val="2A2E43"/>
              </a:gs>
              <a:gs pos="100000">
                <a:srgbClr val="171925"/>
              </a:gs>
            </a:gsLst>
            <a:lin ang="5400000" scaled="0"/>
          </a:gradFill>
          <a:ln>
            <a:noFill/>
          </a:ln>
        </p:spPr>
        <p:txBody>
          <a:bodyPr rtlCol="0" anchor="ctr"/>
          <a:lstStyle/>
          <a:p>
            <a:pPr algn="ctr"/>
          </a:p>
        </p:txBody>
      </p:sp>
      <p:pic>
        <p:nvPicPr>
          <p:cNvPr id="8" name="timeline thumb 06-today.png" descr="06-today.png"/>
          <p:cNvPicPr>
            <a:picLocks noChangeAspect="1"/>
          </p:cNvPicPr>
          <p:nvPr/>
        </p:nvPicPr>
        <p:blipFill>
          <a:blip r:embed="rId3"/>
          <a:stretch>
            <a:fillRect/>
          </a:stretch>
        </p:blipFill>
        <p:spPr>
          <a:xfrm>
            <a:off x="969264" y="3341633"/>
            <a:ext cx="1767840" cy="407296"/>
          </a:xfrm>
          <a:prstGeom prst="roundRect">
            <a:avLst>
              <a:gd name="adj" fmla="val 8980"/>
            </a:avLst>
          </a:prstGeom>
        </p:spPr>
      </p:pic>
      <p:sp>
        <p:nvSpPr>
          <p:cNvPr id="9" name="timeline thumb card"/>
          <p:cNvSpPr/>
          <p:nvPr/>
        </p:nvSpPr>
        <p:spPr>
          <a:xfrm>
            <a:off x="3035808" y="3019501"/>
            <a:ext cx="1877568" cy="1051560"/>
          </a:xfrm>
          <a:prstGeom prst="roundRect">
            <a:avLst>
              <a:gd name="adj" fmla="val 8695"/>
            </a:avLst>
          </a:prstGeom>
          <a:gradFill rotWithShape="1">
            <a:gsLst>
              <a:gs pos="0">
                <a:srgbClr val="2A2E43"/>
              </a:gs>
              <a:gs pos="100000">
                <a:srgbClr val="171925"/>
              </a:gs>
            </a:gsLst>
            <a:lin ang="5400000" scaled="0"/>
          </a:gradFill>
          <a:ln>
            <a:noFill/>
          </a:ln>
        </p:spPr>
        <p:txBody>
          <a:bodyPr rtlCol="0" anchor="ctr"/>
          <a:lstStyle/>
          <a:p>
            <a:pPr algn="ctr"/>
          </a:p>
        </p:txBody>
      </p:sp>
      <p:pic>
        <p:nvPicPr>
          <p:cNvPr id="10" name="timeline thumb 36-meeting-notes.png" descr="37-meeting-live-answers.png"/>
          <p:cNvPicPr>
            <a:picLocks noChangeAspect="1"/>
          </p:cNvPicPr>
          <p:nvPr/>
        </p:nvPicPr>
        <p:blipFill>
          <a:blip r:embed="rId4"/>
          <a:stretch>
            <a:fillRect/>
          </a:stretch>
        </p:blipFill>
        <p:spPr>
          <a:xfrm>
            <a:off x="3275353" y="3074365"/>
            <a:ext cx="1398478" cy="941832"/>
          </a:xfrm>
          <a:prstGeom prst="roundRect">
            <a:avLst>
              <a:gd name="adj" fmla="val 3883"/>
            </a:avLst>
          </a:prstGeom>
        </p:spPr>
      </p:pic>
      <p:sp>
        <p:nvSpPr>
          <p:cNvPr id="11" name="timeline thumb card"/>
          <p:cNvSpPr/>
          <p:nvPr/>
        </p:nvSpPr>
        <p:spPr>
          <a:xfrm>
            <a:off x="5157216" y="3019501"/>
            <a:ext cx="1877568" cy="1051560"/>
          </a:xfrm>
          <a:prstGeom prst="roundRect">
            <a:avLst>
              <a:gd name="adj" fmla="val 8695"/>
            </a:avLst>
          </a:prstGeom>
          <a:gradFill rotWithShape="1">
            <a:gsLst>
              <a:gs pos="0">
                <a:srgbClr val="2A2E43"/>
              </a:gs>
              <a:gs pos="100000">
                <a:srgbClr val="171925"/>
              </a:gs>
            </a:gsLst>
            <a:lin ang="5400000" scaled="0"/>
          </a:gradFill>
          <a:ln>
            <a:noFill/>
          </a:ln>
        </p:spPr>
        <p:txBody>
          <a:bodyPr rtlCol="0" anchor="ctr"/>
          <a:lstStyle/>
          <a:p>
            <a:pPr algn="ctr"/>
          </a:p>
        </p:txBody>
      </p:sp>
      <p:pic>
        <p:nvPicPr>
          <p:cNvPr id="12" name="timeline thumb 50-dictation.png" descr="50-dictation.png"/>
          <p:cNvPicPr>
            <a:picLocks noChangeAspect="1"/>
          </p:cNvPicPr>
          <p:nvPr/>
        </p:nvPicPr>
        <p:blipFill>
          <a:blip r:embed="rId5"/>
          <a:stretch>
            <a:fillRect/>
          </a:stretch>
        </p:blipFill>
        <p:spPr>
          <a:xfrm>
            <a:off x="5212080" y="3415293"/>
            <a:ext cx="1767840" cy="259976"/>
          </a:xfrm>
          <a:prstGeom prst="roundRect">
            <a:avLst>
              <a:gd name="adj" fmla="val 14068"/>
            </a:avLst>
          </a:prstGeom>
        </p:spPr>
      </p:pic>
      <p:sp>
        <p:nvSpPr>
          <p:cNvPr id="13" name="timeline thumb card"/>
          <p:cNvSpPr/>
          <p:nvPr/>
        </p:nvSpPr>
        <p:spPr>
          <a:xfrm>
            <a:off x="7278624" y="3019501"/>
            <a:ext cx="1877568" cy="1051560"/>
          </a:xfrm>
          <a:prstGeom prst="roundRect">
            <a:avLst>
              <a:gd name="adj" fmla="val 8695"/>
            </a:avLst>
          </a:prstGeom>
          <a:gradFill rotWithShape="1">
            <a:gsLst>
              <a:gs pos="0">
                <a:srgbClr val="2A2E43"/>
              </a:gs>
              <a:gs pos="100000">
                <a:srgbClr val="171925"/>
              </a:gs>
            </a:gsLst>
            <a:lin ang="5400000" scaled="0"/>
          </a:gradFill>
          <a:ln>
            <a:noFill/>
          </a:ln>
        </p:spPr>
        <p:txBody>
          <a:bodyPr rtlCol="0" anchor="ctr"/>
          <a:lstStyle/>
          <a:p>
            <a:pPr algn="ctr"/>
          </a:p>
        </p:txBody>
      </p:sp>
      <p:pic>
        <p:nvPicPr>
          <p:cNvPr id="14" name="timeline thumb 07-converter.png" descr="07-converter.png"/>
          <p:cNvPicPr>
            <a:picLocks noChangeAspect="1"/>
          </p:cNvPicPr>
          <p:nvPr/>
        </p:nvPicPr>
        <p:blipFill>
          <a:blip r:embed="rId6"/>
          <a:stretch>
            <a:fillRect/>
          </a:stretch>
        </p:blipFill>
        <p:spPr>
          <a:xfrm>
            <a:off x="7333488" y="3276639"/>
            <a:ext cx="1767840" cy="537285"/>
          </a:xfrm>
          <a:prstGeom prst="roundRect">
            <a:avLst>
              <a:gd name="adj" fmla="val 6807"/>
            </a:avLst>
          </a:prstGeom>
        </p:spPr>
      </p:pic>
      <p:sp>
        <p:nvSpPr>
          <p:cNvPr id="15" name="timeline thumb card"/>
          <p:cNvSpPr/>
          <p:nvPr/>
        </p:nvSpPr>
        <p:spPr>
          <a:xfrm>
            <a:off x="9400032" y="3019501"/>
            <a:ext cx="1877568" cy="1051560"/>
          </a:xfrm>
          <a:prstGeom prst="roundRect">
            <a:avLst>
              <a:gd name="adj" fmla="val 8695"/>
            </a:avLst>
          </a:prstGeom>
          <a:gradFill rotWithShape="1">
            <a:gsLst>
              <a:gs pos="0">
                <a:srgbClr val="2A2E43"/>
              </a:gs>
              <a:gs pos="100000">
                <a:srgbClr val="171925"/>
              </a:gs>
            </a:gsLst>
            <a:lin ang="5400000" scaled="0"/>
          </a:gradFill>
          <a:ln>
            <a:noFill/>
          </a:ln>
        </p:spPr>
        <p:txBody>
          <a:bodyPr rtlCol="0" anchor="ctr"/>
          <a:lstStyle/>
          <a:p>
            <a:pPr algn="ctr"/>
          </a:p>
        </p:txBody>
      </p:sp>
      <p:pic>
        <p:nvPicPr>
          <p:cNvPr id="16" name="timeline thumb 28-focus.png" descr="28-focus.png"/>
          <p:cNvPicPr>
            <a:picLocks noChangeAspect="1"/>
          </p:cNvPicPr>
          <p:nvPr/>
        </p:nvPicPr>
        <p:blipFill>
          <a:blip r:embed="rId7"/>
          <a:stretch>
            <a:fillRect/>
          </a:stretch>
        </p:blipFill>
        <p:spPr>
          <a:xfrm>
            <a:off x="9454896" y="3341633"/>
            <a:ext cx="1767840" cy="407296"/>
          </a:xfrm>
          <a:prstGeom prst="roundRect">
            <a:avLst>
              <a:gd name="adj" fmla="val 8980"/>
            </a:avLst>
          </a:prstGeom>
        </p:spPr>
      </p:pic>
      <p:cxnSp>
        <p:nvCxnSpPr>
          <p:cNvPr id="17" name="timeline rail"/>
          <p:cNvCxnSpPr/>
          <p:nvPr/>
        </p:nvCxnSpPr>
        <p:spPr>
          <a:xfrm>
            <a:off x="914400" y="4391101"/>
            <a:ext cx="10363200" cy="0"/>
          </a:xfrm>
          <a:prstGeom prst="line">
            <a:avLst/>
          </a:prstGeom>
          <a:ln w="9525">
            <a:solidFill>
              <a:srgbClr val="D2D2D7"/>
            </a:solidFill>
          </a:ln>
        </p:spPr>
      </p:cxnSp>
      <p:sp>
        <p:nvSpPr>
          <p:cNvPr id="18" name="timeline dot"/>
          <p:cNvSpPr/>
          <p:nvPr/>
        </p:nvSpPr>
        <p:spPr>
          <a:xfrm>
            <a:off x="914400" y="4336237"/>
            <a:ext cx="109728" cy="109728"/>
          </a:xfrm>
          <a:prstGeom prst="ellipse">
            <a:avLst/>
          </a:prstGeom>
          <a:solidFill>
            <a:srgbClr val="1D1D1F"/>
          </a:solidFill>
          <a:ln>
            <a:noFill/>
          </a:ln>
        </p:spPr>
        <p:txBody>
          <a:bodyPr rtlCol="0" anchor="ctr"/>
          <a:lstStyle/>
          <a:p>
            <a:pPr algn="ctr"/>
          </a:p>
        </p:txBody>
      </p:sp>
      <p:sp>
        <p:nvSpPr>
          <p:cNvPr id="19" name="timeline time"/>
          <p:cNvSpPr txBox="1"/>
          <p:nvPr/>
        </p:nvSpPr>
        <p:spPr>
          <a:xfrm>
            <a:off x="914400" y="4619701"/>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09:56</a:t>
            </a:r>
            <a:endParaRPr sz="1680"/>
          </a:p>
        </p:txBody>
      </p:sp>
      <p:sp>
        <p:nvSpPr>
          <p:cNvPr id="20" name="timeline text"/>
          <p:cNvSpPr txBox="1"/>
          <p:nvPr/>
        </p:nvSpPr>
        <p:spPr>
          <a:xfrm>
            <a:off x="914400" y="4967630"/>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Meeting heads-up under the notch. ⌃⌥J joins.</a:t>
            </a:r>
            <a:endParaRPr sz="1320"/>
          </a:p>
        </p:txBody>
      </p:sp>
      <p:sp>
        <p:nvSpPr>
          <p:cNvPr id="21" name="timeline dot"/>
          <p:cNvSpPr/>
          <p:nvPr/>
        </p:nvSpPr>
        <p:spPr>
          <a:xfrm>
            <a:off x="3035808" y="4336237"/>
            <a:ext cx="109728" cy="109728"/>
          </a:xfrm>
          <a:prstGeom prst="ellipse">
            <a:avLst/>
          </a:prstGeom>
          <a:solidFill>
            <a:srgbClr val="1D1D1F"/>
          </a:solidFill>
          <a:ln>
            <a:noFill/>
          </a:ln>
        </p:spPr>
        <p:txBody>
          <a:bodyPr rtlCol="0" anchor="ctr"/>
          <a:lstStyle/>
          <a:p>
            <a:pPr algn="ctr"/>
          </a:p>
        </p:txBody>
      </p:sp>
      <p:sp>
        <p:nvSpPr>
          <p:cNvPr id="22" name="timeline time"/>
          <p:cNvSpPr txBox="1"/>
          <p:nvPr/>
        </p:nvSpPr>
        <p:spPr>
          <a:xfrm>
            <a:off x="3035808" y="4619701"/>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10:00</a:t>
            </a:r>
            <a:endParaRPr sz="1680"/>
          </a:p>
        </p:txBody>
      </p:sp>
      <p:sp>
        <p:nvSpPr>
          <p:cNvPr id="23" name="timeline text"/>
          <p:cNvSpPr txBox="1"/>
          <p:nvPr/>
        </p:nvSpPr>
        <p:spPr>
          <a:xfrm>
            <a:off x="3035808" y="4967630"/>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One click records notes. No bot joins the call.</a:t>
            </a:r>
            <a:endParaRPr sz="1320"/>
          </a:p>
        </p:txBody>
      </p:sp>
      <p:sp>
        <p:nvSpPr>
          <p:cNvPr id="24" name="timeline dot"/>
          <p:cNvSpPr/>
          <p:nvPr/>
        </p:nvSpPr>
        <p:spPr>
          <a:xfrm>
            <a:off x="5157216" y="4317949"/>
            <a:ext cx="146304" cy="146304"/>
          </a:xfrm>
          <a:prstGeom prst="ellipse">
            <a:avLst/>
          </a:prstGeom>
          <a:solidFill>
            <a:srgbClr val="F01822"/>
          </a:solidFill>
          <a:ln>
            <a:noFill/>
          </a:ln>
        </p:spPr>
        <p:txBody>
          <a:bodyPr rtlCol="0" anchor="ctr"/>
          <a:lstStyle/>
          <a:p>
            <a:pPr algn="ctr"/>
          </a:p>
        </p:txBody>
      </p:sp>
      <p:sp>
        <p:nvSpPr>
          <p:cNvPr id="25" name="timeline time"/>
          <p:cNvSpPr txBox="1"/>
          <p:nvPr/>
        </p:nvSpPr>
        <p:spPr>
          <a:xfrm>
            <a:off x="5157216" y="4619701"/>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12:30</a:t>
            </a:r>
            <a:endParaRPr sz="1680"/>
          </a:p>
        </p:txBody>
      </p:sp>
      <p:sp>
        <p:nvSpPr>
          <p:cNvPr id="26" name="timeline text"/>
          <p:cNvSpPr txBox="1"/>
          <p:nvPr/>
        </p:nvSpPr>
        <p:spPr>
          <a:xfrm>
            <a:off x="5157216" y="4967630"/>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Hold fn, talk, release. Clean text appears.</a:t>
            </a:r>
            <a:endParaRPr sz="1320"/>
          </a:p>
        </p:txBody>
      </p:sp>
      <p:sp>
        <p:nvSpPr>
          <p:cNvPr id="27" name="timeline dot"/>
          <p:cNvSpPr/>
          <p:nvPr/>
        </p:nvSpPr>
        <p:spPr>
          <a:xfrm>
            <a:off x="7278624" y="4336237"/>
            <a:ext cx="109728" cy="109728"/>
          </a:xfrm>
          <a:prstGeom prst="ellipse">
            <a:avLst/>
          </a:prstGeom>
          <a:solidFill>
            <a:srgbClr val="1D1D1F"/>
          </a:solidFill>
          <a:ln>
            <a:noFill/>
          </a:ln>
        </p:spPr>
        <p:txBody>
          <a:bodyPr rtlCol="0" anchor="ctr"/>
          <a:lstStyle/>
          <a:p>
            <a:pPr algn="ctr"/>
          </a:p>
        </p:txBody>
      </p:sp>
      <p:sp>
        <p:nvSpPr>
          <p:cNvPr id="28" name="timeline time"/>
          <p:cNvSpPr txBox="1"/>
          <p:nvPr/>
        </p:nvSpPr>
        <p:spPr>
          <a:xfrm>
            <a:off x="7278624" y="4619701"/>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15:00</a:t>
            </a:r>
            <a:endParaRPr sz="1680"/>
          </a:p>
        </p:txBody>
      </p:sp>
      <p:sp>
        <p:nvSpPr>
          <p:cNvPr id="29" name="timeline text"/>
          <p:cNvSpPr txBox="1"/>
          <p:nvPr/>
        </p:nvSpPr>
        <p:spPr>
          <a:xfrm>
            <a:off x="7278624" y="4967630"/>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Drop a PDF. Convert, compress or OCR it.</a:t>
            </a:r>
            <a:endParaRPr sz="1320"/>
          </a:p>
        </p:txBody>
      </p:sp>
      <p:sp>
        <p:nvSpPr>
          <p:cNvPr id="30" name="timeline dot"/>
          <p:cNvSpPr/>
          <p:nvPr/>
        </p:nvSpPr>
        <p:spPr>
          <a:xfrm>
            <a:off x="9400032" y="4336237"/>
            <a:ext cx="109728" cy="109728"/>
          </a:xfrm>
          <a:prstGeom prst="ellipse">
            <a:avLst/>
          </a:prstGeom>
          <a:solidFill>
            <a:srgbClr val="1D1D1F"/>
          </a:solidFill>
          <a:ln>
            <a:noFill/>
          </a:ln>
        </p:spPr>
        <p:txBody>
          <a:bodyPr rtlCol="0" anchor="ctr"/>
          <a:lstStyle/>
          <a:p>
            <a:pPr algn="ctr"/>
          </a:p>
        </p:txBody>
      </p:sp>
      <p:sp>
        <p:nvSpPr>
          <p:cNvPr id="31" name="timeline time"/>
          <p:cNvSpPr txBox="1"/>
          <p:nvPr/>
        </p:nvSpPr>
        <p:spPr>
          <a:xfrm>
            <a:off x="9400032" y="4619701"/>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17:00</a:t>
            </a:r>
            <a:endParaRPr sz="1680"/>
          </a:p>
        </p:txBody>
      </p:sp>
      <p:sp>
        <p:nvSpPr>
          <p:cNvPr id="32" name="timeline text"/>
          <p:cNvSpPr txBox="1"/>
          <p:nvPr/>
        </p:nvSpPr>
        <p:spPr>
          <a:xfrm>
            <a:off x="9400032" y="4967630"/>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Focus rounds end with a recap.</a:t>
            </a:r>
            <a:endParaRPr sz="132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Live check required: media, Tray drag, AirDrop, calendar, live activities.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05</a:t>
            </a:r>
            <a:endParaRPr sz="840"/>
          </a:p>
        </p:txBody>
      </p:sp>
      <p:sp>
        <p:nvSpPr>
          <p:cNvPr id="4" name="eyebrow"/>
          <p:cNvSpPr txBox="1"/>
          <p:nvPr/>
        </p:nvSpPr>
        <p:spPr>
          <a:xfrm>
            <a:off x="914400" y="1266825"/>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Notch essentials · Free</a:t>
            </a:r>
            <a:endParaRPr sz="1320"/>
          </a:p>
        </p:txBody>
      </p:sp>
      <p:sp>
        <p:nvSpPr>
          <p:cNvPr id="5" name="h1_side"/>
          <p:cNvSpPr txBox="1"/>
          <p:nvPr/>
        </p:nvSpPr>
        <p:spPr>
          <a:xfrm>
            <a:off x="914400" y="1633042"/>
            <a:ext cx="329184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The notch, </a:t>
            </a:r>
            <a:r>
              <a:rPr sz="3600" b="0" i="0" spc="-54">
                <a:solidFill>
                  <a:srgbClr val="1D1D1F"/>
                </a:solidFill>
                <a:latin typeface="Helvetica Neue Medium"/>
              </a:rPr>
              <a:t>finally useful.</a:t>
            </a:r>
            <a:endParaRPr sz="3600"/>
          </a:p>
        </p:txBody>
      </p:sp>
      <p:sp>
        <p:nvSpPr>
          <p:cNvPr id="6" name="body"/>
          <p:cNvSpPr txBox="1"/>
          <p:nvPr/>
        </p:nvSpPr>
        <p:spPr>
          <a:xfrm>
            <a:off x="914400" y="2840507"/>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All of this is in the free plan.</a:t>
            </a:r>
            <a:endParaRPr sz="1320"/>
          </a:p>
        </p:txBody>
      </p:sp>
      <p:cxnSp>
        <p:nvCxnSpPr>
          <p:cNvPr id="7" name="list rule"/>
          <p:cNvCxnSpPr/>
          <p:nvPr/>
        </p:nvCxnSpPr>
        <p:spPr>
          <a:xfrm>
            <a:off x="914400" y="3358363"/>
            <a:ext cx="3291840" cy="0"/>
          </a:xfrm>
          <a:prstGeom prst="line">
            <a:avLst/>
          </a:prstGeom>
          <a:ln w="9525">
            <a:solidFill>
              <a:srgbClr val="D2D2D7"/>
            </a:solidFill>
          </a:ln>
        </p:spPr>
      </p:cxnSp>
      <p:sp>
        <p:nvSpPr>
          <p:cNvPr id="8" name="bullet"/>
          <p:cNvSpPr txBox="1"/>
          <p:nvPr/>
        </p:nvSpPr>
        <p:spPr>
          <a:xfrm>
            <a:off x="914400" y="3465043"/>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Media for any app: artwork glow, scrubber, bookmarks.</a:t>
            </a:r>
            <a:endParaRPr sz="1020"/>
          </a:p>
        </p:txBody>
      </p:sp>
      <p:cxnSp>
        <p:nvCxnSpPr>
          <p:cNvPr id="9" name="list rule"/>
          <p:cNvCxnSpPr/>
          <p:nvPr/>
        </p:nvCxnSpPr>
        <p:spPr>
          <a:xfrm>
            <a:off x="914400" y="3947389"/>
            <a:ext cx="3291840" cy="0"/>
          </a:xfrm>
          <a:prstGeom prst="line">
            <a:avLst/>
          </a:prstGeom>
          <a:ln w="9525">
            <a:solidFill>
              <a:srgbClr val="D2D2D7"/>
            </a:solidFill>
          </a:ln>
        </p:spPr>
      </p:cxnSp>
      <p:sp>
        <p:nvSpPr>
          <p:cNvPr id="10" name="bullet"/>
          <p:cNvSpPr txBox="1"/>
          <p:nvPr/>
        </p:nvSpPr>
        <p:spPr>
          <a:xfrm>
            <a:off x="914400" y="4054069"/>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A Tray for files, with an AirDrop target.</a:t>
            </a:r>
            <a:endParaRPr sz="1020"/>
          </a:p>
        </p:txBody>
      </p:sp>
      <p:cxnSp>
        <p:nvCxnSpPr>
          <p:cNvPr id="11" name="list rule"/>
          <p:cNvCxnSpPr/>
          <p:nvPr/>
        </p:nvCxnSpPr>
        <p:spPr>
          <a:xfrm>
            <a:off x="914400" y="4536415"/>
            <a:ext cx="3291840" cy="0"/>
          </a:xfrm>
          <a:prstGeom prst="line">
            <a:avLst/>
          </a:prstGeom>
          <a:ln w="9525">
            <a:solidFill>
              <a:srgbClr val="D2D2D7"/>
            </a:solidFill>
          </a:ln>
        </p:spPr>
      </p:cxnSp>
      <p:sp>
        <p:nvSpPr>
          <p:cNvPr id="12" name="bullet"/>
          <p:cNvSpPr txBox="1"/>
          <p:nvPr/>
        </p:nvSpPr>
        <p:spPr>
          <a:xfrm>
            <a:off x="914400" y="4643095"/>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Today: meetings with Join, plus a Pomodoro timer.</a:t>
            </a:r>
            <a:endParaRPr sz="1020"/>
          </a:p>
        </p:txBody>
      </p:sp>
      <p:cxnSp>
        <p:nvCxnSpPr>
          <p:cNvPr id="13" name="list rule"/>
          <p:cNvCxnSpPr/>
          <p:nvPr/>
        </p:nvCxnSpPr>
        <p:spPr>
          <a:xfrm>
            <a:off x="914400" y="5125441"/>
            <a:ext cx="3291840" cy="0"/>
          </a:xfrm>
          <a:prstGeom prst="line">
            <a:avLst/>
          </a:prstGeom>
          <a:ln w="9525">
            <a:solidFill>
              <a:srgbClr val="D2D2D7"/>
            </a:solidFill>
          </a:ln>
        </p:spPr>
      </p:cxnSp>
      <p:sp>
        <p:nvSpPr>
          <p:cNvPr id="14" name="bullet"/>
          <p:cNvSpPr txBox="1"/>
          <p:nvPr/>
        </p:nvSpPr>
        <p:spPr>
          <a:xfrm>
            <a:off x="914400" y="5232121"/>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Live activities: volume, battery, notifications.</a:t>
            </a:r>
            <a:endParaRPr sz="1020"/>
          </a:p>
        </p:txBody>
      </p:sp>
      <p:cxnSp>
        <p:nvCxnSpPr>
          <p:cNvPr id="15" name="list rule"/>
          <p:cNvCxnSpPr/>
          <p:nvPr/>
        </p:nvCxnSpPr>
        <p:spPr>
          <a:xfrm>
            <a:off x="914400" y="5714467"/>
            <a:ext cx="3291840" cy="0"/>
          </a:xfrm>
          <a:prstGeom prst="line">
            <a:avLst/>
          </a:prstGeom>
          <a:ln w="9525">
            <a:solidFill>
              <a:srgbClr val="D2D2D7"/>
            </a:solidFill>
          </a:ln>
        </p:spPr>
      </p:cxnSp>
      <p:sp>
        <p:nvSpPr>
          <p:cNvPr id="16" name="device lid"/>
          <p:cNvSpPr/>
          <p:nvPr/>
        </p:nvSpPr>
        <p:spPr>
          <a:xfrm>
            <a:off x="4739792" y="1324890"/>
            <a:ext cx="6248095" cy="4162499"/>
          </a:xfrm>
          <a:prstGeom prst="round2SameRect">
            <a:avLst>
              <a:gd name="adj1" fmla="val 4759"/>
              <a:gd name="adj2" fmla="val 1098"/>
            </a:avLst>
          </a:prstGeom>
          <a:solidFill>
            <a:srgbClr val="0A0A0B"/>
          </a:solidFill>
          <a:ln w="15240">
            <a:solidFill>
              <a:srgbClr val="BDBDC2"/>
            </a:solidFill>
          </a:ln>
        </p:spPr>
        <p:txBody>
          <a:bodyPr rtlCol="0" anchor="ctr"/>
          <a:lstStyle/>
          <a:p>
            <a:pPr algn="ctr"/>
          </a:p>
        </p:txBody>
      </p:sp>
      <p:sp>
        <p:nvSpPr>
          <p:cNvPr id="17" name="device screen"/>
          <p:cNvSpPr/>
          <p:nvPr/>
        </p:nvSpPr>
        <p:spPr>
          <a:xfrm>
            <a:off x="4846472" y="1431570"/>
            <a:ext cx="6034735" cy="3918659"/>
          </a:xfrm>
          <a:prstGeom prst="round2SameRect">
            <a:avLst>
              <a:gd name="adj1" fmla="val 1944"/>
              <a:gd name="adj2" fmla="val 388"/>
            </a:avLst>
          </a:prstGeom>
          <a:gradFill rotWithShape="1">
            <a:gsLst>
              <a:gs pos="0">
                <a:srgbClr val="130A0E"/>
              </a:gs>
              <a:gs pos="35480">
                <a:srgbClr val="1C1717"/>
              </a:gs>
              <a:gs pos="100000">
                <a:srgbClr val="0F1119"/>
              </a:gs>
            </a:gsLst>
            <a:lin ang="5400000" scaled="0"/>
          </a:gradFill>
          <a:ln>
            <a:noFill/>
          </a:ln>
        </p:spPr>
        <p:txBody>
          <a:bodyPr rtlCol="0" anchor="ctr"/>
          <a:lstStyle/>
          <a:p>
            <a:pPr algn="ctr"/>
          </a:p>
        </p:txBody>
      </p:sp>
      <p:pic>
        <p:nvPicPr>
          <p:cNvPr id="18" name="device screenshot 01-home.png" descr="01-home.png"/>
          <p:cNvPicPr>
            <a:picLocks noChangeAspect="1"/>
          </p:cNvPicPr>
          <p:nvPr/>
        </p:nvPicPr>
        <p:blipFill>
          <a:blip r:embed="rId3"/>
          <a:stretch>
            <a:fillRect/>
          </a:stretch>
        </p:blipFill>
        <p:spPr>
          <a:xfrm>
            <a:off x="4846472" y="1431570"/>
            <a:ext cx="6034735" cy="1390356"/>
          </a:xfrm>
          <a:prstGeom prst="rect">
            <a:avLst/>
          </a:prstGeom>
        </p:spPr>
      </p:pic>
      <p:sp>
        <p:nvSpPr>
          <p:cNvPr id="19" name="device notch"/>
          <p:cNvSpPr/>
          <p:nvPr/>
        </p:nvSpPr>
        <p:spPr>
          <a:xfrm>
            <a:off x="6958630" y="1431570"/>
            <a:ext cx="1810421" cy="267942"/>
          </a:xfrm>
          <a:prstGeom prst="round2SameRect">
            <a:avLst>
              <a:gd name="adj1" fmla="val 0"/>
              <a:gd name="adj2" fmla="val 37843"/>
            </a:avLst>
          </a:prstGeom>
          <a:solidFill>
            <a:srgbClr val="000000"/>
          </a:solidFill>
          <a:ln>
            <a:noFill/>
          </a:ln>
        </p:spPr>
        <p:txBody>
          <a:bodyPr rtlCol="0" anchor="ctr"/>
          <a:lstStyle/>
          <a:p>
            <a:pPr algn="ctr"/>
          </a:p>
        </p:txBody>
      </p:sp>
      <p:sp>
        <p:nvSpPr>
          <p:cNvPr id="20" name="device camera"/>
          <p:cNvSpPr/>
          <p:nvPr/>
        </p:nvSpPr>
        <p:spPr>
          <a:xfrm>
            <a:off x="7825740" y="1527442"/>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21" name="device base"/>
          <p:cNvSpPr/>
          <p:nvPr/>
        </p:nvSpPr>
        <p:spPr>
          <a:xfrm>
            <a:off x="4449928" y="5487390"/>
            <a:ext cx="6827825"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22" name="device thumb cut"/>
          <p:cNvSpPr/>
          <p:nvPr/>
        </p:nvSpPr>
        <p:spPr>
          <a:xfrm>
            <a:off x="7317614" y="5487390"/>
            <a:ext cx="1092452"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Live check required: fn key, speech, Reply Drafter.</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06</a:t>
            </a:r>
            <a:endParaRPr sz="840"/>
          </a:p>
        </p:txBody>
      </p:sp>
      <p:sp>
        <p:nvSpPr>
          <p:cNvPr id="4" name="eyebrow"/>
          <p:cNvSpPr txBox="1"/>
          <p:nvPr/>
        </p:nvSpPr>
        <p:spPr>
          <a:xfrm>
            <a:off x="914400" y="1266825"/>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Talk · Pro (basic dictation is Free)</a:t>
            </a:r>
            <a:endParaRPr sz="1320"/>
          </a:p>
        </p:txBody>
      </p:sp>
      <p:sp>
        <p:nvSpPr>
          <p:cNvPr id="5" name="h1_side"/>
          <p:cNvSpPr txBox="1"/>
          <p:nvPr/>
        </p:nvSpPr>
        <p:spPr>
          <a:xfrm>
            <a:off x="914400" y="1633042"/>
            <a:ext cx="329184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Medium"/>
              </a:rPr>
              <a:t>Talk</a:t>
            </a:r>
            <a:r>
              <a:rPr sz="3600" b="0" i="0" spc="-54">
                <a:solidFill>
                  <a:srgbClr val="1D1D1F"/>
                </a:solidFill>
                <a:latin typeface="Helvetica Neue Light"/>
              </a:rPr>
              <a:t> instead of type.</a:t>
            </a:r>
            <a:endParaRPr sz="3600"/>
          </a:p>
        </p:txBody>
      </p:sp>
      <p:sp>
        <p:nvSpPr>
          <p:cNvPr id="6" name="body"/>
          <p:cNvSpPr txBox="1"/>
          <p:nvPr/>
        </p:nvSpPr>
        <p:spPr>
          <a:xfrm>
            <a:off x="914400" y="2840507"/>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Hold fn anywhere. Talk. Release.</a:t>
            </a:r>
            <a:endParaRPr sz="1320"/>
          </a:p>
        </p:txBody>
      </p:sp>
      <p:cxnSp>
        <p:nvCxnSpPr>
          <p:cNvPr id="7" name="list rule"/>
          <p:cNvCxnSpPr/>
          <p:nvPr/>
        </p:nvCxnSpPr>
        <p:spPr>
          <a:xfrm>
            <a:off x="914400" y="3358363"/>
            <a:ext cx="3291840" cy="0"/>
          </a:xfrm>
          <a:prstGeom prst="line">
            <a:avLst/>
          </a:prstGeom>
          <a:ln w="9525">
            <a:solidFill>
              <a:srgbClr val="D2D2D7"/>
            </a:solidFill>
          </a:ln>
        </p:spPr>
      </p:cxnSp>
      <p:sp>
        <p:nvSpPr>
          <p:cNvPr id="8" name="bullet"/>
          <p:cNvSpPr txBox="1"/>
          <p:nvPr/>
        </p:nvSpPr>
        <p:spPr>
          <a:xfrm>
            <a:off x="914400" y="3465043"/>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Dictation removes filler words and formats lists.</a:t>
            </a:r>
            <a:endParaRPr sz="1020"/>
          </a:p>
        </p:txBody>
      </p:sp>
      <p:cxnSp>
        <p:nvCxnSpPr>
          <p:cNvPr id="9" name="list rule"/>
          <p:cNvCxnSpPr/>
          <p:nvPr/>
        </p:nvCxnSpPr>
        <p:spPr>
          <a:xfrm>
            <a:off x="914400" y="3947389"/>
            <a:ext cx="3291840" cy="0"/>
          </a:xfrm>
          <a:prstGeom prst="line">
            <a:avLst/>
          </a:prstGeom>
          <a:ln w="9525">
            <a:solidFill>
              <a:srgbClr val="D2D2D7"/>
            </a:solidFill>
          </a:ln>
        </p:spPr>
      </p:cxnSp>
      <p:sp>
        <p:nvSpPr>
          <p:cNvPr id="10" name="bullet"/>
          <p:cNvSpPr txBox="1"/>
          <p:nvPr/>
        </p:nvSpPr>
        <p:spPr>
          <a:xfrm>
            <a:off x="914400" y="4054069"/>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Reply Drafter (⌃⌥R) writes a reply in your tone. You press Send.</a:t>
            </a:r>
            <a:endParaRPr sz="1020"/>
          </a:p>
        </p:txBody>
      </p:sp>
      <p:cxnSp>
        <p:nvCxnSpPr>
          <p:cNvPr id="11" name="list rule"/>
          <p:cNvCxnSpPr/>
          <p:nvPr/>
        </p:nvCxnSpPr>
        <p:spPr>
          <a:xfrm>
            <a:off x="914400" y="4536415"/>
            <a:ext cx="3291840" cy="0"/>
          </a:xfrm>
          <a:prstGeom prst="line">
            <a:avLst/>
          </a:prstGeom>
          <a:ln w="9525">
            <a:solidFill>
              <a:srgbClr val="D2D2D7"/>
            </a:solidFill>
          </a:ln>
        </p:spPr>
      </p:cxnSp>
      <p:sp>
        <p:nvSpPr>
          <p:cNvPr id="12" name="bullet"/>
          <p:cNvSpPr txBox="1"/>
          <p:nvPr/>
        </p:nvSpPr>
        <p:spPr>
          <a:xfrm>
            <a:off x="914400" y="4643095"/>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Prompt Refiner turns a rough ask into a clear AI prompt.</a:t>
            </a:r>
            <a:endParaRPr sz="1020"/>
          </a:p>
        </p:txBody>
      </p:sp>
      <p:cxnSp>
        <p:nvCxnSpPr>
          <p:cNvPr id="13" name="list rule"/>
          <p:cNvCxnSpPr/>
          <p:nvPr/>
        </p:nvCxnSpPr>
        <p:spPr>
          <a:xfrm>
            <a:off x="914400" y="5125441"/>
            <a:ext cx="3291840" cy="0"/>
          </a:xfrm>
          <a:prstGeom prst="line">
            <a:avLst/>
          </a:prstGeom>
          <a:ln w="9525">
            <a:solidFill>
              <a:srgbClr val="D2D2D7"/>
            </a:solidFill>
          </a:ln>
        </p:spPr>
      </p:cxnSp>
      <p:sp>
        <p:nvSpPr>
          <p:cNvPr id="14" name="bullet"/>
          <p:cNvSpPr txBox="1"/>
          <p:nvPr/>
        </p:nvSpPr>
        <p:spPr>
          <a:xfrm>
            <a:off x="914400" y="5232121"/>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Add your own words so names are spelled right.</a:t>
            </a:r>
            <a:endParaRPr sz="1020"/>
          </a:p>
        </p:txBody>
      </p:sp>
      <p:cxnSp>
        <p:nvCxnSpPr>
          <p:cNvPr id="15" name="list rule"/>
          <p:cNvCxnSpPr/>
          <p:nvPr/>
        </p:nvCxnSpPr>
        <p:spPr>
          <a:xfrm>
            <a:off x="914400" y="5714467"/>
            <a:ext cx="3291840" cy="0"/>
          </a:xfrm>
          <a:prstGeom prst="line">
            <a:avLst/>
          </a:prstGeom>
          <a:ln w="9525">
            <a:solidFill>
              <a:srgbClr val="D2D2D7"/>
            </a:solidFill>
          </a:ln>
        </p:spPr>
      </p:cxnSp>
      <p:sp>
        <p:nvSpPr>
          <p:cNvPr id="16" name="device lid"/>
          <p:cNvSpPr/>
          <p:nvPr/>
        </p:nvSpPr>
        <p:spPr>
          <a:xfrm>
            <a:off x="4739792" y="1324890"/>
            <a:ext cx="6248095" cy="4162499"/>
          </a:xfrm>
          <a:prstGeom prst="round2SameRect">
            <a:avLst>
              <a:gd name="adj1" fmla="val 4759"/>
              <a:gd name="adj2" fmla="val 1098"/>
            </a:avLst>
          </a:prstGeom>
          <a:solidFill>
            <a:srgbClr val="0A0A0B"/>
          </a:solidFill>
          <a:ln w="15240">
            <a:solidFill>
              <a:srgbClr val="BDBDC2"/>
            </a:solidFill>
          </a:ln>
        </p:spPr>
        <p:txBody>
          <a:bodyPr rtlCol="0" anchor="ctr"/>
          <a:lstStyle/>
          <a:p>
            <a:pPr algn="ctr"/>
          </a:p>
        </p:txBody>
      </p:sp>
      <p:sp>
        <p:nvSpPr>
          <p:cNvPr id="17" name="device screen"/>
          <p:cNvSpPr/>
          <p:nvPr/>
        </p:nvSpPr>
        <p:spPr>
          <a:xfrm>
            <a:off x="4846472" y="1431570"/>
            <a:ext cx="6034735" cy="3918659"/>
          </a:xfrm>
          <a:prstGeom prst="round2SameRect">
            <a:avLst>
              <a:gd name="adj1" fmla="val 1944"/>
              <a:gd name="adj2" fmla="val 388"/>
            </a:avLst>
          </a:prstGeom>
          <a:gradFill rotWithShape="1">
            <a:gsLst>
              <a:gs pos="0">
                <a:srgbClr val="0E0C0B"/>
              </a:gs>
              <a:gs pos="22647">
                <a:srgbClr val="1C1717"/>
              </a:gs>
              <a:gs pos="100000">
                <a:srgbClr val="0F1119"/>
              </a:gs>
            </a:gsLst>
            <a:lin ang="5400000" scaled="0"/>
          </a:gradFill>
          <a:ln>
            <a:noFill/>
          </a:ln>
        </p:spPr>
        <p:txBody>
          <a:bodyPr rtlCol="0" anchor="ctr"/>
          <a:lstStyle/>
          <a:p>
            <a:pPr algn="ctr"/>
          </a:p>
        </p:txBody>
      </p:sp>
      <p:pic>
        <p:nvPicPr>
          <p:cNvPr id="18" name="device screenshot 50-dictation.png" descr="50-dictation.png"/>
          <p:cNvPicPr>
            <a:picLocks noChangeAspect="1"/>
          </p:cNvPicPr>
          <p:nvPr/>
        </p:nvPicPr>
        <p:blipFill>
          <a:blip r:embed="rId3"/>
          <a:stretch>
            <a:fillRect/>
          </a:stretch>
        </p:blipFill>
        <p:spPr>
          <a:xfrm>
            <a:off x="4846472" y="1431570"/>
            <a:ext cx="6034735" cy="887461"/>
          </a:xfrm>
          <a:prstGeom prst="rect">
            <a:avLst/>
          </a:prstGeom>
        </p:spPr>
      </p:pic>
      <p:sp>
        <p:nvSpPr>
          <p:cNvPr id="19" name="device notch"/>
          <p:cNvSpPr/>
          <p:nvPr/>
        </p:nvSpPr>
        <p:spPr>
          <a:xfrm>
            <a:off x="6958630" y="1431570"/>
            <a:ext cx="1810421" cy="267942"/>
          </a:xfrm>
          <a:prstGeom prst="round2SameRect">
            <a:avLst>
              <a:gd name="adj1" fmla="val 0"/>
              <a:gd name="adj2" fmla="val 37843"/>
            </a:avLst>
          </a:prstGeom>
          <a:solidFill>
            <a:srgbClr val="000000"/>
          </a:solidFill>
          <a:ln>
            <a:noFill/>
          </a:ln>
        </p:spPr>
        <p:txBody>
          <a:bodyPr rtlCol="0" anchor="ctr"/>
          <a:lstStyle/>
          <a:p>
            <a:pPr algn="ctr"/>
          </a:p>
        </p:txBody>
      </p:sp>
      <p:sp>
        <p:nvSpPr>
          <p:cNvPr id="20" name="device camera"/>
          <p:cNvSpPr/>
          <p:nvPr/>
        </p:nvSpPr>
        <p:spPr>
          <a:xfrm>
            <a:off x="7825740" y="1527442"/>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21" name="device base"/>
          <p:cNvSpPr/>
          <p:nvPr/>
        </p:nvSpPr>
        <p:spPr>
          <a:xfrm>
            <a:off x="4449928" y="5487390"/>
            <a:ext cx="6827825"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22" name="device thumb cut"/>
          <p:cNvSpPr/>
          <p:nvPr/>
        </p:nvSpPr>
        <p:spPr>
          <a:xfrm>
            <a:off x="7317614" y="5487390"/>
            <a:ext cx="1092452"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Without an optional Groq key, Clicky reads screen text on device. Live check required.</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07</a:t>
            </a:r>
            <a:endParaRPr sz="840"/>
          </a:p>
        </p:txBody>
      </p:sp>
      <p:sp>
        <p:nvSpPr>
          <p:cNvPr id="4" name="eyebrow"/>
          <p:cNvSpPr txBox="1"/>
          <p:nvPr/>
        </p:nvSpPr>
        <p:spPr>
          <a:xfrm>
            <a:off x="914400" y="1305306"/>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Screen help · Pro</a:t>
            </a:r>
            <a:endParaRPr sz="1320"/>
          </a:p>
        </p:txBody>
      </p:sp>
      <p:sp>
        <p:nvSpPr>
          <p:cNvPr id="5" name="h1_side"/>
          <p:cNvSpPr txBox="1"/>
          <p:nvPr/>
        </p:nvSpPr>
        <p:spPr>
          <a:xfrm>
            <a:off x="914400" y="1671523"/>
            <a:ext cx="3291840" cy="1536649"/>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Ask about </a:t>
            </a:r>
            <a:r>
              <a:rPr sz="3600" b="0" i="0" spc="-54">
                <a:solidFill>
                  <a:srgbClr val="1D1D1F"/>
                </a:solidFill>
                <a:latin typeface="Helvetica Neue Medium"/>
              </a:rPr>
              <a:t>anything</a:t>
            </a:r>
            <a:r>
              <a:rPr sz="3600" b="0" i="0" spc="-54">
                <a:solidFill>
                  <a:srgbClr val="1D1D1F"/>
                </a:solidFill>
                <a:latin typeface="Helvetica Neue Light"/>
              </a:rPr>
              <a:t> on your screen.</a:t>
            </a:r>
            <a:endParaRPr sz="3600"/>
          </a:p>
        </p:txBody>
      </p:sp>
      <p:sp>
        <p:nvSpPr>
          <p:cNvPr id="6" name="body"/>
          <p:cNvSpPr txBox="1"/>
          <p:nvPr/>
        </p:nvSpPr>
        <p:spPr>
          <a:xfrm>
            <a:off x="914400" y="3391052"/>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Works in any app, on any display.</a:t>
            </a:r>
            <a:endParaRPr sz="1320"/>
          </a:p>
        </p:txBody>
      </p:sp>
      <p:cxnSp>
        <p:nvCxnSpPr>
          <p:cNvPr id="7" name="list rule"/>
          <p:cNvCxnSpPr/>
          <p:nvPr/>
        </p:nvCxnSpPr>
        <p:spPr>
          <a:xfrm>
            <a:off x="914400" y="3908908"/>
            <a:ext cx="3291840" cy="0"/>
          </a:xfrm>
          <a:prstGeom prst="line">
            <a:avLst/>
          </a:prstGeom>
          <a:ln w="9525">
            <a:solidFill>
              <a:srgbClr val="D2D2D7"/>
            </a:solidFill>
          </a:ln>
        </p:spPr>
      </p:cxnSp>
      <p:sp>
        <p:nvSpPr>
          <p:cNvPr id="8" name="bullet"/>
          <p:cNvSpPr txBox="1"/>
          <p:nvPr/>
        </p:nvSpPr>
        <p:spPr>
          <a:xfrm>
            <a:off x="914400" y="4015588"/>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Hold ⌃⌥ and ask. Clicky answers and points to the spot.</a:t>
            </a:r>
            <a:endParaRPr sz="1020"/>
          </a:p>
        </p:txBody>
      </p:sp>
      <p:cxnSp>
        <p:nvCxnSpPr>
          <p:cNvPr id="9" name="list rule"/>
          <p:cNvCxnSpPr/>
          <p:nvPr/>
        </p:nvCxnSpPr>
        <p:spPr>
          <a:xfrm>
            <a:off x="914400" y="4497934"/>
            <a:ext cx="3291840" cy="0"/>
          </a:xfrm>
          <a:prstGeom prst="line">
            <a:avLst/>
          </a:prstGeom>
          <a:ln w="9525">
            <a:solidFill>
              <a:srgbClr val="D2D2D7"/>
            </a:solidFill>
          </a:ln>
        </p:spPr>
      </p:cxnSp>
      <p:sp>
        <p:nvSpPr>
          <p:cNvPr id="10" name="bullet"/>
          <p:cNvSpPr txBox="1"/>
          <p:nvPr/>
        </p:nvSpPr>
        <p:spPr>
          <a:xfrm>
            <a:off x="914400" y="4604614"/>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⌃⌥S: select a chart or an error, then ask about it.</a:t>
            </a:r>
            <a:endParaRPr sz="1020"/>
          </a:p>
        </p:txBody>
      </p:sp>
      <p:cxnSp>
        <p:nvCxnSpPr>
          <p:cNvPr id="11" name="list rule"/>
          <p:cNvCxnSpPr/>
          <p:nvPr/>
        </p:nvCxnSpPr>
        <p:spPr>
          <a:xfrm>
            <a:off x="914400" y="5086960"/>
            <a:ext cx="3291840" cy="0"/>
          </a:xfrm>
          <a:prstGeom prst="line">
            <a:avLst/>
          </a:prstGeom>
          <a:ln w="9525">
            <a:solidFill>
              <a:srgbClr val="D2D2D7"/>
            </a:solidFill>
          </a:ln>
        </p:spPr>
      </p:cxnSp>
      <p:sp>
        <p:nvSpPr>
          <p:cNvPr id="12" name="bullet"/>
          <p:cNvSpPr txBox="1"/>
          <p:nvPr/>
        </p:nvSpPr>
        <p:spPr>
          <a:xfrm>
            <a:off x="914400" y="5193640"/>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⌃⌥T: copy text from images, videos and locked PDFs.</a:t>
            </a:r>
            <a:endParaRPr sz="1020"/>
          </a:p>
        </p:txBody>
      </p:sp>
      <p:cxnSp>
        <p:nvCxnSpPr>
          <p:cNvPr id="13" name="list rule"/>
          <p:cNvCxnSpPr/>
          <p:nvPr/>
        </p:nvCxnSpPr>
        <p:spPr>
          <a:xfrm>
            <a:off x="914400" y="5675986"/>
            <a:ext cx="3291840" cy="0"/>
          </a:xfrm>
          <a:prstGeom prst="line">
            <a:avLst/>
          </a:prstGeom>
          <a:ln w="9525">
            <a:solidFill>
              <a:srgbClr val="D2D2D7"/>
            </a:solidFill>
          </a:ln>
        </p:spPr>
      </p:cxnSp>
      <p:sp>
        <p:nvSpPr>
          <p:cNvPr id="14" name="device lid"/>
          <p:cNvSpPr/>
          <p:nvPr/>
        </p:nvSpPr>
        <p:spPr>
          <a:xfrm>
            <a:off x="4739792" y="1324890"/>
            <a:ext cx="6248095" cy="4162499"/>
          </a:xfrm>
          <a:prstGeom prst="round2SameRect">
            <a:avLst>
              <a:gd name="adj1" fmla="val 4759"/>
              <a:gd name="adj2" fmla="val 1098"/>
            </a:avLst>
          </a:prstGeom>
          <a:solidFill>
            <a:srgbClr val="0A0A0B"/>
          </a:solidFill>
          <a:ln w="15240">
            <a:solidFill>
              <a:srgbClr val="BDBDC2"/>
            </a:solidFill>
          </a:ln>
        </p:spPr>
        <p:txBody>
          <a:bodyPr rtlCol="0" anchor="ctr"/>
          <a:lstStyle/>
          <a:p>
            <a:pPr algn="ctr"/>
          </a:p>
        </p:txBody>
      </p:sp>
      <p:sp>
        <p:nvSpPr>
          <p:cNvPr id="15" name="device screen"/>
          <p:cNvSpPr/>
          <p:nvPr/>
        </p:nvSpPr>
        <p:spPr>
          <a:xfrm>
            <a:off x="4846472" y="1431570"/>
            <a:ext cx="6034735" cy="3918659"/>
          </a:xfrm>
          <a:prstGeom prst="round2SameRect">
            <a:avLst>
              <a:gd name="adj1" fmla="val 1944"/>
              <a:gd name="adj2" fmla="val 388"/>
            </a:avLst>
          </a:prstGeom>
          <a:gradFill rotWithShape="1">
            <a:gsLst>
              <a:gs pos="0">
                <a:srgbClr val="0E0C0B"/>
              </a:gs>
              <a:gs pos="26673">
                <a:srgbClr val="1C1717"/>
              </a:gs>
              <a:gs pos="100000">
                <a:srgbClr val="0F1119"/>
              </a:gs>
            </a:gsLst>
            <a:lin ang="5400000" scaled="0"/>
          </a:gradFill>
          <a:ln>
            <a:noFill/>
          </a:ln>
        </p:spPr>
        <p:txBody>
          <a:bodyPr rtlCol="0" anchor="ctr"/>
          <a:lstStyle/>
          <a:p>
            <a:pPr algn="ctr"/>
          </a:p>
        </p:txBody>
      </p:sp>
      <p:pic>
        <p:nvPicPr>
          <p:cNvPr id="16" name="device screenshot 51-clicky-answer.png" descr="51-clicky-answer.png"/>
          <p:cNvPicPr>
            <a:picLocks noChangeAspect="1"/>
          </p:cNvPicPr>
          <p:nvPr/>
        </p:nvPicPr>
        <p:blipFill>
          <a:blip r:embed="rId3"/>
          <a:stretch>
            <a:fillRect/>
          </a:stretch>
        </p:blipFill>
        <p:spPr>
          <a:xfrm>
            <a:off x="4846472" y="1431570"/>
            <a:ext cx="6034735" cy="1045232"/>
          </a:xfrm>
          <a:prstGeom prst="rect">
            <a:avLst/>
          </a:prstGeom>
        </p:spPr>
      </p:pic>
      <p:sp>
        <p:nvSpPr>
          <p:cNvPr id="17" name="device notch"/>
          <p:cNvSpPr/>
          <p:nvPr/>
        </p:nvSpPr>
        <p:spPr>
          <a:xfrm>
            <a:off x="6958630" y="1431570"/>
            <a:ext cx="1810421" cy="267942"/>
          </a:xfrm>
          <a:prstGeom prst="round2SameRect">
            <a:avLst>
              <a:gd name="adj1" fmla="val 0"/>
              <a:gd name="adj2" fmla="val 37843"/>
            </a:avLst>
          </a:prstGeom>
          <a:solidFill>
            <a:srgbClr val="000000"/>
          </a:solidFill>
          <a:ln>
            <a:noFill/>
          </a:ln>
        </p:spPr>
        <p:txBody>
          <a:bodyPr rtlCol="0" anchor="ctr"/>
          <a:lstStyle/>
          <a:p>
            <a:pPr algn="ctr"/>
          </a:p>
        </p:txBody>
      </p:sp>
      <p:sp>
        <p:nvSpPr>
          <p:cNvPr id="18" name="device camera"/>
          <p:cNvSpPr/>
          <p:nvPr/>
        </p:nvSpPr>
        <p:spPr>
          <a:xfrm>
            <a:off x="7825740" y="1527442"/>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19" name="device base"/>
          <p:cNvSpPr/>
          <p:nvPr/>
        </p:nvSpPr>
        <p:spPr>
          <a:xfrm>
            <a:off x="4449928" y="5487390"/>
            <a:ext cx="6827825"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20" name="device thumb cut"/>
          <p:cNvSpPr/>
          <p:nvPr/>
        </p:nvSpPr>
        <p:spPr>
          <a:xfrm>
            <a:off x="7317614" y="5487390"/>
            <a:ext cx="1092452"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Live check required: audio capture, translation.</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08</a:t>
            </a:r>
            <a:endParaRPr sz="840"/>
          </a:p>
        </p:txBody>
      </p:sp>
      <p:sp>
        <p:nvSpPr>
          <p:cNvPr id="4" name="eyebrow"/>
          <p:cNvSpPr txBox="1"/>
          <p:nvPr/>
        </p:nvSpPr>
        <p:spPr>
          <a:xfrm>
            <a:off x="914400" y="889254"/>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Meetings · Pro</a:t>
            </a:r>
            <a:endParaRPr sz="1320"/>
          </a:p>
        </p:txBody>
      </p:sp>
      <p:sp>
        <p:nvSpPr>
          <p:cNvPr id="5" name="h1_side"/>
          <p:cNvSpPr txBox="1"/>
          <p:nvPr/>
        </p:nvSpPr>
        <p:spPr>
          <a:xfrm>
            <a:off x="914400" y="1255471"/>
            <a:ext cx="3291840" cy="1536649"/>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Meeting notes, </a:t>
            </a:r>
            <a:r>
              <a:rPr sz="3600" b="0" i="0" spc="-54">
                <a:solidFill>
                  <a:srgbClr val="1D1D1F"/>
                </a:solidFill>
                <a:latin typeface="Helvetica Neue Medium"/>
              </a:rPr>
              <a:t>no bot</a:t>
            </a:r>
            <a:r>
              <a:rPr sz="3600" b="0" i="0" spc="-54">
                <a:solidFill>
                  <a:srgbClr val="1D1D1F"/>
                </a:solidFill>
                <a:latin typeface="Helvetica Neue Light"/>
              </a:rPr>
              <a:t> in the call.</a:t>
            </a:r>
            <a:endParaRPr sz="3600"/>
          </a:p>
        </p:txBody>
      </p:sp>
      <p:sp>
        <p:nvSpPr>
          <p:cNvPr id="6" name="body"/>
          <p:cNvSpPr txBox="1"/>
          <p:nvPr/>
        </p:nvSpPr>
        <p:spPr>
          <a:xfrm>
            <a:off x="914400" y="2975000"/>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One click to record. Transcribed on your Mac.</a:t>
            </a:r>
            <a:endParaRPr sz="1320"/>
          </a:p>
        </p:txBody>
      </p:sp>
      <p:cxnSp>
        <p:nvCxnSpPr>
          <p:cNvPr id="7" name="list rule"/>
          <p:cNvCxnSpPr/>
          <p:nvPr/>
        </p:nvCxnSpPr>
        <p:spPr>
          <a:xfrm>
            <a:off x="914400" y="3735934"/>
            <a:ext cx="3291840" cy="0"/>
          </a:xfrm>
          <a:prstGeom prst="line">
            <a:avLst/>
          </a:prstGeom>
          <a:ln w="9525">
            <a:solidFill>
              <a:srgbClr val="D2D2D7"/>
            </a:solidFill>
          </a:ln>
        </p:spPr>
      </p:cxnSp>
      <p:sp>
        <p:nvSpPr>
          <p:cNvPr id="8" name="bullet"/>
          <p:cNvSpPr txBox="1"/>
          <p:nvPr/>
        </p:nvSpPr>
        <p:spPr>
          <a:xfrm>
            <a:off x="914400" y="3842614"/>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Minutes, decisions and your tasks with due days.</a:t>
            </a:r>
            <a:endParaRPr sz="1020"/>
          </a:p>
        </p:txBody>
      </p:sp>
      <p:cxnSp>
        <p:nvCxnSpPr>
          <p:cNvPr id="9" name="list rule"/>
          <p:cNvCxnSpPr/>
          <p:nvPr/>
        </p:nvCxnSpPr>
        <p:spPr>
          <a:xfrm>
            <a:off x="914400" y="4324960"/>
            <a:ext cx="3291840" cy="0"/>
          </a:xfrm>
          <a:prstGeom prst="line">
            <a:avLst/>
          </a:prstGeom>
          <a:ln w="9525">
            <a:solidFill>
              <a:srgbClr val="D2D2D7"/>
            </a:solidFill>
          </a:ln>
        </p:spPr>
      </p:cxnSp>
      <p:sp>
        <p:nvSpPr>
          <p:cNvPr id="10" name="bullet"/>
          <p:cNvSpPr txBox="1"/>
          <p:nvPr/>
        </p:nvSpPr>
        <p:spPr>
          <a:xfrm>
            <a:off x="914400" y="4431640"/>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A suggested answer when someone asks you a question.</a:t>
            </a:r>
            <a:endParaRPr sz="1020"/>
          </a:p>
        </p:txBody>
      </p:sp>
      <p:cxnSp>
        <p:nvCxnSpPr>
          <p:cNvPr id="11" name="list rule"/>
          <p:cNvCxnSpPr/>
          <p:nvPr/>
        </p:nvCxnSpPr>
        <p:spPr>
          <a:xfrm>
            <a:off x="914400" y="4913986"/>
            <a:ext cx="3291840" cy="0"/>
          </a:xfrm>
          <a:prstGeom prst="line">
            <a:avLst/>
          </a:prstGeom>
          <a:ln w="9525">
            <a:solidFill>
              <a:srgbClr val="D2D2D7"/>
            </a:solidFill>
          </a:ln>
        </p:spPr>
      </p:cxnSp>
      <p:sp>
        <p:nvSpPr>
          <p:cNvPr id="12" name="bullet"/>
          <p:cNvSpPr txBox="1"/>
          <p:nvPr/>
        </p:nvSpPr>
        <p:spPr>
          <a:xfrm>
            <a:off x="914400" y="5020666"/>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Live translated captions, on device.</a:t>
            </a:r>
            <a:endParaRPr sz="1020"/>
          </a:p>
        </p:txBody>
      </p:sp>
      <p:cxnSp>
        <p:nvCxnSpPr>
          <p:cNvPr id="13" name="list rule"/>
          <p:cNvCxnSpPr/>
          <p:nvPr/>
        </p:nvCxnSpPr>
        <p:spPr>
          <a:xfrm>
            <a:off x="914400" y="5503012"/>
            <a:ext cx="3291840" cy="0"/>
          </a:xfrm>
          <a:prstGeom prst="line">
            <a:avLst/>
          </a:prstGeom>
          <a:ln w="9525">
            <a:solidFill>
              <a:srgbClr val="D2D2D7"/>
            </a:solidFill>
          </a:ln>
        </p:spPr>
      </p:cxnSp>
      <p:sp>
        <p:nvSpPr>
          <p:cNvPr id="14" name="bullet"/>
          <p:cNvSpPr txBox="1"/>
          <p:nvPr/>
        </p:nvSpPr>
        <p:spPr>
          <a:xfrm>
            <a:off x="914400" y="5609692"/>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Filed into the right Space automatically.</a:t>
            </a:r>
            <a:endParaRPr sz="1020"/>
          </a:p>
        </p:txBody>
      </p:sp>
      <p:cxnSp>
        <p:nvCxnSpPr>
          <p:cNvPr id="15" name="list rule"/>
          <p:cNvCxnSpPr/>
          <p:nvPr/>
        </p:nvCxnSpPr>
        <p:spPr>
          <a:xfrm>
            <a:off x="914400" y="6092038"/>
            <a:ext cx="3291840" cy="0"/>
          </a:xfrm>
          <a:prstGeom prst="line">
            <a:avLst/>
          </a:prstGeom>
          <a:ln w="9525">
            <a:solidFill>
              <a:srgbClr val="D2D2D7"/>
            </a:solidFill>
          </a:ln>
        </p:spPr>
      </p:cxnSp>
      <p:pic>
        <p:nvPicPr>
          <p:cNvPr id="16" name="window 36-meeting-notes.png" descr="37-meeting-live-answers.png"/>
          <p:cNvPicPr>
            <a:picLocks noChangeAspect="1"/>
          </p:cNvPicPr>
          <p:nvPr/>
        </p:nvPicPr>
        <p:blipFill>
          <a:blip r:embed="rId3"/>
          <a:stretch>
            <a:fillRect/>
          </a:stretch>
        </p:blipFill>
        <p:spPr>
          <a:xfrm>
            <a:off x="4450080" y="1190897"/>
            <a:ext cx="6827520" cy="4598126"/>
          </a:xfrm>
          <a:prstGeom prst="roundRect">
            <a:avLst>
              <a:gd name="adj" fmla="val 1988"/>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Search verified on sample data. Downloads and drag need a live check.</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09</a:t>
            </a:r>
            <a:endParaRPr sz="840"/>
          </a:p>
        </p:txBody>
      </p:sp>
      <p:sp>
        <p:nvSpPr>
          <p:cNvPr id="4" name="eyebrow"/>
          <p:cNvSpPr txBox="1"/>
          <p:nvPr/>
        </p:nvSpPr>
        <p:spPr>
          <a:xfrm>
            <a:off x="914400" y="889254"/>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Search · Pro (clipboard last 25 is Free)</a:t>
            </a:r>
            <a:endParaRPr sz="1320"/>
          </a:p>
        </p:txBody>
      </p:sp>
      <p:sp>
        <p:nvSpPr>
          <p:cNvPr id="5" name="h1_side"/>
          <p:cNvSpPr txBox="1"/>
          <p:nvPr/>
        </p:nvSpPr>
        <p:spPr>
          <a:xfrm>
            <a:off x="914400" y="1255471"/>
            <a:ext cx="3291840" cy="1536649"/>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Every file, clip and note, </a:t>
            </a:r>
            <a:r>
              <a:rPr sz="3600" b="0" i="0" spc="-54">
                <a:solidFill>
                  <a:srgbClr val="1D1D1F"/>
                </a:solidFill>
                <a:latin typeface="Helvetica Neue Medium"/>
              </a:rPr>
              <a:t>one search away.</a:t>
            </a:r>
            <a:endParaRPr sz="3600"/>
          </a:p>
        </p:txBody>
      </p:sp>
      <p:sp>
        <p:nvSpPr>
          <p:cNvPr id="6" name="body"/>
          <p:cNvSpPr txBox="1"/>
          <p:nvPr/>
        </p:nvSpPr>
        <p:spPr>
          <a:xfrm>
            <a:off x="914400" y="2975000"/>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⌥Space searches your Spaces, meetings, dictations, clipboard and Tray.</a:t>
            </a:r>
            <a:endParaRPr sz="1320"/>
          </a:p>
        </p:txBody>
      </p:sp>
      <p:cxnSp>
        <p:nvCxnSpPr>
          <p:cNvPr id="7" name="list rule"/>
          <p:cNvCxnSpPr/>
          <p:nvPr/>
        </p:nvCxnSpPr>
        <p:spPr>
          <a:xfrm>
            <a:off x="914400" y="3735934"/>
            <a:ext cx="3291840" cy="0"/>
          </a:xfrm>
          <a:prstGeom prst="line">
            <a:avLst/>
          </a:prstGeom>
          <a:ln w="9525">
            <a:solidFill>
              <a:srgbClr val="D2D2D7"/>
            </a:solidFill>
          </a:ln>
        </p:spPr>
      </p:cxnSp>
      <p:sp>
        <p:nvSpPr>
          <p:cNvPr id="8" name="bullet"/>
          <p:cNvSpPr txBox="1"/>
          <p:nvPr/>
        </p:nvSpPr>
        <p:spPr>
          <a:xfrm>
            <a:off x="914400" y="3842614"/>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Clipboard history with a paste stack: ⌘⇧V.</a:t>
            </a:r>
            <a:endParaRPr sz="1020"/>
          </a:p>
        </p:txBody>
      </p:sp>
      <p:cxnSp>
        <p:nvCxnSpPr>
          <p:cNvPr id="9" name="list rule"/>
          <p:cNvCxnSpPr/>
          <p:nvPr/>
        </p:nvCxnSpPr>
        <p:spPr>
          <a:xfrm>
            <a:off x="914400" y="4324960"/>
            <a:ext cx="3291840" cy="0"/>
          </a:xfrm>
          <a:prstGeom prst="line">
            <a:avLst/>
          </a:prstGeom>
          <a:ln w="9525">
            <a:solidFill>
              <a:srgbClr val="D2D2D7"/>
            </a:solidFill>
          </a:ln>
        </p:spPr>
      </p:cxnSp>
      <p:sp>
        <p:nvSpPr>
          <p:cNvPr id="10" name="bullet"/>
          <p:cNvSpPr txBox="1"/>
          <p:nvPr/>
        </p:nvSpPr>
        <p:spPr>
          <a:xfrm>
            <a:off x="914400" y="4431640"/>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Converter: PDF, image and document tools that work offline.</a:t>
            </a:r>
            <a:endParaRPr sz="1020"/>
          </a:p>
        </p:txBody>
      </p:sp>
      <p:cxnSp>
        <p:nvCxnSpPr>
          <p:cNvPr id="11" name="list rule"/>
          <p:cNvCxnSpPr/>
          <p:nvPr/>
        </p:nvCxnSpPr>
        <p:spPr>
          <a:xfrm>
            <a:off x="914400" y="4913986"/>
            <a:ext cx="3291840" cy="0"/>
          </a:xfrm>
          <a:prstGeom prst="line">
            <a:avLst/>
          </a:prstGeom>
          <a:ln w="9525">
            <a:solidFill>
              <a:srgbClr val="D2D2D7"/>
            </a:solidFill>
          </a:ln>
        </p:spPr>
      </p:cxnSp>
      <p:sp>
        <p:nvSpPr>
          <p:cNvPr id="12" name="bullet"/>
          <p:cNvSpPr txBox="1"/>
          <p:nvPr/>
        </p:nvSpPr>
        <p:spPr>
          <a:xfrm>
            <a:off x="914400" y="5020666"/>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Downloads sorted by your rules as they finish.</a:t>
            </a:r>
            <a:endParaRPr sz="1020"/>
          </a:p>
        </p:txBody>
      </p:sp>
      <p:cxnSp>
        <p:nvCxnSpPr>
          <p:cNvPr id="13" name="list rule"/>
          <p:cNvCxnSpPr/>
          <p:nvPr/>
        </p:nvCxnSpPr>
        <p:spPr>
          <a:xfrm>
            <a:off x="914400" y="5503012"/>
            <a:ext cx="3291840" cy="0"/>
          </a:xfrm>
          <a:prstGeom prst="line">
            <a:avLst/>
          </a:prstGeom>
          <a:ln w="9525">
            <a:solidFill>
              <a:srgbClr val="D2D2D7"/>
            </a:solidFill>
          </a:ln>
        </p:spPr>
      </p:cxnSp>
      <p:sp>
        <p:nvSpPr>
          <p:cNvPr id="14" name="bullet"/>
          <p:cNvSpPr txBox="1"/>
          <p:nvPr/>
        </p:nvSpPr>
        <p:spPr>
          <a:xfrm>
            <a:off x="914400" y="5609692"/>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Spaces: one memory per client or project, with cited answers.</a:t>
            </a:r>
            <a:endParaRPr sz="1020"/>
          </a:p>
        </p:txBody>
      </p:sp>
      <p:cxnSp>
        <p:nvCxnSpPr>
          <p:cNvPr id="15" name="list rule"/>
          <p:cNvCxnSpPr/>
          <p:nvPr/>
        </p:nvCxnSpPr>
        <p:spPr>
          <a:xfrm>
            <a:off x="914400" y="6092038"/>
            <a:ext cx="3291840" cy="0"/>
          </a:xfrm>
          <a:prstGeom prst="line">
            <a:avLst/>
          </a:prstGeom>
          <a:ln w="9525">
            <a:solidFill>
              <a:srgbClr val="D2D2D7"/>
            </a:solidFill>
          </a:ln>
        </p:spPr>
      </p:cxnSp>
      <p:pic>
        <p:nvPicPr>
          <p:cNvPr id="16" name="window 16-universal-search-panel.png" descr="15-universal-search.png"/>
          <p:cNvPicPr>
            <a:picLocks noChangeAspect="1"/>
          </p:cNvPicPr>
          <p:nvPr/>
        </p:nvPicPr>
        <p:blipFill>
          <a:blip r:embed="rId3"/>
          <a:stretch>
            <a:fillRect/>
          </a:stretch>
        </p:blipFill>
        <p:spPr>
          <a:xfrm>
            <a:off x="4450080" y="2452445"/>
            <a:ext cx="6827520" cy="2075031"/>
          </a:xfrm>
          <a:prstGeom prst="roundRect">
            <a:avLst>
              <a:gd name="adj" fmla="val 4406"/>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Live check required: Do Not Disturb, glow, Modes, camera.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10</a:t>
            </a:r>
            <a:endParaRPr sz="840"/>
          </a:p>
        </p:txBody>
      </p:sp>
      <p:sp>
        <p:nvSpPr>
          <p:cNvPr id="4" name="eyebrow"/>
          <p:cNvSpPr txBox="1"/>
          <p:nvPr/>
        </p:nvSpPr>
        <p:spPr>
          <a:xfrm>
            <a:off x="914400" y="1439799"/>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Focus · Pro</a:t>
            </a:r>
            <a:endParaRPr sz="1320"/>
          </a:p>
        </p:txBody>
      </p:sp>
      <p:sp>
        <p:nvSpPr>
          <p:cNvPr id="5" name="h1_side"/>
          <p:cNvSpPr txBox="1"/>
          <p:nvPr/>
        </p:nvSpPr>
        <p:spPr>
          <a:xfrm>
            <a:off x="914400" y="1806016"/>
            <a:ext cx="329184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Medium"/>
              </a:rPr>
              <a:t>Deep work</a:t>
            </a:r>
            <a:r>
              <a:rPr sz="3600" b="0" i="0" spc="-54">
                <a:solidFill>
                  <a:srgbClr val="1D1D1F"/>
                </a:solidFill>
                <a:latin typeface="Helvetica Neue Light"/>
              </a:rPr>
              <a:t> on a schedule.</a:t>
            </a:r>
            <a:endParaRPr sz="3600"/>
          </a:p>
        </p:txBody>
      </p:sp>
      <p:sp>
        <p:nvSpPr>
          <p:cNvPr id="6" name="body"/>
          <p:cNvSpPr txBox="1"/>
          <p:nvPr/>
        </p:nvSpPr>
        <p:spPr>
          <a:xfrm>
            <a:off x="914400" y="3013481"/>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Focus rounds, one-click Modes and a nudge to sit back.</a:t>
            </a:r>
            <a:endParaRPr sz="1320"/>
          </a:p>
        </p:txBody>
      </p:sp>
      <p:cxnSp>
        <p:nvCxnSpPr>
          <p:cNvPr id="7" name="list rule"/>
          <p:cNvCxnSpPr/>
          <p:nvPr/>
        </p:nvCxnSpPr>
        <p:spPr>
          <a:xfrm>
            <a:off x="914400" y="3774415"/>
            <a:ext cx="3291840" cy="0"/>
          </a:xfrm>
          <a:prstGeom prst="line">
            <a:avLst/>
          </a:prstGeom>
          <a:ln w="9525">
            <a:solidFill>
              <a:srgbClr val="D2D2D7"/>
            </a:solidFill>
          </a:ln>
        </p:spPr>
      </p:cxnSp>
      <p:sp>
        <p:nvSpPr>
          <p:cNvPr id="8" name="bullet"/>
          <p:cNvSpPr txBox="1"/>
          <p:nvPr/>
        </p:nvSpPr>
        <p:spPr>
          <a:xfrm>
            <a:off x="914400" y="3881095"/>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Focus: 25/5, 50/10 or 90/15 rounds, Do Not Disturb and a recap.</a:t>
            </a:r>
            <a:endParaRPr sz="1020"/>
          </a:p>
        </p:txBody>
      </p:sp>
      <p:cxnSp>
        <p:nvCxnSpPr>
          <p:cNvPr id="9" name="list rule"/>
          <p:cNvCxnSpPr/>
          <p:nvPr/>
        </p:nvCxnSpPr>
        <p:spPr>
          <a:xfrm>
            <a:off x="914400" y="4363441"/>
            <a:ext cx="3291840" cy="0"/>
          </a:xfrm>
          <a:prstGeom prst="line">
            <a:avLst/>
          </a:prstGeom>
          <a:ln w="9525">
            <a:solidFill>
              <a:srgbClr val="D2D2D7"/>
            </a:solidFill>
          </a:ln>
        </p:spPr>
      </p:cxnSp>
      <p:sp>
        <p:nvSpPr>
          <p:cNvPr id="10" name="bullet"/>
          <p:cNvSpPr txBox="1"/>
          <p:nvPr/>
        </p:nvSpPr>
        <p:spPr>
          <a:xfrm>
            <a:off x="914400" y="4470121"/>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Modes: one click sets apps, wallpaper, volume and music. Turn it off to restore.</a:t>
            </a:r>
            <a:endParaRPr sz="1020"/>
          </a:p>
        </p:txBody>
      </p:sp>
      <p:cxnSp>
        <p:nvCxnSpPr>
          <p:cNvPr id="11" name="list rule"/>
          <p:cNvCxnSpPr/>
          <p:nvPr/>
        </p:nvCxnSpPr>
        <p:spPr>
          <a:xfrm>
            <a:off x="914400" y="4952467"/>
            <a:ext cx="3291840" cy="0"/>
          </a:xfrm>
          <a:prstGeom prst="line">
            <a:avLst/>
          </a:prstGeom>
          <a:ln w="9525">
            <a:solidFill>
              <a:srgbClr val="D2D2D7"/>
            </a:solidFill>
          </a:ln>
        </p:spPr>
      </p:cxnSp>
      <p:sp>
        <p:nvSpPr>
          <p:cNvPr id="12" name="bullet"/>
          <p:cNvSpPr txBox="1"/>
          <p:nvPr/>
        </p:nvSpPr>
        <p:spPr>
          <a:xfrm>
            <a:off x="914400" y="5059147"/>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Screen Distance: a reminder when you sit closer than 40 cm.</a:t>
            </a:r>
            <a:endParaRPr sz="1020"/>
          </a:p>
        </p:txBody>
      </p:sp>
      <p:cxnSp>
        <p:nvCxnSpPr>
          <p:cNvPr id="13" name="list rule"/>
          <p:cNvCxnSpPr/>
          <p:nvPr/>
        </p:nvCxnSpPr>
        <p:spPr>
          <a:xfrm>
            <a:off x="914400" y="5541493"/>
            <a:ext cx="3291840" cy="0"/>
          </a:xfrm>
          <a:prstGeom prst="line">
            <a:avLst/>
          </a:prstGeom>
          <a:ln w="9525">
            <a:solidFill>
              <a:srgbClr val="D2D2D7"/>
            </a:solidFill>
          </a:ln>
        </p:spPr>
      </p:cxnSp>
      <p:sp>
        <p:nvSpPr>
          <p:cNvPr id="14" name="device lid"/>
          <p:cNvSpPr/>
          <p:nvPr/>
        </p:nvSpPr>
        <p:spPr>
          <a:xfrm>
            <a:off x="4739792" y="1324890"/>
            <a:ext cx="6248095" cy="4162499"/>
          </a:xfrm>
          <a:prstGeom prst="round2SameRect">
            <a:avLst>
              <a:gd name="adj1" fmla="val 4759"/>
              <a:gd name="adj2" fmla="val 1098"/>
            </a:avLst>
          </a:prstGeom>
          <a:solidFill>
            <a:srgbClr val="0A0A0B"/>
          </a:solidFill>
          <a:ln w="15240">
            <a:solidFill>
              <a:srgbClr val="BDBDC2"/>
            </a:solidFill>
          </a:ln>
        </p:spPr>
        <p:txBody>
          <a:bodyPr rtlCol="0" anchor="ctr"/>
          <a:lstStyle/>
          <a:p>
            <a:pPr algn="ctr"/>
          </a:p>
        </p:txBody>
      </p:sp>
      <p:sp>
        <p:nvSpPr>
          <p:cNvPr id="15" name="device screen"/>
          <p:cNvSpPr/>
          <p:nvPr/>
        </p:nvSpPr>
        <p:spPr>
          <a:xfrm>
            <a:off x="4846472" y="1431570"/>
            <a:ext cx="6034735" cy="3918659"/>
          </a:xfrm>
          <a:prstGeom prst="round2SameRect">
            <a:avLst>
              <a:gd name="adj1" fmla="val 1944"/>
              <a:gd name="adj2" fmla="val 388"/>
            </a:avLst>
          </a:prstGeom>
          <a:gradFill rotWithShape="1">
            <a:gsLst>
              <a:gs pos="0">
                <a:srgbClr val="040303"/>
              </a:gs>
              <a:gs pos="35480">
                <a:srgbClr val="1C1717"/>
              </a:gs>
              <a:gs pos="100000">
                <a:srgbClr val="0F1119"/>
              </a:gs>
            </a:gsLst>
            <a:lin ang="5400000" scaled="0"/>
          </a:gradFill>
          <a:ln>
            <a:noFill/>
          </a:ln>
        </p:spPr>
        <p:txBody>
          <a:bodyPr rtlCol="0" anchor="ctr"/>
          <a:lstStyle/>
          <a:p>
            <a:pPr algn="ctr"/>
          </a:p>
        </p:txBody>
      </p:sp>
      <p:pic>
        <p:nvPicPr>
          <p:cNvPr id="16" name="device screenshot 28-focus.png" descr="28-focus.png"/>
          <p:cNvPicPr>
            <a:picLocks noChangeAspect="1"/>
          </p:cNvPicPr>
          <p:nvPr/>
        </p:nvPicPr>
        <p:blipFill>
          <a:blip r:embed="rId3"/>
          <a:stretch>
            <a:fillRect/>
          </a:stretch>
        </p:blipFill>
        <p:spPr>
          <a:xfrm>
            <a:off x="4846472" y="1431570"/>
            <a:ext cx="6034735" cy="1390356"/>
          </a:xfrm>
          <a:prstGeom prst="rect">
            <a:avLst/>
          </a:prstGeom>
        </p:spPr>
      </p:pic>
      <p:sp>
        <p:nvSpPr>
          <p:cNvPr id="17" name="device notch"/>
          <p:cNvSpPr/>
          <p:nvPr/>
        </p:nvSpPr>
        <p:spPr>
          <a:xfrm>
            <a:off x="6958630" y="1431570"/>
            <a:ext cx="1810421" cy="267942"/>
          </a:xfrm>
          <a:prstGeom prst="round2SameRect">
            <a:avLst>
              <a:gd name="adj1" fmla="val 0"/>
              <a:gd name="adj2" fmla="val 37843"/>
            </a:avLst>
          </a:prstGeom>
          <a:solidFill>
            <a:srgbClr val="000000"/>
          </a:solidFill>
          <a:ln>
            <a:noFill/>
          </a:ln>
        </p:spPr>
        <p:txBody>
          <a:bodyPr rtlCol="0" anchor="ctr"/>
          <a:lstStyle/>
          <a:p>
            <a:pPr algn="ctr"/>
          </a:p>
        </p:txBody>
      </p:sp>
      <p:sp>
        <p:nvSpPr>
          <p:cNvPr id="18" name="device camera"/>
          <p:cNvSpPr/>
          <p:nvPr/>
        </p:nvSpPr>
        <p:spPr>
          <a:xfrm>
            <a:off x="7825740" y="1527442"/>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19" name="device base"/>
          <p:cNvSpPr/>
          <p:nvPr/>
        </p:nvSpPr>
        <p:spPr>
          <a:xfrm>
            <a:off x="4449928" y="5487390"/>
            <a:ext cx="6827825"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20" name="device thumb cut"/>
          <p:cNvSpPr/>
          <p:nvPr/>
        </p:nvSpPr>
        <p:spPr>
          <a:xfrm>
            <a:off x="7317614" y="5487390"/>
            <a:ext cx="1092452"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Node.js required for UI Audit and Browser Flows; only on sites you own or may test. Browser Flows is beta.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11</a:t>
            </a:r>
            <a:endParaRPr sz="840"/>
          </a:p>
        </p:txBody>
      </p:sp>
      <p:sp>
        <p:nvSpPr>
          <p:cNvPr id="4" name="eyebrow"/>
          <p:cNvSpPr txBox="1"/>
          <p:nvPr/>
        </p:nvSpPr>
        <p:spPr>
          <a:xfrm>
            <a:off x="914400" y="1010793"/>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Builders · Pro</a:t>
            </a:r>
            <a:endParaRPr sz="1320"/>
          </a:p>
        </p:txBody>
      </p:sp>
      <p:sp>
        <p:nvSpPr>
          <p:cNvPr id="5" name="h1_side"/>
          <p:cNvSpPr txBox="1"/>
          <p:nvPr/>
        </p:nvSpPr>
        <p:spPr>
          <a:xfrm>
            <a:off x="914400" y="1377010"/>
            <a:ext cx="3291840" cy="1536649"/>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Power tools for </a:t>
            </a:r>
            <a:r>
              <a:rPr sz="3600" b="0" i="0" spc="-54">
                <a:solidFill>
                  <a:srgbClr val="1D1D1F"/>
                </a:solidFill>
                <a:latin typeface="Helvetica Neue Medium"/>
              </a:rPr>
              <a:t>builders</a:t>
            </a:r>
            <a:r>
              <a:rPr sz="3600" b="0" i="0" spc="-54">
                <a:solidFill>
                  <a:srgbClr val="1D1D1F"/>
                </a:solidFill>
                <a:latin typeface="Helvetica Neue Light"/>
              </a:rPr>
              <a:t> and job seekers.</a:t>
            </a:r>
            <a:endParaRPr sz="3600"/>
          </a:p>
        </p:txBody>
      </p:sp>
      <p:sp>
        <p:nvSpPr>
          <p:cNvPr id="6" name="body"/>
          <p:cNvSpPr txBox="1"/>
          <p:nvPr/>
        </p:nvSpPr>
        <p:spPr>
          <a:xfrm>
            <a:off x="914400" y="3096539"/>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Included in Pro.</a:t>
            </a:r>
            <a:endParaRPr sz="1320"/>
          </a:p>
        </p:txBody>
      </p:sp>
      <p:cxnSp>
        <p:nvCxnSpPr>
          <p:cNvPr id="7" name="list rule"/>
          <p:cNvCxnSpPr/>
          <p:nvPr/>
        </p:nvCxnSpPr>
        <p:spPr>
          <a:xfrm>
            <a:off x="914400" y="3614395"/>
            <a:ext cx="3291840" cy="0"/>
          </a:xfrm>
          <a:prstGeom prst="line">
            <a:avLst/>
          </a:prstGeom>
          <a:ln w="9525">
            <a:solidFill>
              <a:srgbClr val="D2D2D7"/>
            </a:solidFill>
          </a:ln>
        </p:spPr>
      </p:cxnSp>
      <p:sp>
        <p:nvSpPr>
          <p:cNvPr id="8" name="bullet"/>
          <p:cNvSpPr txBox="1"/>
          <p:nvPr/>
        </p:nvSpPr>
        <p:spPr>
          <a:xfrm>
            <a:off x="914400" y="3721075"/>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UI Audit tests your own site and writes a fix prompt for your AI coding assistant.</a:t>
            </a:r>
            <a:endParaRPr sz="1020"/>
          </a:p>
        </p:txBody>
      </p:sp>
      <p:cxnSp>
        <p:nvCxnSpPr>
          <p:cNvPr id="9" name="list rule"/>
          <p:cNvCxnSpPr/>
          <p:nvPr/>
        </p:nvCxnSpPr>
        <p:spPr>
          <a:xfrm>
            <a:off x="914400" y="4203421"/>
            <a:ext cx="3291840" cy="0"/>
          </a:xfrm>
          <a:prstGeom prst="line">
            <a:avLst/>
          </a:prstGeom>
          <a:ln w="9525">
            <a:solidFill>
              <a:srgbClr val="D2D2D7"/>
            </a:solidFill>
          </a:ln>
        </p:spPr>
      </p:cxnSp>
      <p:sp>
        <p:nvSpPr>
          <p:cNvPr id="10" name="bullet"/>
          <p:cNvSpPr txBox="1"/>
          <p:nvPr/>
        </p:nvSpPr>
        <p:spPr>
          <a:xfrm>
            <a:off x="914400" y="4310101"/>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Flow Canvas chains links, PDFs and notes into AI workflows.</a:t>
            </a:r>
            <a:endParaRPr sz="1020"/>
          </a:p>
        </p:txBody>
      </p:sp>
      <p:cxnSp>
        <p:nvCxnSpPr>
          <p:cNvPr id="11" name="list rule"/>
          <p:cNvCxnSpPr/>
          <p:nvPr/>
        </p:nvCxnSpPr>
        <p:spPr>
          <a:xfrm>
            <a:off x="914400" y="4792447"/>
            <a:ext cx="3291840" cy="0"/>
          </a:xfrm>
          <a:prstGeom prst="line">
            <a:avLst/>
          </a:prstGeom>
          <a:ln w="9525">
            <a:solidFill>
              <a:srgbClr val="D2D2D7"/>
            </a:solidFill>
          </a:ln>
        </p:spPr>
      </p:cxnSp>
      <p:sp>
        <p:nvSpPr>
          <p:cNvPr id="12" name="bullet"/>
          <p:cNvSpPr txBox="1"/>
          <p:nvPr/>
        </p:nvSpPr>
        <p:spPr>
          <a:xfrm>
            <a:off x="914400" y="4899127"/>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Job Agent scores your fit and tracks every application.</a:t>
            </a:r>
            <a:endParaRPr sz="1020"/>
          </a:p>
        </p:txBody>
      </p:sp>
      <p:cxnSp>
        <p:nvCxnSpPr>
          <p:cNvPr id="13" name="list rule"/>
          <p:cNvCxnSpPr/>
          <p:nvPr/>
        </p:nvCxnSpPr>
        <p:spPr>
          <a:xfrm>
            <a:off x="914400" y="5381473"/>
            <a:ext cx="3291840" cy="0"/>
          </a:xfrm>
          <a:prstGeom prst="line">
            <a:avLst/>
          </a:prstGeom>
          <a:ln w="9525">
            <a:solidFill>
              <a:srgbClr val="D2D2D7"/>
            </a:solidFill>
          </a:ln>
        </p:spPr>
      </p:cxnSp>
      <p:sp>
        <p:nvSpPr>
          <p:cNvPr id="14" name="bullet"/>
          <p:cNvSpPr txBox="1"/>
          <p:nvPr/>
        </p:nvSpPr>
        <p:spPr>
          <a:xfrm>
            <a:off x="914400" y="5488153"/>
            <a:ext cx="3291840" cy="375666"/>
          </a:xfrm>
          <a:prstGeom prst="rect">
            <a:avLst/>
          </a:prstGeom>
          <a:noFill/>
        </p:spPr>
        <p:txBody>
          <a:bodyPr wrap="square" lIns="0" tIns="0" rIns="0" bIns="0" anchor="ctr">
            <a:noAutofit/>
          </a:bodyPr>
          <a:lstStyle/>
          <a:p>
            <a:pPr algn="l">
              <a:lnSpc>
                <a:spcPts val="1479"/>
              </a:lnSpc>
              <a:spcBef>
                <a:spcPts val="0"/>
              </a:spcBef>
              <a:spcAft>
                <a:spcPts val="0"/>
              </a:spcAft>
            </a:pPr>
            <a:r>
              <a:rPr sz="1019" b="0" i="0">
                <a:solidFill>
                  <a:srgbClr val="6E6E73"/>
                </a:solidFill>
                <a:latin typeface="Helvetica Neue"/>
              </a:rPr>
              <a:t>Browser Flows (beta) records a web chore once and replays it.</a:t>
            </a:r>
            <a:endParaRPr sz="1020"/>
          </a:p>
        </p:txBody>
      </p:sp>
      <p:cxnSp>
        <p:nvCxnSpPr>
          <p:cNvPr id="15" name="list rule"/>
          <p:cNvCxnSpPr/>
          <p:nvPr/>
        </p:nvCxnSpPr>
        <p:spPr>
          <a:xfrm>
            <a:off x="914400" y="5970499"/>
            <a:ext cx="3291840" cy="0"/>
          </a:xfrm>
          <a:prstGeom prst="line">
            <a:avLst/>
          </a:prstGeom>
          <a:ln w="9525">
            <a:solidFill>
              <a:srgbClr val="D2D2D7"/>
            </a:solidFill>
          </a:ln>
        </p:spPr>
      </p:cxnSp>
      <p:pic>
        <p:nvPicPr>
          <p:cNvPr id="16" name="window 22-ui-audit-window.png" descr="22-ui-audit-window.png"/>
          <p:cNvPicPr>
            <a:picLocks noChangeAspect="1"/>
          </p:cNvPicPr>
          <p:nvPr/>
        </p:nvPicPr>
        <p:blipFill>
          <a:blip r:embed="rId3"/>
          <a:stretch>
            <a:fillRect/>
          </a:stretch>
        </p:blipFill>
        <p:spPr>
          <a:xfrm>
            <a:off x="4450080" y="1214120"/>
            <a:ext cx="6827520" cy="4551680"/>
          </a:xfrm>
          <a:prstGeom prst="roundRect">
            <a:avLst>
              <a:gd name="adj" fmla="val 2008"/>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Internal tests, not customer metrics. Sources: Business Plan §9; Feature Guide §25 and Verification summary.</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Proof</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Medium"/>
              </a:rPr>
              <a:t>Private by default.</a:t>
            </a:r>
            <a:r>
              <a:rPr sz="3360" b="0" i="0" spc="-50">
                <a:solidFill>
                  <a:srgbClr val="1D1D1F"/>
                </a:solidFill>
                <a:latin typeface="Helvetica Neue Light"/>
              </a:rPr>
              <a:t> Tested in the real build.</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Internal checks on the current build, 22 Oct 2026.</a:t>
            </a:r>
            <a:endParaRPr sz="1680"/>
          </a:p>
        </p:txBody>
      </p:sp>
      <p:sp>
        <p:nvSpPr>
          <p:cNvPr id="7" name="metric card"/>
          <p:cNvSpPr/>
          <p:nvPr/>
        </p:nvSpPr>
        <p:spPr>
          <a:xfrm>
            <a:off x="914400" y="2308708"/>
            <a:ext cx="3291840" cy="1878406"/>
          </a:xfrm>
          <a:prstGeom prst="roundRect">
            <a:avLst>
              <a:gd name="adj" fmla="val 8924"/>
            </a:avLst>
          </a:prstGeom>
          <a:solidFill>
            <a:srgbClr val="F5F5F7"/>
          </a:solidFill>
          <a:ln>
            <a:noFill/>
          </a:ln>
        </p:spPr>
        <p:txBody>
          <a:bodyPr rtlCol="0" anchor="ctr"/>
          <a:lstStyle/>
          <a:p>
            <a:pPr algn="ctr"/>
          </a:p>
        </p:txBody>
      </p:sp>
      <p:sp>
        <p:nvSpPr>
          <p:cNvPr id="8" name="metric value"/>
          <p:cNvSpPr txBox="1"/>
          <p:nvPr/>
        </p:nvSpPr>
        <p:spPr>
          <a:xfrm>
            <a:off x="1158240" y="2522068"/>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F01822"/>
                </a:solidFill>
                <a:latin typeface="Helvetica Neue Medium"/>
              </a:rPr>
              <a:t>$0</a:t>
            </a:r>
            <a:endParaRPr sz="4800"/>
          </a:p>
        </p:txBody>
      </p:sp>
      <p:sp>
        <p:nvSpPr>
          <p:cNvPr id="9" name="metric label"/>
          <p:cNvSpPr txBox="1"/>
          <p:nvPr/>
        </p:nvSpPr>
        <p:spPr>
          <a:xfrm>
            <a:off x="1158240" y="3299765"/>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cloud AI needed. Apple Intelligence, Vision, Speech and Translation run on your Mac.</a:t>
            </a:r>
            <a:endParaRPr sz="1020"/>
          </a:p>
        </p:txBody>
      </p:sp>
      <p:sp>
        <p:nvSpPr>
          <p:cNvPr id="10" name="metric card"/>
          <p:cNvSpPr/>
          <p:nvPr/>
        </p:nvSpPr>
        <p:spPr>
          <a:xfrm>
            <a:off x="4450080" y="2308708"/>
            <a:ext cx="3291840" cy="1878406"/>
          </a:xfrm>
          <a:prstGeom prst="roundRect">
            <a:avLst>
              <a:gd name="adj" fmla="val 8924"/>
            </a:avLst>
          </a:prstGeom>
          <a:solidFill>
            <a:srgbClr val="F5F5F7"/>
          </a:solidFill>
          <a:ln>
            <a:noFill/>
          </a:ln>
        </p:spPr>
        <p:txBody>
          <a:bodyPr rtlCol="0" anchor="ctr"/>
          <a:lstStyle/>
          <a:p>
            <a:pPr algn="ctr"/>
          </a:p>
        </p:txBody>
      </p:sp>
      <p:sp>
        <p:nvSpPr>
          <p:cNvPr id="11" name="metric value"/>
          <p:cNvSpPr txBox="1"/>
          <p:nvPr/>
        </p:nvSpPr>
        <p:spPr>
          <a:xfrm>
            <a:off x="4693920" y="2522068"/>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50</a:t>
            </a:r>
            <a:endParaRPr sz="4800"/>
          </a:p>
        </p:txBody>
      </p:sp>
      <p:sp>
        <p:nvSpPr>
          <p:cNvPr id="12" name="metric label"/>
          <p:cNvSpPr txBox="1"/>
          <p:nvPr/>
        </p:nvSpPr>
        <p:spPr>
          <a:xfrm>
            <a:off x="4693920" y="3299765"/>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real app views in this deck. No mock-ups.</a:t>
            </a:r>
            <a:endParaRPr sz="1020"/>
          </a:p>
        </p:txBody>
      </p:sp>
      <p:sp>
        <p:nvSpPr>
          <p:cNvPr id="13" name="metric card"/>
          <p:cNvSpPr/>
          <p:nvPr/>
        </p:nvSpPr>
        <p:spPr>
          <a:xfrm>
            <a:off x="7985760" y="2308708"/>
            <a:ext cx="3291840" cy="1878406"/>
          </a:xfrm>
          <a:prstGeom prst="roundRect">
            <a:avLst>
              <a:gd name="adj" fmla="val 8924"/>
            </a:avLst>
          </a:prstGeom>
          <a:solidFill>
            <a:srgbClr val="F5F5F7"/>
          </a:solidFill>
          <a:ln>
            <a:noFill/>
          </a:ln>
        </p:spPr>
        <p:txBody>
          <a:bodyPr rtlCol="0" anchor="ctr"/>
          <a:lstStyle/>
          <a:p>
            <a:pPr algn="ctr"/>
          </a:p>
        </p:txBody>
      </p:sp>
      <p:sp>
        <p:nvSpPr>
          <p:cNvPr id="14" name="metric value"/>
          <p:cNvSpPr txBox="1"/>
          <p:nvPr/>
        </p:nvSpPr>
        <p:spPr>
          <a:xfrm>
            <a:off x="8229600" y="2522068"/>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69</a:t>
            </a:r>
            <a:endParaRPr sz="4800"/>
          </a:p>
        </p:txBody>
      </p:sp>
      <p:sp>
        <p:nvSpPr>
          <p:cNvPr id="15" name="metric label"/>
          <p:cNvSpPr txBox="1"/>
          <p:nvPr/>
        </p:nvSpPr>
        <p:spPr>
          <a:xfrm>
            <a:off x="8229600" y="3299765"/>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issues UI Audit found on a planted-issue test site. Runner self-test: 48/48.</a:t>
            </a:r>
            <a:endParaRPr sz="1020"/>
          </a:p>
        </p:txBody>
      </p:sp>
      <p:sp>
        <p:nvSpPr>
          <p:cNvPr id="16" name="metric card"/>
          <p:cNvSpPr/>
          <p:nvPr/>
        </p:nvSpPr>
        <p:spPr>
          <a:xfrm>
            <a:off x="914400" y="4369994"/>
            <a:ext cx="3291840" cy="1878406"/>
          </a:xfrm>
          <a:prstGeom prst="roundRect">
            <a:avLst>
              <a:gd name="adj" fmla="val 8924"/>
            </a:avLst>
          </a:prstGeom>
          <a:solidFill>
            <a:srgbClr val="F5F5F7"/>
          </a:solidFill>
          <a:ln>
            <a:noFill/>
          </a:ln>
        </p:spPr>
        <p:txBody>
          <a:bodyPr rtlCol="0" anchor="ctr"/>
          <a:lstStyle/>
          <a:p>
            <a:pPr algn="ctr"/>
          </a:p>
        </p:txBody>
      </p:sp>
      <p:sp>
        <p:nvSpPr>
          <p:cNvPr id="17" name="metric value"/>
          <p:cNvSpPr txBox="1"/>
          <p:nvPr/>
        </p:nvSpPr>
        <p:spPr>
          <a:xfrm>
            <a:off x="1158240" y="4583354"/>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195 / 195</a:t>
            </a:r>
            <a:endParaRPr sz="4800"/>
          </a:p>
        </p:txBody>
      </p:sp>
      <p:sp>
        <p:nvSpPr>
          <p:cNvPr id="18" name="metric label"/>
          <p:cNvSpPr txBox="1"/>
          <p:nvPr/>
        </p:nvSpPr>
        <p:spPr>
          <a:xfrm>
            <a:off x="1158240" y="5361051"/>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clipboard and paste-stack checks passed.</a:t>
            </a:r>
            <a:endParaRPr sz="1020"/>
          </a:p>
        </p:txBody>
      </p:sp>
      <p:sp>
        <p:nvSpPr>
          <p:cNvPr id="19" name="metric card"/>
          <p:cNvSpPr/>
          <p:nvPr/>
        </p:nvSpPr>
        <p:spPr>
          <a:xfrm>
            <a:off x="4450080" y="4369994"/>
            <a:ext cx="3291840" cy="1878406"/>
          </a:xfrm>
          <a:prstGeom prst="roundRect">
            <a:avLst>
              <a:gd name="adj" fmla="val 8924"/>
            </a:avLst>
          </a:prstGeom>
          <a:solidFill>
            <a:srgbClr val="F5F5F7"/>
          </a:solidFill>
          <a:ln>
            <a:noFill/>
          </a:ln>
        </p:spPr>
        <p:txBody>
          <a:bodyPr rtlCol="0" anchor="ctr"/>
          <a:lstStyle/>
          <a:p>
            <a:pPr algn="ctr"/>
          </a:p>
        </p:txBody>
      </p:sp>
      <p:sp>
        <p:nvSpPr>
          <p:cNvPr id="20" name="metric value"/>
          <p:cNvSpPr txBox="1"/>
          <p:nvPr/>
        </p:nvSpPr>
        <p:spPr>
          <a:xfrm>
            <a:off x="4693920" y="4583354"/>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29,283</a:t>
            </a:r>
            <a:endParaRPr sz="4800"/>
          </a:p>
        </p:txBody>
      </p:sp>
      <p:sp>
        <p:nvSpPr>
          <p:cNvPr id="21" name="metric label"/>
          <p:cNvSpPr txBox="1"/>
          <p:nvPr/>
        </p:nvSpPr>
        <p:spPr>
          <a:xfrm>
            <a:off x="4693920" y="5361051"/>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widget checks passed, 0 failed.</a:t>
            </a:r>
            <a:endParaRPr sz="1020"/>
          </a:p>
        </p:txBody>
      </p:sp>
      <p:sp>
        <p:nvSpPr>
          <p:cNvPr id="22" name="metric card"/>
          <p:cNvSpPr/>
          <p:nvPr/>
        </p:nvSpPr>
        <p:spPr>
          <a:xfrm>
            <a:off x="7985760" y="4369994"/>
            <a:ext cx="3291840" cy="1878406"/>
          </a:xfrm>
          <a:prstGeom prst="roundRect">
            <a:avLst>
              <a:gd name="adj" fmla="val 8924"/>
            </a:avLst>
          </a:prstGeom>
          <a:solidFill>
            <a:srgbClr val="F5F5F7"/>
          </a:solidFill>
          <a:ln>
            <a:noFill/>
          </a:ln>
        </p:spPr>
        <p:txBody>
          <a:bodyPr rtlCol="0" anchor="ctr"/>
          <a:lstStyle/>
          <a:p>
            <a:pPr algn="ctr"/>
          </a:p>
        </p:txBody>
      </p:sp>
      <p:sp>
        <p:nvSpPr>
          <p:cNvPr id="23" name="metric value"/>
          <p:cNvSpPr txBox="1"/>
          <p:nvPr/>
        </p:nvSpPr>
        <p:spPr>
          <a:xfrm>
            <a:off x="8229600" y="4583354"/>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1" spc="-96">
                <a:solidFill>
                  <a:srgbClr val="86868B"/>
                </a:solidFill>
                <a:latin typeface="Helvetica Neue Light"/>
              </a:rPr>
              <a:t>[TBD]</a:t>
            </a:r>
            <a:endParaRPr sz="4800"/>
          </a:p>
        </p:txBody>
      </p:sp>
      <p:sp>
        <p:nvSpPr>
          <p:cNvPr id="24" name="metric label"/>
          <p:cNvSpPr txBox="1"/>
          <p:nvPr/>
        </p:nvSpPr>
        <p:spPr>
          <a:xfrm>
            <a:off x="8229600" y="5361051"/>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1">
                <a:solidFill>
                  <a:srgbClr val="86868B"/>
                </a:solidFill>
                <a:latin typeface="Helvetica Neue"/>
              </a:rPr>
              <a:t>[TBD: private beta users]</a:t>
            </a:r>
            <a:r>
              <a:rPr sz="1019" b="0" i="0">
                <a:solidFill>
                  <a:srgbClr val="6E6E73"/>
                </a:solidFill>
                <a:latin typeface="Helvetica Neue"/>
              </a:rPr>
              <a:t> · </a:t>
            </a:r>
            <a:r>
              <a:rPr sz="1019" b="0" i="1">
                <a:solidFill>
                  <a:srgbClr val="86868B"/>
                </a:solidFill>
                <a:latin typeface="Helvetica Neue"/>
              </a:rPr>
              <a:t>[TBD: beta testimonial]</a:t>
            </a:r>
            <a:endParaRPr sz="102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Prices from public third-party listings, Oct 2026 (SparkV Business Plan §3). Feature sets differ; SparkV does not copy every feature of these apps. Re-check vendor pricing before publishing.</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13a</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Value</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Medium"/>
              </a:rPr>
              <a:t>One app</a:t>
            </a:r>
            <a:r>
              <a:rPr sz="3840" b="0" i="0" spc="-58">
                <a:solidFill>
                  <a:srgbClr val="1D1D1F"/>
                </a:solidFill>
                <a:latin typeface="Helvetica Neue Light"/>
              </a:rPr>
              <a:t> instead of six.</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What the same jobs cost as separate apps.</a:t>
            </a:r>
            <a:endParaRPr sz="1680"/>
          </a:p>
        </p:txBody>
      </p:sp>
      <p:sp>
        <p:nvSpPr>
          <p:cNvPr id="7" name="column head"/>
          <p:cNvSpPr txBox="1"/>
          <p:nvPr/>
        </p:nvSpPr>
        <p:spPr>
          <a:xfrm>
            <a:off x="1024128" y="2422703"/>
            <a:ext cx="195455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JOB</a:t>
            </a:r>
            <a:endParaRPr sz="900"/>
          </a:p>
        </p:txBody>
      </p:sp>
      <p:sp>
        <p:nvSpPr>
          <p:cNvPr id="8" name="column head"/>
          <p:cNvSpPr txBox="1"/>
          <p:nvPr/>
        </p:nvSpPr>
        <p:spPr>
          <a:xfrm>
            <a:off x="3161566" y="2422703"/>
            <a:ext cx="159918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TYPICAL APP</a:t>
            </a:r>
            <a:endParaRPr sz="900"/>
          </a:p>
        </p:txBody>
      </p:sp>
      <p:sp>
        <p:nvSpPr>
          <p:cNvPr id="9" name="column head"/>
          <p:cNvSpPr txBox="1"/>
          <p:nvPr/>
        </p:nvSpPr>
        <p:spPr>
          <a:xfrm>
            <a:off x="4943630" y="2422703"/>
            <a:ext cx="284299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ITS PRICE</a:t>
            </a:r>
            <a:endParaRPr sz="900"/>
          </a:p>
        </p:txBody>
      </p:sp>
      <p:sp>
        <p:nvSpPr>
          <p:cNvPr id="10" name="column head"/>
          <p:cNvSpPr txBox="1"/>
          <p:nvPr/>
        </p:nvSpPr>
        <p:spPr>
          <a:xfrm>
            <a:off x="7969504" y="2422703"/>
            <a:ext cx="319836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IN SPARKV</a:t>
            </a:r>
            <a:endParaRPr sz="900"/>
          </a:p>
        </p:txBody>
      </p:sp>
      <p:cxnSp>
        <p:nvCxnSpPr>
          <p:cNvPr id="11" name="table head rule"/>
          <p:cNvCxnSpPr/>
          <p:nvPr/>
        </p:nvCxnSpPr>
        <p:spPr>
          <a:xfrm>
            <a:off x="914400" y="2670048"/>
            <a:ext cx="10363200" cy="0"/>
          </a:xfrm>
          <a:prstGeom prst="line">
            <a:avLst/>
          </a:prstGeom>
          <a:ln w="9525">
            <a:solidFill>
              <a:srgbClr val="1D1D1F"/>
            </a:solidFill>
          </a:ln>
        </p:spPr>
      </p:cxnSp>
      <p:sp>
        <p:nvSpPr>
          <p:cNvPr id="12" name="cell r1c1"/>
          <p:cNvSpPr txBox="1"/>
          <p:nvPr/>
        </p:nvSpPr>
        <p:spPr>
          <a:xfrm>
            <a:off x="1024128" y="2752344"/>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Notch hub</a:t>
            </a:r>
            <a:endParaRPr sz="1020"/>
          </a:p>
        </p:txBody>
      </p:sp>
      <p:sp>
        <p:nvSpPr>
          <p:cNvPr id="13" name="cell r1c2"/>
          <p:cNvSpPr txBox="1"/>
          <p:nvPr/>
        </p:nvSpPr>
        <p:spPr>
          <a:xfrm>
            <a:off x="3161566" y="2752344"/>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NotchNook</a:t>
            </a:r>
            <a:endParaRPr sz="1020"/>
          </a:p>
        </p:txBody>
      </p:sp>
      <p:sp>
        <p:nvSpPr>
          <p:cNvPr id="14" name="cell r1c3"/>
          <p:cNvSpPr txBox="1"/>
          <p:nvPr/>
        </p:nvSpPr>
        <p:spPr>
          <a:xfrm>
            <a:off x="4943630" y="2752344"/>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$25 one-time (or $3/mo)</a:t>
            </a:r>
            <a:endParaRPr sz="1020"/>
          </a:p>
        </p:txBody>
      </p:sp>
      <p:sp>
        <p:nvSpPr>
          <p:cNvPr id="15" name="cell r1c4"/>
          <p:cNvSpPr txBox="1"/>
          <p:nvPr/>
        </p:nvSpPr>
        <p:spPr>
          <a:xfrm>
            <a:off x="7969504" y="2752344"/>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Free plan</a:t>
            </a:r>
            <a:endParaRPr sz="1020"/>
          </a:p>
        </p:txBody>
      </p:sp>
      <p:cxnSp>
        <p:nvCxnSpPr>
          <p:cNvPr id="16" name="row rule"/>
          <p:cNvCxnSpPr/>
          <p:nvPr/>
        </p:nvCxnSpPr>
        <p:spPr>
          <a:xfrm>
            <a:off x="914400" y="3009519"/>
            <a:ext cx="10363200" cy="0"/>
          </a:xfrm>
          <a:prstGeom prst="line">
            <a:avLst/>
          </a:prstGeom>
          <a:ln w="9525">
            <a:solidFill>
              <a:srgbClr val="D2D2D7"/>
            </a:solidFill>
          </a:ln>
        </p:spPr>
      </p:cxnSp>
      <p:sp>
        <p:nvSpPr>
          <p:cNvPr id="17" name="cell r2c1"/>
          <p:cNvSpPr txBox="1"/>
          <p:nvPr/>
        </p:nvSpPr>
        <p:spPr>
          <a:xfrm>
            <a:off x="1024128" y="3091815"/>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Notch island</a:t>
            </a:r>
            <a:endParaRPr sz="1020"/>
          </a:p>
        </p:txBody>
      </p:sp>
      <p:sp>
        <p:nvSpPr>
          <p:cNvPr id="18" name="cell r2c2"/>
          <p:cNvSpPr txBox="1"/>
          <p:nvPr/>
        </p:nvSpPr>
        <p:spPr>
          <a:xfrm>
            <a:off x="3161566" y="3091815"/>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Alcove</a:t>
            </a:r>
            <a:endParaRPr sz="1020"/>
          </a:p>
        </p:txBody>
      </p:sp>
      <p:sp>
        <p:nvSpPr>
          <p:cNvPr id="19" name="cell r2c3"/>
          <p:cNvSpPr txBox="1"/>
          <p:nvPr/>
        </p:nvSpPr>
        <p:spPr>
          <a:xfrm>
            <a:off x="4943630" y="3091815"/>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about $13.99 one-time</a:t>
            </a:r>
            <a:endParaRPr sz="1020"/>
          </a:p>
        </p:txBody>
      </p:sp>
      <p:sp>
        <p:nvSpPr>
          <p:cNvPr id="20" name="cell r2c4"/>
          <p:cNvSpPr txBox="1"/>
          <p:nvPr/>
        </p:nvSpPr>
        <p:spPr>
          <a:xfrm>
            <a:off x="7969504" y="3091815"/>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Free plan</a:t>
            </a:r>
            <a:endParaRPr sz="1020"/>
          </a:p>
        </p:txBody>
      </p:sp>
      <p:cxnSp>
        <p:nvCxnSpPr>
          <p:cNvPr id="21" name="row rule"/>
          <p:cNvCxnSpPr/>
          <p:nvPr/>
        </p:nvCxnSpPr>
        <p:spPr>
          <a:xfrm>
            <a:off x="914400" y="3348990"/>
            <a:ext cx="10363200" cy="0"/>
          </a:xfrm>
          <a:prstGeom prst="line">
            <a:avLst/>
          </a:prstGeom>
          <a:ln w="9525">
            <a:solidFill>
              <a:srgbClr val="D2D2D7"/>
            </a:solidFill>
          </a:ln>
        </p:spPr>
      </p:cxnSp>
      <p:sp>
        <p:nvSpPr>
          <p:cNvPr id="22" name="cell r3c1"/>
          <p:cNvSpPr txBox="1"/>
          <p:nvPr/>
        </p:nvSpPr>
        <p:spPr>
          <a:xfrm>
            <a:off x="1024128" y="3431286"/>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Launcher with AI</a:t>
            </a:r>
            <a:endParaRPr sz="1020"/>
          </a:p>
        </p:txBody>
      </p:sp>
      <p:sp>
        <p:nvSpPr>
          <p:cNvPr id="23" name="cell r3c2"/>
          <p:cNvSpPr txBox="1"/>
          <p:nvPr/>
        </p:nvSpPr>
        <p:spPr>
          <a:xfrm>
            <a:off x="3161566" y="3431286"/>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Raycast Pro</a:t>
            </a:r>
            <a:endParaRPr sz="1020"/>
          </a:p>
        </p:txBody>
      </p:sp>
      <p:sp>
        <p:nvSpPr>
          <p:cNvPr id="24" name="cell r3c3"/>
          <p:cNvSpPr txBox="1"/>
          <p:nvPr/>
        </p:nvSpPr>
        <p:spPr>
          <a:xfrm>
            <a:off x="4943630" y="3431286"/>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$8/mo billed yearly ($10 monthly)</a:t>
            </a:r>
            <a:endParaRPr sz="1020"/>
          </a:p>
        </p:txBody>
      </p:sp>
      <p:sp>
        <p:nvSpPr>
          <p:cNvPr id="25" name="cell r3c4"/>
          <p:cNvSpPr txBox="1"/>
          <p:nvPr/>
        </p:nvSpPr>
        <p:spPr>
          <a:xfrm>
            <a:off x="7969504" y="3431286"/>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Pro: ⌥Space Universal Search + agents</a:t>
            </a:r>
            <a:endParaRPr sz="1020"/>
          </a:p>
        </p:txBody>
      </p:sp>
      <p:cxnSp>
        <p:nvCxnSpPr>
          <p:cNvPr id="26" name="row rule"/>
          <p:cNvCxnSpPr/>
          <p:nvPr/>
        </p:nvCxnSpPr>
        <p:spPr>
          <a:xfrm>
            <a:off x="914400" y="3688461"/>
            <a:ext cx="10363200" cy="0"/>
          </a:xfrm>
          <a:prstGeom prst="line">
            <a:avLst/>
          </a:prstGeom>
          <a:ln w="9525">
            <a:solidFill>
              <a:srgbClr val="D2D2D7"/>
            </a:solidFill>
          </a:ln>
        </p:spPr>
      </p:cxnSp>
      <p:sp>
        <p:nvSpPr>
          <p:cNvPr id="27" name="cell r4c1"/>
          <p:cNvSpPr txBox="1"/>
          <p:nvPr/>
        </p:nvSpPr>
        <p:spPr>
          <a:xfrm>
            <a:off x="1024128" y="3770757"/>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AI dictation</a:t>
            </a:r>
            <a:endParaRPr sz="1020"/>
          </a:p>
        </p:txBody>
      </p:sp>
      <p:sp>
        <p:nvSpPr>
          <p:cNvPr id="28" name="cell r4c2"/>
          <p:cNvSpPr txBox="1"/>
          <p:nvPr/>
        </p:nvSpPr>
        <p:spPr>
          <a:xfrm>
            <a:off x="3161566" y="3770757"/>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Wispr Flow</a:t>
            </a:r>
            <a:endParaRPr sz="1020"/>
          </a:p>
        </p:txBody>
      </p:sp>
      <p:sp>
        <p:nvSpPr>
          <p:cNvPr id="29" name="cell r4c3"/>
          <p:cNvSpPr txBox="1"/>
          <p:nvPr/>
        </p:nvSpPr>
        <p:spPr>
          <a:xfrm>
            <a:off x="4943630" y="3770757"/>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$15/mo ($144/yr)</a:t>
            </a:r>
            <a:endParaRPr sz="1020"/>
          </a:p>
        </p:txBody>
      </p:sp>
      <p:sp>
        <p:nvSpPr>
          <p:cNvPr id="30" name="cell r4c4"/>
          <p:cNvSpPr txBox="1"/>
          <p:nvPr/>
        </p:nvSpPr>
        <p:spPr>
          <a:xfrm>
            <a:off x="7969504" y="3770757"/>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Pro: AI dictation</a:t>
            </a:r>
            <a:endParaRPr sz="1020"/>
          </a:p>
        </p:txBody>
      </p:sp>
      <p:cxnSp>
        <p:nvCxnSpPr>
          <p:cNvPr id="31" name="row rule"/>
          <p:cNvCxnSpPr/>
          <p:nvPr/>
        </p:nvCxnSpPr>
        <p:spPr>
          <a:xfrm>
            <a:off x="914400" y="4027932"/>
            <a:ext cx="10363200" cy="0"/>
          </a:xfrm>
          <a:prstGeom prst="line">
            <a:avLst/>
          </a:prstGeom>
          <a:ln w="9525">
            <a:solidFill>
              <a:srgbClr val="D2D2D7"/>
            </a:solidFill>
          </a:ln>
        </p:spPr>
      </p:cxnSp>
      <p:sp>
        <p:nvSpPr>
          <p:cNvPr id="32" name="cell r5c1"/>
          <p:cNvSpPr txBox="1"/>
          <p:nvPr/>
        </p:nvSpPr>
        <p:spPr>
          <a:xfrm>
            <a:off x="1024128" y="4110228"/>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AI meeting notes</a:t>
            </a:r>
            <a:endParaRPr sz="1020"/>
          </a:p>
        </p:txBody>
      </p:sp>
      <p:sp>
        <p:nvSpPr>
          <p:cNvPr id="33" name="cell r5c2"/>
          <p:cNvSpPr txBox="1"/>
          <p:nvPr/>
        </p:nvSpPr>
        <p:spPr>
          <a:xfrm>
            <a:off x="3161566" y="4110228"/>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Granola Business</a:t>
            </a:r>
            <a:endParaRPr sz="1020"/>
          </a:p>
        </p:txBody>
      </p:sp>
      <p:sp>
        <p:nvSpPr>
          <p:cNvPr id="34" name="cell r5c3"/>
          <p:cNvSpPr txBox="1"/>
          <p:nvPr/>
        </p:nvSpPr>
        <p:spPr>
          <a:xfrm>
            <a:off x="4943630" y="4110228"/>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$14/user/mo</a:t>
            </a:r>
            <a:endParaRPr sz="1020"/>
          </a:p>
        </p:txBody>
      </p:sp>
      <p:sp>
        <p:nvSpPr>
          <p:cNvPr id="35" name="cell r5c4"/>
          <p:cNvSpPr txBox="1"/>
          <p:nvPr/>
        </p:nvSpPr>
        <p:spPr>
          <a:xfrm>
            <a:off x="7969504" y="4110228"/>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Pro: Meetings</a:t>
            </a:r>
            <a:endParaRPr sz="1020"/>
          </a:p>
        </p:txBody>
      </p:sp>
      <p:cxnSp>
        <p:nvCxnSpPr>
          <p:cNvPr id="36" name="row rule"/>
          <p:cNvCxnSpPr/>
          <p:nvPr/>
        </p:nvCxnSpPr>
        <p:spPr>
          <a:xfrm>
            <a:off x="914400" y="4367403"/>
            <a:ext cx="10363200" cy="0"/>
          </a:xfrm>
          <a:prstGeom prst="line">
            <a:avLst/>
          </a:prstGeom>
          <a:ln w="9525">
            <a:solidFill>
              <a:srgbClr val="D2D2D7"/>
            </a:solidFill>
          </a:ln>
        </p:spPr>
      </p:cxnSp>
      <p:sp>
        <p:nvSpPr>
          <p:cNvPr id="37" name="cell r6c1"/>
          <p:cNvSpPr txBox="1"/>
          <p:nvPr/>
        </p:nvSpPr>
        <p:spPr>
          <a:xfrm>
            <a:off x="1024128" y="4449699"/>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Clipboard manager</a:t>
            </a:r>
            <a:endParaRPr sz="1020"/>
          </a:p>
        </p:txBody>
      </p:sp>
      <p:sp>
        <p:nvSpPr>
          <p:cNvPr id="38" name="cell r6c2"/>
          <p:cNvSpPr txBox="1"/>
          <p:nvPr/>
        </p:nvSpPr>
        <p:spPr>
          <a:xfrm>
            <a:off x="3161566" y="4449699"/>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Paste</a:t>
            </a:r>
            <a:endParaRPr sz="1020"/>
          </a:p>
        </p:txBody>
      </p:sp>
      <p:sp>
        <p:nvSpPr>
          <p:cNvPr id="39" name="cell r6c3"/>
          <p:cNvSpPr txBox="1"/>
          <p:nvPr/>
        </p:nvSpPr>
        <p:spPr>
          <a:xfrm>
            <a:off x="4943630" y="4449699"/>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$29.99/yr</a:t>
            </a:r>
            <a:endParaRPr sz="1020"/>
          </a:p>
        </p:txBody>
      </p:sp>
      <p:sp>
        <p:nvSpPr>
          <p:cNvPr id="40" name="cell r6c4"/>
          <p:cNvSpPr txBox="1"/>
          <p:nvPr/>
        </p:nvSpPr>
        <p:spPr>
          <a:xfrm>
            <a:off x="7969504" y="4449699"/>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Pro: unlimited history + Paste Stack</a:t>
            </a:r>
            <a:endParaRPr sz="1020"/>
          </a:p>
        </p:txBody>
      </p:sp>
      <p:cxnSp>
        <p:nvCxnSpPr>
          <p:cNvPr id="41" name="row rule"/>
          <p:cNvCxnSpPr/>
          <p:nvPr/>
        </p:nvCxnSpPr>
        <p:spPr>
          <a:xfrm>
            <a:off x="914400" y="4706874"/>
            <a:ext cx="10363200" cy="0"/>
          </a:xfrm>
          <a:prstGeom prst="line">
            <a:avLst/>
          </a:prstGeom>
          <a:ln w="9525">
            <a:solidFill>
              <a:srgbClr val="D2D2D7"/>
            </a:solidFill>
          </a:ln>
        </p:spPr>
      </p:cxnSp>
      <p:sp>
        <p:nvSpPr>
          <p:cNvPr id="42" name="cell r7c1"/>
          <p:cNvSpPr txBox="1"/>
          <p:nvPr/>
        </p:nvSpPr>
        <p:spPr>
          <a:xfrm>
            <a:off x="1024128" y="4789170"/>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Screenshots and recording</a:t>
            </a:r>
            <a:endParaRPr sz="1020"/>
          </a:p>
        </p:txBody>
      </p:sp>
      <p:sp>
        <p:nvSpPr>
          <p:cNvPr id="43" name="cell r7c2"/>
          <p:cNvSpPr txBox="1"/>
          <p:nvPr/>
        </p:nvSpPr>
        <p:spPr>
          <a:xfrm>
            <a:off x="3161566" y="4789170"/>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CleanShot X</a:t>
            </a:r>
            <a:endParaRPr sz="1020"/>
          </a:p>
        </p:txBody>
      </p:sp>
      <p:sp>
        <p:nvSpPr>
          <p:cNvPr id="44" name="cell r7c3"/>
          <p:cNvSpPr txBox="1"/>
          <p:nvPr/>
        </p:nvSpPr>
        <p:spPr>
          <a:xfrm>
            <a:off x="4943630" y="4789170"/>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$29 one-time, then $19/yr updates (optional)</a:t>
            </a:r>
            <a:endParaRPr sz="1020"/>
          </a:p>
        </p:txBody>
      </p:sp>
      <p:sp>
        <p:nvSpPr>
          <p:cNvPr id="45" name="cell r7c4"/>
          <p:cNvSpPr txBox="1"/>
          <p:nvPr/>
        </p:nvSpPr>
        <p:spPr>
          <a:xfrm>
            <a:off x="7969504" y="4789170"/>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Pro: Copy Text, Quick Capture, Screen Recorder</a:t>
            </a:r>
            <a:endParaRPr sz="1020"/>
          </a:p>
        </p:txBody>
      </p:sp>
      <p:cxnSp>
        <p:nvCxnSpPr>
          <p:cNvPr id="46" name="row rule"/>
          <p:cNvCxnSpPr/>
          <p:nvPr/>
        </p:nvCxnSpPr>
        <p:spPr>
          <a:xfrm>
            <a:off x="914400" y="5046345"/>
            <a:ext cx="10363200" cy="0"/>
          </a:xfrm>
          <a:prstGeom prst="line">
            <a:avLst/>
          </a:prstGeom>
          <a:ln w="9525">
            <a:solidFill>
              <a:srgbClr val="D2D2D7"/>
            </a:solidFill>
          </a:ln>
        </p:spPr>
      </p:cxnSp>
      <p:sp>
        <p:nvSpPr>
          <p:cNvPr id="47" name="highlight row"/>
          <p:cNvSpPr/>
          <p:nvPr/>
        </p:nvSpPr>
        <p:spPr>
          <a:xfrm>
            <a:off x="914400" y="5046345"/>
            <a:ext cx="10363200" cy="339471"/>
          </a:xfrm>
          <a:prstGeom prst="rect">
            <a:avLst/>
          </a:prstGeom>
          <a:solidFill>
            <a:srgbClr val="F5F5F7"/>
          </a:solidFill>
          <a:ln>
            <a:noFill/>
          </a:ln>
        </p:spPr>
        <p:txBody>
          <a:bodyPr rtlCol="0" anchor="ctr"/>
          <a:lstStyle/>
          <a:p>
            <a:pPr algn="ctr"/>
          </a:p>
        </p:txBody>
      </p:sp>
      <p:sp>
        <p:nvSpPr>
          <p:cNvPr id="48" name="highlight accent"/>
          <p:cNvSpPr/>
          <p:nvPr/>
        </p:nvSpPr>
        <p:spPr>
          <a:xfrm>
            <a:off x="914400" y="5046345"/>
            <a:ext cx="45720" cy="339471"/>
          </a:xfrm>
          <a:prstGeom prst="rect">
            <a:avLst/>
          </a:prstGeom>
          <a:solidFill>
            <a:srgbClr val="F01822"/>
          </a:solidFill>
          <a:ln>
            <a:noFill/>
          </a:ln>
        </p:spPr>
        <p:txBody>
          <a:bodyPr rtlCol="0" anchor="ctr"/>
          <a:lstStyle/>
          <a:p>
            <a:pPr algn="ctr"/>
          </a:p>
        </p:txBody>
      </p:sp>
      <p:sp>
        <p:nvSpPr>
          <p:cNvPr id="49" name="cell r8c1"/>
          <p:cNvSpPr txBox="1"/>
          <p:nvPr/>
        </p:nvSpPr>
        <p:spPr>
          <a:xfrm>
            <a:off x="1024128" y="5128641"/>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All of the above</a:t>
            </a:r>
            <a:endParaRPr sz="1020"/>
          </a:p>
        </p:txBody>
      </p:sp>
      <p:sp>
        <p:nvSpPr>
          <p:cNvPr id="50" name="cell r8c2"/>
          <p:cNvSpPr txBox="1"/>
          <p:nvPr/>
        </p:nvSpPr>
        <p:spPr>
          <a:xfrm>
            <a:off x="3161566" y="5128641"/>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SparkV Pro</a:t>
            </a:r>
            <a:endParaRPr sz="1020"/>
          </a:p>
        </p:txBody>
      </p:sp>
      <p:sp>
        <p:nvSpPr>
          <p:cNvPr id="51" name="cell r8c3"/>
          <p:cNvSpPr txBox="1"/>
          <p:nvPr/>
        </p:nvSpPr>
        <p:spPr>
          <a:xfrm>
            <a:off x="4943630" y="5128641"/>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$39 one-time (launch $29)</a:t>
            </a:r>
            <a:endParaRPr sz="102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Values are the outline's chart data table. Feature sets differ. Legal review required before naming competitors.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13b</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Value</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Medium"/>
              </a:rPr>
              <a:t>One app</a:t>
            </a:r>
            <a:r>
              <a:rPr sz="3840" b="0" i="0" spc="-58">
                <a:solidFill>
                  <a:srgbClr val="1D1D1F"/>
                </a:solidFill>
                <a:latin typeface="Helvetica Neue Light"/>
              </a:rPr>
              <a:t> instead of six.</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What the same jobs cost as separate apps.</a:t>
            </a:r>
            <a:endParaRPr sz="1680"/>
          </a:p>
        </p:txBody>
      </p:sp>
      <p:sp>
        <p:nvSpPr>
          <p:cNvPr id="7" name="chart card"/>
          <p:cNvSpPr/>
          <p:nvPr/>
        </p:nvSpPr>
        <p:spPr>
          <a:xfrm>
            <a:off x="914400" y="2422703"/>
            <a:ext cx="6827520" cy="3825697"/>
          </a:xfrm>
          <a:prstGeom prst="roundRect">
            <a:avLst>
              <a:gd name="adj" fmla="val 4381"/>
            </a:avLst>
          </a:prstGeom>
          <a:solidFill>
            <a:srgbClr val="F5F5F7"/>
          </a:solidFill>
          <a:ln>
            <a:noFill/>
          </a:ln>
        </p:spPr>
        <p:txBody>
          <a:bodyPr rtlCol="0" anchor="ctr"/>
          <a:lstStyle/>
          <a:p>
            <a:pPr algn="ctr"/>
          </a:p>
        </p:txBody>
      </p:sp>
      <p:sp>
        <p:nvSpPr>
          <p:cNvPr id="8" name="chart title"/>
          <p:cNvSpPr txBox="1"/>
          <p:nvPr/>
        </p:nvSpPr>
        <p:spPr>
          <a:xfrm>
            <a:off x="1158240" y="2636063"/>
            <a:ext cx="63398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What you pay (USD)</a:t>
            </a:r>
            <a:endParaRPr sz="1020"/>
          </a:p>
        </p:txBody>
      </p:sp>
      <p:sp>
        <p:nvSpPr>
          <p:cNvPr id="9" name="chart source"/>
          <p:cNvSpPr txBox="1"/>
          <p:nvPr/>
        </p:nvSpPr>
        <p:spPr>
          <a:xfrm>
            <a:off x="1158240" y="5915711"/>
            <a:ext cx="633984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Public prices collected in SparkV Business Plan §3, 22 Oct 2026; third-party listings.</a:t>
            </a:r>
            <a:endParaRPr sz="780"/>
          </a:p>
        </p:txBody>
      </p:sp>
      <p:graphicFrame>
        <p:nvGraphicFramePr>
          <p:cNvPr id="10" name="chart"/>
          <p:cNvGraphicFramePr>
            <a:graphicFrameLocks noGrp="1"/>
          </p:cNvGraphicFramePr>
          <p:nvPr/>
        </p:nvGraphicFramePr>
        <p:xfrm>
          <a:off x="1158240" y="2934081"/>
          <a:ext cx="6339840" cy="2890647"/>
        </p:xfrm>
        <a:graphic>
          <a:graphicData uri="http://schemas.openxmlformats.org/drawingml/2006/chart">
            <c:chart xmlns:c="http://schemas.openxmlformats.org/drawingml/2006/chart" r:id="rId3"/>
          </a:graphicData>
        </a:graphic>
      </p:graphicFrame>
      <p:cxnSp>
        <p:nvCxnSpPr>
          <p:cNvPr id="11" name="side rule"/>
          <p:cNvCxnSpPr/>
          <p:nvPr/>
        </p:nvCxnSpPr>
        <p:spPr>
          <a:xfrm>
            <a:off x="7985760" y="2422703"/>
            <a:ext cx="3291840" cy="0"/>
          </a:xfrm>
          <a:prstGeom prst="line">
            <a:avLst/>
          </a:prstGeom>
          <a:ln w="9525">
            <a:solidFill>
              <a:srgbClr val="D2D2D7"/>
            </a:solidFill>
          </a:ln>
        </p:spPr>
      </p:cxnSp>
      <p:sp>
        <p:nvSpPr>
          <p:cNvPr id="12" name="side note"/>
          <p:cNvSpPr txBox="1"/>
          <p:nvPr/>
        </p:nvSpPr>
        <p:spPr>
          <a:xfrm>
            <a:off x="7985760" y="2559863"/>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Separate apps, year one: about $492.</a:t>
            </a:r>
            <a:endParaRPr sz="1320"/>
          </a:p>
        </p:txBody>
      </p:sp>
      <p:cxnSp>
        <p:nvCxnSpPr>
          <p:cNvPr id="13" name="side rule"/>
          <p:cNvCxnSpPr/>
          <p:nvPr/>
        </p:nvCxnSpPr>
        <p:spPr>
          <a:xfrm>
            <a:off x="7985760" y="2986278"/>
            <a:ext cx="3291840" cy="0"/>
          </a:xfrm>
          <a:prstGeom prst="line">
            <a:avLst/>
          </a:prstGeom>
          <a:ln w="9525">
            <a:solidFill>
              <a:srgbClr val="D2D2D7"/>
            </a:solidFill>
          </a:ln>
        </p:spPr>
      </p:cxnSp>
      <p:sp>
        <p:nvSpPr>
          <p:cNvPr id="14" name="side note"/>
          <p:cNvSpPr txBox="1"/>
          <p:nvPr/>
        </p:nvSpPr>
        <p:spPr>
          <a:xfrm>
            <a:off x="7985760" y="3123438"/>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SparkV Pro: $39 once. Updates after year one are optional.</a:t>
            </a:r>
            <a:endParaRPr sz="1320"/>
          </a:p>
        </p:txBody>
      </p:sp>
      <p:cxnSp>
        <p:nvCxnSpPr>
          <p:cNvPr id="15" name="side rule"/>
          <p:cNvCxnSpPr/>
          <p:nvPr/>
        </p:nvCxnSpPr>
        <p:spPr>
          <a:xfrm>
            <a:off x="7985760" y="3792931"/>
            <a:ext cx="3291840" cy="0"/>
          </a:xfrm>
          <a:prstGeom prst="line">
            <a:avLst/>
          </a:prstGeom>
          <a:ln w="9525">
            <a:solidFill>
              <a:srgbClr val="D2D2D7"/>
            </a:solidFill>
          </a:ln>
        </p:spPr>
      </p:cxnSp>
      <p:sp>
        <p:nvSpPr>
          <p:cNvPr id="16" name="side note"/>
          <p:cNvSpPr txBox="1"/>
          <p:nvPr/>
        </p:nvSpPr>
        <p:spPr>
          <a:xfrm>
            <a:off x="7985760" y="3930091"/>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SparkV Pro: launch week $29; year 2: optional $19 renewal.</a:t>
            </a:r>
            <a:endParaRPr sz="1320"/>
          </a:p>
        </p:txBody>
      </p:sp>
      <p:cxnSp>
        <p:nvCxnSpPr>
          <p:cNvPr id="17" name="side rule"/>
          <p:cNvCxnSpPr/>
          <p:nvPr/>
        </p:nvCxnSpPr>
        <p:spPr>
          <a:xfrm>
            <a:off x="7985760" y="4599584"/>
            <a:ext cx="3291840" cy="0"/>
          </a:xfrm>
          <a:prstGeom prst="line">
            <a:avLst/>
          </a:prstGeom>
          <a:ln w="9525">
            <a:solidFill>
              <a:srgbClr val="D2D2D7"/>
            </a:solidFill>
          </a:ln>
        </p:spPr>
      </p:cxnSp>
      <p:sp>
        <p:nvSpPr>
          <p:cNvPr id="18" name="side note"/>
          <p:cNvSpPr txBox="1"/>
          <p:nvPr/>
        </p:nvSpPr>
        <p:spPr>
          <a:xfrm>
            <a:off x="7985760" y="4736744"/>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Excluded from the sum: Alcove (same job as NotchNook).</a:t>
            </a:r>
            <a:endParaRPr sz="132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No notch? The island sits in the menu bar. Sources: Apple via TechCrunch (Oct 2018); IDC preliminary via AppleInsider, MacTrast, MacTech.</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14</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Fit</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Made for the Mac you </a:t>
            </a:r>
            <a:r>
              <a:rPr sz="3360" b="0" i="0" spc="-50">
                <a:solidFill>
                  <a:srgbClr val="1D1D1F"/>
                </a:solidFill>
                <a:latin typeface="Helvetica Neue Medium"/>
              </a:rPr>
              <a:t>already have.</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Apple silicon · macOS 15 or later · best on a MacBook Pro with a notch.</a:t>
            </a:r>
            <a:endParaRPr sz="1680"/>
          </a:p>
        </p:txBody>
      </p:sp>
      <p:sp>
        <p:nvSpPr>
          <p:cNvPr id="7" name="metric card"/>
          <p:cNvSpPr/>
          <p:nvPr/>
        </p:nvSpPr>
        <p:spPr>
          <a:xfrm>
            <a:off x="914400" y="2308708"/>
            <a:ext cx="3291840" cy="1191311"/>
          </a:xfrm>
          <a:prstGeom prst="roundRect">
            <a:avLst>
              <a:gd name="adj" fmla="val 14071"/>
            </a:avLst>
          </a:prstGeom>
          <a:solidFill>
            <a:srgbClr val="F5F5F7"/>
          </a:solidFill>
          <a:ln>
            <a:noFill/>
          </a:ln>
        </p:spPr>
        <p:txBody>
          <a:bodyPr rtlCol="0" anchor="ctr"/>
          <a:lstStyle/>
          <a:p>
            <a:pPr algn="ctr"/>
          </a:p>
        </p:txBody>
      </p:sp>
      <p:sp>
        <p:nvSpPr>
          <p:cNvPr id="8" name="metric value"/>
          <p:cNvSpPr txBox="1"/>
          <p:nvPr/>
        </p:nvSpPr>
        <p:spPr>
          <a:xfrm>
            <a:off x="1158240" y="2461108"/>
            <a:ext cx="2804160" cy="402793"/>
          </a:xfrm>
          <a:prstGeom prst="rect">
            <a:avLst/>
          </a:prstGeom>
          <a:noFill/>
        </p:spPr>
        <p:txBody>
          <a:bodyPr wrap="square" lIns="0" tIns="0" rIns="0" bIns="0" anchor="t">
            <a:noAutofit/>
          </a:bodyPr>
          <a:lstStyle/>
          <a:p>
            <a:pPr algn="l">
              <a:lnSpc>
                <a:spcPts val="3168"/>
              </a:lnSpc>
              <a:spcBef>
                <a:spcPts val="0"/>
              </a:spcBef>
              <a:spcAft>
                <a:spcPts val="0"/>
              </a:spcAft>
            </a:pPr>
            <a:r>
              <a:rPr sz="2880" b="0" i="0" spc="-58">
                <a:solidFill>
                  <a:srgbClr val="1D1D1F"/>
                </a:solidFill>
                <a:latin typeface="Helvetica Neue Light"/>
              </a:rPr>
              <a:t>100M+</a:t>
            </a:r>
            <a:endParaRPr sz="2880"/>
          </a:p>
        </p:txBody>
      </p:sp>
      <p:sp>
        <p:nvSpPr>
          <p:cNvPr id="9" name="metric label"/>
          <p:cNvSpPr txBox="1"/>
          <p:nvPr/>
        </p:nvSpPr>
        <p:spPr>
          <a:xfrm>
            <a:off x="1158240" y="2970581"/>
            <a:ext cx="2804160" cy="377038"/>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active Macs (Apple, Oct 2018: the latest official figure)</a:t>
            </a:r>
            <a:endParaRPr sz="1020"/>
          </a:p>
        </p:txBody>
      </p:sp>
      <p:sp>
        <p:nvSpPr>
          <p:cNvPr id="10" name="metric card"/>
          <p:cNvSpPr/>
          <p:nvPr/>
        </p:nvSpPr>
        <p:spPr>
          <a:xfrm>
            <a:off x="914400" y="3682898"/>
            <a:ext cx="3291840" cy="1191311"/>
          </a:xfrm>
          <a:prstGeom prst="roundRect">
            <a:avLst>
              <a:gd name="adj" fmla="val 14071"/>
            </a:avLst>
          </a:prstGeom>
          <a:solidFill>
            <a:srgbClr val="F5F5F7"/>
          </a:solidFill>
          <a:ln>
            <a:noFill/>
          </a:ln>
        </p:spPr>
        <p:txBody>
          <a:bodyPr rtlCol="0" anchor="ctr"/>
          <a:lstStyle/>
          <a:p>
            <a:pPr algn="ctr"/>
          </a:p>
        </p:txBody>
      </p:sp>
      <p:sp>
        <p:nvSpPr>
          <p:cNvPr id="11" name="metric value"/>
          <p:cNvSpPr txBox="1"/>
          <p:nvPr/>
        </p:nvSpPr>
        <p:spPr>
          <a:xfrm>
            <a:off x="1158240" y="3835298"/>
            <a:ext cx="2804160" cy="402793"/>
          </a:xfrm>
          <a:prstGeom prst="rect">
            <a:avLst/>
          </a:prstGeom>
          <a:noFill/>
        </p:spPr>
        <p:txBody>
          <a:bodyPr wrap="square" lIns="0" tIns="0" rIns="0" bIns="0" anchor="t">
            <a:noAutofit/>
          </a:bodyPr>
          <a:lstStyle/>
          <a:p>
            <a:pPr algn="l">
              <a:lnSpc>
                <a:spcPts val="3168"/>
              </a:lnSpc>
              <a:spcBef>
                <a:spcPts val="0"/>
              </a:spcBef>
              <a:spcAft>
                <a:spcPts val="0"/>
              </a:spcAft>
            </a:pPr>
            <a:r>
              <a:rPr sz="2880" b="0" i="0" spc="-58">
                <a:solidFill>
                  <a:srgbClr val="1D1D1F"/>
                </a:solidFill>
                <a:latin typeface="Helvetica Neue Light"/>
              </a:rPr>
              <a:t>7.1M</a:t>
            </a:r>
            <a:endParaRPr sz="2880"/>
          </a:p>
        </p:txBody>
      </p:sp>
      <p:sp>
        <p:nvSpPr>
          <p:cNvPr id="12" name="metric label"/>
          <p:cNvSpPr txBox="1"/>
          <p:nvPr/>
        </p:nvSpPr>
        <p:spPr>
          <a:xfrm>
            <a:off x="1158240" y="4344772"/>
            <a:ext cx="2804160" cy="377038"/>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Macs shipped in Q4 2025 alone (IDC, preliminary)</a:t>
            </a:r>
            <a:endParaRPr sz="1020"/>
          </a:p>
        </p:txBody>
      </p:sp>
      <p:sp>
        <p:nvSpPr>
          <p:cNvPr id="13" name="metric card"/>
          <p:cNvSpPr/>
          <p:nvPr/>
        </p:nvSpPr>
        <p:spPr>
          <a:xfrm>
            <a:off x="914400" y="5057089"/>
            <a:ext cx="3291840" cy="1191311"/>
          </a:xfrm>
          <a:prstGeom prst="roundRect">
            <a:avLst>
              <a:gd name="adj" fmla="val 14071"/>
            </a:avLst>
          </a:prstGeom>
          <a:solidFill>
            <a:srgbClr val="F5F5F7"/>
          </a:solidFill>
          <a:ln>
            <a:noFill/>
          </a:ln>
        </p:spPr>
        <p:txBody>
          <a:bodyPr rtlCol="0" anchor="ctr"/>
          <a:lstStyle/>
          <a:p>
            <a:pPr algn="ctr"/>
          </a:p>
        </p:txBody>
      </p:sp>
      <p:sp>
        <p:nvSpPr>
          <p:cNvPr id="14" name="metric value"/>
          <p:cNvSpPr txBox="1"/>
          <p:nvPr/>
        </p:nvSpPr>
        <p:spPr>
          <a:xfrm>
            <a:off x="1158240" y="5209489"/>
            <a:ext cx="2804160" cy="402793"/>
          </a:xfrm>
          <a:prstGeom prst="rect">
            <a:avLst/>
          </a:prstGeom>
          <a:noFill/>
        </p:spPr>
        <p:txBody>
          <a:bodyPr wrap="square" lIns="0" tIns="0" rIns="0" bIns="0" anchor="t">
            <a:noAutofit/>
          </a:bodyPr>
          <a:lstStyle/>
          <a:p>
            <a:pPr algn="l">
              <a:lnSpc>
                <a:spcPts val="3168"/>
              </a:lnSpc>
              <a:spcBef>
                <a:spcPts val="0"/>
              </a:spcBef>
              <a:spcAft>
                <a:spcPts val="0"/>
              </a:spcAft>
            </a:pPr>
            <a:r>
              <a:rPr sz="2880" b="0" i="1" spc="-58">
                <a:solidFill>
                  <a:srgbClr val="86868B"/>
                </a:solidFill>
                <a:latin typeface="Helvetica Neue Light"/>
              </a:rPr>
              <a:t>[TBD]</a:t>
            </a:r>
            <a:endParaRPr sz="2880"/>
          </a:p>
        </p:txBody>
      </p:sp>
      <p:sp>
        <p:nvSpPr>
          <p:cNvPr id="15" name="metric label"/>
          <p:cNvSpPr txBox="1"/>
          <p:nvPr/>
        </p:nvSpPr>
        <p:spPr>
          <a:xfrm>
            <a:off x="1158240" y="5718962"/>
            <a:ext cx="2804160" cy="377038"/>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share of Macs that are Apple silicon on macOS 15+</a:t>
            </a:r>
            <a:endParaRPr sz="1020"/>
          </a:p>
        </p:txBody>
      </p:sp>
      <p:sp>
        <p:nvSpPr>
          <p:cNvPr id="16" name="chart card"/>
          <p:cNvSpPr/>
          <p:nvPr/>
        </p:nvSpPr>
        <p:spPr>
          <a:xfrm>
            <a:off x="4450080" y="2308708"/>
            <a:ext cx="6827520" cy="3939692"/>
          </a:xfrm>
          <a:prstGeom prst="roundRect">
            <a:avLst>
              <a:gd name="adj" fmla="val 4255"/>
            </a:avLst>
          </a:prstGeom>
          <a:solidFill>
            <a:srgbClr val="F5F5F7"/>
          </a:solidFill>
          <a:ln>
            <a:noFill/>
          </a:ln>
        </p:spPr>
        <p:txBody>
          <a:bodyPr rtlCol="0" anchor="ctr"/>
          <a:lstStyle/>
          <a:p>
            <a:pPr algn="ctr"/>
          </a:p>
        </p:txBody>
      </p:sp>
      <p:sp>
        <p:nvSpPr>
          <p:cNvPr id="17" name="chart title"/>
          <p:cNvSpPr txBox="1"/>
          <p:nvPr/>
        </p:nvSpPr>
        <p:spPr>
          <a:xfrm>
            <a:off x="4693920" y="2522068"/>
            <a:ext cx="63398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Apple Mac shipments, 2025 (millions of units, IDC preliminary)</a:t>
            </a:r>
            <a:endParaRPr sz="1020"/>
          </a:p>
        </p:txBody>
      </p:sp>
      <p:sp>
        <p:nvSpPr>
          <p:cNvPr id="18" name="chart source"/>
          <p:cNvSpPr txBox="1"/>
          <p:nvPr/>
        </p:nvSpPr>
        <p:spPr>
          <a:xfrm>
            <a:off x="4693920" y="5796839"/>
            <a:ext cx="6339840" cy="238201"/>
          </a:xfrm>
          <a:prstGeom prst="rect">
            <a:avLst/>
          </a:prstGeom>
          <a:noFill/>
        </p:spPr>
        <p:txBody>
          <a:bodyPr wrap="square" lIns="0" tIns="0" rIns="0" bIns="0" anchor="t">
            <a:noAutofit/>
          </a:bodyPr>
          <a:lstStyle/>
          <a:p>
            <a:pPr algn="l">
              <a:lnSpc>
                <a:spcPts val="936"/>
              </a:lnSpc>
              <a:spcBef>
                <a:spcPts val="0"/>
              </a:spcBef>
              <a:spcAft>
                <a:spcPts val="0"/>
              </a:spcAft>
            </a:pPr>
            <a:r>
              <a:rPr sz="780" b="0" i="1">
                <a:solidFill>
                  <a:srgbClr val="86868B"/>
                </a:solidFill>
                <a:latin typeface="Helvetica Neue"/>
              </a:rPr>
              <a:t>[TBD: IDC Q3 2025 Mac shipments]</a:t>
            </a:r>
            <a:endParaRPr sz="780"/>
          </a:p>
          <a:p>
            <a:pPr algn="l">
              <a:lnSpc>
                <a:spcPts val="936"/>
              </a:lnSpc>
              <a:spcBef>
                <a:spcPts val="0"/>
              </a:spcBef>
              <a:spcAft>
                <a:spcPts val="0"/>
              </a:spcAft>
            </a:pPr>
            <a:r>
              <a:rPr sz="780" b="0" i="0">
                <a:solidFill>
                  <a:srgbClr val="86868B"/>
                </a:solidFill>
                <a:latin typeface="Helvetica Neue"/>
              </a:rPr>
              <a:t>Source: IDC preliminary data as reported by AppleInsider, MacTrast and MacTech. Verify against IDC press releases before publishing.</a:t>
            </a:r>
            <a:endParaRPr sz="780"/>
          </a:p>
        </p:txBody>
      </p:sp>
      <p:graphicFrame>
        <p:nvGraphicFramePr>
          <p:cNvPr id="19" name="chart"/>
          <p:cNvGraphicFramePr>
            <a:graphicFrameLocks noGrp="1"/>
          </p:cNvGraphicFramePr>
          <p:nvPr/>
        </p:nvGraphicFramePr>
        <p:xfrm>
          <a:off x="4693920" y="2820086"/>
          <a:ext cx="6339840" cy="2885770"/>
        </p:xfrm>
        <a:graphic>
          <a:graphicData uri="http://schemas.openxmlformats.org/drawingml/2006/chart">
            <c:chart xmlns:c="http://schemas.openxmlformats.org/drawingml/2006/chart" r:id="rId3"/>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§6a, §6c. Pro updates after year one: optional $19/yr (₹799). The app keeps working.</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15</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ctr">
              <a:lnSpc>
                <a:spcPts val="1680"/>
              </a:lnSpc>
              <a:spcBef>
                <a:spcPts val="0"/>
              </a:spcBef>
              <a:spcAft>
                <a:spcPts val="0"/>
              </a:spcAft>
            </a:pPr>
            <a:r>
              <a:rPr sz="1320" b="0" i="0">
                <a:solidFill>
                  <a:srgbClr val="6E6E73"/>
                </a:solidFill>
                <a:latin typeface="Helvetica Neue Medium"/>
              </a:rPr>
              <a:t>Pricing</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ctr">
              <a:lnSpc>
                <a:spcPts val="4301"/>
              </a:lnSpc>
              <a:spcBef>
                <a:spcPts val="0"/>
              </a:spcBef>
              <a:spcAft>
                <a:spcPts val="0"/>
              </a:spcAft>
            </a:pPr>
            <a:r>
              <a:rPr sz="3840" b="0" i="0" spc="-58">
                <a:solidFill>
                  <a:srgbClr val="1D1D1F"/>
                </a:solidFill>
                <a:latin typeface="Helvetica Neue Medium"/>
              </a:rPr>
              <a:t>Pay once.</a:t>
            </a:r>
            <a:r>
              <a:rPr sz="3840" b="0" i="0" spc="-58">
                <a:solidFill>
                  <a:srgbClr val="1D1D1F"/>
                </a:solidFill>
                <a:latin typeface="Helvetica Neue Light"/>
              </a:rPr>
              <a:t> Keep it forever.</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Start with a 14-day Pro trial. No card needed.</a:t>
            </a:r>
            <a:endParaRPr sz="1680"/>
          </a:p>
        </p:txBody>
      </p:sp>
      <p:sp>
        <p:nvSpPr>
          <p:cNvPr id="7" name="plan card Free"/>
          <p:cNvSpPr/>
          <p:nvPr/>
        </p:nvSpPr>
        <p:spPr>
          <a:xfrm>
            <a:off x="914400" y="2358695"/>
            <a:ext cx="3291840" cy="3222193"/>
          </a:xfrm>
          <a:prstGeom prst="roundRect">
            <a:avLst>
              <a:gd name="adj" fmla="val 5675"/>
            </a:avLst>
          </a:prstGeom>
          <a:solidFill>
            <a:srgbClr val="FFFFFF"/>
          </a:solidFill>
          <a:ln w="9525">
            <a:solidFill>
              <a:srgbClr val="D2D2D7"/>
            </a:solidFill>
          </a:ln>
        </p:spPr>
        <p:txBody>
          <a:bodyPr rtlCol="0" anchor="ctr"/>
          <a:lstStyle/>
          <a:p>
            <a:pPr algn="ctr"/>
          </a:p>
        </p:txBody>
      </p:sp>
      <p:sp>
        <p:nvSpPr>
          <p:cNvPr id="8" name="plan name"/>
          <p:cNvSpPr txBox="1"/>
          <p:nvPr/>
        </p:nvSpPr>
        <p:spPr>
          <a:xfrm>
            <a:off x="1173480" y="2556815"/>
            <a:ext cx="277368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Free</a:t>
            </a:r>
            <a:endParaRPr sz="1680"/>
          </a:p>
        </p:txBody>
      </p:sp>
      <p:sp>
        <p:nvSpPr>
          <p:cNvPr id="9" name="plan price"/>
          <p:cNvSpPr txBox="1"/>
          <p:nvPr/>
        </p:nvSpPr>
        <p:spPr>
          <a:xfrm>
            <a:off x="1173480" y="2919984"/>
            <a:ext cx="277368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$0</a:t>
            </a:r>
            <a:endParaRPr sz="3840"/>
          </a:p>
        </p:txBody>
      </p:sp>
      <p:sp>
        <p:nvSpPr>
          <p:cNvPr id="10" name="plan inr"/>
          <p:cNvSpPr txBox="1"/>
          <p:nvPr/>
        </p:nvSpPr>
        <p:spPr>
          <a:xfrm>
            <a:off x="1173480" y="3542843"/>
            <a:ext cx="277368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₹0</a:t>
            </a:r>
            <a:endParaRPr sz="1200"/>
          </a:p>
        </p:txBody>
      </p:sp>
      <p:sp>
        <p:nvSpPr>
          <p:cNvPr id="11" name="plan note"/>
          <p:cNvSpPr txBox="1"/>
          <p:nvPr/>
        </p:nvSpPr>
        <p:spPr>
          <a:xfrm>
            <a:off x="1173480" y="3787140"/>
            <a:ext cx="277368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1 Mac</a:t>
            </a:r>
            <a:endParaRPr sz="900"/>
          </a:p>
        </p:txBody>
      </p:sp>
      <p:cxnSp>
        <p:nvCxnSpPr>
          <p:cNvPr id="12" name="plan rule"/>
          <p:cNvCxnSpPr/>
          <p:nvPr/>
        </p:nvCxnSpPr>
        <p:spPr>
          <a:xfrm>
            <a:off x="1173480" y="4069537"/>
            <a:ext cx="2773680" cy="0"/>
          </a:xfrm>
          <a:prstGeom prst="line">
            <a:avLst/>
          </a:prstGeom>
          <a:ln w="9525">
            <a:solidFill>
              <a:srgbClr val="D2D2D7"/>
            </a:solidFill>
          </a:ln>
        </p:spPr>
      </p:cxnSp>
      <p:sp>
        <p:nvSpPr>
          <p:cNvPr id="13" name="plan card Pro"/>
          <p:cNvSpPr/>
          <p:nvPr/>
        </p:nvSpPr>
        <p:spPr>
          <a:xfrm>
            <a:off x="4450080" y="2358695"/>
            <a:ext cx="3291840" cy="3222193"/>
          </a:xfrm>
          <a:prstGeom prst="roundRect">
            <a:avLst>
              <a:gd name="adj" fmla="val 5675"/>
            </a:avLst>
          </a:prstGeom>
          <a:solidFill>
            <a:srgbClr val="FFFFFF"/>
          </a:solidFill>
          <a:ln w="15240">
            <a:solidFill>
              <a:srgbClr val="F01822"/>
            </a:solidFill>
          </a:ln>
        </p:spPr>
        <p:txBody>
          <a:bodyPr rtlCol="0" anchor="ctr"/>
          <a:lstStyle/>
          <a:p>
            <a:pPr algn="ctr"/>
          </a:p>
        </p:txBody>
      </p:sp>
      <p:sp>
        <p:nvSpPr>
          <p:cNvPr id="14" name="plan tag"/>
          <p:cNvSpPr txBox="1"/>
          <p:nvPr/>
        </p:nvSpPr>
        <p:spPr>
          <a:xfrm>
            <a:off x="6653833" y="2620823"/>
            <a:ext cx="829007" cy="128473"/>
          </a:xfrm>
          <a:prstGeom prst="rect">
            <a:avLst/>
          </a:prstGeom>
          <a:noFill/>
        </p:spPr>
        <p:txBody>
          <a:bodyPr wrap="square" lIns="0" tIns="0" rIns="0" bIns="0" anchor="t">
            <a:noAutofit/>
          </a:bodyPr>
          <a:lstStyle/>
          <a:p>
            <a:pPr algn="r">
              <a:lnSpc>
                <a:spcPts val="1008"/>
              </a:lnSpc>
              <a:spcBef>
                <a:spcPts val="0"/>
              </a:spcBef>
              <a:spcAft>
                <a:spcPts val="0"/>
              </a:spcAft>
            </a:pPr>
            <a:r>
              <a:rPr sz="840" b="0" i="0">
                <a:solidFill>
                  <a:srgbClr val="F01822"/>
                </a:solidFill>
                <a:latin typeface="Helvetica Neue Medium"/>
              </a:rPr>
              <a:t>Recommended</a:t>
            </a:r>
            <a:endParaRPr sz="840"/>
          </a:p>
        </p:txBody>
      </p:sp>
      <p:sp>
        <p:nvSpPr>
          <p:cNvPr id="15" name="plan name"/>
          <p:cNvSpPr txBox="1"/>
          <p:nvPr/>
        </p:nvSpPr>
        <p:spPr>
          <a:xfrm>
            <a:off x="4709160" y="2556815"/>
            <a:ext cx="1853233"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Pro</a:t>
            </a:r>
            <a:endParaRPr sz="1680"/>
          </a:p>
        </p:txBody>
      </p:sp>
      <p:sp>
        <p:nvSpPr>
          <p:cNvPr id="16" name="plan price"/>
          <p:cNvSpPr txBox="1"/>
          <p:nvPr/>
        </p:nvSpPr>
        <p:spPr>
          <a:xfrm>
            <a:off x="4709160" y="2919984"/>
            <a:ext cx="277368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$39</a:t>
            </a:r>
            <a:r>
              <a:rPr sz="1200" b="0" i="0">
                <a:solidFill>
                  <a:srgbClr val="6E6E73"/>
                </a:solidFill>
                <a:latin typeface="Helvetica Neue"/>
              </a:rPr>
              <a:t>  one-time</a:t>
            </a:r>
            <a:endParaRPr sz="3840"/>
          </a:p>
        </p:txBody>
      </p:sp>
      <p:sp>
        <p:nvSpPr>
          <p:cNvPr id="17" name="plan inr"/>
          <p:cNvSpPr txBox="1"/>
          <p:nvPr/>
        </p:nvSpPr>
        <p:spPr>
          <a:xfrm>
            <a:off x="4709160" y="3542843"/>
            <a:ext cx="277368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₹1,499</a:t>
            </a:r>
            <a:r>
              <a:rPr sz="1200" b="0" i="0">
                <a:solidFill>
                  <a:srgbClr val="86868B"/>
                </a:solidFill>
                <a:latin typeface="Helvetica Neue"/>
              </a:rPr>
              <a:t> · launch week $29 · ₹999</a:t>
            </a:r>
            <a:endParaRPr sz="1200"/>
          </a:p>
        </p:txBody>
      </p:sp>
      <p:sp>
        <p:nvSpPr>
          <p:cNvPr id="18" name="plan note"/>
          <p:cNvSpPr txBox="1"/>
          <p:nvPr/>
        </p:nvSpPr>
        <p:spPr>
          <a:xfrm>
            <a:off x="4709160" y="3787140"/>
            <a:ext cx="277368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2 Macs per person · 12 months of updates</a:t>
            </a:r>
            <a:endParaRPr sz="900"/>
          </a:p>
        </p:txBody>
      </p:sp>
      <p:cxnSp>
        <p:nvCxnSpPr>
          <p:cNvPr id="19" name="plan rule"/>
          <p:cNvCxnSpPr/>
          <p:nvPr/>
        </p:nvCxnSpPr>
        <p:spPr>
          <a:xfrm>
            <a:off x="4709160" y="4069537"/>
            <a:ext cx="2773680" cy="0"/>
          </a:xfrm>
          <a:prstGeom prst="line">
            <a:avLst/>
          </a:prstGeom>
          <a:ln w="9525">
            <a:solidFill>
              <a:srgbClr val="D2D2D7"/>
            </a:solidFill>
          </a:ln>
        </p:spPr>
      </p:cxnSp>
      <p:sp>
        <p:nvSpPr>
          <p:cNvPr id="20" name="plan card Team"/>
          <p:cNvSpPr/>
          <p:nvPr/>
        </p:nvSpPr>
        <p:spPr>
          <a:xfrm>
            <a:off x="7985760" y="2358695"/>
            <a:ext cx="3291840" cy="3222193"/>
          </a:xfrm>
          <a:prstGeom prst="roundRect">
            <a:avLst>
              <a:gd name="adj" fmla="val 5675"/>
            </a:avLst>
          </a:prstGeom>
          <a:solidFill>
            <a:srgbClr val="FFFFFF"/>
          </a:solidFill>
          <a:ln w="9525">
            <a:solidFill>
              <a:srgbClr val="D2D2D7"/>
            </a:solidFill>
          </a:ln>
        </p:spPr>
        <p:txBody>
          <a:bodyPr rtlCol="0" anchor="ctr"/>
          <a:lstStyle/>
          <a:p>
            <a:pPr algn="ctr"/>
          </a:p>
        </p:txBody>
      </p:sp>
      <p:sp>
        <p:nvSpPr>
          <p:cNvPr id="21" name="plan name"/>
          <p:cNvSpPr txBox="1"/>
          <p:nvPr/>
        </p:nvSpPr>
        <p:spPr>
          <a:xfrm>
            <a:off x="8244840" y="2556815"/>
            <a:ext cx="277368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Team</a:t>
            </a:r>
            <a:endParaRPr sz="1680"/>
          </a:p>
        </p:txBody>
      </p:sp>
      <p:sp>
        <p:nvSpPr>
          <p:cNvPr id="22" name="plan price"/>
          <p:cNvSpPr txBox="1"/>
          <p:nvPr/>
        </p:nvSpPr>
        <p:spPr>
          <a:xfrm>
            <a:off x="8244840" y="2919984"/>
            <a:ext cx="277368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$8</a:t>
            </a:r>
            <a:r>
              <a:rPr sz="1200" b="0" i="0">
                <a:solidFill>
                  <a:srgbClr val="6E6E73"/>
                </a:solidFill>
                <a:latin typeface="Helvetica Neue"/>
              </a:rPr>
              <a:t>  per seat / month</a:t>
            </a:r>
            <a:endParaRPr sz="3840"/>
          </a:p>
        </p:txBody>
      </p:sp>
      <p:sp>
        <p:nvSpPr>
          <p:cNvPr id="23" name="plan inr"/>
          <p:cNvSpPr txBox="1"/>
          <p:nvPr/>
        </p:nvSpPr>
        <p:spPr>
          <a:xfrm>
            <a:off x="8244840" y="3542843"/>
            <a:ext cx="277368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₹499</a:t>
            </a:r>
            <a:r>
              <a:rPr sz="1200" b="0" i="0">
                <a:solidFill>
                  <a:srgbClr val="86868B"/>
                </a:solidFill>
                <a:latin typeface="Helvetica Neue"/>
              </a:rPr>
              <a:t> · billed yearly</a:t>
            </a:r>
            <a:endParaRPr sz="1200"/>
          </a:p>
        </p:txBody>
      </p:sp>
      <p:sp>
        <p:nvSpPr>
          <p:cNvPr id="24" name="plan note"/>
          <p:cNvSpPr txBox="1"/>
          <p:nvPr/>
        </p:nvSpPr>
        <p:spPr>
          <a:xfrm>
            <a:off x="8244840" y="3787140"/>
            <a:ext cx="277368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Minimum 3 seats · 2 Macs per seat</a:t>
            </a:r>
            <a:endParaRPr sz="900"/>
          </a:p>
        </p:txBody>
      </p:sp>
      <p:cxnSp>
        <p:nvCxnSpPr>
          <p:cNvPr id="25" name="plan rule"/>
          <p:cNvCxnSpPr/>
          <p:nvPr/>
        </p:nvCxnSpPr>
        <p:spPr>
          <a:xfrm>
            <a:off x="8244840" y="4069537"/>
            <a:ext cx="2773680" cy="0"/>
          </a:xfrm>
          <a:prstGeom prst="line">
            <a:avLst/>
          </a:prstGeom>
          <a:ln w="9525">
            <a:solidFill>
              <a:srgbClr val="D2D2D7"/>
            </a:solidFill>
          </a:ln>
        </p:spPr>
      </p:cxnSp>
      <p:grpSp>
        <p:nvGrpSpPr>
          <p:cNvPr id="26" name="check mark"/>
          <p:cNvGrpSpPr/>
          <p:nvPr/>
        </p:nvGrpSpPr>
        <p:grpSpPr>
          <a:xfrm>
            <a:off x="1178052" y="4234891"/>
            <a:ext cx="82296" cy="64008"/>
            <a:chOff x="1178052" y="4234891"/>
            <a:chExt cx="82296" cy="64008"/>
          </a:xfrm>
        </p:grpSpPr>
        <p:cxnSp>
          <p:nvCxnSpPr>
            <p:cNvPr id="27" name="Connector 26"/>
            <p:cNvCxnSpPr/>
            <p:nvPr/>
          </p:nvCxnSpPr>
          <p:spPr>
            <a:xfrm>
              <a:off x="1178052" y="4270553"/>
              <a:ext cx="30175" cy="28346"/>
            </a:xfrm>
            <a:prstGeom prst="line">
              <a:avLst/>
            </a:prstGeom>
            <a:ln w="13970">
              <a:solidFill>
                <a:srgbClr val="1D1D1F"/>
              </a:solidFill>
            </a:ln>
          </p:spPr>
        </p:cxnSp>
        <p:cxnSp>
          <p:nvCxnSpPr>
            <p:cNvPr id="28" name="Connector 27"/>
            <p:cNvCxnSpPr/>
            <p:nvPr/>
          </p:nvCxnSpPr>
          <p:spPr>
            <a:xfrm flipV="1">
              <a:off x="1208227" y="4234891"/>
              <a:ext cx="52121" cy="64008"/>
            </a:xfrm>
            <a:prstGeom prst="line">
              <a:avLst/>
            </a:prstGeom>
            <a:ln w="13970">
              <a:solidFill>
                <a:srgbClr val="1D1D1F"/>
              </a:solidFill>
            </a:ln>
          </p:spPr>
        </p:cxnSp>
      </p:grpSp>
      <p:sp>
        <p:nvSpPr>
          <p:cNvPr id="29" name="plan feature"/>
          <p:cNvSpPr txBox="1"/>
          <p:nvPr/>
        </p:nvSpPr>
        <p:spPr>
          <a:xfrm>
            <a:off x="1341120" y="4191457"/>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Complete notch app</a:t>
            </a:r>
            <a:endParaRPr sz="864"/>
          </a:p>
        </p:txBody>
      </p:sp>
      <p:grpSp>
        <p:nvGrpSpPr>
          <p:cNvPr id="30" name="check mark"/>
          <p:cNvGrpSpPr/>
          <p:nvPr/>
        </p:nvGrpSpPr>
        <p:grpSpPr>
          <a:xfrm>
            <a:off x="1178052" y="4436516"/>
            <a:ext cx="82296" cy="64008"/>
            <a:chOff x="1178052" y="4436516"/>
            <a:chExt cx="82296" cy="64008"/>
          </a:xfrm>
        </p:grpSpPr>
        <p:cxnSp>
          <p:nvCxnSpPr>
            <p:cNvPr id="31" name="Connector 30"/>
            <p:cNvCxnSpPr/>
            <p:nvPr/>
          </p:nvCxnSpPr>
          <p:spPr>
            <a:xfrm>
              <a:off x="1178052" y="4472178"/>
              <a:ext cx="30175" cy="28346"/>
            </a:xfrm>
            <a:prstGeom prst="line">
              <a:avLst/>
            </a:prstGeom>
            <a:ln w="13970">
              <a:solidFill>
                <a:srgbClr val="1D1D1F"/>
              </a:solidFill>
            </a:ln>
          </p:spPr>
        </p:cxnSp>
        <p:cxnSp>
          <p:nvCxnSpPr>
            <p:cNvPr id="32" name="Connector 31"/>
            <p:cNvCxnSpPr/>
            <p:nvPr/>
          </p:nvCxnSpPr>
          <p:spPr>
            <a:xfrm flipV="1">
              <a:off x="1208227" y="4436516"/>
              <a:ext cx="52121" cy="64008"/>
            </a:xfrm>
            <a:prstGeom prst="line">
              <a:avLst/>
            </a:prstGeom>
            <a:ln w="13970">
              <a:solidFill>
                <a:srgbClr val="1D1D1F"/>
              </a:solidFill>
            </a:ln>
          </p:spPr>
        </p:cxnSp>
      </p:grpSp>
      <p:sp>
        <p:nvSpPr>
          <p:cNvPr id="33" name="plan feature"/>
          <p:cNvSpPr txBox="1"/>
          <p:nvPr/>
        </p:nvSpPr>
        <p:spPr>
          <a:xfrm>
            <a:off x="1341120" y="4393082"/>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World Clock and gauges</a:t>
            </a:r>
            <a:endParaRPr sz="864"/>
          </a:p>
        </p:txBody>
      </p:sp>
      <p:grpSp>
        <p:nvGrpSpPr>
          <p:cNvPr id="34" name="check mark"/>
          <p:cNvGrpSpPr/>
          <p:nvPr/>
        </p:nvGrpSpPr>
        <p:grpSpPr>
          <a:xfrm>
            <a:off x="1178052" y="4638142"/>
            <a:ext cx="82296" cy="64008"/>
            <a:chOff x="1178052" y="4638142"/>
            <a:chExt cx="82296" cy="64008"/>
          </a:xfrm>
        </p:grpSpPr>
        <p:cxnSp>
          <p:nvCxnSpPr>
            <p:cNvPr id="35" name="Connector 34"/>
            <p:cNvCxnSpPr/>
            <p:nvPr/>
          </p:nvCxnSpPr>
          <p:spPr>
            <a:xfrm>
              <a:off x="1178052" y="4673803"/>
              <a:ext cx="30175" cy="28347"/>
            </a:xfrm>
            <a:prstGeom prst="line">
              <a:avLst/>
            </a:prstGeom>
            <a:ln w="13970">
              <a:solidFill>
                <a:srgbClr val="1D1D1F"/>
              </a:solidFill>
            </a:ln>
          </p:spPr>
        </p:cxnSp>
        <p:cxnSp>
          <p:nvCxnSpPr>
            <p:cNvPr id="36" name="Connector 35"/>
            <p:cNvCxnSpPr/>
            <p:nvPr/>
          </p:nvCxnSpPr>
          <p:spPr>
            <a:xfrm flipV="1">
              <a:off x="1208227" y="4638142"/>
              <a:ext cx="52121" cy="64008"/>
            </a:xfrm>
            <a:prstGeom prst="line">
              <a:avLst/>
            </a:prstGeom>
            <a:ln w="13970">
              <a:solidFill>
                <a:srgbClr val="1D1D1F"/>
              </a:solidFill>
            </a:ln>
          </p:spPr>
        </p:cxnSp>
      </p:grpSp>
      <p:sp>
        <p:nvSpPr>
          <p:cNvPr id="37" name="plan feature"/>
          <p:cNvSpPr txBox="1"/>
          <p:nvPr/>
        </p:nvSpPr>
        <p:spPr>
          <a:xfrm>
            <a:off x="1341120" y="4594708"/>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Clipboard (last 25), Copy Text</a:t>
            </a:r>
            <a:endParaRPr sz="864"/>
          </a:p>
        </p:txBody>
      </p:sp>
      <p:grpSp>
        <p:nvGrpSpPr>
          <p:cNvPr id="38" name="check mark"/>
          <p:cNvGrpSpPr/>
          <p:nvPr/>
        </p:nvGrpSpPr>
        <p:grpSpPr>
          <a:xfrm>
            <a:off x="1178052" y="4839767"/>
            <a:ext cx="82296" cy="64008"/>
            <a:chOff x="1178052" y="4839767"/>
            <a:chExt cx="82296" cy="64008"/>
          </a:xfrm>
        </p:grpSpPr>
        <p:cxnSp>
          <p:nvCxnSpPr>
            <p:cNvPr id="39" name="Connector 38"/>
            <p:cNvCxnSpPr/>
            <p:nvPr/>
          </p:nvCxnSpPr>
          <p:spPr>
            <a:xfrm>
              <a:off x="1178052" y="4875428"/>
              <a:ext cx="30175" cy="28347"/>
            </a:xfrm>
            <a:prstGeom prst="line">
              <a:avLst/>
            </a:prstGeom>
            <a:ln w="13970">
              <a:solidFill>
                <a:srgbClr val="1D1D1F"/>
              </a:solidFill>
            </a:ln>
          </p:spPr>
        </p:cxnSp>
        <p:cxnSp>
          <p:nvCxnSpPr>
            <p:cNvPr id="40" name="Connector 39"/>
            <p:cNvCxnSpPr/>
            <p:nvPr/>
          </p:nvCxnSpPr>
          <p:spPr>
            <a:xfrm flipV="1">
              <a:off x="1208227" y="4839767"/>
              <a:ext cx="52121" cy="64008"/>
            </a:xfrm>
            <a:prstGeom prst="line">
              <a:avLst/>
            </a:prstGeom>
            <a:ln w="13970">
              <a:solidFill>
                <a:srgbClr val="1D1D1F"/>
              </a:solidFill>
            </a:ln>
          </p:spPr>
        </p:cxnSp>
      </p:grpSp>
      <p:sp>
        <p:nvSpPr>
          <p:cNvPr id="41" name="plan feature"/>
          <p:cNvSpPr txBox="1"/>
          <p:nvPr/>
        </p:nvSpPr>
        <p:spPr>
          <a:xfrm>
            <a:off x="1341120" y="4796333"/>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Dictation</a:t>
            </a:r>
            <a:endParaRPr sz="864"/>
          </a:p>
        </p:txBody>
      </p:sp>
      <p:grpSp>
        <p:nvGrpSpPr>
          <p:cNvPr id="42" name="check mark"/>
          <p:cNvGrpSpPr/>
          <p:nvPr/>
        </p:nvGrpSpPr>
        <p:grpSpPr>
          <a:xfrm>
            <a:off x="4713732" y="4234891"/>
            <a:ext cx="82296" cy="64008"/>
            <a:chOff x="4713732" y="4234891"/>
            <a:chExt cx="82296" cy="64008"/>
          </a:xfrm>
        </p:grpSpPr>
        <p:cxnSp>
          <p:nvCxnSpPr>
            <p:cNvPr id="43" name="Connector 42"/>
            <p:cNvCxnSpPr/>
            <p:nvPr/>
          </p:nvCxnSpPr>
          <p:spPr>
            <a:xfrm>
              <a:off x="4713732" y="4270553"/>
              <a:ext cx="30175" cy="28346"/>
            </a:xfrm>
            <a:prstGeom prst="line">
              <a:avLst/>
            </a:prstGeom>
            <a:ln w="13970">
              <a:solidFill>
                <a:srgbClr val="1D1D1F"/>
              </a:solidFill>
            </a:ln>
          </p:spPr>
        </p:cxnSp>
        <p:cxnSp>
          <p:nvCxnSpPr>
            <p:cNvPr id="44" name="Connector 43"/>
            <p:cNvCxnSpPr/>
            <p:nvPr/>
          </p:nvCxnSpPr>
          <p:spPr>
            <a:xfrm flipV="1">
              <a:off x="4743907" y="4234891"/>
              <a:ext cx="52121" cy="64008"/>
            </a:xfrm>
            <a:prstGeom prst="line">
              <a:avLst/>
            </a:prstGeom>
            <a:ln w="13970">
              <a:solidFill>
                <a:srgbClr val="1D1D1F"/>
              </a:solidFill>
            </a:ln>
          </p:spPr>
        </p:cxnSp>
      </p:grpSp>
      <p:sp>
        <p:nvSpPr>
          <p:cNvPr id="45" name="plan feature"/>
          <p:cNvSpPr txBox="1"/>
          <p:nvPr/>
        </p:nvSpPr>
        <p:spPr>
          <a:xfrm>
            <a:off x="4876800" y="4191457"/>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Everything in Free, plus:</a:t>
            </a:r>
            <a:endParaRPr sz="864"/>
          </a:p>
        </p:txBody>
      </p:sp>
      <p:grpSp>
        <p:nvGrpSpPr>
          <p:cNvPr id="46" name="check mark"/>
          <p:cNvGrpSpPr/>
          <p:nvPr/>
        </p:nvGrpSpPr>
        <p:grpSpPr>
          <a:xfrm>
            <a:off x="4713732" y="4436516"/>
            <a:ext cx="82296" cy="64008"/>
            <a:chOff x="4713732" y="4436516"/>
            <a:chExt cx="82296" cy="64008"/>
          </a:xfrm>
        </p:grpSpPr>
        <p:cxnSp>
          <p:nvCxnSpPr>
            <p:cNvPr id="47" name="Connector 46"/>
            <p:cNvCxnSpPr/>
            <p:nvPr/>
          </p:nvCxnSpPr>
          <p:spPr>
            <a:xfrm>
              <a:off x="4713732" y="4472178"/>
              <a:ext cx="30175" cy="28346"/>
            </a:xfrm>
            <a:prstGeom prst="line">
              <a:avLst/>
            </a:prstGeom>
            <a:ln w="13970">
              <a:solidFill>
                <a:srgbClr val="1D1D1F"/>
              </a:solidFill>
            </a:ln>
          </p:spPr>
        </p:cxnSp>
        <p:cxnSp>
          <p:nvCxnSpPr>
            <p:cNvPr id="48" name="Connector 47"/>
            <p:cNvCxnSpPr/>
            <p:nvPr/>
          </p:nvCxnSpPr>
          <p:spPr>
            <a:xfrm flipV="1">
              <a:off x="4743907" y="4436516"/>
              <a:ext cx="52121" cy="64008"/>
            </a:xfrm>
            <a:prstGeom prst="line">
              <a:avLst/>
            </a:prstGeom>
            <a:ln w="13970">
              <a:solidFill>
                <a:srgbClr val="1D1D1F"/>
              </a:solidFill>
            </a:ln>
          </p:spPr>
        </p:cxnSp>
      </p:grpSp>
      <p:sp>
        <p:nvSpPr>
          <p:cNvPr id="49" name="plan feature"/>
          <p:cNvSpPr txBox="1"/>
          <p:nvPr/>
        </p:nvSpPr>
        <p:spPr>
          <a:xfrm>
            <a:off x="4876800" y="4393082"/>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AI assistants</a:t>
            </a:r>
            <a:endParaRPr sz="864"/>
          </a:p>
        </p:txBody>
      </p:sp>
      <p:grpSp>
        <p:nvGrpSpPr>
          <p:cNvPr id="50" name="check mark"/>
          <p:cNvGrpSpPr/>
          <p:nvPr/>
        </p:nvGrpSpPr>
        <p:grpSpPr>
          <a:xfrm>
            <a:off x="4713732" y="4638142"/>
            <a:ext cx="82296" cy="64008"/>
            <a:chOff x="4713732" y="4638142"/>
            <a:chExt cx="82296" cy="64008"/>
          </a:xfrm>
        </p:grpSpPr>
        <p:cxnSp>
          <p:nvCxnSpPr>
            <p:cNvPr id="51" name="Connector 50"/>
            <p:cNvCxnSpPr/>
            <p:nvPr/>
          </p:nvCxnSpPr>
          <p:spPr>
            <a:xfrm>
              <a:off x="4713732" y="4673803"/>
              <a:ext cx="30175" cy="28347"/>
            </a:xfrm>
            <a:prstGeom prst="line">
              <a:avLst/>
            </a:prstGeom>
            <a:ln w="13970">
              <a:solidFill>
                <a:srgbClr val="1D1D1F"/>
              </a:solidFill>
            </a:ln>
          </p:spPr>
        </p:cxnSp>
        <p:cxnSp>
          <p:nvCxnSpPr>
            <p:cNvPr id="52" name="Connector 51"/>
            <p:cNvCxnSpPr/>
            <p:nvPr/>
          </p:nvCxnSpPr>
          <p:spPr>
            <a:xfrm flipV="1">
              <a:off x="4743907" y="4638142"/>
              <a:ext cx="52121" cy="64008"/>
            </a:xfrm>
            <a:prstGeom prst="line">
              <a:avLst/>
            </a:prstGeom>
            <a:ln w="13970">
              <a:solidFill>
                <a:srgbClr val="1D1D1F"/>
              </a:solidFill>
            </a:ln>
          </p:spPr>
        </p:cxnSp>
      </p:grpSp>
      <p:sp>
        <p:nvSpPr>
          <p:cNvPr id="53" name="plan feature"/>
          <p:cNvSpPr txBox="1"/>
          <p:nvPr/>
        </p:nvSpPr>
        <p:spPr>
          <a:xfrm>
            <a:off x="4876800" y="4594708"/>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Meetings and translation</a:t>
            </a:r>
            <a:endParaRPr sz="864"/>
          </a:p>
        </p:txBody>
      </p:sp>
      <p:grpSp>
        <p:nvGrpSpPr>
          <p:cNvPr id="54" name="check mark"/>
          <p:cNvGrpSpPr/>
          <p:nvPr/>
        </p:nvGrpSpPr>
        <p:grpSpPr>
          <a:xfrm>
            <a:off x="4713732" y="4839767"/>
            <a:ext cx="82296" cy="64008"/>
            <a:chOff x="4713732" y="4839767"/>
            <a:chExt cx="82296" cy="64008"/>
          </a:xfrm>
        </p:grpSpPr>
        <p:cxnSp>
          <p:nvCxnSpPr>
            <p:cNvPr id="55" name="Connector 54"/>
            <p:cNvCxnSpPr/>
            <p:nvPr/>
          </p:nvCxnSpPr>
          <p:spPr>
            <a:xfrm>
              <a:off x="4713732" y="4875428"/>
              <a:ext cx="30175" cy="28347"/>
            </a:xfrm>
            <a:prstGeom prst="line">
              <a:avLst/>
            </a:prstGeom>
            <a:ln w="13970">
              <a:solidFill>
                <a:srgbClr val="1D1D1F"/>
              </a:solidFill>
            </a:ln>
          </p:spPr>
        </p:cxnSp>
        <p:cxnSp>
          <p:nvCxnSpPr>
            <p:cNvPr id="56" name="Connector 55"/>
            <p:cNvCxnSpPr/>
            <p:nvPr/>
          </p:nvCxnSpPr>
          <p:spPr>
            <a:xfrm flipV="1">
              <a:off x="4743907" y="4839767"/>
              <a:ext cx="52121" cy="64008"/>
            </a:xfrm>
            <a:prstGeom prst="line">
              <a:avLst/>
            </a:prstGeom>
            <a:ln w="13970">
              <a:solidFill>
                <a:srgbClr val="1D1D1F"/>
              </a:solidFill>
            </a:ln>
          </p:spPr>
        </p:cxnSp>
      </p:grpSp>
      <p:sp>
        <p:nvSpPr>
          <p:cNvPr id="57" name="plan feature"/>
          <p:cNvSpPr txBox="1"/>
          <p:nvPr/>
        </p:nvSpPr>
        <p:spPr>
          <a:xfrm>
            <a:off x="4876800" y="4796333"/>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Productivity suite</a:t>
            </a:r>
            <a:endParaRPr sz="864"/>
          </a:p>
        </p:txBody>
      </p:sp>
      <p:grpSp>
        <p:nvGrpSpPr>
          <p:cNvPr id="58" name="check mark"/>
          <p:cNvGrpSpPr/>
          <p:nvPr/>
        </p:nvGrpSpPr>
        <p:grpSpPr>
          <a:xfrm>
            <a:off x="4713732" y="5041392"/>
            <a:ext cx="82296" cy="64008"/>
            <a:chOff x="4713732" y="5041392"/>
            <a:chExt cx="82296" cy="64008"/>
          </a:xfrm>
        </p:grpSpPr>
        <p:cxnSp>
          <p:nvCxnSpPr>
            <p:cNvPr id="59" name="Connector 58"/>
            <p:cNvCxnSpPr/>
            <p:nvPr/>
          </p:nvCxnSpPr>
          <p:spPr>
            <a:xfrm>
              <a:off x="4713732" y="5077054"/>
              <a:ext cx="30175" cy="28346"/>
            </a:xfrm>
            <a:prstGeom prst="line">
              <a:avLst/>
            </a:prstGeom>
            <a:ln w="13970">
              <a:solidFill>
                <a:srgbClr val="1D1D1F"/>
              </a:solidFill>
            </a:ln>
          </p:spPr>
        </p:cxnSp>
        <p:cxnSp>
          <p:nvCxnSpPr>
            <p:cNvPr id="60" name="Connector 59"/>
            <p:cNvCxnSpPr/>
            <p:nvPr/>
          </p:nvCxnSpPr>
          <p:spPr>
            <a:xfrm flipV="1">
              <a:off x="4743907" y="5041392"/>
              <a:ext cx="52121" cy="64008"/>
            </a:xfrm>
            <a:prstGeom prst="line">
              <a:avLst/>
            </a:prstGeom>
            <a:ln w="13970">
              <a:solidFill>
                <a:srgbClr val="1D1D1F"/>
              </a:solidFill>
            </a:ln>
          </p:spPr>
        </p:cxnSp>
      </p:grpSp>
      <p:sp>
        <p:nvSpPr>
          <p:cNvPr id="61" name="plan feature"/>
          <p:cNvSpPr txBox="1"/>
          <p:nvPr/>
        </p:nvSpPr>
        <p:spPr>
          <a:xfrm>
            <a:off x="4876800" y="4997958"/>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Focus and Modes</a:t>
            </a:r>
            <a:endParaRPr sz="864"/>
          </a:p>
        </p:txBody>
      </p:sp>
      <p:grpSp>
        <p:nvGrpSpPr>
          <p:cNvPr id="62" name="check mark"/>
          <p:cNvGrpSpPr/>
          <p:nvPr/>
        </p:nvGrpSpPr>
        <p:grpSpPr>
          <a:xfrm>
            <a:off x="4713732" y="5243017"/>
            <a:ext cx="82296" cy="64008"/>
            <a:chOff x="4713732" y="5243017"/>
            <a:chExt cx="82296" cy="64008"/>
          </a:xfrm>
        </p:grpSpPr>
        <p:cxnSp>
          <p:nvCxnSpPr>
            <p:cNvPr id="63" name="Connector 62"/>
            <p:cNvCxnSpPr/>
            <p:nvPr/>
          </p:nvCxnSpPr>
          <p:spPr>
            <a:xfrm>
              <a:off x="4713732" y="5278679"/>
              <a:ext cx="30175" cy="28346"/>
            </a:xfrm>
            <a:prstGeom prst="line">
              <a:avLst/>
            </a:prstGeom>
            <a:ln w="13970">
              <a:solidFill>
                <a:srgbClr val="1D1D1F"/>
              </a:solidFill>
            </a:ln>
          </p:spPr>
        </p:cxnSp>
        <p:cxnSp>
          <p:nvCxnSpPr>
            <p:cNvPr id="64" name="Connector 63"/>
            <p:cNvCxnSpPr/>
            <p:nvPr/>
          </p:nvCxnSpPr>
          <p:spPr>
            <a:xfrm flipV="1">
              <a:off x="4743907" y="5243017"/>
              <a:ext cx="52121" cy="64008"/>
            </a:xfrm>
            <a:prstGeom prst="line">
              <a:avLst/>
            </a:prstGeom>
            <a:ln w="13970">
              <a:solidFill>
                <a:srgbClr val="1D1D1F"/>
              </a:solidFill>
            </a:ln>
          </p:spPr>
        </p:cxnSp>
      </p:grpSp>
      <p:sp>
        <p:nvSpPr>
          <p:cNvPr id="65" name="plan feature"/>
          <p:cNvSpPr txBox="1"/>
          <p:nvPr/>
        </p:nvSpPr>
        <p:spPr>
          <a:xfrm>
            <a:off x="4876800" y="5199583"/>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Developer tools</a:t>
            </a:r>
            <a:endParaRPr sz="864"/>
          </a:p>
        </p:txBody>
      </p:sp>
      <p:grpSp>
        <p:nvGrpSpPr>
          <p:cNvPr id="66" name="check mark"/>
          <p:cNvGrpSpPr/>
          <p:nvPr/>
        </p:nvGrpSpPr>
        <p:grpSpPr>
          <a:xfrm>
            <a:off x="8249412" y="4234891"/>
            <a:ext cx="82296" cy="64008"/>
            <a:chOff x="8249412" y="4234891"/>
            <a:chExt cx="82296" cy="64008"/>
          </a:xfrm>
        </p:grpSpPr>
        <p:cxnSp>
          <p:nvCxnSpPr>
            <p:cNvPr id="67" name="Connector 66"/>
            <p:cNvCxnSpPr/>
            <p:nvPr/>
          </p:nvCxnSpPr>
          <p:spPr>
            <a:xfrm>
              <a:off x="8249412" y="4270553"/>
              <a:ext cx="30175" cy="28346"/>
            </a:xfrm>
            <a:prstGeom prst="line">
              <a:avLst/>
            </a:prstGeom>
            <a:ln w="13970">
              <a:solidFill>
                <a:srgbClr val="1D1D1F"/>
              </a:solidFill>
            </a:ln>
          </p:spPr>
        </p:cxnSp>
        <p:cxnSp>
          <p:nvCxnSpPr>
            <p:cNvPr id="68" name="Connector 67"/>
            <p:cNvCxnSpPr/>
            <p:nvPr/>
          </p:nvCxnSpPr>
          <p:spPr>
            <a:xfrm flipV="1">
              <a:off x="8279587" y="4234891"/>
              <a:ext cx="52121" cy="64008"/>
            </a:xfrm>
            <a:prstGeom prst="line">
              <a:avLst/>
            </a:prstGeom>
            <a:ln w="13970">
              <a:solidFill>
                <a:srgbClr val="1D1D1F"/>
              </a:solidFill>
            </a:ln>
          </p:spPr>
        </p:cxnSp>
      </p:grpSp>
      <p:sp>
        <p:nvSpPr>
          <p:cNvPr id="69" name="plan feature"/>
          <p:cNvSpPr txBox="1"/>
          <p:nvPr/>
        </p:nvSpPr>
        <p:spPr>
          <a:xfrm>
            <a:off x="8412480" y="4191457"/>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Everything in Pro, plus:</a:t>
            </a:r>
            <a:endParaRPr sz="864"/>
          </a:p>
        </p:txBody>
      </p:sp>
      <p:grpSp>
        <p:nvGrpSpPr>
          <p:cNvPr id="70" name="check mark"/>
          <p:cNvGrpSpPr/>
          <p:nvPr/>
        </p:nvGrpSpPr>
        <p:grpSpPr>
          <a:xfrm>
            <a:off x="8249412" y="4436516"/>
            <a:ext cx="82296" cy="64008"/>
            <a:chOff x="8249412" y="4436516"/>
            <a:chExt cx="82296" cy="64008"/>
          </a:xfrm>
        </p:grpSpPr>
        <p:cxnSp>
          <p:nvCxnSpPr>
            <p:cNvPr id="71" name="Connector 70"/>
            <p:cNvCxnSpPr/>
            <p:nvPr/>
          </p:nvCxnSpPr>
          <p:spPr>
            <a:xfrm>
              <a:off x="8249412" y="4472178"/>
              <a:ext cx="30175" cy="28346"/>
            </a:xfrm>
            <a:prstGeom prst="line">
              <a:avLst/>
            </a:prstGeom>
            <a:ln w="13970">
              <a:solidFill>
                <a:srgbClr val="1D1D1F"/>
              </a:solidFill>
            </a:ln>
          </p:spPr>
        </p:cxnSp>
        <p:cxnSp>
          <p:nvCxnSpPr>
            <p:cNvPr id="72" name="Connector 71"/>
            <p:cNvCxnSpPr/>
            <p:nvPr/>
          </p:nvCxnSpPr>
          <p:spPr>
            <a:xfrm flipV="1">
              <a:off x="8279587" y="4436516"/>
              <a:ext cx="52121" cy="64008"/>
            </a:xfrm>
            <a:prstGeom prst="line">
              <a:avLst/>
            </a:prstGeom>
            <a:ln w="13970">
              <a:solidFill>
                <a:srgbClr val="1D1D1F"/>
              </a:solidFill>
            </a:ln>
          </p:spPr>
        </p:cxnSp>
      </p:grpSp>
      <p:sp>
        <p:nvSpPr>
          <p:cNvPr id="73" name="plan feature"/>
          <p:cNvSpPr txBox="1"/>
          <p:nvPr/>
        </p:nvSpPr>
        <p:spPr>
          <a:xfrm>
            <a:off x="8412480" y="4393082"/>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One invoice</a:t>
            </a:r>
            <a:endParaRPr sz="864"/>
          </a:p>
        </p:txBody>
      </p:sp>
      <p:grpSp>
        <p:nvGrpSpPr>
          <p:cNvPr id="74" name="check mark"/>
          <p:cNvGrpSpPr/>
          <p:nvPr/>
        </p:nvGrpSpPr>
        <p:grpSpPr>
          <a:xfrm>
            <a:off x="8249412" y="4638142"/>
            <a:ext cx="82296" cy="64008"/>
            <a:chOff x="8249412" y="4638142"/>
            <a:chExt cx="82296" cy="64008"/>
          </a:xfrm>
        </p:grpSpPr>
        <p:cxnSp>
          <p:nvCxnSpPr>
            <p:cNvPr id="75" name="Connector 74"/>
            <p:cNvCxnSpPr/>
            <p:nvPr/>
          </p:nvCxnSpPr>
          <p:spPr>
            <a:xfrm>
              <a:off x="8249412" y="4673803"/>
              <a:ext cx="30175" cy="28347"/>
            </a:xfrm>
            <a:prstGeom prst="line">
              <a:avLst/>
            </a:prstGeom>
            <a:ln w="13970">
              <a:solidFill>
                <a:srgbClr val="1D1D1F"/>
              </a:solidFill>
            </a:ln>
          </p:spPr>
        </p:cxnSp>
        <p:cxnSp>
          <p:nvCxnSpPr>
            <p:cNvPr id="76" name="Connector 75"/>
            <p:cNvCxnSpPr/>
            <p:nvPr/>
          </p:nvCxnSpPr>
          <p:spPr>
            <a:xfrm flipV="1">
              <a:off x="8279587" y="4638142"/>
              <a:ext cx="52121" cy="64008"/>
            </a:xfrm>
            <a:prstGeom prst="line">
              <a:avLst/>
            </a:prstGeom>
            <a:ln w="13970">
              <a:solidFill>
                <a:srgbClr val="1D1D1F"/>
              </a:solidFill>
            </a:ln>
          </p:spPr>
        </p:cxnSp>
      </p:grpSp>
      <p:sp>
        <p:nvSpPr>
          <p:cNvPr id="77" name="plan feature"/>
          <p:cNvSpPr txBox="1"/>
          <p:nvPr/>
        </p:nvSpPr>
        <p:spPr>
          <a:xfrm>
            <a:off x="8412480" y="4594708"/>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Seat management</a:t>
            </a:r>
            <a:endParaRPr sz="864"/>
          </a:p>
        </p:txBody>
      </p:sp>
      <p:grpSp>
        <p:nvGrpSpPr>
          <p:cNvPr id="78" name="check mark"/>
          <p:cNvGrpSpPr/>
          <p:nvPr/>
        </p:nvGrpSpPr>
        <p:grpSpPr>
          <a:xfrm>
            <a:off x="8249412" y="4839767"/>
            <a:ext cx="82296" cy="64008"/>
            <a:chOff x="8249412" y="4839767"/>
            <a:chExt cx="82296" cy="64008"/>
          </a:xfrm>
        </p:grpSpPr>
        <p:cxnSp>
          <p:nvCxnSpPr>
            <p:cNvPr id="79" name="Connector 78"/>
            <p:cNvCxnSpPr/>
            <p:nvPr/>
          </p:nvCxnSpPr>
          <p:spPr>
            <a:xfrm>
              <a:off x="8249412" y="4875428"/>
              <a:ext cx="30175" cy="28347"/>
            </a:xfrm>
            <a:prstGeom prst="line">
              <a:avLst/>
            </a:prstGeom>
            <a:ln w="13970">
              <a:solidFill>
                <a:srgbClr val="1D1D1F"/>
              </a:solidFill>
            </a:ln>
          </p:spPr>
        </p:cxnSp>
        <p:cxnSp>
          <p:nvCxnSpPr>
            <p:cNvPr id="80" name="Connector 79"/>
            <p:cNvCxnSpPr/>
            <p:nvPr/>
          </p:nvCxnSpPr>
          <p:spPr>
            <a:xfrm flipV="1">
              <a:off x="8279587" y="4839767"/>
              <a:ext cx="52121" cy="64008"/>
            </a:xfrm>
            <a:prstGeom prst="line">
              <a:avLst/>
            </a:prstGeom>
            <a:ln w="13970">
              <a:solidFill>
                <a:srgbClr val="1D1D1F"/>
              </a:solidFill>
            </a:ln>
          </p:spPr>
        </p:cxnSp>
      </p:grpSp>
      <p:sp>
        <p:nvSpPr>
          <p:cNvPr id="81" name="plan feature"/>
          <p:cNvSpPr txBox="1"/>
          <p:nvPr/>
        </p:nvSpPr>
        <p:spPr>
          <a:xfrm>
            <a:off x="8412480" y="4796333"/>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Shared Spaces packages</a:t>
            </a:r>
            <a:endParaRPr sz="864"/>
          </a:p>
        </p:txBody>
      </p:sp>
      <p:grpSp>
        <p:nvGrpSpPr>
          <p:cNvPr id="82" name="check mark"/>
          <p:cNvGrpSpPr/>
          <p:nvPr/>
        </p:nvGrpSpPr>
        <p:grpSpPr>
          <a:xfrm>
            <a:off x="8249412" y="5041392"/>
            <a:ext cx="82296" cy="64008"/>
            <a:chOff x="8249412" y="5041392"/>
            <a:chExt cx="82296" cy="64008"/>
          </a:xfrm>
        </p:grpSpPr>
        <p:cxnSp>
          <p:nvCxnSpPr>
            <p:cNvPr id="83" name="Connector 82"/>
            <p:cNvCxnSpPr/>
            <p:nvPr/>
          </p:nvCxnSpPr>
          <p:spPr>
            <a:xfrm>
              <a:off x="8249412" y="5077054"/>
              <a:ext cx="30175" cy="28346"/>
            </a:xfrm>
            <a:prstGeom prst="line">
              <a:avLst/>
            </a:prstGeom>
            <a:ln w="13970">
              <a:solidFill>
                <a:srgbClr val="1D1D1F"/>
              </a:solidFill>
            </a:ln>
          </p:spPr>
        </p:cxnSp>
        <p:cxnSp>
          <p:nvCxnSpPr>
            <p:cNvPr id="84" name="Connector 83"/>
            <p:cNvCxnSpPr/>
            <p:nvPr/>
          </p:nvCxnSpPr>
          <p:spPr>
            <a:xfrm flipV="1">
              <a:off x="8279587" y="5041392"/>
              <a:ext cx="52121" cy="64008"/>
            </a:xfrm>
            <a:prstGeom prst="line">
              <a:avLst/>
            </a:prstGeom>
            <a:ln w="13970">
              <a:solidFill>
                <a:srgbClr val="1D1D1F"/>
              </a:solidFill>
            </a:ln>
          </p:spPr>
        </p:cxnSp>
      </p:grpSp>
      <p:sp>
        <p:nvSpPr>
          <p:cNvPr id="85" name="plan feature"/>
          <p:cNvSpPr txBox="1"/>
          <p:nvPr/>
        </p:nvSpPr>
        <p:spPr>
          <a:xfrm>
            <a:off x="8412480" y="4997958"/>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Priority support</a:t>
            </a:r>
            <a:endParaRPr sz="864"/>
          </a:p>
        </p:txBody>
      </p:sp>
      <p:grpSp>
        <p:nvGrpSpPr>
          <p:cNvPr id="86" name="check mark"/>
          <p:cNvGrpSpPr/>
          <p:nvPr/>
        </p:nvGrpSpPr>
        <p:grpSpPr>
          <a:xfrm>
            <a:off x="8249412" y="5243017"/>
            <a:ext cx="82296" cy="64008"/>
            <a:chOff x="8249412" y="5243017"/>
            <a:chExt cx="82296" cy="64008"/>
          </a:xfrm>
        </p:grpSpPr>
        <p:cxnSp>
          <p:nvCxnSpPr>
            <p:cNvPr id="87" name="Connector 86"/>
            <p:cNvCxnSpPr/>
            <p:nvPr/>
          </p:nvCxnSpPr>
          <p:spPr>
            <a:xfrm>
              <a:off x="8249412" y="5278679"/>
              <a:ext cx="30175" cy="28346"/>
            </a:xfrm>
            <a:prstGeom prst="line">
              <a:avLst/>
            </a:prstGeom>
            <a:ln w="13970">
              <a:solidFill>
                <a:srgbClr val="1D1D1F"/>
              </a:solidFill>
            </a:ln>
          </p:spPr>
        </p:cxnSp>
        <p:cxnSp>
          <p:nvCxnSpPr>
            <p:cNvPr id="88" name="Connector 87"/>
            <p:cNvCxnSpPr/>
            <p:nvPr/>
          </p:nvCxnSpPr>
          <p:spPr>
            <a:xfrm flipV="1">
              <a:off x="8279587" y="5243017"/>
              <a:ext cx="52121" cy="64008"/>
            </a:xfrm>
            <a:prstGeom prst="line">
              <a:avLst/>
            </a:prstGeom>
            <a:ln w="13970">
              <a:solidFill>
                <a:srgbClr val="1D1D1F"/>
              </a:solidFill>
            </a:ln>
          </p:spPr>
        </p:cxnSp>
      </p:grpSp>
      <p:sp>
        <p:nvSpPr>
          <p:cNvPr id="89" name="plan feature"/>
          <p:cNvSpPr txBox="1"/>
          <p:nvPr/>
        </p:nvSpPr>
        <p:spPr>
          <a:xfrm>
            <a:off x="8412480" y="5199583"/>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MDM package</a:t>
            </a:r>
            <a:endParaRPr sz="864"/>
          </a:p>
        </p:txBody>
      </p:sp>
      <p:sp>
        <p:nvSpPr>
          <p:cNvPr id="90" name="cta aside"/>
          <p:cNvSpPr txBox="1"/>
          <p:nvPr/>
        </p:nvSpPr>
        <p:spPr>
          <a:xfrm>
            <a:off x="2287547" y="5948743"/>
            <a:ext cx="7616906"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Launch week: Pro $29 (₹999) · Students and teachers: 50% off Pro · 30-day refunds, no questions asked · 2 Macs per license</a:t>
            </a:r>
            <a:endParaRPr sz="102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headline"/>
          <p:cNvSpPr txBox="1"/>
          <p:nvPr/>
        </p:nvSpPr>
        <p:spPr>
          <a:xfrm>
            <a:off x="914400" y="731520"/>
            <a:ext cx="10363200" cy="707593"/>
          </a:xfrm>
          <a:prstGeom prst="rect">
            <a:avLst/>
          </a:prstGeom>
          <a:noFill/>
        </p:spPr>
        <p:txBody>
          <a:bodyPr wrap="square" lIns="0" tIns="0" rIns="0" bIns="0" anchor="t">
            <a:noAutofit/>
          </a:bodyPr>
          <a:lstStyle/>
          <a:p>
            <a:pPr algn="ctr">
              <a:lnSpc>
                <a:spcPts val="5568"/>
              </a:lnSpc>
              <a:spcBef>
                <a:spcPts val="0"/>
              </a:spcBef>
              <a:spcAft>
                <a:spcPts val="0"/>
              </a:spcAft>
            </a:pPr>
            <a:r>
              <a:rPr sz="4800" b="0" i="0" spc="-72">
                <a:solidFill>
                  <a:srgbClr val="1D1D1F"/>
                </a:solidFill>
                <a:latin typeface="Helvetica Neue Light"/>
              </a:rPr>
              <a:t>Turn on your </a:t>
            </a:r>
            <a:r>
              <a:rPr sz="4800" b="0" i="0" spc="-72">
                <a:solidFill>
                  <a:srgbClr val="1D1D1F"/>
                </a:solidFill>
                <a:latin typeface="Helvetica Neue Medium"/>
              </a:rPr>
              <a:t>notch.</a:t>
            </a:r>
            <a:endParaRPr sz="4800"/>
          </a:p>
        </p:txBody>
      </p:sp>
      <p:sp>
        <p:nvSpPr>
          <p:cNvPr id="3" name="lead"/>
          <p:cNvSpPr txBox="1"/>
          <p:nvPr/>
        </p:nvSpPr>
        <p:spPr>
          <a:xfrm>
            <a:off x="914400" y="1637233"/>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Try every Pro feature free for 14 days.</a:t>
            </a:r>
            <a:endParaRPr sz="1680"/>
          </a:p>
        </p:txBody>
      </p:sp>
      <p:sp>
        <p:nvSpPr>
          <p:cNvPr id="4" name="cta"/>
          <p:cNvSpPr/>
          <p:nvPr/>
        </p:nvSpPr>
        <p:spPr>
          <a:xfrm>
            <a:off x="3728147" y="2202180"/>
            <a:ext cx="1131488" cy="411480"/>
          </a:xfrm>
          <a:prstGeom prst="roundRect">
            <a:avLst>
              <a:gd name="adj" fmla="val 50000"/>
            </a:avLst>
          </a:prstGeom>
          <a:solidFill>
            <a:srgbClr val="F01822"/>
          </a:solidFill>
          <a:ln>
            <a:noFill/>
          </a:ln>
        </p:spPr>
        <p:txBody>
          <a:bodyPr rtlCol="0" anchor="ctr" wrap="square" lIns="228600" tIns="114300" rIns="228600" bIns="114300">
            <a:noAutofit/>
          </a:bodyPr>
          <a:lstStyle/>
          <a:p>
            <a:pPr algn="ctr">
              <a:lnSpc>
                <a:spcPts val="1440"/>
              </a:lnSpc>
              <a:spcBef>
                <a:spcPts val="0"/>
              </a:spcBef>
              <a:spcAft>
                <a:spcPts val="0"/>
              </a:spcAft>
            </a:pPr>
            <a:r>
              <a:rPr sz="1200" b="0" i="0">
                <a:solidFill>
                  <a:srgbClr val="FFFFFF"/>
                </a:solidFill>
                <a:latin typeface="Helvetica Neue Medium"/>
              </a:rPr>
              <a:t>sparkv.si</a:t>
            </a:r>
            <a:endParaRPr sz="1200"/>
          </a:p>
        </p:txBody>
      </p:sp>
      <p:sp>
        <p:nvSpPr>
          <p:cNvPr id="5" name="cta caption"/>
          <p:cNvSpPr txBox="1"/>
          <p:nvPr/>
        </p:nvSpPr>
        <p:spPr>
          <a:xfrm>
            <a:off x="5072995" y="2314003"/>
            <a:ext cx="3390857"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Launch price $29 for the first 7 days or first 500 buyers.</a:t>
            </a:r>
            <a:endParaRPr sz="1020"/>
          </a:p>
        </p:txBody>
      </p:sp>
      <p:sp>
        <p:nvSpPr>
          <p:cNvPr id="6" name="cta extra"/>
          <p:cNvSpPr txBox="1"/>
          <p:nvPr/>
        </p:nvSpPr>
        <p:spPr>
          <a:xfrm>
            <a:off x="914400" y="2750820"/>
            <a:ext cx="1036320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1">
                <a:solidFill>
                  <a:srgbClr val="86868B"/>
                </a:solidFill>
                <a:latin typeface="Helvetica Neue"/>
              </a:rPr>
              <a:t>[TBD: download / checkout URL]</a:t>
            </a:r>
            <a:r>
              <a:rPr sz="1019" b="0" i="0">
                <a:solidFill>
                  <a:srgbClr val="6E6E73"/>
                </a:solidFill>
                <a:latin typeface="Helvetica Neue"/>
              </a:rPr>
              <a:t> · </a:t>
            </a:r>
            <a:r>
              <a:rPr sz="1019" b="0" i="1">
                <a:solidFill>
                  <a:srgbClr val="86868B"/>
                </a:solidFill>
                <a:latin typeface="Helvetica Neue"/>
              </a:rPr>
              <a:t>[TBD: QR code to checkout]</a:t>
            </a:r>
            <a:endParaRPr sz="1020"/>
          </a:p>
        </p:txBody>
      </p:sp>
      <p:sp>
        <p:nvSpPr>
          <p:cNvPr id="7" name="device lid"/>
          <p:cNvSpPr/>
          <p:nvPr/>
        </p:nvSpPr>
        <p:spPr>
          <a:xfrm>
            <a:off x="2438400" y="3304870"/>
            <a:ext cx="7315200" cy="3553130"/>
          </a:xfrm>
          <a:prstGeom prst="round2SameRect">
            <a:avLst>
              <a:gd name="adj1" fmla="val 5575"/>
              <a:gd name="adj2" fmla="val 0"/>
            </a:avLst>
          </a:prstGeom>
          <a:solidFill>
            <a:srgbClr val="0A0A0B"/>
          </a:solidFill>
          <a:ln w="15240">
            <a:solidFill>
              <a:srgbClr val="BDBDC2"/>
            </a:solidFill>
          </a:ln>
        </p:spPr>
        <p:txBody>
          <a:bodyPr rtlCol="0" anchor="ctr"/>
          <a:lstStyle/>
          <a:p>
            <a:pPr algn="ctr"/>
          </a:p>
        </p:txBody>
      </p:sp>
      <p:sp>
        <p:nvSpPr>
          <p:cNvPr id="8" name="device screen"/>
          <p:cNvSpPr/>
          <p:nvPr/>
        </p:nvSpPr>
        <p:spPr>
          <a:xfrm>
            <a:off x="2560320" y="3426790"/>
            <a:ext cx="7071360" cy="3431210"/>
          </a:xfrm>
          <a:prstGeom prst="round2SameRect">
            <a:avLst>
              <a:gd name="adj1" fmla="val 2220"/>
              <a:gd name="adj2" fmla="val 0"/>
            </a:avLst>
          </a:prstGeom>
          <a:gradFill rotWithShape="1">
            <a:gsLst>
              <a:gs pos="0">
                <a:srgbClr val="130A0E"/>
              </a:gs>
              <a:gs pos="47481">
                <a:srgbClr val="1C1717"/>
              </a:gs>
              <a:gs pos="100000">
                <a:srgbClr val="0F1119"/>
              </a:gs>
            </a:gsLst>
            <a:lin ang="5400000" scaled="0"/>
          </a:gradFill>
          <a:ln>
            <a:noFill/>
          </a:ln>
        </p:spPr>
        <p:txBody>
          <a:bodyPr rtlCol="0" anchor="ctr"/>
          <a:lstStyle/>
          <a:p>
            <a:pPr algn="ctr"/>
          </a:p>
        </p:txBody>
      </p:sp>
      <p:pic>
        <p:nvPicPr>
          <p:cNvPr id="9" name="device screenshot 01-home.png" descr="01-home.png"/>
          <p:cNvPicPr>
            <a:picLocks noChangeAspect="1"/>
          </p:cNvPicPr>
          <p:nvPr/>
        </p:nvPicPr>
        <p:blipFill>
          <a:blip r:embed="rId3"/>
          <a:stretch>
            <a:fillRect/>
          </a:stretch>
        </p:blipFill>
        <p:spPr>
          <a:xfrm>
            <a:off x="2560320" y="3426790"/>
            <a:ext cx="7071360" cy="1629186"/>
          </a:xfrm>
          <a:prstGeom prst="rect">
            <a:avLst/>
          </a:prstGeom>
        </p:spPr>
      </p:pic>
      <p:sp>
        <p:nvSpPr>
          <p:cNvPr id="10" name="device notch"/>
          <p:cNvSpPr/>
          <p:nvPr/>
        </p:nvSpPr>
        <p:spPr>
          <a:xfrm>
            <a:off x="5035296" y="3426790"/>
            <a:ext cx="2121408" cy="313968"/>
          </a:xfrm>
          <a:prstGeom prst="round2SameRect">
            <a:avLst>
              <a:gd name="adj1" fmla="val 0"/>
              <a:gd name="adj2" fmla="val 37843"/>
            </a:avLst>
          </a:prstGeom>
          <a:solidFill>
            <a:srgbClr val="000000"/>
          </a:solidFill>
          <a:ln>
            <a:noFill/>
          </a:ln>
        </p:spPr>
        <p:txBody>
          <a:bodyPr rtlCol="0" anchor="ctr"/>
          <a:lstStyle/>
          <a:p>
            <a:pPr algn="ctr"/>
          </a:p>
        </p:txBody>
      </p:sp>
      <p:sp>
        <p:nvSpPr>
          <p:cNvPr id="11" name="device camera"/>
          <p:cNvSpPr/>
          <p:nvPr/>
        </p:nvSpPr>
        <p:spPr>
          <a:xfrm>
            <a:off x="6057900" y="3545674"/>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§6b, §6d</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A1</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Appendix</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Prefer to pay for just what you use?</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Feature packs (alternative model; not planned for launch).</a:t>
            </a:r>
            <a:endParaRPr sz="1680"/>
          </a:p>
        </p:txBody>
      </p:sp>
      <p:sp>
        <p:nvSpPr>
          <p:cNvPr id="7" name="column head"/>
          <p:cNvSpPr txBox="1"/>
          <p:nvPr/>
        </p:nvSpPr>
        <p:spPr>
          <a:xfrm>
            <a:off x="1005840" y="2308708"/>
            <a:ext cx="1400972"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PACK</a:t>
            </a:r>
            <a:endParaRPr sz="900"/>
          </a:p>
        </p:txBody>
      </p:sp>
      <p:sp>
        <p:nvSpPr>
          <p:cNvPr id="8" name="column head"/>
          <p:cNvSpPr txBox="1"/>
          <p:nvPr/>
        </p:nvSpPr>
        <p:spPr>
          <a:xfrm>
            <a:off x="2589692" y="2308708"/>
            <a:ext cx="525364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INCLUDES</a:t>
            </a:r>
            <a:endParaRPr sz="900"/>
          </a:p>
        </p:txBody>
      </p:sp>
      <p:sp>
        <p:nvSpPr>
          <p:cNvPr id="9" name="column head"/>
          <p:cNvSpPr txBox="1"/>
          <p:nvPr/>
        </p:nvSpPr>
        <p:spPr>
          <a:xfrm>
            <a:off x="8026215" y="2308708"/>
            <a:ext cx="1313411"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USD</a:t>
            </a:r>
            <a:endParaRPr sz="900"/>
          </a:p>
        </p:txBody>
      </p:sp>
      <p:sp>
        <p:nvSpPr>
          <p:cNvPr id="10" name="column head"/>
          <p:cNvSpPr txBox="1"/>
          <p:nvPr/>
        </p:nvSpPr>
        <p:spPr>
          <a:xfrm>
            <a:off x="9522506" y="2308708"/>
            <a:ext cx="166365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INR</a:t>
            </a:r>
            <a:endParaRPr sz="900"/>
          </a:p>
        </p:txBody>
      </p:sp>
      <p:cxnSp>
        <p:nvCxnSpPr>
          <p:cNvPr id="11" name="table head rule"/>
          <p:cNvCxnSpPr/>
          <p:nvPr/>
        </p:nvCxnSpPr>
        <p:spPr>
          <a:xfrm>
            <a:off x="914400" y="2556053"/>
            <a:ext cx="10363200" cy="0"/>
          </a:xfrm>
          <a:prstGeom prst="line">
            <a:avLst/>
          </a:prstGeom>
          <a:ln w="9525">
            <a:solidFill>
              <a:srgbClr val="1D1D1F"/>
            </a:solidFill>
          </a:ln>
        </p:spPr>
      </p:cxnSp>
      <p:sp>
        <p:nvSpPr>
          <p:cNvPr id="12" name="cell r1c1"/>
          <p:cNvSpPr txBox="1"/>
          <p:nvPr/>
        </p:nvSpPr>
        <p:spPr>
          <a:xfrm>
            <a:off x="1005840" y="2638349"/>
            <a:ext cx="140097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Notch &amp; Media</a:t>
            </a:r>
            <a:endParaRPr sz="900"/>
          </a:p>
        </p:txBody>
      </p:sp>
      <p:sp>
        <p:nvSpPr>
          <p:cNvPr id="13" name="cell r1c2"/>
          <p:cNvSpPr txBox="1"/>
          <p:nvPr/>
        </p:nvSpPr>
        <p:spPr>
          <a:xfrm>
            <a:off x="2589692" y="2638349"/>
            <a:ext cx="525364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Media extras, HUD, all Widgets, Modes, Focus, Screen Distance, unlimited Tray</a:t>
            </a:r>
            <a:endParaRPr sz="900"/>
          </a:p>
        </p:txBody>
      </p:sp>
      <p:sp>
        <p:nvSpPr>
          <p:cNvPr id="14" name="cell r1c3"/>
          <p:cNvSpPr txBox="1"/>
          <p:nvPr/>
        </p:nvSpPr>
        <p:spPr>
          <a:xfrm>
            <a:off x="8026215" y="2638349"/>
            <a:ext cx="131341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a:t>
            </a:r>
            <a:endParaRPr sz="900"/>
          </a:p>
        </p:txBody>
      </p:sp>
      <p:sp>
        <p:nvSpPr>
          <p:cNvPr id="15" name="cell r1c4"/>
          <p:cNvSpPr txBox="1"/>
          <p:nvPr/>
        </p:nvSpPr>
        <p:spPr>
          <a:xfrm>
            <a:off x="9522506" y="2638349"/>
            <a:ext cx="166365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₹499</a:t>
            </a:r>
            <a:endParaRPr sz="900"/>
          </a:p>
        </p:txBody>
      </p:sp>
      <p:cxnSp>
        <p:nvCxnSpPr>
          <p:cNvPr id="16" name="row rule"/>
          <p:cNvCxnSpPr/>
          <p:nvPr/>
        </p:nvCxnSpPr>
        <p:spPr>
          <a:xfrm>
            <a:off x="914400" y="2874950"/>
            <a:ext cx="10363200" cy="0"/>
          </a:xfrm>
          <a:prstGeom prst="line">
            <a:avLst/>
          </a:prstGeom>
          <a:ln w="9525">
            <a:solidFill>
              <a:srgbClr val="D2D2D7"/>
            </a:solidFill>
          </a:ln>
        </p:spPr>
      </p:cxnSp>
      <p:sp>
        <p:nvSpPr>
          <p:cNvPr id="17" name="cell r2c1"/>
          <p:cNvSpPr txBox="1"/>
          <p:nvPr/>
        </p:nvSpPr>
        <p:spPr>
          <a:xfrm>
            <a:off x="1005840" y="2957246"/>
            <a:ext cx="1400972"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Productivity</a:t>
            </a:r>
            <a:endParaRPr sz="900"/>
          </a:p>
        </p:txBody>
      </p:sp>
      <p:sp>
        <p:nvSpPr>
          <p:cNvPr id="18" name="cell r2c2"/>
          <p:cNvSpPr txBox="1"/>
          <p:nvPr/>
        </p:nvSpPr>
        <p:spPr>
          <a:xfrm>
            <a:off x="2589692" y="2957246"/>
            <a:ext cx="5253644"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Clipboard + Paste Stack, Converter, File Drop, Downloads, Quick Capture, Screenshot to Clipboard, Copy Text, Screen Recorder, Universal Search, Spaces</a:t>
            </a:r>
            <a:endParaRPr sz="900"/>
          </a:p>
        </p:txBody>
      </p:sp>
      <p:sp>
        <p:nvSpPr>
          <p:cNvPr id="19" name="cell r2c3"/>
          <p:cNvSpPr txBox="1"/>
          <p:nvPr/>
        </p:nvSpPr>
        <p:spPr>
          <a:xfrm>
            <a:off x="8026215" y="2957246"/>
            <a:ext cx="1313411"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$15</a:t>
            </a:r>
            <a:endParaRPr sz="900"/>
          </a:p>
        </p:txBody>
      </p:sp>
      <p:sp>
        <p:nvSpPr>
          <p:cNvPr id="20" name="cell r2c4"/>
          <p:cNvSpPr txBox="1"/>
          <p:nvPr/>
        </p:nvSpPr>
        <p:spPr>
          <a:xfrm>
            <a:off x="9522506" y="2957246"/>
            <a:ext cx="1663654"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₹799</a:t>
            </a:r>
            <a:endParaRPr sz="900"/>
          </a:p>
        </p:txBody>
      </p:sp>
      <p:cxnSp>
        <p:nvCxnSpPr>
          <p:cNvPr id="21" name="row rule"/>
          <p:cNvCxnSpPr/>
          <p:nvPr/>
        </p:nvCxnSpPr>
        <p:spPr>
          <a:xfrm>
            <a:off x="914400" y="3348152"/>
            <a:ext cx="10363200" cy="0"/>
          </a:xfrm>
          <a:prstGeom prst="line">
            <a:avLst/>
          </a:prstGeom>
          <a:ln w="9525">
            <a:solidFill>
              <a:srgbClr val="D2D2D7"/>
            </a:solidFill>
          </a:ln>
        </p:spPr>
      </p:cxnSp>
      <p:sp>
        <p:nvSpPr>
          <p:cNvPr id="22" name="cell r3c1"/>
          <p:cNvSpPr txBox="1"/>
          <p:nvPr/>
        </p:nvSpPr>
        <p:spPr>
          <a:xfrm>
            <a:off x="1005840" y="3430448"/>
            <a:ext cx="140097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AI Assistants</a:t>
            </a:r>
            <a:endParaRPr sz="900"/>
          </a:p>
        </p:txBody>
      </p:sp>
      <p:sp>
        <p:nvSpPr>
          <p:cNvPr id="23" name="cell r3c2"/>
          <p:cNvSpPr txBox="1"/>
          <p:nvPr/>
        </p:nvSpPr>
        <p:spPr>
          <a:xfrm>
            <a:off x="2589692" y="3430448"/>
            <a:ext cx="525364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AI dictation, Clicky, Ask Screen, Reply Drafter, Prompt Refiner, Tray AI, Job Agent</a:t>
            </a:r>
            <a:endParaRPr sz="900"/>
          </a:p>
        </p:txBody>
      </p:sp>
      <p:sp>
        <p:nvSpPr>
          <p:cNvPr id="24" name="cell r3c3"/>
          <p:cNvSpPr txBox="1"/>
          <p:nvPr/>
        </p:nvSpPr>
        <p:spPr>
          <a:xfrm>
            <a:off x="8026215" y="3430448"/>
            <a:ext cx="131341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$19</a:t>
            </a:r>
            <a:endParaRPr sz="900"/>
          </a:p>
        </p:txBody>
      </p:sp>
      <p:sp>
        <p:nvSpPr>
          <p:cNvPr id="25" name="cell r3c4"/>
          <p:cNvSpPr txBox="1"/>
          <p:nvPr/>
        </p:nvSpPr>
        <p:spPr>
          <a:xfrm>
            <a:off x="9522506" y="3430448"/>
            <a:ext cx="166365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₹999</a:t>
            </a:r>
            <a:endParaRPr sz="900"/>
          </a:p>
        </p:txBody>
      </p:sp>
      <p:cxnSp>
        <p:nvCxnSpPr>
          <p:cNvPr id="26" name="row rule"/>
          <p:cNvCxnSpPr/>
          <p:nvPr/>
        </p:nvCxnSpPr>
        <p:spPr>
          <a:xfrm>
            <a:off x="914400" y="3667049"/>
            <a:ext cx="10363200" cy="0"/>
          </a:xfrm>
          <a:prstGeom prst="line">
            <a:avLst/>
          </a:prstGeom>
          <a:ln w="9525">
            <a:solidFill>
              <a:srgbClr val="D2D2D7"/>
            </a:solidFill>
          </a:ln>
        </p:spPr>
      </p:cxnSp>
      <p:sp>
        <p:nvSpPr>
          <p:cNvPr id="27" name="cell r4c1"/>
          <p:cNvSpPr txBox="1"/>
          <p:nvPr/>
        </p:nvSpPr>
        <p:spPr>
          <a:xfrm>
            <a:off x="1005840" y="3749345"/>
            <a:ext cx="140097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Meetings</a:t>
            </a:r>
            <a:endParaRPr sz="900"/>
          </a:p>
        </p:txBody>
      </p:sp>
      <p:sp>
        <p:nvSpPr>
          <p:cNvPr id="28" name="cell r4c2"/>
          <p:cNvSpPr txBox="1"/>
          <p:nvPr/>
        </p:nvSpPr>
        <p:spPr>
          <a:xfrm>
            <a:off x="2589692" y="3749345"/>
            <a:ext cx="525364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Recorder, transcriber, summaries, notes, Live Translation, calendar join</a:t>
            </a:r>
            <a:endParaRPr sz="900"/>
          </a:p>
        </p:txBody>
      </p:sp>
      <p:sp>
        <p:nvSpPr>
          <p:cNvPr id="29" name="cell r4c3"/>
          <p:cNvSpPr txBox="1"/>
          <p:nvPr/>
        </p:nvSpPr>
        <p:spPr>
          <a:xfrm>
            <a:off x="8026215" y="3749345"/>
            <a:ext cx="131341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$15</a:t>
            </a:r>
            <a:endParaRPr sz="900"/>
          </a:p>
        </p:txBody>
      </p:sp>
      <p:sp>
        <p:nvSpPr>
          <p:cNvPr id="30" name="cell r4c4"/>
          <p:cNvSpPr txBox="1"/>
          <p:nvPr/>
        </p:nvSpPr>
        <p:spPr>
          <a:xfrm>
            <a:off x="9522506" y="3749345"/>
            <a:ext cx="166365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₹799</a:t>
            </a:r>
            <a:endParaRPr sz="900"/>
          </a:p>
        </p:txBody>
      </p:sp>
      <p:cxnSp>
        <p:nvCxnSpPr>
          <p:cNvPr id="31" name="row rule"/>
          <p:cNvCxnSpPr/>
          <p:nvPr/>
        </p:nvCxnSpPr>
        <p:spPr>
          <a:xfrm>
            <a:off x="914400" y="3985946"/>
            <a:ext cx="10363200" cy="0"/>
          </a:xfrm>
          <a:prstGeom prst="line">
            <a:avLst/>
          </a:prstGeom>
          <a:ln w="9525">
            <a:solidFill>
              <a:srgbClr val="D2D2D7"/>
            </a:solidFill>
          </a:ln>
        </p:spPr>
      </p:cxnSp>
      <p:sp>
        <p:nvSpPr>
          <p:cNvPr id="32" name="cell r5c1"/>
          <p:cNvSpPr txBox="1"/>
          <p:nvPr/>
        </p:nvSpPr>
        <p:spPr>
          <a:xfrm>
            <a:off x="1005840" y="4068242"/>
            <a:ext cx="140097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Developer Tools</a:t>
            </a:r>
            <a:endParaRPr sz="900"/>
          </a:p>
        </p:txBody>
      </p:sp>
      <p:sp>
        <p:nvSpPr>
          <p:cNvPr id="33" name="cell r5c2"/>
          <p:cNvSpPr txBox="1"/>
          <p:nvPr/>
        </p:nvSpPr>
        <p:spPr>
          <a:xfrm>
            <a:off x="2589692" y="4068242"/>
            <a:ext cx="525364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UI Audit, Browser Flows, Flow Canvas</a:t>
            </a:r>
            <a:endParaRPr sz="900"/>
          </a:p>
        </p:txBody>
      </p:sp>
      <p:sp>
        <p:nvSpPr>
          <p:cNvPr id="34" name="cell r5c3"/>
          <p:cNvSpPr txBox="1"/>
          <p:nvPr/>
        </p:nvSpPr>
        <p:spPr>
          <a:xfrm>
            <a:off x="8026215" y="4068242"/>
            <a:ext cx="131341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$19</a:t>
            </a:r>
            <a:endParaRPr sz="900"/>
          </a:p>
        </p:txBody>
      </p:sp>
      <p:sp>
        <p:nvSpPr>
          <p:cNvPr id="35" name="cell r5c4"/>
          <p:cNvSpPr txBox="1"/>
          <p:nvPr/>
        </p:nvSpPr>
        <p:spPr>
          <a:xfrm>
            <a:off x="9522506" y="4068242"/>
            <a:ext cx="166365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₹999</a:t>
            </a:r>
            <a:endParaRPr sz="900"/>
          </a:p>
        </p:txBody>
      </p:sp>
      <p:cxnSp>
        <p:nvCxnSpPr>
          <p:cNvPr id="36" name="row rule"/>
          <p:cNvCxnSpPr/>
          <p:nvPr/>
        </p:nvCxnSpPr>
        <p:spPr>
          <a:xfrm>
            <a:off x="914400" y="4304843"/>
            <a:ext cx="10363200" cy="0"/>
          </a:xfrm>
          <a:prstGeom prst="line">
            <a:avLst/>
          </a:prstGeom>
          <a:ln w="9525">
            <a:solidFill>
              <a:srgbClr val="D2D2D7"/>
            </a:solidFill>
          </a:ln>
        </p:spPr>
      </p:cxnSp>
      <p:sp>
        <p:nvSpPr>
          <p:cNvPr id="37" name="highlight row"/>
          <p:cNvSpPr/>
          <p:nvPr/>
        </p:nvSpPr>
        <p:spPr>
          <a:xfrm>
            <a:off x="914400" y="4304843"/>
            <a:ext cx="10363200" cy="318897"/>
          </a:xfrm>
          <a:prstGeom prst="rect">
            <a:avLst/>
          </a:prstGeom>
          <a:solidFill>
            <a:srgbClr val="F5F5F7"/>
          </a:solidFill>
          <a:ln>
            <a:noFill/>
          </a:ln>
        </p:spPr>
        <p:txBody>
          <a:bodyPr rtlCol="0" anchor="ctr"/>
          <a:lstStyle/>
          <a:p>
            <a:pPr algn="ctr"/>
          </a:p>
        </p:txBody>
      </p:sp>
      <p:sp>
        <p:nvSpPr>
          <p:cNvPr id="38" name="highlight accent"/>
          <p:cNvSpPr/>
          <p:nvPr/>
        </p:nvSpPr>
        <p:spPr>
          <a:xfrm>
            <a:off x="914400" y="4304843"/>
            <a:ext cx="45720" cy="318897"/>
          </a:xfrm>
          <a:prstGeom prst="rect">
            <a:avLst/>
          </a:prstGeom>
          <a:solidFill>
            <a:srgbClr val="F01822"/>
          </a:solidFill>
          <a:ln>
            <a:noFill/>
          </a:ln>
        </p:spPr>
        <p:txBody>
          <a:bodyPr rtlCol="0" anchor="ctr"/>
          <a:lstStyle/>
          <a:p>
            <a:pPr algn="ctr"/>
          </a:p>
        </p:txBody>
      </p:sp>
      <p:sp>
        <p:nvSpPr>
          <p:cNvPr id="39" name="cell r6c1"/>
          <p:cNvSpPr txBox="1"/>
          <p:nvPr/>
        </p:nvSpPr>
        <p:spPr>
          <a:xfrm>
            <a:off x="1005840" y="4387139"/>
            <a:ext cx="140097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Everything (= Pro)</a:t>
            </a:r>
            <a:endParaRPr sz="900"/>
          </a:p>
        </p:txBody>
      </p:sp>
      <p:sp>
        <p:nvSpPr>
          <p:cNvPr id="40" name="cell r6c2"/>
          <p:cNvSpPr txBox="1"/>
          <p:nvPr/>
        </p:nvSpPr>
        <p:spPr>
          <a:xfrm>
            <a:off x="2589692" y="4387139"/>
            <a:ext cx="525364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All 5 packs</a:t>
            </a:r>
            <a:endParaRPr sz="900"/>
          </a:p>
        </p:txBody>
      </p:sp>
      <p:sp>
        <p:nvSpPr>
          <p:cNvPr id="41" name="cell r6c3"/>
          <p:cNvSpPr txBox="1"/>
          <p:nvPr/>
        </p:nvSpPr>
        <p:spPr>
          <a:xfrm>
            <a:off x="8026215" y="4387139"/>
            <a:ext cx="131341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$39 (separately $77)</a:t>
            </a:r>
            <a:endParaRPr sz="900"/>
          </a:p>
        </p:txBody>
      </p:sp>
      <p:sp>
        <p:nvSpPr>
          <p:cNvPr id="42" name="cell r6c4"/>
          <p:cNvSpPr txBox="1"/>
          <p:nvPr/>
        </p:nvSpPr>
        <p:spPr>
          <a:xfrm>
            <a:off x="9522506" y="4387139"/>
            <a:ext cx="166365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₹1,499 (separately ₹4,095)</a:t>
            </a:r>
            <a:endParaRPr sz="9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Merchant-of-record fee: Lemon Squeezy, Business Plan §4 (about +1.5% more on non-US orders).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Appendix</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Why we can charge once.</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Your $39 Pro purchase, and what it pays for.</a:t>
            </a:r>
            <a:endParaRPr sz="1680"/>
          </a:p>
        </p:txBody>
      </p:sp>
      <p:sp>
        <p:nvSpPr>
          <p:cNvPr id="7" name="chart card"/>
          <p:cNvSpPr/>
          <p:nvPr/>
        </p:nvSpPr>
        <p:spPr>
          <a:xfrm>
            <a:off x="914400" y="2422703"/>
            <a:ext cx="6827520" cy="3825697"/>
          </a:xfrm>
          <a:prstGeom prst="roundRect">
            <a:avLst>
              <a:gd name="adj" fmla="val 4381"/>
            </a:avLst>
          </a:prstGeom>
          <a:solidFill>
            <a:srgbClr val="F5F5F7"/>
          </a:solidFill>
          <a:ln>
            <a:noFill/>
          </a:ln>
        </p:spPr>
        <p:txBody>
          <a:bodyPr rtlCol="0" anchor="ctr"/>
          <a:lstStyle/>
          <a:p>
            <a:pPr algn="ctr"/>
          </a:p>
        </p:txBody>
      </p:sp>
      <p:sp>
        <p:nvSpPr>
          <p:cNvPr id="8" name="chart title"/>
          <p:cNvSpPr txBox="1"/>
          <p:nvPr/>
        </p:nvSpPr>
        <p:spPr>
          <a:xfrm>
            <a:off x="1158240" y="2636063"/>
            <a:ext cx="63398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Per $39 Pro sale (USD)</a:t>
            </a:r>
            <a:endParaRPr sz="1020"/>
          </a:p>
        </p:txBody>
      </p:sp>
      <p:sp>
        <p:nvSpPr>
          <p:cNvPr id="9" name="chart source"/>
          <p:cNvSpPr txBox="1"/>
          <p:nvPr/>
        </p:nvSpPr>
        <p:spPr>
          <a:xfrm>
            <a:off x="1158240" y="5915711"/>
            <a:ext cx="633984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SparkV Business Plan §4, §6a, §9</a:t>
            </a:r>
            <a:endParaRPr sz="780"/>
          </a:p>
        </p:txBody>
      </p:sp>
      <p:graphicFrame>
        <p:nvGraphicFramePr>
          <p:cNvPr id="10" name="chart"/>
          <p:cNvGraphicFramePr>
            <a:graphicFrameLocks noGrp="1"/>
          </p:cNvGraphicFramePr>
          <p:nvPr/>
        </p:nvGraphicFramePr>
        <p:xfrm>
          <a:off x="1158240" y="2934081"/>
          <a:ext cx="6339840" cy="2890647"/>
        </p:xfrm>
        <a:graphic>
          <a:graphicData uri="http://schemas.openxmlformats.org/drawingml/2006/chart">
            <c:chart xmlns:c="http://schemas.openxmlformats.org/drawingml/2006/chart" r:id="rId3"/>
          </a:graphicData>
        </a:graphic>
      </p:graphicFrame>
      <p:cxnSp>
        <p:nvCxnSpPr>
          <p:cNvPr id="11" name="side rule"/>
          <p:cNvCxnSpPr/>
          <p:nvPr/>
        </p:nvCxnSpPr>
        <p:spPr>
          <a:xfrm>
            <a:off x="7985760" y="2422703"/>
            <a:ext cx="3291840" cy="0"/>
          </a:xfrm>
          <a:prstGeom prst="line">
            <a:avLst/>
          </a:prstGeom>
          <a:ln w="9525">
            <a:solidFill>
              <a:srgbClr val="D2D2D7"/>
            </a:solidFill>
          </a:ln>
        </p:spPr>
      </p:cxnSp>
      <p:sp>
        <p:nvSpPr>
          <p:cNvPr id="12" name="side note"/>
          <p:cNvSpPr txBox="1"/>
          <p:nvPr/>
        </p:nvSpPr>
        <p:spPr>
          <a:xfrm>
            <a:off x="7985760" y="2559863"/>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AI runs on your Mac, so there is no per-user AI bill.</a:t>
            </a:r>
            <a:endParaRPr sz="1320"/>
          </a:p>
        </p:txBody>
      </p:sp>
      <p:cxnSp>
        <p:nvCxnSpPr>
          <p:cNvPr id="13" name="side rule"/>
          <p:cNvCxnSpPr/>
          <p:nvPr/>
        </p:nvCxnSpPr>
        <p:spPr>
          <a:xfrm>
            <a:off x="7985760" y="3229356"/>
            <a:ext cx="3291840" cy="0"/>
          </a:xfrm>
          <a:prstGeom prst="line">
            <a:avLst/>
          </a:prstGeom>
          <a:ln w="9525">
            <a:solidFill>
              <a:srgbClr val="D2D2D7"/>
            </a:solidFill>
          </a:ln>
        </p:spPr>
      </p:cxnSp>
      <p:sp>
        <p:nvSpPr>
          <p:cNvPr id="14" name="side note"/>
          <p:cNvSpPr txBox="1"/>
          <p:nvPr/>
        </p:nvSpPr>
        <p:spPr>
          <a:xfrm>
            <a:off x="7985760" y="3366516"/>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Groq is optional and uses your own key.</a:t>
            </a:r>
            <a:endParaRPr sz="132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§6a, §6c. Team shared Spaces are file packages, not live sync.</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A3</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Appendix · plan details 1 of 2</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Medium"/>
              </a:rPr>
              <a:t>Pay once.</a:t>
            </a:r>
            <a:r>
              <a:rPr sz="3360" b="0" i="0" spc="-50">
                <a:solidFill>
                  <a:srgbClr val="1D1D1F"/>
                </a:solidFill>
                <a:latin typeface="Helvetica Neue Light"/>
              </a:rPr>
              <a:t> Keep it forever.</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Start with a 14-day Pro trial. No card needed.</a:t>
            </a:r>
            <a:endParaRPr sz="1680"/>
          </a:p>
        </p:txBody>
      </p:sp>
      <p:sp>
        <p:nvSpPr>
          <p:cNvPr id="7" name="column head"/>
          <p:cNvSpPr txBox="1"/>
          <p:nvPr/>
        </p:nvSpPr>
        <p:spPr>
          <a:xfrm>
            <a:off x="2434196" y="2308708"/>
            <a:ext cx="2490952"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FREE</a:t>
            </a:r>
            <a:endParaRPr sz="900"/>
          </a:p>
        </p:txBody>
      </p:sp>
      <p:sp>
        <p:nvSpPr>
          <p:cNvPr id="8" name="column head"/>
          <p:cNvSpPr txBox="1"/>
          <p:nvPr/>
        </p:nvSpPr>
        <p:spPr>
          <a:xfrm>
            <a:off x="5108028" y="2308708"/>
            <a:ext cx="3238237"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PRO</a:t>
            </a:r>
            <a:endParaRPr sz="900"/>
          </a:p>
        </p:txBody>
      </p:sp>
      <p:sp>
        <p:nvSpPr>
          <p:cNvPr id="9" name="column head"/>
          <p:cNvSpPr txBox="1"/>
          <p:nvPr/>
        </p:nvSpPr>
        <p:spPr>
          <a:xfrm>
            <a:off x="8529145" y="2308708"/>
            <a:ext cx="2657015"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TEAM</a:t>
            </a:r>
            <a:endParaRPr sz="900"/>
          </a:p>
        </p:txBody>
      </p:sp>
      <p:cxnSp>
        <p:nvCxnSpPr>
          <p:cNvPr id="10" name="table head rule"/>
          <p:cNvCxnSpPr/>
          <p:nvPr/>
        </p:nvCxnSpPr>
        <p:spPr>
          <a:xfrm>
            <a:off x="914400" y="2556053"/>
            <a:ext cx="10363200" cy="0"/>
          </a:xfrm>
          <a:prstGeom prst="line">
            <a:avLst/>
          </a:prstGeom>
          <a:ln w="9525">
            <a:solidFill>
              <a:srgbClr val="1D1D1F"/>
            </a:solidFill>
          </a:ln>
        </p:spPr>
      </p:cxnSp>
      <p:sp>
        <p:nvSpPr>
          <p:cNvPr id="11" name="cell r1c1"/>
          <p:cNvSpPr txBox="1"/>
          <p:nvPr/>
        </p:nvSpPr>
        <p:spPr>
          <a:xfrm>
            <a:off x="1005840" y="2638349"/>
            <a:ext cx="1245476"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Price</a:t>
            </a:r>
            <a:endParaRPr sz="900"/>
          </a:p>
        </p:txBody>
      </p:sp>
      <p:sp>
        <p:nvSpPr>
          <p:cNvPr id="12" name="cell r1c2"/>
          <p:cNvSpPr txBox="1"/>
          <p:nvPr/>
        </p:nvSpPr>
        <p:spPr>
          <a:xfrm>
            <a:off x="2434196" y="2638349"/>
            <a:ext cx="2490952"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$0</a:t>
            </a:r>
            <a:endParaRPr sz="900"/>
          </a:p>
        </p:txBody>
      </p:sp>
      <p:sp>
        <p:nvSpPr>
          <p:cNvPr id="13" name="cell r1c3"/>
          <p:cNvSpPr txBox="1"/>
          <p:nvPr/>
        </p:nvSpPr>
        <p:spPr>
          <a:xfrm>
            <a:off x="5108028" y="2638349"/>
            <a:ext cx="3238237"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$39 one-time · ₹1,499 (launch week $29 · ₹999)</a:t>
            </a:r>
            <a:endParaRPr sz="900"/>
          </a:p>
        </p:txBody>
      </p:sp>
      <p:sp>
        <p:nvSpPr>
          <p:cNvPr id="14" name="cell r1c4"/>
          <p:cNvSpPr txBox="1"/>
          <p:nvPr/>
        </p:nvSpPr>
        <p:spPr>
          <a:xfrm>
            <a:off x="8529145" y="2638349"/>
            <a:ext cx="2657015"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$8 per seat / month, billed yearly · ₹499 · minimum 3 seats</a:t>
            </a:r>
            <a:endParaRPr sz="900"/>
          </a:p>
        </p:txBody>
      </p:sp>
      <p:cxnSp>
        <p:nvCxnSpPr>
          <p:cNvPr id="15" name="row rule"/>
          <p:cNvCxnSpPr/>
          <p:nvPr/>
        </p:nvCxnSpPr>
        <p:spPr>
          <a:xfrm>
            <a:off x="914400" y="3029255"/>
            <a:ext cx="10363200" cy="0"/>
          </a:xfrm>
          <a:prstGeom prst="line">
            <a:avLst/>
          </a:prstGeom>
          <a:ln w="9525">
            <a:solidFill>
              <a:srgbClr val="D2D2D7"/>
            </a:solidFill>
          </a:ln>
        </p:spPr>
      </p:cxnSp>
      <p:sp>
        <p:nvSpPr>
          <p:cNvPr id="16" name="cell r2c1"/>
          <p:cNvSpPr txBox="1"/>
          <p:nvPr/>
        </p:nvSpPr>
        <p:spPr>
          <a:xfrm>
            <a:off x="1005840" y="3111551"/>
            <a:ext cx="1245476"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Updates</a:t>
            </a:r>
            <a:endParaRPr sz="900"/>
          </a:p>
        </p:txBody>
      </p:sp>
      <p:sp>
        <p:nvSpPr>
          <p:cNvPr id="17" name="cell r2c2"/>
          <p:cNvSpPr txBox="1"/>
          <p:nvPr/>
        </p:nvSpPr>
        <p:spPr>
          <a:xfrm>
            <a:off x="2434196" y="3111551"/>
            <a:ext cx="2490952"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n/a</a:t>
            </a:r>
            <a:endParaRPr sz="900"/>
          </a:p>
        </p:txBody>
      </p:sp>
      <p:sp>
        <p:nvSpPr>
          <p:cNvPr id="18" name="cell r2c3"/>
          <p:cNvSpPr txBox="1"/>
          <p:nvPr/>
        </p:nvSpPr>
        <p:spPr>
          <a:xfrm>
            <a:off x="5108028" y="3111551"/>
            <a:ext cx="3238237"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12 months included, then optional $19/yr (₹799). The app keeps working.</a:t>
            </a:r>
            <a:endParaRPr sz="900"/>
          </a:p>
        </p:txBody>
      </p:sp>
      <p:sp>
        <p:nvSpPr>
          <p:cNvPr id="19" name="cell r2c4"/>
          <p:cNvSpPr txBox="1"/>
          <p:nvPr/>
        </p:nvSpPr>
        <p:spPr>
          <a:xfrm>
            <a:off x="8529145" y="3111551"/>
            <a:ext cx="2657015"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Included</a:t>
            </a:r>
            <a:endParaRPr sz="900"/>
          </a:p>
        </p:txBody>
      </p:sp>
      <p:cxnSp>
        <p:nvCxnSpPr>
          <p:cNvPr id="20" name="row rule"/>
          <p:cNvCxnSpPr/>
          <p:nvPr/>
        </p:nvCxnSpPr>
        <p:spPr>
          <a:xfrm>
            <a:off x="914400" y="3502457"/>
            <a:ext cx="10363200" cy="0"/>
          </a:xfrm>
          <a:prstGeom prst="line">
            <a:avLst/>
          </a:prstGeom>
          <a:ln w="9525">
            <a:solidFill>
              <a:srgbClr val="D2D2D7"/>
            </a:solidFill>
          </a:ln>
        </p:spPr>
      </p:cxnSp>
      <p:sp>
        <p:nvSpPr>
          <p:cNvPr id="21" name="cell r3c1"/>
          <p:cNvSpPr txBox="1"/>
          <p:nvPr/>
        </p:nvSpPr>
        <p:spPr>
          <a:xfrm>
            <a:off x="1005840" y="3584753"/>
            <a:ext cx="124547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Macs</a:t>
            </a:r>
            <a:endParaRPr sz="900"/>
          </a:p>
        </p:txBody>
      </p:sp>
      <p:sp>
        <p:nvSpPr>
          <p:cNvPr id="22" name="cell r3c2"/>
          <p:cNvSpPr txBox="1"/>
          <p:nvPr/>
        </p:nvSpPr>
        <p:spPr>
          <a:xfrm>
            <a:off x="2434196" y="3584753"/>
            <a:ext cx="24909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a:t>
            </a:r>
            <a:endParaRPr sz="900"/>
          </a:p>
        </p:txBody>
      </p:sp>
      <p:sp>
        <p:nvSpPr>
          <p:cNvPr id="23" name="cell r3c3"/>
          <p:cNvSpPr txBox="1"/>
          <p:nvPr/>
        </p:nvSpPr>
        <p:spPr>
          <a:xfrm>
            <a:off x="5108028" y="3584753"/>
            <a:ext cx="323823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 per person</a:t>
            </a:r>
            <a:endParaRPr sz="900"/>
          </a:p>
        </p:txBody>
      </p:sp>
      <p:sp>
        <p:nvSpPr>
          <p:cNvPr id="24" name="cell r3c4"/>
          <p:cNvSpPr txBox="1"/>
          <p:nvPr/>
        </p:nvSpPr>
        <p:spPr>
          <a:xfrm>
            <a:off x="8529145" y="3584753"/>
            <a:ext cx="2657015"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 per seat</a:t>
            </a:r>
            <a:endParaRPr sz="900"/>
          </a:p>
        </p:txBody>
      </p:sp>
      <p:cxnSp>
        <p:nvCxnSpPr>
          <p:cNvPr id="25" name="row rule"/>
          <p:cNvCxnSpPr/>
          <p:nvPr/>
        </p:nvCxnSpPr>
        <p:spPr>
          <a:xfrm>
            <a:off x="914400" y="3821354"/>
            <a:ext cx="10363200" cy="0"/>
          </a:xfrm>
          <a:prstGeom prst="line">
            <a:avLst/>
          </a:prstGeom>
          <a:ln w="9525">
            <a:solidFill>
              <a:srgbClr val="D2D2D7"/>
            </a:solidFill>
          </a:ln>
        </p:spPr>
      </p:cxnSp>
      <p:sp>
        <p:nvSpPr>
          <p:cNvPr id="26" name="cell r4c1"/>
          <p:cNvSpPr txBox="1"/>
          <p:nvPr/>
        </p:nvSpPr>
        <p:spPr>
          <a:xfrm>
            <a:off x="1005840" y="3903650"/>
            <a:ext cx="1245476"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Notch core</a:t>
            </a:r>
            <a:endParaRPr sz="900"/>
          </a:p>
        </p:txBody>
      </p:sp>
      <p:sp>
        <p:nvSpPr>
          <p:cNvPr id="27" name="cell r4c2"/>
          <p:cNvSpPr txBox="1"/>
          <p:nvPr/>
        </p:nvSpPr>
        <p:spPr>
          <a:xfrm>
            <a:off x="2434196" y="3903650"/>
            <a:ext cx="2490952"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Media, HUD, battery, notifications, mirror, AirDrop, Tray (5 items), 2 Shortcut buttons, Timer, Today</a:t>
            </a:r>
            <a:endParaRPr sz="900"/>
          </a:p>
        </p:txBody>
      </p:sp>
      <p:sp>
        <p:nvSpPr>
          <p:cNvPr id="28" name="cell r4c3"/>
          <p:cNvSpPr txBox="1"/>
          <p:nvPr/>
        </p:nvSpPr>
        <p:spPr>
          <a:xfrm>
            <a:off x="5108028" y="3903650"/>
            <a:ext cx="3238237"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Everything</a:t>
            </a:r>
            <a:endParaRPr sz="900"/>
          </a:p>
        </p:txBody>
      </p:sp>
      <p:sp>
        <p:nvSpPr>
          <p:cNvPr id="29" name="cell r4c4"/>
          <p:cNvSpPr txBox="1"/>
          <p:nvPr/>
        </p:nvSpPr>
        <p:spPr>
          <a:xfrm>
            <a:off x="8529145" y="3903650"/>
            <a:ext cx="2657015"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Everything</a:t>
            </a:r>
            <a:endParaRPr sz="900"/>
          </a:p>
        </p:txBody>
      </p:sp>
      <p:cxnSp>
        <p:nvCxnSpPr>
          <p:cNvPr id="30" name="row rule"/>
          <p:cNvCxnSpPr/>
          <p:nvPr/>
        </p:nvCxnSpPr>
        <p:spPr>
          <a:xfrm>
            <a:off x="914400" y="4448861"/>
            <a:ext cx="10363200" cy="0"/>
          </a:xfrm>
          <a:prstGeom prst="line">
            <a:avLst/>
          </a:prstGeom>
          <a:ln w="9525">
            <a:solidFill>
              <a:srgbClr val="D2D2D7"/>
            </a:solidFill>
          </a:ln>
        </p:spPr>
      </p:cxnSp>
      <p:sp>
        <p:nvSpPr>
          <p:cNvPr id="31" name="cell r5c1"/>
          <p:cNvSpPr txBox="1"/>
          <p:nvPr/>
        </p:nvSpPr>
        <p:spPr>
          <a:xfrm>
            <a:off x="1005840" y="4531157"/>
            <a:ext cx="124547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Widgets</a:t>
            </a:r>
            <a:endParaRPr sz="900"/>
          </a:p>
        </p:txBody>
      </p:sp>
      <p:sp>
        <p:nvSpPr>
          <p:cNvPr id="32" name="cell r5c2"/>
          <p:cNvSpPr txBox="1"/>
          <p:nvPr/>
        </p:nvSpPr>
        <p:spPr>
          <a:xfrm>
            <a:off x="2434196" y="4531157"/>
            <a:ext cx="24909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World Clock, System Gauges</a:t>
            </a:r>
            <a:endParaRPr sz="900"/>
          </a:p>
        </p:txBody>
      </p:sp>
      <p:sp>
        <p:nvSpPr>
          <p:cNvPr id="33" name="cell r5c3"/>
          <p:cNvSpPr txBox="1"/>
          <p:nvPr/>
        </p:nvSpPr>
        <p:spPr>
          <a:xfrm>
            <a:off x="5108028" y="4531157"/>
            <a:ext cx="323823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All widgets</a:t>
            </a:r>
            <a:endParaRPr sz="900"/>
          </a:p>
        </p:txBody>
      </p:sp>
      <p:sp>
        <p:nvSpPr>
          <p:cNvPr id="34" name="cell r5c4"/>
          <p:cNvSpPr txBox="1"/>
          <p:nvPr/>
        </p:nvSpPr>
        <p:spPr>
          <a:xfrm>
            <a:off x="8529145" y="4531157"/>
            <a:ext cx="2657015"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All widgets</a:t>
            </a:r>
            <a:endParaRPr sz="900"/>
          </a:p>
        </p:txBody>
      </p:sp>
      <p:cxnSp>
        <p:nvCxnSpPr>
          <p:cNvPr id="35" name="row rule"/>
          <p:cNvCxnSpPr/>
          <p:nvPr/>
        </p:nvCxnSpPr>
        <p:spPr>
          <a:xfrm>
            <a:off x="914400" y="4767758"/>
            <a:ext cx="10363200" cy="0"/>
          </a:xfrm>
          <a:prstGeom prst="line">
            <a:avLst/>
          </a:prstGeom>
          <a:ln w="9525">
            <a:solidFill>
              <a:srgbClr val="D2D2D7"/>
            </a:solidFill>
          </a:ln>
        </p:spPr>
      </p:cxnSp>
      <p:sp>
        <p:nvSpPr>
          <p:cNvPr id="36" name="cell r6c1"/>
          <p:cNvSpPr txBox="1"/>
          <p:nvPr/>
        </p:nvSpPr>
        <p:spPr>
          <a:xfrm>
            <a:off x="1005840" y="4850054"/>
            <a:ext cx="1245476"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Productivity</a:t>
            </a:r>
            <a:endParaRPr sz="900"/>
          </a:p>
        </p:txBody>
      </p:sp>
      <p:sp>
        <p:nvSpPr>
          <p:cNvPr id="37" name="cell r6c2"/>
          <p:cNvSpPr txBox="1"/>
          <p:nvPr/>
        </p:nvSpPr>
        <p:spPr>
          <a:xfrm>
            <a:off x="2434196" y="4850054"/>
            <a:ext cx="2490952"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Clipboard (last 25), Copy Text, Flow history</a:t>
            </a:r>
            <a:endParaRPr sz="900"/>
          </a:p>
        </p:txBody>
      </p:sp>
      <p:sp>
        <p:nvSpPr>
          <p:cNvPr id="38" name="cell r6c3"/>
          <p:cNvSpPr txBox="1"/>
          <p:nvPr/>
        </p:nvSpPr>
        <p:spPr>
          <a:xfrm>
            <a:off x="5108028" y="4850054"/>
            <a:ext cx="3238237"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Unlimited clipboard + Paste Stack, Converter, File Drop, Downloads rules, Quick Capture, Screen Recorder, Universal Search, Spaces, Focus, Modes, Screen Distance</a:t>
            </a:r>
            <a:endParaRPr sz="900"/>
          </a:p>
        </p:txBody>
      </p:sp>
      <p:sp>
        <p:nvSpPr>
          <p:cNvPr id="39" name="cell r6c4"/>
          <p:cNvSpPr txBox="1"/>
          <p:nvPr/>
        </p:nvSpPr>
        <p:spPr>
          <a:xfrm>
            <a:off x="8529145" y="4850054"/>
            <a:ext cx="2657015"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Everything</a:t>
            </a:r>
            <a:endParaRPr sz="9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§6a, §6c. Team shared Spaces are file packages, not live sync.</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A4</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Appendix · plan details 2 of 2</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Medium"/>
              </a:rPr>
              <a:t>Pay once.</a:t>
            </a:r>
            <a:r>
              <a:rPr sz="3360" b="0" i="0" spc="-50">
                <a:solidFill>
                  <a:srgbClr val="1D1D1F"/>
                </a:solidFill>
                <a:latin typeface="Helvetica Neue Light"/>
              </a:rPr>
              <a:t> Keep it forever.</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Start with a 14-day Pro trial. No card needed.</a:t>
            </a:r>
            <a:endParaRPr sz="1680"/>
          </a:p>
        </p:txBody>
      </p:sp>
      <p:sp>
        <p:nvSpPr>
          <p:cNvPr id="7" name="column head"/>
          <p:cNvSpPr txBox="1"/>
          <p:nvPr/>
        </p:nvSpPr>
        <p:spPr>
          <a:xfrm>
            <a:off x="2434196" y="2308708"/>
            <a:ext cx="2490952"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FREE</a:t>
            </a:r>
            <a:endParaRPr sz="900"/>
          </a:p>
        </p:txBody>
      </p:sp>
      <p:sp>
        <p:nvSpPr>
          <p:cNvPr id="8" name="column head"/>
          <p:cNvSpPr txBox="1"/>
          <p:nvPr/>
        </p:nvSpPr>
        <p:spPr>
          <a:xfrm>
            <a:off x="5108028" y="2308708"/>
            <a:ext cx="3238237"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PRO</a:t>
            </a:r>
            <a:endParaRPr sz="900"/>
          </a:p>
        </p:txBody>
      </p:sp>
      <p:sp>
        <p:nvSpPr>
          <p:cNvPr id="9" name="column head"/>
          <p:cNvSpPr txBox="1"/>
          <p:nvPr/>
        </p:nvSpPr>
        <p:spPr>
          <a:xfrm>
            <a:off x="8529145" y="2308708"/>
            <a:ext cx="2657015"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TEAM</a:t>
            </a:r>
            <a:endParaRPr sz="900"/>
          </a:p>
        </p:txBody>
      </p:sp>
      <p:cxnSp>
        <p:nvCxnSpPr>
          <p:cNvPr id="10" name="table head rule"/>
          <p:cNvCxnSpPr/>
          <p:nvPr/>
        </p:nvCxnSpPr>
        <p:spPr>
          <a:xfrm>
            <a:off x="914400" y="2556053"/>
            <a:ext cx="10363200" cy="0"/>
          </a:xfrm>
          <a:prstGeom prst="line">
            <a:avLst/>
          </a:prstGeom>
          <a:ln w="9525">
            <a:solidFill>
              <a:srgbClr val="1D1D1F"/>
            </a:solidFill>
          </a:ln>
        </p:spPr>
      </p:cxnSp>
      <p:sp>
        <p:nvSpPr>
          <p:cNvPr id="11" name="cell r1c1"/>
          <p:cNvSpPr txBox="1"/>
          <p:nvPr/>
        </p:nvSpPr>
        <p:spPr>
          <a:xfrm>
            <a:off x="1005840" y="2638349"/>
            <a:ext cx="1245476"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AI assistants</a:t>
            </a:r>
            <a:endParaRPr sz="900"/>
          </a:p>
        </p:txBody>
      </p:sp>
      <p:sp>
        <p:nvSpPr>
          <p:cNvPr id="12" name="cell r1c2"/>
          <p:cNvSpPr txBox="1"/>
          <p:nvPr/>
        </p:nvSpPr>
        <p:spPr>
          <a:xfrm>
            <a:off x="2434196" y="2638349"/>
            <a:ext cx="2490952"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Dictation (no AI formatting)</a:t>
            </a:r>
            <a:endParaRPr sz="900"/>
          </a:p>
        </p:txBody>
      </p:sp>
      <p:sp>
        <p:nvSpPr>
          <p:cNvPr id="13" name="cell r1c3"/>
          <p:cNvSpPr txBox="1"/>
          <p:nvPr/>
        </p:nvSpPr>
        <p:spPr>
          <a:xfrm>
            <a:off x="5108028" y="2638349"/>
            <a:ext cx="3238237"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AI dictation, Clicky, Ask Screen, Reply Drafter, Prompt Refiner, Tray AI, Job Agent</a:t>
            </a:r>
            <a:endParaRPr sz="900"/>
          </a:p>
        </p:txBody>
      </p:sp>
      <p:sp>
        <p:nvSpPr>
          <p:cNvPr id="14" name="cell r1c4"/>
          <p:cNvSpPr txBox="1"/>
          <p:nvPr/>
        </p:nvSpPr>
        <p:spPr>
          <a:xfrm>
            <a:off x="8529145" y="2638349"/>
            <a:ext cx="2657015"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Everything</a:t>
            </a:r>
            <a:endParaRPr sz="900"/>
          </a:p>
        </p:txBody>
      </p:sp>
      <p:cxnSp>
        <p:nvCxnSpPr>
          <p:cNvPr id="15" name="row rule"/>
          <p:cNvCxnSpPr/>
          <p:nvPr/>
        </p:nvCxnSpPr>
        <p:spPr>
          <a:xfrm>
            <a:off x="914400" y="3029255"/>
            <a:ext cx="10363200" cy="0"/>
          </a:xfrm>
          <a:prstGeom prst="line">
            <a:avLst/>
          </a:prstGeom>
          <a:ln w="9525">
            <a:solidFill>
              <a:srgbClr val="D2D2D7"/>
            </a:solidFill>
          </a:ln>
        </p:spPr>
      </p:cxnSp>
      <p:sp>
        <p:nvSpPr>
          <p:cNvPr id="16" name="cell r2c1"/>
          <p:cNvSpPr txBox="1"/>
          <p:nvPr/>
        </p:nvSpPr>
        <p:spPr>
          <a:xfrm>
            <a:off x="1005840" y="3111551"/>
            <a:ext cx="124547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Meetings</a:t>
            </a:r>
            <a:endParaRPr sz="900"/>
          </a:p>
        </p:txBody>
      </p:sp>
      <p:sp>
        <p:nvSpPr>
          <p:cNvPr id="17" name="cell r2c2"/>
          <p:cNvSpPr txBox="1"/>
          <p:nvPr/>
        </p:nvSpPr>
        <p:spPr>
          <a:xfrm>
            <a:off x="2434196" y="3111551"/>
            <a:ext cx="24909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none</a:t>
            </a:r>
            <a:endParaRPr sz="900"/>
          </a:p>
        </p:txBody>
      </p:sp>
      <p:sp>
        <p:nvSpPr>
          <p:cNvPr id="18" name="cell r2c3"/>
          <p:cNvSpPr txBox="1"/>
          <p:nvPr/>
        </p:nvSpPr>
        <p:spPr>
          <a:xfrm>
            <a:off x="5108028" y="3111551"/>
            <a:ext cx="323823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Recorder, transcripts, summaries, Live Translation</a:t>
            </a:r>
            <a:endParaRPr sz="900"/>
          </a:p>
        </p:txBody>
      </p:sp>
      <p:sp>
        <p:nvSpPr>
          <p:cNvPr id="19" name="cell r2c4"/>
          <p:cNvSpPr txBox="1"/>
          <p:nvPr/>
        </p:nvSpPr>
        <p:spPr>
          <a:xfrm>
            <a:off x="8529145" y="3111551"/>
            <a:ext cx="2657015"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Everything</a:t>
            </a:r>
            <a:endParaRPr sz="900"/>
          </a:p>
        </p:txBody>
      </p:sp>
      <p:cxnSp>
        <p:nvCxnSpPr>
          <p:cNvPr id="20" name="row rule"/>
          <p:cNvCxnSpPr/>
          <p:nvPr/>
        </p:nvCxnSpPr>
        <p:spPr>
          <a:xfrm>
            <a:off x="914400" y="3348152"/>
            <a:ext cx="10363200" cy="0"/>
          </a:xfrm>
          <a:prstGeom prst="line">
            <a:avLst/>
          </a:prstGeom>
          <a:ln w="9525">
            <a:solidFill>
              <a:srgbClr val="D2D2D7"/>
            </a:solidFill>
          </a:ln>
        </p:spPr>
      </p:cxnSp>
      <p:sp>
        <p:nvSpPr>
          <p:cNvPr id="21" name="cell r3c1"/>
          <p:cNvSpPr txBox="1"/>
          <p:nvPr/>
        </p:nvSpPr>
        <p:spPr>
          <a:xfrm>
            <a:off x="1005840" y="3430448"/>
            <a:ext cx="124547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Developer tools</a:t>
            </a:r>
            <a:endParaRPr sz="900"/>
          </a:p>
        </p:txBody>
      </p:sp>
      <p:sp>
        <p:nvSpPr>
          <p:cNvPr id="22" name="cell r3c2"/>
          <p:cNvSpPr txBox="1"/>
          <p:nvPr/>
        </p:nvSpPr>
        <p:spPr>
          <a:xfrm>
            <a:off x="2434196" y="3430448"/>
            <a:ext cx="24909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none</a:t>
            </a:r>
            <a:endParaRPr sz="900"/>
          </a:p>
        </p:txBody>
      </p:sp>
      <p:sp>
        <p:nvSpPr>
          <p:cNvPr id="23" name="cell r3c3"/>
          <p:cNvSpPr txBox="1"/>
          <p:nvPr/>
        </p:nvSpPr>
        <p:spPr>
          <a:xfrm>
            <a:off x="5108028" y="3430448"/>
            <a:ext cx="323823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UI Audit, Browser Flows (beta), Flow Canvas</a:t>
            </a:r>
            <a:endParaRPr sz="900"/>
          </a:p>
        </p:txBody>
      </p:sp>
      <p:sp>
        <p:nvSpPr>
          <p:cNvPr id="24" name="cell r3c4"/>
          <p:cNvSpPr txBox="1"/>
          <p:nvPr/>
        </p:nvSpPr>
        <p:spPr>
          <a:xfrm>
            <a:off x="8529145" y="3430448"/>
            <a:ext cx="2657015"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Everything</a:t>
            </a:r>
            <a:endParaRPr sz="900"/>
          </a:p>
        </p:txBody>
      </p:sp>
      <p:cxnSp>
        <p:nvCxnSpPr>
          <p:cNvPr id="25" name="row rule"/>
          <p:cNvCxnSpPr/>
          <p:nvPr/>
        </p:nvCxnSpPr>
        <p:spPr>
          <a:xfrm>
            <a:off x="914400" y="3667049"/>
            <a:ext cx="10363200" cy="0"/>
          </a:xfrm>
          <a:prstGeom prst="line">
            <a:avLst/>
          </a:prstGeom>
          <a:ln w="9525">
            <a:solidFill>
              <a:srgbClr val="D2D2D7"/>
            </a:solidFill>
          </a:ln>
        </p:spPr>
      </p:cxnSp>
      <p:sp>
        <p:nvSpPr>
          <p:cNvPr id="26" name="cell r4c1"/>
          <p:cNvSpPr txBox="1"/>
          <p:nvPr/>
        </p:nvSpPr>
        <p:spPr>
          <a:xfrm>
            <a:off x="1005840" y="3749345"/>
            <a:ext cx="1245476"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Team extras</a:t>
            </a:r>
            <a:endParaRPr sz="900"/>
          </a:p>
        </p:txBody>
      </p:sp>
      <p:sp>
        <p:nvSpPr>
          <p:cNvPr id="27" name="cell r4c2"/>
          <p:cNvSpPr txBox="1"/>
          <p:nvPr/>
        </p:nvSpPr>
        <p:spPr>
          <a:xfrm>
            <a:off x="2434196" y="3749345"/>
            <a:ext cx="2490952"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none</a:t>
            </a:r>
            <a:endParaRPr sz="900"/>
          </a:p>
        </p:txBody>
      </p:sp>
      <p:sp>
        <p:nvSpPr>
          <p:cNvPr id="28" name="cell r4c3"/>
          <p:cNvSpPr txBox="1"/>
          <p:nvPr/>
        </p:nvSpPr>
        <p:spPr>
          <a:xfrm>
            <a:off x="5108028" y="3749345"/>
            <a:ext cx="3238237"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none</a:t>
            </a:r>
            <a:endParaRPr sz="900"/>
          </a:p>
        </p:txBody>
      </p:sp>
      <p:sp>
        <p:nvSpPr>
          <p:cNvPr id="29" name="cell r4c4"/>
          <p:cNvSpPr txBox="1"/>
          <p:nvPr/>
        </p:nvSpPr>
        <p:spPr>
          <a:xfrm>
            <a:off x="8529145" y="3749345"/>
            <a:ext cx="2657015" cy="46291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One invoice, seat management, shared Spaces packages, priority email support (1 business day), MDM install package</a:t>
            </a:r>
            <a:endParaRPr sz="900"/>
          </a:p>
        </p:txBody>
      </p:sp>
      <p:cxnSp>
        <p:nvCxnSpPr>
          <p:cNvPr id="30" name="row rule"/>
          <p:cNvCxnSpPr/>
          <p:nvPr/>
        </p:nvCxnSpPr>
        <p:spPr>
          <a:xfrm>
            <a:off x="914400" y="4294556"/>
            <a:ext cx="10363200" cy="0"/>
          </a:xfrm>
          <a:prstGeom prst="line">
            <a:avLst/>
          </a:prstGeom>
          <a:ln w="9525">
            <a:solidFill>
              <a:srgbClr val="D2D2D7"/>
            </a:solidFill>
          </a:ln>
        </p:spPr>
      </p:cxnSp>
      <p:sp>
        <p:nvSpPr>
          <p:cNvPr id="31" name="cell r5c1"/>
          <p:cNvSpPr txBox="1"/>
          <p:nvPr/>
        </p:nvSpPr>
        <p:spPr>
          <a:xfrm>
            <a:off x="1005840" y="4376852"/>
            <a:ext cx="124547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Try it</a:t>
            </a:r>
            <a:endParaRPr sz="900"/>
          </a:p>
        </p:txBody>
      </p:sp>
      <p:sp>
        <p:nvSpPr>
          <p:cNvPr id="32" name="cell r5c2"/>
          <p:cNvSpPr txBox="1"/>
          <p:nvPr/>
        </p:nvSpPr>
        <p:spPr>
          <a:xfrm>
            <a:off x="2434196" y="4376852"/>
            <a:ext cx="24909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Free forever</a:t>
            </a:r>
            <a:endParaRPr sz="900"/>
          </a:p>
        </p:txBody>
      </p:sp>
      <p:sp>
        <p:nvSpPr>
          <p:cNvPr id="33" name="cell r5c3"/>
          <p:cNvSpPr txBox="1"/>
          <p:nvPr/>
        </p:nvSpPr>
        <p:spPr>
          <a:xfrm>
            <a:off x="5108028" y="4376852"/>
            <a:ext cx="323823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14-day full trial, no card. Falls back to Free, never locks.</a:t>
            </a:r>
            <a:endParaRPr sz="900"/>
          </a:p>
        </p:txBody>
      </p:sp>
      <p:sp>
        <p:nvSpPr>
          <p:cNvPr id="34" name="cell r5c4"/>
          <p:cNvSpPr txBox="1"/>
          <p:nvPr/>
        </p:nvSpPr>
        <p:spPr>
          <a:xfrm>
            <a:off x="8529145" y="4376852"/>
            <a:ext cx="2657015"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30-day pilot, up to 5 seats</a:t>
            </a:r>
            <a:endParaRPr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SparkV: Your notch, now an AI command center</dc:title>
  <dc:subject/>
  <dc:creator>SparkV</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