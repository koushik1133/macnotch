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Mac shipments (M)</c:v>
                </c:pt>
              </c:strCache>
            </c:strRef>
          </c:tx>
          <c:spPr>
            <a:solidFill>
              <a:srgbClr val="AEAEB2"/>
            </a:solidFill>
            <a:ln>
              <a:noFill/>
            </a:ln>
          </c:spPr>
          <c:invertIfNegative val="0"/>
          <c:dPt>
            <c:idx val="1"/>
            <c:spPr>
              <a:solidFill>
                <a:srgbClr val="1D1D1F"/>
              </a:solidFill>
            </c:spPr>
          </c:dPt>
          <c:cat>
            <c:strRef>
              <c:f>Sheet1!$A$2:$A$3</c:f>
              <c:strCache>
                <c:ptCount val="2"/>
                <c:pt idx="0">
                  <c:v>2024</c:v>
                </c:pt>
                <c:pt idx="1">
                  <c:v>2025</c:v>
                </c:pt>
              </c:strCache>
            </c:strRef>
          </c:cat>
          <c:val>
            <c:numRef>
              <c:f>Sheet1!$B$2:$B$3</c:f>
              <c:numCache>
                <c:formatCode>0.0</c:formatCode>
                <c:ptCount val="2"/>
                <c:pt idx="0">
                  <c:v>23.0</c:v>
                </c:pt>
                <c:pt idx="1">
                  <c:v>25.6</c:v>
                </c:pt>
              </c:numCache>
            </c:numRef>
          </c:val>
        </c:ser>
        <c:dLbls>
          <c:numFmt formatCode="0.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30.0"/>
          <c:min val="0.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Minutes per week (model)</c:v>
                </c:pt>
              </c:strCache>
            </c:strRef>
          </c:tx>
          <c:spPr>
            <a:solidFill>
              <a:srgbClr val="AEAEB2"/>
            </a:solidFill>
            <a:ln>
              <a:noFill/>
            </a:ln>
          </c:spPr>
          <c:invertIfNegative val="0"/>
          <c:cat>
            <c:strRef>
              <c:f>Sheet1!$A$2:$A$6</c:f>
              <c:strCache>
                <c:ptCount val="5"/>
                <c:pt idx="0">
                  <c:v>Dictation</c:v>
                </c:pt>
                <c:pt idx="1">
                  <c:v>Meeting write-ups</c:v>
                </c:pt>
                <c:pt idx="2">
                  <c:v>Reply drafts</c:v>
                </c:pt>
                <c:pt idx="3">
                  <c:v>Finding past work</c:v>
                </c:pt>
                <c:pt idx="4">
                  <c:v>Screen tools</c:v>
                </c:pt>
              </c:strCache>
            </c:strRef>
          </c:cat>
          <c:val>
            <c:numRef>
              <c:f>Sheet1!$B$2:$B$6</c:f>
              <c:numCache>
                <c:formatCode>0</c:formatCode>
                <c:ptCount val="5"/>
                <c:pt idx="0">
                  <c:v>40</c:v>
                </c:pt>
                <c:pt idx="1">
                  <c:v>40</c:v>
                </c:pt>
                <c:pt idx="2">
                  <c:v>30</c:v>
                </c:pt>
                <c:pt idx="3">
                  <c:v>20</c:v>
                </c:pt>
                <c:pt idx="4">
                  <c:v>20</c:v>
                </c:pt>
              </c:numCache>
            </c:numRef>
          </c:val>
        </c:ser>
        <c:dLbls>
          <c:numFmt formatCode="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axMin"/>
        </c:scaling>
        <c:delete val="0"/>
        <c:axPos val="l"/>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50.0"/>
          <c:min val="0.0"/>
        </c:scaling>
        <c:delete/>
        <c:axPos val="b"/>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Year-one cost per seat</c:v>
                </c:pt>
              </c:strCache>
            </c:strRef>
          </c:tx>
          <c:spPr>
            <a:solidFill>
              <a:srgbClr val="AEAEB2"/>
            </a:solidFill>
            <a:ln>
              <a:noFill/>
            </a:ln>
          </c:spPr>
          <c:invertIfNegative val="0"/>
          <c:dPt>
            <c:idx val="1"/>
            <c:spPr>
              <a:solidFill>
                <a:srgbClr val="F01822"/>
              </a:solidFill>
            </c:spPr>
          </c:dPt>
          <c:cat>
            <c:strRef>
              <c:f>Sheet1!$A$2:$A$3</c:f>
              <c:strCache>
                <c:ptCount val="2"/>
                <c:pt idx="0">
                  <c:v>Five-tool stack</c:v>
                </c:pt>
                <c:pt idx="1">
                  <c:v>SparkV Team</c:v>
                </c:pt>
              </c:strCache>
            </c:strRef>
          </c:cat>
          <c:val>
            <c:numRef>
              <c:f>Sheet1!$B$2:$B$3</c:f>
              <c:numCache>
                <c:formatCode>$#,##0</c:formatCode>
                <c:ptCount val="2"/>
                <c:pt idx="0">
                  <c:v>442.99</c:v>
                </c:pt>
                <c:pt idx="1">
                  <c:v>96.0</c:v>
                </c:pt>
              </c:numCache>
            </c:numRef>
          </c:val>
        </c:ser>
        <c:dLbls>
          <c:numFmt formatCode="$#,##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500.0"/>
          <c:min val="0.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Annual list price</c:v>
                </c:pt>
              </c:strCache>
            </c:strRef>
          </c:tx>
          <c:spPr>
            <a:solidFill>
              <a:srgbClr val="1D1D1F"/>
            </a:solidFill>
            <a:ln>
              <a:noFill/>
            </a:ln>
          </c:spPr>
          <c:invertIfNegative val="0"/>
          <c:cat>
            <c:strRef>
              <c:f>Sheet1!$A$2:$A$5</c:f>
              <c:strCache>
                <c:ptCount val="4"/>
                <c:pt idx="0">
                  <c:v>5 seats</c:v>
                </c:pt>
                <c:pt idx="1">
                  <c:v>10 seats</c:v>
                </c:pt>
                <c:pt idx="2">
                  <c:v>25 seats</c:v>
                </c:pt>
                <c:pt idx="3">
                  <c:v>50 seats</c:v>
                </c:pt>
              </c:strCache>
            </c:strRef>
          </c:cat>
          <c:val>
            <c:numRef>
              <c:f>Sheet1!$B$2:$B$5</c:f>
              <c:numCache>
                <c:formatCode>$#,##0</c:formatCode>
                <c:ptCount val="4"/>
                <c:pt idx="0">
                  <c:v>480</c:v>
                </c:pt>
                <c:pt idx="1">
                  <c:v>960</c:v>
                </c:pt>
                <c:pt idx="2">
                  <c:v>2400</c:v>
                </c:pt>
                <c:pt idx="3">
                  <c:v>4800</c:v>
                </c:pt>
              </c:numCache>
            </c:numRef>
          </c:val>
        </c:ser>
        <c:dLbls>
          <c:numFmt formatCode="$#,##0" sourceLinked="0"/>
          <c:txPr>
            <a:bodyPr/>
            <a:lstStyle/>
            <a:p>
              <a:pPr>
                <a:defRPr sz="900">
                  <a:solidFill>
                    <a:srgbClr val="1D1D1F"/>
                  </a:solidFill>
                  <a:latin typeface="Helvetica Neue Medium"/>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low"/>
        <c:spPr>
          <a:ln w="9525">
            <a:solidFill>
              <a:srgbClr val="D2D2D7"/>
            </a:solidFill>
          </a:ln>
        </c:spPr>
        <c:txPr>
          <a:bodyPr/>
          <a:lstStyle/>
          <a:p>
            <a:pPr>
              <a:defRPr sz="900">
                <a:solidFill>
                  <a:srgbClr val="6E6E73"/>
                </a:solidFill>
              </a:defRPr>
            </a:pPr>
          </a:p>
        </c:txPr>
        <c:crossAx val="-2113994440"/>
        <c:crosses val="autoZero"/>
        <c:auto val="1"/>
        <c:lblAlgn val="ctr"/>
        <c:lblOffset val="100"/>
        <c:noMultiLvlLbl val="0"/>
      </c:catAx>
      <c:valAx>
        <c:axId val="-2113994440"/>
        <c:scaling>
          <c:max val="6000.0"/>
          <c:min val="0.0"/>
        </c:scaling>
        <c:delete/>
        <c:axPos val="l"/>
        <c:majorTickMark val="out"/>
        <c:minorTickMark val="none"/>
        <c:tickLblPos val="nextTo"/>
        <c:crossAx val="-2068027336"/>
        <c:crosses val="autoZero"/>
      </c:valAx>
      <c:spPr>
        <a:noFill/>
      </c:spPr>
    </c:plotArea>
    <c:dispBlanksAs val="gap"/>
  </c:chart>
  <c:spPr>
    <a:noFill/>
    <a:ln>
      <a:noFill/>
    </a:ln>
  </c:spPr>
  <c:txPr>
    <a:bodyPr/>
    <a:lstStyle/>
    <a:p>
      <a:pPr>
        <a:defRPr sz="900">
          <a:solidFill>
            <a:srgbClr val="6E6E73"/>
          </a:solidFill>
          <a:latin typeface="Helvetica Neue"/>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SparkV lives in the MacBook notch. Hover it and a drawer opens with media, a file tray, your day and a hub of more than 20 agents. Today we are asking for one thing: a 30-day pilot with up to five people on your team. We measure the time it saves against a baseline you set, and you decide on day 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public numbers frame the problem. Caveats to say out loud: the 3x figure compares speech with a phone keyboard, not a desktop keyboard, so the ROI model on slide 9 uses a much smaller gain. The McKinsey figure is from 2012. The pilot replaces all of these with your own baseline.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not a pitch for our revenue: the Mac fleet keeps growing faster than the PC market. Omdia puts 2025 even higher, at 27.7M units. The 2024 bar is derived from IDC's growth rate (25.6 / 1.111). Ask the buyer for their own fleet numbers to fill the two TBD tiles; that also sizes the pilot.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Agents hub: 22 tiles in an 8 by 3 grid, every one wired in the current build. A tile opens its page, runs at once, or shows a menu. Hover a tile to see its shortcut. Everything in this deck is reachable from here or from a hotkey.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Dictation types into any app. Reply Drafter reads the thread and writes into the message box; it never sends. Clipboard history is off by default and skips passwords and private copies. Status: dictation and Reply Drafter are marked 'needs a live check' in the feature guide because they need the microphone, the fn key and other apps; the pilot is that check.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bot joins the call, so there is nothing for the other side to admit. Your policy on telling participants about recording still applies: [TBD: customer's call-recording notice policy]. Live Translation uses Apple Translation on device after a one-time language download. Status: needs a live check (audio capture); notes and answers render from saved meetings.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for agencies with several clients. Be exact about sharing: a Space can be exported and shared as a .sparkvspace file package; there is no live sync between teammates today. The screen assistant points and explains; it does not click or type. Without a Groq key it reads screen text on device. Status: Spaces and Universal Search verified headless (21 results for 'launch' on sample data); the screen assistant needs a live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feature verified end to end: SparkV's own controller audited the bundled planted-issue test site on 127.0.0.1 (6 pages, 69 findings: 3 critical, 15 high), Apple Intelligence wrote the summary on device, and P produced a 51,666-character fix prompt covering 60 issues. The runner self-test passed 48/48. It submits forms only on local or test hosts unless allowed and never clicks Delete or Log out unless allowed. Needs Node 20+ and Playwright's Chromium. Use only on sites you own or may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feature verified end to end: SparkV's own controller audited the bundled planted-issue test site on 127.0.0.1 (6 pages, 69 findings: 3 critical, 15 high), Apple Intelligence wrote the summary on device, and P produced a 51,666-character fix prompt covering 60 issues. The runner self-test passed 48/48. It submits forms only on local or test hosts unless allowed and never clicks Delete or Log out unless allowed. Needs Node 20+ and Playwright's Chromium. Use only on sites you own or may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assumptions table, not the total. Dictation uses a 1.5x speed-up, half of the published 3x, because that study used a phone keyboard. Break-even formula: minutes per week = 96 / (46 working weeks x hourly rate) x 60. At $40 an hour that is about 3.1 minutes a week. The hourly rate is the buyer's number; $40 is only an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security reviewer's summary. Default: on-device Apple Intelligence; AI cost to us is $0, so there is no reason to route data to a server. Groq is optional, per feature, and uses the customer's own key; nothing uses it unless turned on. Licensing talks to Lemon Squeezy, the merchant of record. Face Unlock is excluded from the sold build because its face model is licensed for non-commercial use only. Gap to disclose: there is no admin-enforced switch to block Groq org-wide yet [TBD: managed preference to disable Groq].</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today's build is signed with a local identity. Developer ID signing, notarization, licensing and the MDM package are tasks in the 30-day launch plan, and the pilot starts on that build. On permissions: an MDM privacy profile (PPPC) can pre-approve Accessibility; Screen Recording can at most be made approvable by standard users; camera and microphone always need the user's own approval. Verify against Apple's PPPC payload documentation for the customer's macOS version. With one stable Developer ID, grants survive updates.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Disclose what does not exist: no SSO or SCIM, no central policy console beyond the seat portal, and shared Spaces are file packages without live sync. Seat management may run on Keygen instead of Lemon Squeezy if needed. Updates ship through Sparkle with EdDSA-signed feeds. Support contact: [TBD: support email].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consolidation: one vendor review, one invoice, one privacy story. Do not claim parity: Granola, Wispr and Raycast are deep products in their own lanes. Monthly prices are annualized x12 for year one. NotchNook and Alcove are left out of the stack bar because SparkV replaces them outright and they are one-time.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is the recommended column for this audience. Pro includes 12 months of updates and optional renewal at $19 a year; the app keeps working. Students get 50% off Pro. The chart is plain list-price arithmetic for common team sizes, not a forecast and not a discount offer.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pilot is designed to produce a yes or a no, not a slow fade. Agree the measurement method on day 0 [TBD: time-log method, e.g. a short daily form]. If the measured savings come in under the model, say so in the readout.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single ask. Leave the slide up during questions. Do not promise SSO, live Spaces sync or org-wide Groq controls; they do not exist today.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ROI slide. Walk through the assumptions table, not the total. Dictation uses a 1.5x speed-up, half of the published 3x, because that study used a phone keyboard. Break-even formula: minutes per week = 96 / (46 working weeks x hourly rate) x 60. At $40 an hour that is about 3.1 minutes a week. The hourly rate is the buyer's number; $40 is only an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consolidation slide. The point is consolidation: one vendor review, one invoice, one privacy story. Do not claim parity: Granola, Wispr and Raycast are deep products in their own lanes. Monthly prices are annualized x12 for year one. NotchNook and Alcove are left out of the stack bar because SparkV replaces them outright and they are one-time.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data for the pricing chart (list-price arithmetic, not a forecast) and the Mac shipments chart.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links:</a:t>
            </a:r>
          </a:p>
          <a:p>
            <a:r>
              <a:t>Microsoft Work Trend Index 2023: Will AI Fix Work?: https://www.microsoft.com/en-us/worklab/work-trend-index/will-ai-fix-work</a:t>
            </a:r>
          </a:p>
          <a:p>
            <a:r>
              <a:t>McKinsey Global Institute, The social economy (2012): https://www.mckinsey.com/industries/technology-media-and-telecommunications/our-insights/the-social-economy</a:t>
            </a:r>
          </a:p>
          <a:p>
            <a:r>
              <a:t>Stanford News: speech recognition three times faster than typing (Ruan, Landay et al., 2016): https://news.stanford.edu/stories/2016/08/stanford-study-speech-recognition-faster-texting</a:t>
            </a:r>
          </a:p>
          <a:p>
            <a:r>
              <a:t>9to5Mac: Apple shipments unchanged as PC market grew during Q4 2025 (IDC): https://9to5mac.com/2026/01/13/apple-shipments-unchanged-as-pc-market-grew-during-q4-2025/</a:t>
            </a:r>
          </a:p>
          <a:p>
            <a:r>
              <a:t>MacTech: IDC on 2025 Mac sales: https://www.mactech.com/2026/01/12/well-idc-says-global-mac-sales-only-grew-0-2-annual-as-of-the-fourth-quarter-of-2025/amp/</a:t>
            </a:r>
          </a:p>
          <a:p>
            <a:r>
              <a:t>SparkV Business Plan, section 3 (competitor prices with linked sources): ../../SparkV-Business-Plan.md#3-comparable-products-and-prices</a:t>
            </a:r>
          </a:p>
          <a:p>
            <a:r>
              <a:t>SparkV Business Plan, section 6a (pricing): ../../SparkV-Business-Plan.md#6a-recommended-three-plans</a:t>
            </a:r>
          </a:p>
          <a:p>
            <a:r>
              <a:t>Apple Platform Deployment: Privacy Preferences Policy Control payload: https://support.apple.com/guide/deployment/privacy-preferences-policy-control-payload-dep38df53c2a/web</a:t>
            </a:r>
          </a:p>
          <a:p>
            <a:r>
              <a:t>SparkV ROI model (this blueprint, slide 9): ./BLUEPRINT.md (Slide 9 assumptions 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eyebrow"/>
          <p:cNvSpPr txBox="1"/>
          <p:nvPr/>
        </p:nvSpPr>
        <p:spPr>
          <a:xfrm>
            <a:off x="914400" y="731520"/>
            <a:ext cx="10363200" cy="213817"/>
          </a:xfrm>
          <a:prstGeom prst="rect">
            <a:avLst/>
          </a:prstGeom>
          <a:noFill/>
        </p:spPr>
        <p:txBody>
          <a:bodyPr wrap="square" lIns="0" tIns="0" rIns="0" bIns="0" anchor="t">
            <a:noAutofit/>
          </a:bodyPr>
          <a:lstStyle/>
          <a:p>
            <a:pPr algn="ctr">
              <a:lnSpc>
                <a:spcPts val="1680"/>
              </a:lnSpc>
              <a:spcBef>
                <a:spcPts val="0"/>
              </a:spcBef>
              <a:spcAft>
                <a:spcPts val="0"/>
              </a:spcAft>
            </a:pPr>
            <a:r>
              <a:rPr sz="1320" b="0" i="0">
                <a:solidFill>
                  <a:srgbClr val="F01822"/>
                </a:solidFill>
                <a:latin typeface="Helvetica Neue Medium"/>
              </a:rPr>
              <a:t>SparkV Team</a:t>
            </a:r>
            <a:endParaRPr sz="1320"/>
          </a:p>
        </p:txBody>
      </p:sp>
      <p:sp>
        <p:nvSpPr>
          <p:cNvPr id="3" name="headline"/>
          <p:cNvSpPr txBox="1"/>
          <p:nvPr/>
        </p:nvSpPr>
        <p:spPr>
          <a:xfrm>
            <a:off x="914400" y="1082497"/>
            <a:ext cx="10363200" cy="1514704"/>
          </a:xfrm>
          <a:prstGeom prst="rect">
            <a:avLst/>
          </a:prstGeom>
          <a:noFill/>
        </p:spPr>
        <p:txBody>
          <a:bodyPr wrap="square" lIns="0" tIns="0" rIns="0" bIns="0" anchor="t">
            <a:noAutofit/>
          </a:bodyPr>
          <a:lstStyle/>
          <a:p>
            <a:pPr algn="ctr">
              <a:lnSpc>
                <a:spcPts val="5962"/>
              </a:lnSpc>
              <a:spcBef>
                <a:spcPts val="0"/>
              </a:spcBef>
              <a:spcAft>
                <a:spcPts val="0"/>
              </a:spcAft>
            </a:pPr>
            <a:r>
              <a:rPr sz="5520" b="0" i="0" spc="-110">
                <a:solidFill>
                  <a:srgbClr val="1D1D1F"/>
                </a:solidFill>
                <a:latin typeface="Helvetica Neue Light"/>
              </a:rPr>
              <a:t>Your team's notch, now an AI command center.</a:t>
            </a:r>
            <a:endParaRPr sz="5520"/>
          </a:p>
        </p:txBody>
      </p:sp>
      <p:sp>
        <p:nvSpPr>
          <p:cNvPr id="4" name="lead"/>
          <p:cNvSpPr txBox="1"/>
          <p:nvPr/>
        </p:nvSpPr>
        <p:spPr>
          <a:xfrm>
            <a:off x="914400" y="2795321"/>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SparkV Team: a 30-day pilot for up to 5 seats</a:t>
            </a:r>
            <a:endParaRPr sz="1680"/>
          </a:p>
        </p:txBody>
      </p:sp>
      <p:sp>
        <p:nvSpPr>
          <p:cNvPr id="5" name="title line"/>
          <p:cNvSpPr txBox="1"/>
          <p:nvPr/>
        </p:nvSpPr>
        <p:spPr>
          <a:xfrm>
            <a:off x="914400" y="3177388"/>
            <a:ext cx="1036320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0">
                <a:solidFill>
                  <a:srgbClr val="6E6E73"/>
                </a:solidFill>
                <a:latin typeface="Helvetica Neue"/>
              </a:rPr>
              <a:t>Dictation, meetings, search and screen help, on device · Private by default. Deploys with your MDM. · </a:t>
            </a:r>
            <a:r>
              <a:rPr sz="1320" b="0" i="0">
                <a:solidFill>
                  <a:srgbClr val="1D1D1F"/>
                </a:solidFill>
                <a:latin typeface="Helvetica Neue Medium"/>
              </a:rPr>
              <a:t>sparkv.si</a:t>
            </a:r>
            <a:endParaRPr sz="1320"/>
          </a:p>
        </p:txBody>
      </p:sp>
      <p:sp>
        <p:nvSpPr>
          <p:cNvPr id="6" name="hero device lid"/>
          <p:cNvSpPr/>
          <p:nvPr/>
        </p:nvSpPr>
        <p:spPr>
          <a:xfrm>
            <a:off x="1904848" y="3740963"/>
            <a:ext cx="8382305" cy="3117037"/>
          </a:xfrm>
          <a:prstGeom prst="round2SameRect">
            <a:avLst>
              <a:gd name="adj1" fmla="val 6356"/>
              <a:gd name="adj2" fmla="val 0"/>
            </a:avLst>
          </a:prstGeom>
          <a:solidFill>
            <a:srgbClr val="0A0A0B"/>
          </a:solidFill>
          <a:ln w="15240">
            <a:solidFill>
              <a:srgbClr val="BDBDC2"/>
            </a:solidFill>
          </a:ln>
        </p:spPr>
        <p:txBody>
          <a:bodyPr rtlCol="0" anchor="ctr"/>
          <a:lstStyle/>
          <a:p>
            <a:pPr algn="ctr"/>
          </a:p>
        </p:txBody>
      </p:sp>
      <p:sp>
        <p:nvSpPr>
          <p:cNvPr id="7" name="hero device screen"/>
          <p:cNvSpPr/>
          <p:nvPr/>
        </p:nvSpPr>
        <p:spPr>
          <a:xfrm>
            <a:off x="2042008" y="3878123"/>
            <a:ext cx="8107985" cy="2979877"/>
          </a:xfrm>
          <a:prstGeom prst="round2SameRect">
            <a:avLst>
              <a:gd name="adj1" fmla="val 2557"/>
              <a:gd name="adj2" fmla="val 0"/>
            </a:avLst>
          </a:prstGeom>
          <a:gradFill rotWithShape="1">
            <a:gsLst>
              <a:gs pos="0">
                <a:srgbClr val="130A0E"/>
              </a:gs>
              <a:gs pos="62688">
                <a:srgbClr val="1C1717"/>
              </a:gs>
              <a:gs pos="100000">
                <a:srgbClr val="0F1119"/>
              </a:gs>
            </a:gsLst>
            <a:lin ang="5400000" scaled="0"/>
          </a:gradFill>
          <a:ln>
            <a:noFill/>
          </a:ln>
        </p:spPr>
        <p:txBody>
          <a:bodyPr rtlCol="0" anchor="ctr"/>
          <a:lstStyle/>
          <a:p>
            <a:pPr algn="ctr"/>
          </a:p>
        </p:txBody>
      </p:sp>
      <p:pic>
        <p:nvPicPr>
          <p:cNvPr id="8" name="hero device screenshot 01-home.png" descr="01-home.png"/>
          <p:cNvPicPr>
            <a:picLocks noChangeAspect="1"/>
          </p:cNvPicPr>
          <p:nvPr/>
        </p:nvPicPr>
        <p:blipFill>
          <a:blip r:embed="rId3"/>
          <a:stretch>
            <a:fillRect/>
          </a:stretch>
        </p:blipFill>
        <p:spPr>
          <a:xfrm>
            <a:off x="2042008" y="3878123"/>
            <a:ext cx="8107985" cy="1868016"/>
          </a:xfrm>
          <a:prstGeom prst="rect">
            <a:avLst/>
          </a:prstGeom>
        </p:spPr>
      </p:pic>
      <p:sp>
        <p:nvSpPr>
          <p:cNvPr id="9" name="hero device notch"/>
          <p:cNvSpPr/>
          <p:nvPr/>
        </p:nvSpPr>
        <p:spPr>
          <a:xfrm>
            <a:off x="4879802" y="3878123"/>
            <a:ext cx="2432395" cy="359995"/>
          </a:xfrm>
          <a:prstGeom prst="round2SameRect">
            <a:avLst>
              <a:gd name="adj1" fmla="val 0"/>
              <a:gd name="adj2" fmla="val 37843"/>
            </a:avLst>
          </a:prstGeom>
          <a:solidFill>
            <a:srgbClr val="000000"/>
          </a:solidFill>
          <a:ln>
            <a:noFill/>
          </a:ln>
        </p:spPr>
        <p:txBody>
          <a:bodyPr rtlCol="0" anchor="ctr"/>
          <a:lstStyle/>
          <a:p>
            <a:pPr algn="ctr"/>
          </a:p>
        </p:txBody>
      </p:sp>
      <p:sp>
        <p:nvSpPr>
          <p:cNvPr id="10" name="hero device camera"/>
          <p:cNvSpPr/>
          <p:nvPr/>
        </p:nvSpPr>
        <p:spPr>
          <a:xfrm>
            <a:off x="6057900" y="4020020"/>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3x compares speech with a phone keyboard, not a desktop keyboard. McKinsey figure is from 2012.</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The problem</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Where the work week goes</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Talking about work and looking for things crowd out the work itself</a:t>
            </a:r>
            <a:endParaRPr sz="1680"/>
          </a:p>
        </p:txBody>
      </p:sp>
      <p:cxnSp>
        <p:nvCxnSpPr>
          <p:cNvPr id="7" name="strip rule"/>
          <p:cNvCxnSpPr/>
          <p:nvPr/>
        </p:nvCxnSpPr>
        <p:spPr>
          <a:xfrm>
            <a:off x="914400" y="5867705"/>
            <a:ext cx="10363200" cy="0"/>
          </a:xfrm>
          <a:prstGeom prst="line">
            <a:avLst/>
          </a:prstGeom>
          <a:ln w="9525">
            <a:solidFill>
              <a:srgbClr val="D2D2D7"/>
            </a:solidFill>
          </a:ln>
        </p:spPr>
      </p:cxnSp>
      <p:sp>
        <p:nvSpPr>
          <p:cNvPr id="8" name="strip text"/>
          <p:cNvSpPr txBox="1"/>
          <p:nvPr/>
        </p:nvSpPr>
        <p:spPr>
          <a:xfrm>
            <a:off x="914400" y="6004865"/>
            <a:ext cx="1036320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Medium"/>
              </a:rPr>
              <a:t>Your numbers:</a:t>
            </a:r>
            <a:r>
              <a:rPr sz="1320" b="0" i="0">
                <a:solidFill>
                  <a:srgbClr val="6E6E73"/>
                </a:solidFill>
                <a:latin typeface="Helvetica Neue"/>
              </a:rPr>
              <a:t> </a:t>
            </a:r>
            <a:r>
              <a:rPr sz="1320" b="0" i="1">
                <a:solidFill>
                  <a:srgbClr val="86868B"/>
                </a:solidFill>
                <a:latin typeface="Helvetica Neue"/>
              </a:rPr>
              <a:t>[TBD: your team's own baseline, measured in pilot week 1]</a:t>
            </a:r>
            <a:endParaRPr sz="1320"/>
          </a:p>
        </p:txBody>
      </p:sp>
      <p:sp>
        <p:nvSpPr>
          <p:cNvPr id="9" name="metric card"/>
          <p:cNvSpPr/>
          <p:nvPr/>
        </p:nvSpPr>
        <p:spPr>
          <a:xfrm>
            <a:off x="914400" y="2922346"/>
            <a:ext cx="2407920" cy="2103120"/>
          </a:xfrm>
          <a:prstGeom prst="roundRect">
            <a:avLst>
              <a:gd name="adj" fmla="val 7971"/>
            </a:avLst>
          </a:prstGeom>
          <a:solidFill>
            <a:srgbClr val="F5F5F7"/>
          </a:solidFill>
          <a:ln>
            <a:noFill/>
          </a:ln>
        </p:spPr>
        <p:txBody>
          <a:bodyPr rtlCol="0" anchor="ctr"/>
          <a:lstStyle/>
          <a:p>
            <a:pPr algn="ctr"/>
          </a:p>
        </p:txBody>
      </p:sp>
      <p:sp>
        <p:nvSpPr>
          <p:cNvPr id="10" name="metric value"/>
          <p:cNvSpPr txBox="1"/>
          <p:nvPr/>
        </p:nvSpPr>
        <p:spPr>
          <a:xfrm>
            <a:off x="1127760" y="3105226"/>
            <a:ext cx="19812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57%</a:t>
            </a:r>
            <a:endParaRPr sz="4800"/>
          </a:p>
        </p:txBody>
      </p:sp>
      <p:sp>
        <p:nvSpPr>
          <p:cNvPr id="11" name="metric label"/>
          <p:cNvSpPr txBox="1"/>
          <p:nvPr/>
        </p:nvSpPr>
        <p:spPr>
          <a:xfrm>
            <a:off x="1127760" y="3867683"/>
            <a:ext cx="1981200" cy="56395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of Microsoft 365 users' time goes to communicating; 43% to creating</a:t>
            </a:r>
            <a:endParaRPr sz="1020"/>
          </a:p>
        </p:txBody>
      </p:sp>
      <p:sp>
        <p:nvSpPr>
          <p:cNvPr id="12" name="metric source"/>
          <p:cNvSpPr txBox="1"/>
          <p:nvPr/>
        </p:nvSpPr>
        <p:spPr>
          <a:xfrm>
            <a:off x="1127760" y="4682109"/>
            <a:ext cx="198120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Microsoft Work Trend Index 2023</a:t>
            </a:r>
            <a:endParaRPr sz="900"/>
          </a:p>
        </p:txBody>
      </p:sp>
      <p:sp>
        <p:nvSpPr>
          <p:cNvPr id="13" name="metric card"/>
          <p:cNvSpPr/>
          <p:nvPr/>
        </p:nvSpPr>
        <p:spPr>
          <a:xfrm>
            <a:off x="3566160" y="2922346"/>
            <a:ext cx="2407920" cy="2103120"/>
          </a:xfrm>
          <a:prstGeom prst="roundRect">
            <a:avLst>
              <a:gd name="adj" fmla="val 7971"/>
            </a:avLst>
          </a:prstGeom>
          <a:solidFill>
            <a:srgbClr val="F5F5F7"/>
          </a:solidFill>
          <a:ln>
            <a:noFill/>
          </a:ln>
        </p:spPr>
        <p:txBody>
          <a:bodyPr rtlCol="0" anchor="ctr"/>
          <a:lstStyle/>
          <a:p>
            <a:pPr algn="ctr"/>
          </a:p>
        </p:txBody>
      </p:sp>
      <p:sp>
        <p:nvSpPr>
          <p:cNvPr id="14" name="metric value"/>
          <p:cNvSpPr txBox="1"/>
          <p:nvPr/>
        </p:nvSpPr>
        <p:spPr>
          <a:xfrm>
            <a:off x="3779520" y="3105226"/>
            <a:ext cx="19812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19%</a:t>
            </a:r>
            <a:endParaRPr sz="4800"/>
          </a:p>
        </p:txBody>
      </p:sp>
      <p:sp>
        <p:nvSpPr>
          <p:cNvPr id="15" name="metric label"/>
          <p:cNvSpPr txBox="1"/>
          <p:nvPr/>
        </p:nvSpPr>
        <p:spPr>
          <a:xfrm>
            <a:off x="3779520" y="3867683"/>
            <a:ext cx="1981200" cy="563956"/>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of interaction workers' time goes to searching for and gathering information</a:t>
            </a:r>
            <a:endParaRPr sz="1020"/>
          </a:p>
        </p:txBody>
      </p:sp>
      <p:sp>
        <p:nvSpPr>
          <p:cNvPr id="16" name="metric source"/>
          <p:cNvSpPr txBox="1"/>
          <p:nvPr/>
        </p:nvSpPr>
        <p:spPr>
          <a:xfrm>
            <a:off x="3779520" y="4682109"/>
            <a:ext cx="198120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McKinsey Global Institute, 2012</a:t>
            </a:r>
            <a:endParaRPr sz="900"/>
          </a:p>
        </p:txBody>
      </p:sp>
      <p:sp>
        <p:nvSpPr>
          <p:cNvPr id="17" name="metric card"/>
          <p:cNvSpPr/>
          <p:nvPr/>
        </p:nvSpPr>
        <p:spPr>
          <a:xfrm>
            <a:off x="6217920" y="2922346"/>
            <a:ext cx="2407920" cy="2103120"/>
          </a:xfrm>
          <a:prstGeom prst="roundRect">
            <a:avLst>
              <a:gd name="adj" fmla="val 7971"/>
            </a:avLst>
          </a:prstGeom>
          <a:solidFill>
            <a:srgbClr val="F5F5F7"/>
          </a:solidFill>
          <a:ln>
            <a:noFill/>
          </a:ln>
        </p:spPr>
        <p:txBody>
          <a:bodyPr rtlCol="0" anchor="ctr"/>
          <a:lstStyle/>
          <a:p>
            <a:pPr algn="ctr"/>
          </a:p>
        </p:txBody>
      </p:sp>
      <p:sp>
        <p:nvSpPr>
          <p:cNvPr id="18" name="metric value"/>
          <p:cNvSpPr txBox="1"/>
          <p:nvPr/>
        </p:nvSpPr>
        <p:spPr>
          <a:xfrm>
            <a:off x="6431280" y="3105226"/>
            <a:ext cx="19812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68%</a:t>
            </a:r>
            <a:endParaRPr sz="4800"/>
          </a:p>
        </p:txBody>
      </p:sp>
      <p:sp>
        <p:nvSpPr>
          <p:cNvPr id="19" name="metric label"/>
          <p:cNvSpPr txBox="1"/>
          <p:nvPr/>
        </p:nvSpPr>
        <p:spPr>
          <a:xfrm>
            <a:off x="6431280" y="3867683"/>
            <a:ext cx="198120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say they lack enough uninterrupted focus time</a:t>
            </a:r>
            <a:endParaRPr sz="1020"/>
          </a:p>
        </p:txBody>
      </p:sp>
      <p:sp>
        <p:nvSpPr>
          <p:cNvPr id="20" name="metric source"/>
          <p:cNvSpPr txBox="1"/>
          <p:nvPr/>
        </p:nvSpPr>
        <p:spPr>
          <a:xfrm>
            <a:off x="6431280" y="4682109"/>
            <a:ext cx="198120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Microsoft Work Trend Index 2023</a:t>
            </a:r>
            <a:endParaRPr sz="900"/>
          </a:p>
        </p:txBody>
      </p:sp>
      <p:sp>
        <p:nvSpPr>
          <p:cNvPr id="21" name="metric card"/>
          <p:cNvSpPr/>
          <p:nvPr/>
        </p:nvSpPr>
        <p:spPr>
          <a:xfrm>
            <a:off x="8869680" y="2922346"/>
            <a:ext cx="2407920" cy="2103120"/>
          </a:xfrm>
          <a:prstGeom prst="roundRect">
            <a:avLst>
              <a:gd name="adj" fmla="val 7971"/>
            </a:avLst>
          </a:prstGeom>
          <a:solidFill>
            <a:srgbClr val="F5F5F7"/>
          </a:solidFill>
          <a:ln>
            <a:noFill/>
          </a:ln>
        </p:spPr>
        <p:txBody>
          <a:bodyPr rtlCol="0" anchor="ctr"/>
          <a:lstStyle/>
          <a:p>
            <a:pPr algn="ctr"/>
          </a:p>
        </p:txBody>
      </p:sp>
      <p:sp>
        <p:nvSpPr>
          <p:cNvPr id="22" name="metric value"/>
          <p:cNvSpPr txBox="1"/>
          <p:nvPr/>
        </p:nvSpPr>
        <p:spPr>
          <a:xfrm>
            <a:off x="9083040" y="3105226"/>
            <a:ext cx="19812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3x</a:t>
            </a:r>
            <a:endParaRPr sz="4800"/>
          </a:p>
        </p:txBody>
      </p:sp>
      <p:sp>
        <p:nvSpPr>
          <p:cNvPr id="23" name="metric label"/>
          <p:cNvSpPr txBox="1"/>
          <p:nvPr/>
        </p:nvSpPr>
        <p:spPr>
          <a:xfrm>
            <a:off x="9083040" y="3867683"/>
            <a:ext cx="198120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faster text entry by speech than a phone keyboard (English)</a:t>
            </a:r>
            <a:endParaRPr sz="1020"/>
          </a:p>
        </p:txBody>
      </p:sp>
      <p:sp>
        <p:nvSpPr>
          <p:cNvPr id="24" name="metric source"/>
          <p:cNvSpPr txBox="1"/>
          <p:nvPr/>
        </p:nvSpPr>
        <p:spPr>
          <a:xfrm>
            <a:off x="9083040" y="4682109"/>
            <a:ext cx="198120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Stanford, Baidu, UW study, 2016</a:t>
            </a:r>
            <a:endParaRPr sz="9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Context for fleet size, not a SparkV revenue claim.</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03</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Market</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Macs keep gaining ground</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SparkV runs on Apple silicon Macs with macOS 15+, best on MacBooks with a notch</a:t>
            </a:r>
            <a:endParaRPr sz="1680"/>
          </a:p>
        </p:txBody>
      </p:sp>
      <p:sp>
        <p:nvSpPr>
          <p:cNvPr id="7" name="chart card"/>
          <p:cNvSpPr/>
          <p:nvPr/>
        </p:nvSpPr>
        <p:spPr>
          <a:xfrm>
            <a:off x="914400" y="2354428"/>
            <a:ext cx="5943600" cy="3893972"/>
          </a:xfrm>
          <a:prstGeom prst="roundRect">
            <a:avLst>
              <a:gd name="adj" fmla="val 4305"/>
            </a:avLst>
          </a:prstGeom>
          <a:solidFill>
            <a:srgbClr val="F5F5F7"/>
          </a:solidFill>
          <a:ln>
            <a:noFill/>
          </a:ln>
        </p:spPr>
        <p:txBody>
          <a:bodyPr rtlCol="0" anchor="ctr"/>
          <a:lstStyle/>
          <a:p>
            <a:pPr algn="ctr"/>
          </a:p>
        </p:txBody>
      </p:sp>
      <p:sp>
        <p:nvSpPr>
          <p:cNvPr id="8" name="chart title"/>
          <p:cNvSpPr txBox="1"/>
          <p:nvPr/>
        </p:nvSpPr>
        <p:spPr>
          <a:xfrm>
            <a:off x="1158240" y="2567788"/>
            <a:ext cx="545592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Global Mac shipments (millions of units)</a:t>
            </a:r>
            <a:endParaRPr sz="1020"/>
          </a:p>
        </p:txBody>
      </p:sp>
      <p:sp>
        <p:nvSpPr>
          <p:cNvPr id="9" name="chart source"/>
          <p:cNvSpPr txBox="1"/>
          <p:nvPr/>
        </p:nvSpPr>
        <p:spPr>
          <a:xfrm>
            <a:off x="1158240" y="5796839"/>
            <a:ext cx="5455920" cy="238201"/>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IDC preliminary, Jan 2026 (9to5Mac, MacTech). 2024 bar derived: 25.6 / 1.111 (IDC growth rate). Omdia estimate for 2025: 27.7M (+16.4%). Total PC market 2025: 284.7M (+8.1%).</a:t>
            </a:r>
            <a:endParaRPr sz="780"/>
          </a:p>
        </p:txBody>
      </p:sp>
      <p:graphicFrame>
        <p:nvGraphicFramePr>
          <p:cNvPr id="10" name="chart"/>
          <p:cNvGraphicFramePr>
            <a:graphicFrameLocks noGrp="1"/>
          </p:cNvGraphicFramePr>
          <p:nvPr/>
        </p:nvGraphicFramePr>
        <p:xfrm>
          <a:off x="1158240" y="2865806"/>
          <a:ext cx="5455920" cy="2840050"/>
        </p:xfrm>
        <a:graphic>
          <a:graphicData uri="http://schemas.openxmlformats.org/drawingml/2006/chart">
            <c:chart xmlns:c="http://schemas.openxmlformats.org/drawingml/2006/chart" r:id="rId3"/>
          </a:graphicData>
        </a:graphic>
      </p:graphicFrame>
      <p:sp>
        <p:nvSpPr>
          <p:cNvPr id="11" name="metric card"/>
          <p:cNvSpPr/>
          <p:nvPr/>
        </p:nvSpPr>
        <p:spPr>
          <a:xfrm>
            <a:off x="7101840" y="2354428"/>
            <a:ext cx="1996440" cy="1855546"/>
          </a:xfrm>
          <a:prstGeom prst="roundRect">
            <a:avLst>
              <a:gd name="adj" fmla="val 9034"/>
            </a:avLst>
          </a:prstGeom>
          <a:solidFill>
            <a:srgbClr val="F5F5F7"/>
          </a:solidFill>
          <a:ln>
            <a:noFill/>
          </a:ln>
        </p:spPr>
        <p:txBody>
          <a:bodyPr rtlCol="0" anchor="ctr"/>
          <a:lstStyle/>
          <a:p>
            <a:pPr algn="ctr"/>
          </a:p>
        </p:txBody>
      </p:sp>
      <p:sp>
        <p:nvSpPr>
          <p:cNvPr id="12" name="metric value"/>
          <p:cNvSpPr txBox="1"/>
          <p:nvPr/>
        </p:nvSpPr>
        <p:spPr>
          <a:xfrm>
            <a:off x="7315200" y="2537308"/>
            <a:ext cx="1569720" cy="603961"/>
          </a:xfrm>
          <a:prstGeom prst="rect">
            <a:avLst/>
          </a:prstGeom>
          <a:noFill/>
        </p:spPr>
        <p:txBody>
          <a:bodyPr wrap="square" lIns="0" tIns="0" rIns="0" bIns="0" anchor="t">
            <a:noAutofit/>
          </a:bodyPr>
          <a:lstStyle/>
          <a:p>
            <a:pPr algn="l">
              <a:lnSpc>
                <a:spcPts val="4752"/>
              </a:lnSpc>
              <a:spcBef>
                <a:spcPts val="0"/>
              </a:spcBef>
              <a:spcAft>
                <a:spcPts val="0"/>
              </a:spcAft>
            </a:pPr>
            <a:r>
              <a:rPr sz="4320" b="0" i="0" spc="-86">
                <a:solidFill>
                  <a:srgbClr val="1D1D1F"/>
                </a:solidFill>
                <a:latin typeface="Helvetica Neue Light"/>
              </a:rPr>
              <a:t>25.6M</a:t>
            </a:r>
            <a:endParaRPr sz="4320"/>
          </a:p>
        </p:txBody>
      </p:sp>
      <p:sp>
        <p:nvSpPr>
          <p:cNvPr id="13" name="metric label"/>
          <p:cNvSpPr txBox="1"/>
          <p:nvPr/>
        </p:nvSpPr>
        <p:spPr>
          <a:xfrm>
            <a:off x="7315200" y="3232709"/>
            <a:ext cx="156972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Macs shipped worldwide in 2025 (+11.1%)</a:t>
            </a:r>
            <a:endParaRPr sz="1020"/>
          </a:p>
        </p:txBody>
      </p:sp>
      <p:sp>
        <p:nvSpPr>
          <p:cNvPr id="14" name="metric source"/>
          <p:cNvSpPr txBox="1"/>
          <p:nvPr/>
        </p:nvSpPr>
        <p:spPr>
          <a:xfrm>
            <a:off x="7315200" y="3866617"/>
            <a:ext cx="156972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IDC preliminary, Jan 2026</a:t>
            </a:r>
            <a:endParaRPr sz="900"/>
          </a:p>
        </p:txBody>
      </p:sp>
      <p:sp>
        <p:nvSpPr>
          <p:cNvPr id="15" name="metric card"/>
          <p:cNvSpPr/>
          <p:nvPr/>
        </p:nvSpPr>
        <p:spPr>
          <a:xfrm>
            <a:off x="9281160" y="2354428"/>
            <a:ext cx="1996440" cy="1855546"/>
          </a:xfrm>
          <a:prstGeom prst="roundRect">
            <a:avLst>
              <a:gd name="adj" fmla="val 9034"/>
            </a:avLst>
          </a:prstGeom>
          <a:solidFill>
            <a:srgbClr val="F5F5F7"/>
          </a:solidFill>
          <a:ln>
            <a:noFill/>
          </a:ln>
        </p:spPr>
        <p:txBody>
          <a:bodyPr rtlCol="0" anchor="ctr"/>
          <a:lstStyle/>
          <a:p>
            <a:pPr algn="ctr"/>
          </a:p>
        </p:txBody>
      </p:sp>
      <p:sp>
        <p:nvSpPr>
          <p:cNvPr id="16" name="metric value"/>
          <p:cNvSpPr txBox="1"/>
          <p:nvPr/>
        </p:nvSpPr>
        <p:spPr>
          <a:xfrm>
            <a:off x="9494520" y="2537308"/>
            <a:ext cx="1569720" cy="603961"/>
          </a:xfrm>
          <a:prstGeom prst="rect">
            <a:avLst/>
          </a:prstGeom>
          <a:noFill/>
        </p:spPr>
        <p:txBody>
          <a:bodyPr wrap="square" lIns="0" tIns="0" rIns="0" bIns="0" anchor="t">
            <a:noAutofit/>
          </a:bodyPr>
          <a:lstStyle/>
          <a:p>
            <a:pPr algn="l">
              <a:lnSpc>
                <a:spcPts val="4752"/>
              </a:lnSpc>
              <a:spcBef>
                <a:spcPts val="0"/>
              </a:spcBef>
              <a:spcAft>
                <a:spcPts val="0"/>
              </a:spcAft>
            </a:pPr>
            <a:r>
              <a:rPr sz="4320" b="0" i="0" spc="-86">
                <a:solidFill>
                  <a:srgbClr val="1D1D1F"/>
                </a:solidFill>
                <a:latin typeface="Helvetica Neue Light"/>
              </a:rPr>
              <a:t>9.0%</a:t>
            </a:r>
            <a:endParaRPr sz="4320"/>
          </a:p>
        </p:txBody>
      </p:sp>
      <p:sp>
        <p:nvSpPr>
          <p:cNvPr id="17" name="metric label"/>
          <p:cNvSpPr txBox="1"/>
          <p:nvPr/>
        </p:nvSpPr>
        <p:spPr>
          <a:xfrm>
            <a:off x="9494520" y="3232709"/>
            <a:ext cx="156972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of global PC shipments, up from 8.7%</a:t>
            </a:r>
            <a:endParaRPr sz="1020"/>
          </a:p>
        </p:txBody>
      </p:sp>
      <p:sp>
        <p:nvSpPr>
          <p:cNvPr id="18" name="metric source"/>
          <p:cNvSpPr txBox="1"/>
          <p:nvPr/>
        </p:nvSpPr>
        <p:spPr>
          <a:xfrm>
            <a:off x="9494520" y="3866617"/>
            <a:ext cx="156972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IDC preliminary, Jan 2026</a:t>
            </a:r>
            <a:endParaRPr sz="900"/>
          </a:p>
        </p:txBody>
      </p:sp>
      <p:sp>
        <p:nvSpPr>
          <p:cNvPr id="19" name="metric card"/>
          <p:cNvSpPr/>
          <p:nvPr/>
        </p:nvSpPr>
        <p:spPr>
          <a:xfrm>
            <a:off x="7101840" y="4392854"/>
            <a:ext cx="1996440" cy="1855546"/>
          </a:xfrm>
          <a:prstGeom prst="roundRect">
            <a:avLst>
              <a:gd name="adj" fmla="val 9034"/>
            </a:avLst>
          </a:prstGeom>
          <a:solidFill>
            <a:srgbClr val="F5F5F7"/>
          </a:solidFill>
          <a:ln>
            <a:noFill/>
          </a:ln>
        </p:spPr>
        <p:txBody>
          <a:bodyPr rtlCol="0" anchor="ctr"/>
          <a:lstStyle/>
          <a:p>
            <a:pPr algn="ctr"/>
          </a:p>
        </p:txBody>
      </p:sp>
      <p:sp>
        <p:nvSpPr>
          <p:cNvPr id="20" name="metric value"/>
          <p:cNvSpPr txBox="1"/>
          <p:nvPr/>
        </p:nvSpPr>
        <p:spPr>
          <a:xfrm>
            <a:off x="7315200" y="4575734"/>
            <a:ext cx="1569720" cy="603961"/>
          </a:xfrm>
          <a:prstGeom prst="rect">
            <a:avLst/>
          </a:prstGeom>
          <a:noFill/>
        </p:spPr>
        <p:txBody>
          <a:bodyPr wrap="square" lIns="0" tIns="0" rIns="0" bIns="0" anchor="t">
            <a:noAutofit/>
          </a:bodyPr>
          <a:lstStyle/>
          <a:p>
            <a:pPr algn="l">
              <a:lnSpc>
                <a:spcPts val="4752"/>
              </a:lnSpc>
              <a:spcBef>
                <a:spcPts val="0"/>
              </a:spcBef>
              <a:spcAft>
                <a:spcPts val="0"/>
              </a:spcAft>
            </a:pPr>
            <a:r>
              <a:rPr sz="4320" b="0" i="1" spc="-86">
                <a:solidFill>
                  <a:srgbClr val="86868B"/>
                </a:solidFill>
                <a:latin typeface="Helvetica Neue Light"/>
              </a:rPr>
              <a:t>[TBD]</a:t>
            </a:r>
            <a:endParaRPr sz="4320"/>
          </a:p>
        </p:txBody>
      </p:sp>
      <p:sp>
        <p:nvSpPr>
          <p:cNvPr id="21" name="metric label"/>
          <p:cNvSpPr txBox="1"/>
          <p:nvPr/>
        </p:nvSpPr>
        <p:spPr>
          <a:xfrm>
            <a:off x="7315200" y="5271135"/>
            <a:ext cx="156972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1">
                <a:solidFill>
                  <a:srgbClr val="86868B"/>
                </a:solidFill>
                <a:latin typeface="Helvetica Neue"/>
              </a:rPr>
              <a:t>[TBD: Macs in your organization]</a:t>
            </a:r>
            <a:endParaRPr sz="1020"/>
          </a:p>
        </p:txBody>
      </p:sp>
      <p:sp>
        <p:nvSpPr>
          <p:cNvPr id="22" name="metric card"/>
          <p:cNvSpPr/>
          <p:nvPr/>
        </p:nvSpPr>
        <p:spPr>
          <a:xfrm>
            <a:off x="9281160" y="4392854"/>
            <a:ext cx="1996440" cy="1855546"/>
          </a:xfrm>
          <a:prstGeom prst="roundRect">
            <a:avLst>
              <a:gd name="adj" fmla="val 9034"/>
            </a:avLst>
          </a:prstGeom>
          <a:solidFill>
            <a:srgbClr val="F5F5F7"/>
          </a:solidFill>
          <a:ln>
            <a:noFill/>
          </a:ln>
        </p:spPr>
        <p:txBody>
          <a:bodyPr rtlCol="0" anchor="ctr"/>
          <a:lstStyle/>
          <a:p>
            <a:pPr algn="ctr"/>
          </a:p>
        </p:txBody>
      </p:sp>
      <p:sp>
        <p:nvSpPr>
          <p:cNvPr id="23" name="metric value"/>
          <p:cNvSpPr txBox="1"/>
          <p:nvPr/>
        </p:nvSpPr>
        <p:spPr>
          <a:xfrm>
            <a:off x="9494520" y="4575734"/>
            <a:ext cx="1569720" cy="603961"/>
          </a:xfrm>
          <a:prstGeom prst="rect">
            <a:avLst/>
          </a:prstGeom>
          <a:noFill/>
        </p:spPr>
        <p:txBody>
          <a:bodyPr wrap="square" lIns="0" tIns="0" rIns="0" bIns="0" anchor="t">
            <a:noAutofit/>
          </a:bodyPr>
          <a:lstStyle/>
          <a:p>
            <a:pPr algn="l">
              <a:lnSpc>
                <a:spcPts val="4752"/>
              </a:lnSpc>
              <a:spcBef>
                <a:spcPts val="0"/>
              </a:spcBef>
              <a:spcAft>
                <a:spcPts val="0"/>
              </a:spcAft>
            </a:pPr>
            <a:r>
              <a:rPr sz="4320" b="0" i="1" spc="-86">
                <a:solidFill>
                  <a:srgbClr val="86868B"/>
                </a:solidFill>
                <a:latin typeface="Helvetica Neue Light"/>
              </a:rPr>
              <a:t>[TBD]</a:t>
            </a:r>
            <a:endParaRPr sz="4320"/>
          </a:p>
        </p:txBody>
      </p:sp>
      <p:sp>
        <p:nvSpPr>
          <p:cNvPr id="24" name="metric label"/>
          <p:cNvSpPr txBox="1"/>
          <p:nvPr/>
        </p:nvSpPr>
        <p:spPr>
          <a:xfrm>
            <a:off x="9494520" y="5271135"/>
            <a:ext cx="1569720" cy="563956"/>
          </a:xfrm>
          <a:prstGeom prst="rect">
            <a:avLst/>
          </a:prstGeom>
          <a:noFill/>
        </p:spPr>
        <p:txBody>
          <a:bodyPr wrap="square" lIns="0" tIns="0" rIns="0" bIns="0" anchor="t">
            <a:noAutofit/>
          </a:bodyPr>
          <a:lstStyle/>
          <a:p>
            <a:pPr algn="l">
              <a:lnSpc>
                <a:spcPts val="1479"/>
              </a:lnSpc>
              <a:spcBef>
                <a:spcPts val="0"/>
              </a:spcBef>
              <a:spcAft>
                <a:spcPts val="0"/>
              </a:spcAft>
            </a:pPr>
            <a:r>
              <a:rPr sz="1019" b="0" i="1">
                <a:solidFill>
                  <a:srgbClr val="86868B"/>
                </a:solidFill>
                <a:latin typeface="Helvetica Neue"/>
              </a:rPr>
              <a:t>[TBD: of those, MacBooks with a notch on macOS 15+]</a:t>
            </a:r>
            <a:endParaRPr sz="102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04</a:t>
            </a:r>
            <a:endParaRPr sz="840"/>
          </a:p>
        </p:txBody>
      </p:sp>
      <p:sp>
        <p:nvSpPr>
          <p:cNvPr id="4" name="eyebrow"/>
          <p:cNvSpPr txBox="1"/>
          <p:nvPr/>
        </p:nvSpPr>
        <p:spPr>
          <a:xfrm>
            <a:off x="914400" y="1288923"/>
            <a:ext cx="41757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Agents hub</a:t>
            </a:r>
            <a:endParaRPr sz="1320"/>
          </a:p>
        </p:txBody>
      </p:sp>
      <p:sp>
        <p:nvSpPr>
          <p:cNvPr id="5" name="h1_side"/>
          <p:cNvSpPr txBox="1"/>
          <p:nvPr/>
        </p:nvSpPr>
        <p:spPr>
          <a:xfrm>
            <a:off x="914400" y="1655140"/>
            <a:ext cx="417576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One notch. 20+ agents.</a:t>
            </a:r>
            <a:endParaRPr sz="3600"/>
          </a:p>
        </p:txBody>
      </p:sp>
      <p:sp>
        <p:nvSpPr>
          <p:cNvPr id="6" name="body"/>
          <p:cNvSpPr txBox="1"/>
          <p:nvPr/>
        </p:nvSpPr>
        <p:spPr>
          <a:xfrm>
            <a:off x="914400" y="2847365"/>
            <a:ext cx="417576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Hover the notch and the drawer opens. Move away and it closes.</a:t>
            </a:r>
            <a:endParaRPr sz="1320"/>
          </a:p>
        </p:txBody>
      </p:sp>
      <p:cxnSp>
        <p:nvCxnSpPr>
          <p:cNvPr id="7" name="list rule"/>
          <p:cNvCxnSpPr/>
          <p:nvPr/>
        </p:nvCxnSpPr>
        <p:spPr>
          <a:xfrm>
            <a:off x="914400" y="3562579"/>
            <a:ext cx="4175760" cy="0"/>
          </a:xfrm>
          <a:prstGeom prst="line">
            <a:avLst/>
          </a:prstGeom>
          <a:ln w="9525">
            <a:solidFill>
              <a:srgbClr val="D2D2D7"/>
            </a:solidFill>
          </a:ln>
        </p:spPr>
      </p:cxnSp>
      <p:sp>
        <p:nvSpPr>
          <p:cNvPr id="8" name="bullet"/>
          <p:cNvSpPr txBox="1"/>
          <p:nvPr/>
        </p:nvSpPr>
        <p:spPr>
          <a:xfrm>
            <a:off x="914400" y="3654019"/>
            <a:ext cx="4175760" cy="243078"/>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Medium"/>
              </a:rPr>
              <a:t>Write:</a:t>
            </a:r>
            <a:r>
              <a:rPr sz="1320" b="0" i="0">
                <a:solidFill>
                  <a:srgbClr val="6E6E73"/>
                </a:solidFill>
                <a:latin typeface="Helvetica Neue"/>
              </a:rPr>
              <a:t> dictation, reply drafts, prompt refiner</a:t>
            </a:r>
            <a:endParaRPr sz="1320"/>
          </a:p>
        </p:txBody>
      </p:sp>
      <p:cxnSp>
        <p:nvCxnSpPr>
          <p:cNvPr id="9" name="list rule"/>
          <p:cNvCxnSpPr/>
          <p:nvPr/>
        </p:nvCxnSpPr>
        <p:spPr>
          <a:xfrm>
            <a:off x="914400" y="3988537"/>
            <a:ext cx="4175760" cy="0"/>
          </a:xfrm>
          <a:prstGeom prst="line">
            <a:avLst/>
          </a:prstGeom>
          <a:ln w="9525">
            <a:solidFill>
              <a:srgbClr val="D2D2D7"/>
            </a:solidFill>
          </a:ln>
        </p:spPr>
      </p:cxnSp>
      <p:sp>
        <p:nvSpPr>
          <p:cNvPr id="10" name="bullet"/>
          <p:cNvSpPr txBox="1"/>
          <p:nvPr/>
        </p:nvSpPr>
        <p:spPr>
          <a:xfrm>
            <a:off x="914400" y="4079977"/>
            <a:ext cx="4175760" cy="243078"/>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Medium"/>
              </a:rPr>
              <a:t>Meet:</a:t>
            </a:r>
            <a:r>
              <a:rPr sz="1320" b="0" i="0">
                <a:solidFill>
                  <a:srgbClr val="6E6E73"/>
                </a:solidFill>
                <a:latin typeface="Helvetica Neue"/>
              </a:rPr>
              <a:t> recording, notes, live answers, translation</a:t>
            </a:r>
            <a:endParaRPr sz="1320"/>
          </a:p>
        </p:txBody>
      </p:sp>
      <p:cxnSp>
        <p:nvCxnSpPr>
          <p:cNvPr id="11" name="list rule"/>
          <p:cNvCxnSpPr/>
          <p:nvPr/>
        </p:nvCxnSpPr>
        <p:spPr>
          <a:xfrm>
            <a:off x="914400" y="4414495"/>
            <a:ext cx="4175760" cy="0"/>
          </a:xfrm>
          <a:prstGeom prst="line">
            <a:avLst/>
          </a:prstGeom>
          <a:ln w="9525">
            <a:solidFill>
              <a:srgbClr val="D2D2D7"/>
            </a:solidFill>
          </a:ln>
        </p:spPr>
      </p:cxnSp>
      <p:sp>
        <p:nvSpPr>
          <p:cNvPr id="12" name="bullet"/>
          <p:cNvSpPr txBox="1"/>
          <p:nvPr/>
        </p:nvSpPr>
        <p:spPr>
          <a:xfrm>
            <a:off x="914400" y="4505935"/>
            <a:ext cx="4175760" cy="243078"/>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Medium"/>
              </a:rPr>
              <a:t>Find:</a:t>
            </a:r>
            <a:r>
              <a:rPr sz="1320" b="0" i="0">
                <a:solidFill>
                  <a:srgbClr val="6E6E73"/>
                </a:solidFill>
                <a:latin typeface="Helvetica Neue"/>
              </a:rPr>
              <a:t> Spaces and Universal Search (⌥Space)</a:t>
            </a:r>
            <a:endParaRPr sz="1320"/>
          </a:p>
        </p:txBody>
      </p:sp>
      <p:cxnSp>
        <p:nvCxnSpPr>
          <p:cNvPr id="13" name="list rule"/>
          <p:cNvCxnSpPr/>
          <p:nvPr/>
        </p:nvCxnSpPr>
        <p:spPr>
          <a:xfrm>
            <a:off x="914400" y="4840453"/>
            <a:ext cx="4175760" cy="0"/>
          </a:xfrm>
          <a:prstGeom prst="line">
            <a:avLst/>
          </a:prstGeom>
          <a:ln w="9525">
            <a:solidFill>
              <a:srgbClr val="D2D2D7"/>
            </a:solidFill>
          </a:ln>
        </p:spPr>
      </p:cxnSp>
      <p:sp>
        <p:nvSpPr>
          <p:cNvPr id="14" name="bullet"/>
          <p:cNvSpPr txBox="1"/>
          <p:nvPr/>
        </p:nvSpPr>
        <p:spPr>
          <a:xfrm>
            <a:off x="914400" y="4931893"/>
            <a:ext cx="4175760" cy="243078"/>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Medium"/>
              </a:rPr>
              <a:t>See:</a:t>
            </a:r>
            <a:r>
              <a:rPr sz="1320" b="0" i="0">
                <a:solidFill>
                  <a:srgbClr val="6E6E73"/>
                </a:solidFill>
                <a:latin typeface="Helvetica Neue"/>
              </a:rPr>
              <a:t> ask about any screen, copy text from any pixel</a:t>
            </a:r>
            <a:endParaRPr sz="1320"/>
          </a:p>
        </p:txBody>
      </p:sp>
      <p:cxnSp>
        <p:nvCxnSpPr>
          <p:cNvPr id="15" name="list rule"/>
          <p:cNvCxnSpPr/>
          <p:nvPr/>
        </p:nvCxnSpPr>
        <p:spPr>
          <a:xfrm>
            <a:off x="914400" y="5266411"/>
            <a:ext cx="4175760" cy="0"/>
          </a:xfrm>
          <a:prstGeom prst="line">
            <a:avLst/>
          </a:prstGeom>
          <a:ln w="9525">
            <a:solidFill>
              <a:srgbClr val="D2D2D7"/>
            </a:solidFill>
          </a:ln>
        </p:spPr>
      </p:cxnSp>
      <p:sp>
        <p:nvSpPr>
          <p:cNvPr id="16" name="bullet"/>
          <p:cNvSpPr txBox="1"/>
          <p:nvPr/>
        </p:nvSpPr>
        <p:spPr>
          <a:xfrm>
            <a:off x="914400" y="5357851"/>
            <a:ext cx="4175760" cy="243078"/>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Medium"/>
              </a:rPr>
              <a:t>Ship:</a:t>
            </a:r>
            <a:r>
              <a:rPr sz="1320" b="0" i="0">
                <a:solidFill>
                  <a:srgbClr val="6E6E73"/>
                </a:solidFill>
                <a:latin typeface="Helvetica Neue"/>
              </a:rPr>
              <a:t> UI Audit, Browser Flows, Flow Canvas</a:t>
            </a:r>
            <a:endParaRPr sz="1320"/>
          </a:p>
        </p:txBody>
      </p:sp>
      <p:cxnSp>
        <p:nvCxnSpPr>
          <p:cNvPr id="17" name="list rule"/>
          <p:cNvCxnSpPr/>
          <p:nvPr/>
        </p:nvCxnSpPr>
        <p:spPr>
          <a:xfrm>
            <a:off x="914400" y="5692369"/>
            <a:ext cx="4175760" cy="0"/>
          </a:xfrm>
          <a:prstGeom prst="line">
            <a:avLst/>
          </a:prstGeom>
          <a:ln w="9525">
            <a:solidFill>
              <a:srgbClr val="D2D2D7"/>
            </a:solidFill>
          </a:ln>
        </p:spPr>
      </p:cxnSp>
      <p:sp>
        <p:nvSpPr>
          <p:cNvPr id="18" name="device lid"/>
          <p:cNvSpPr/>
          <p:nvPr/>
        </p:nvSpPr>
        <p:spPr>
          <a:xfrm>
            <a:off x="5586326" y="1587601"/>
            <a:ext cx="5438947" cy="3637078"/>
          </a:xfrm>
          <a:prstGeom prst="round2SameRect">
            <a:avLst>
              <a:gd name="adj1" fmla="val 5447"/>
              <a:gd name="adj2" fmla="val 1257"/>
            </a:avLst>
          </a:prstGeom>
          <a:solidFill>
            <a:srgbClr val="0A0A0B"/>
          </a:solidFill>
          <a:ln w="15240">
            <a:solidFill>
              <a:srgbClr val="BDBDC2"/>
            </a:solidFill>
          </a:ln>
        </p:spPr>
        <p:txBody>
          <a:bodyPr rtlCol="0" anchor="ctr"/>
          <a:lstStyle/>
          <a:p>
            <a:pPr algn="ctr"/>
          </a:p>
        </p:txBody>
      </p:sp>
      <p:sp>
        <p:nvSpPr>
          <p:cNvPr id="19" name="device screen"/>
          <p:cNvSpPr/>
          <p:nvPr/>
        </p:nvSpPr>
        <p:spPr>
          <a:xfrm>
            <a:off x="5693006" y="1694281"/>
            <a:ext cx="5225587" cy="3393238"/>
          </a:xfrm>
          <a:prstGeom prst="round2SameRect">
            <a:avLst>
              <a:gd name="adj1" fmla="val 2245"/>
              <a:gd name="adj2" fmla="val 449"/>
            </a:avLst>
          </a:prstGeom>
          <a:gradFill rotWithShape="1">
            <a:gsLst>
              <a:gs pos="0">
                <a:srgbClr val="040403"/>
              </a:gs>
              <a:gs pos="58379">
                <a:srgbClr val="1A1616"/>
              </a:gs>
              <a:gs pos="100000">
                <a:srgbClr val="0F1119"/>
              </a:gs>
            </a:gsLst>
            <a:lin ang="5400000" scaled="0"/>
          </a:gradFill>
          <a:ln>
            <a:noFill/>
          </a:ln>
        </p:spPr>
        <p:txBody>
          <a:bodyPr rtlCol="0" anchor="ctr"/>
          <a:lstStyle/>
          <a:p>
            <a:pPr algn="ctr"/>
          </a:p>
        </p:txBody>
      </p:sp>
      <p:pic>
        <p:nvPicPr>
          <p:cNvPr id="20" name="device screenshot 10-agents-hub.png" descr="10-agents-hub.png"/>
          <p:cNvPicPr>
            <a:picLocks noChangeAspect="1"/>
          </p:cNvPicPr>
          <p:nvPr/>
        </p:nvPicPr>
        <p:blipFill>
          <a:blip r:embed="rId3"/>
          <a:stretch>
            <a:fillRect/>
          </a:stretch>
        </p:blipFill>
        <p:spPr>
          <a:xfrm>
            <a:off x="5693006" y="1694281"/>
            <a:ext cx="5225587" cy="1980942"/>
          </a:xfrm>
          <a:prstGeom prst="rect">
            <a:avLst/>
          </a:prstGeom>
        </p:spPr>
      </p:pic>
      <p:sp>
        <p:nvSpPr>
          <p:cNvPr id="21" name="device notch"/>
          <p:cNvSpPr/>
          <p:nvPr/>
        </p:nvSpPr>
        <p:spPr>
          <a:xfrm>
            <a:off x="7521962" y="1694281"/>
            <a:ext cx="1567676" cy="232016"/>
          </a:xfrm>
          <a:prstGeom prst="round2SameRect">
            <a:avLst>
              <a:gd name="adj1" fmla="val 0"/>
              <a:gd name="adj2" fmla="val 37843"/>
            </a:avLst>
          </a:prstGeom>
          <a:solidFill>
            <a:srgbClr val="000000"/>
          </a:solidFill>
          <a:ln>
            <a:noFill/>
          </a:ln>
        </p:spPr>
        <p:txBody>
          <a:bodyPr rtlCol="0" anchor="ctr"/>
          <a:lstStyle/>
          <a:p>
            <a:pPr algn="ctr"/>
          </a:p>
        </p:txBody>
      </p:sp>
      <p:sp>
        <p:nvSpPr>
          <p:cNvPr id="22" name="device camera"/>
          <p:cNvSpPr/>
          <p:nvPr/>
        </p:nvSpPr>
        <p:spPr>
          <a:xfrm>
            <a:off x="8267700" y="1772189"/>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
        <p:nvSpPr>
          <p:cNvPr id="23" name="device base"/>
          <p:cNvSpPr/>
          <p:nvPr/>
        </p:nvSpPr>
        <p:spPr>
          <a:xfrm>
            <a:off x="5334000" y="5224679"/>
            <a:ext cx="5943600" cy="167640"/>
          </a:xfrm>
          <a:prstGeom prst="round2SameRect">
            <a:avLst>
              <a:gd name="adj1" fmla="val 13636"/>
              <a:gd name="adj2" fmla="val 50000"/>
            </a:avLst>
          </a:prstGeom>
          <a:gradFill rotWithShape="1">
            <a:gsLst>
              <a:gs pos="0">
                <a:srgbClr val="E3E3E7"/>
              </a:gs>
              <a:gs pos="45000">
                <a:srgbClr val="CFCFD4"/>
              </a:gs>
              <a:gs pos="100000">
                <a:srgbClr val="A8A8AD"/>
              </a:gs>
            </a:gsLst>
            <a:lin ang="5400000" scaled="0"/>
          </a:gradFill>
          <a:ln>
            <a:noFill/>
          </a:ln>
        </p:spPr>
        <p:txBody>
          <a:bodyPr rtlCol="0" anchor="ctr"/>
          <a:lstStyle/>
          <a:p>
            <a:pPr algn="ctr"/>
          </a:p>
        </p:txBody>
      </p:sp>
      <p:sp>
        <p:nvSpPr>
          <p:cNvPr id="24" name="device thumb cut"/>
          <p:cNvSpPr/>
          <p:nvPr/>
        </p:nvSpPr>
        <p:spPr>
          <a:xfrm>
            <a:off x="7830312" y="5224679"/>
            <a:ext cx="950976" cy="68580"/>
          </a:xfrm>
          <a:prstGeom prst="round2SameRect">
            <a:avLst>
              <a:gd name="adj1" fmla="val 0"/>
              <a:gd name="adj2" fmla="val 50000"/>
            </a:avLst>
          </a:prstGeom>
          <a:gradFill rotWithShape="1">
            <a:gsLst>
              <a:gs pos="0">
                <a:srgbClr val="B4B4B9"/>
              </a:gs>
              <a:gs pos="100000">
                <a:srgbClr val="CDCDD2"/>
              </a:gs>
            </a:gsLst>
            <a:lin ang="5400000" scaled="0"/>
          </a:gradFill>
          <a:ln>
            <a:noFill/>
          </a:ln>
        </p:spPr>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Dictation and Reply Drafter need a live check.</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05</a:t>
            </a:r>
            <a:endParaRPr sz="840"/>
          </a:p>
        </p:txBody>
      </p:sp>
      <p:sp>
        <p:nvSpPr>
          <p:cNvPr id="4" name="eyebrow"/>
          <p:cNvSpPr txBox="1"/>
          <p:nvPr/>
        </p:nvSpPr>
        <p:spPr>
          <a:xfrm>
            <a:off x="914400" y="1258824"/>
            <a:ext cx="41757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Write</a:t>
            </a:r>
            <a:endParaRPr sz="1320"/>
          </a:p>
        </p:txBody>
      </p:sp>
      <p:sp>
        <p:nvSpPr>
          <p:cNvPr id="5" name="h1_side"/>
          <p:cNvSpPr txBox="1"/>
          <p:nvPr/>
        </p:nvSpPr>
        <p:spPr>
          <a:xfrm>
            <a:off x="914400" y="1625041"/>
            <a:ext cx="417576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Write at the speed of speech</a:t>
            </a:r>
            <a:endParaRPr sz="3600"/>
          </a:p>
        </p:txBody>
      </p:sp>
      <p:sp>
        <p:nvSpPr>
          <p:cNvPr id="6" name="body"/>
          <p:cNvSpPr txBox="1"/>
          <p:nvPr/>
        </p:nvSpPr>
        <p:spPr>
          <a:xfrm>
            <a:off x="914400" y="2817266"/>
            <a:ext cx="417576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Hold fn, talk, release. Clean text lands where the cursor is.</a:t>
            </a:r>
            <a:endParaRPr sz="1320"/>
          </a:p>
        </p:txBody>
      </p:sp>
      <p:cxnSp>
        <p:nvCxnSpPr>
          <p:cNvPr id="7" name="list rule"/>
          <p:cNvCxnSpPr/>
          <p:nvPr/>
        </p:nvCxnSpPr>
        <p:spPr>
          <a:xfrm>
            <a:off x="914400" y="3532480"/>
            <a:ext cx="4175760" cy="0"/>
          </a:xfrm>
          <a:prstGeom prst="line">
            <a:avLst/>
          </a:prstGeom>
          <a:ln w="9525">
            <a:solidFill>
              <a:srgbClr val="D2D2D7"/>
            </a:solidFill>
          </a:ln>
        </p:spPr>
      </p:cxnSp>
      <p:sp>
        <p:nvSpPr>
          <p:cNvPr id="8" name="bullet"/>
          <p:cNvSpPr txBox="1"/>
          <p:nvPr/>
        </p:nvSpPr>
        <p:spPr>
          <a:xfrm>
            <a:off x="914400" y="3623920"/>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Dictate into any text field: filler words removed, lists formatted</a:t>
            </a:r>
            <a:endParaRPr sz="1320"/>
          </a:p>
        </p:txBody>
      </p:sp>
      <p:cxnSp>
        <p:nvCxnSpPr>
          <p:cNvPr id="9" name="list rule"/>
          <p:cNvCxnSpPr/>
          <p:nvPr/>
        </p:nvCxnSpPr>
        <p:spPr>
          <a:xfrm>
            <a:off x="914400" y="4201516"/>
            <a:ext cx="4175760" cy="0"/>
          </a:xfrm>
          <a:prstGeom prst="line">
            <a:avLst/>
          </a:prstGeom>
          <a:ln w="9525">
            <a:solidFill>
              <a:srgbClr val="D2D2D7"/>
            </a:solidFill>
          </a:ln>
        </p:spPr>
      </p:cxnSp>
      <p:sp>
        <p:nvSpPr>
          <p:cNvPr id="10" name="bullet"/>
          <p:cNvSpPr txBox="1"/>
          <p:nvPr/>
        </p:nvSpPr>
        <p:spPr>
          <a:xfrm>
            <a:off x="914400" y="4292956"/>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⌃⌥R drafts a reply in your tone; you review and press Send</a:t>
            </a:r>
            <a:endParaRPr sz="1320"/>
          </a:p>
        </p:txBody>
      </p:sp>
      <p:cxnSp>
        <p:nvCxnSpPr>
          <p:cNvPr id="11" name="list rule"/>
          <p:cNvCxnSpPr/>
          <p:nvPr/>
        </p:nvCxnSpPr>
        <p:spPr>
          <a:xfrm>
            <a:off x="914400" y="4870552"/>
            <a:ext cx="4175760" cy="0"/>
          </a:xfrm>
          <a:prstGeom prst="line">
            <a:avLst/>
          </a:prstGeom>
          <a:ln w="9525">
            <a:solidFill>
              <a:srgbClr val="D2D2D7"/>
            </a:solidFill>
          </a:ln>
        </p:spPr>
      </p:cxnSp>
      <p:sp>
        <p:nvSpPr>
          <p:cNvPr id="12" name="bullet"/>
          <p:cNvSpPr txBox="1"/>
          <p:nvPr/>
        </p:nvSpPr>
        <p:spPr>
          <a:xfrm>
            <a:off x="914400" y="4961992"/>
            <a:ext cx="4175760" cy="243078"/>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⌘⇧V opens the clipboard stack at the cursor</a:t>
            </a:r>
            <a:endParaRPr sz="1320"/>
          </a:p>
        </p:txBody>
      </p:sp>
      <p:cxnSp>
        <p:nvCxnSpPr>
          <p:cNvPr id="13" name="list rule"/>
          <p:cNvCxnSpPr/>
          <p:nvPr/>
        </p:nvCxnSpPr>
        <p:spPr>
          <a:xfrm>
            <a:off x="914400" y="5296510"/>
            <a:ext cx="4175760" cy="0"/>
          </a:xfrm>
          <a:prstGeom prst="line">
            <a:avLst/>
          </a:prstGeom>
          <a:ln w="9525">
            <a:solidFill>
              <a:srgbClr val="D2D2D7"/>
            </a:solidFill>
          </a:ln>
        </p:spPr>
      </p:cxnSp>
      <p:sp>
        <p:nvSpPr>
          <p:cNvPr id="14" name="bullet"/>
          <p:cNvSpPr txBox="1"/>
          <p:nvPr/>
        </p:nvSpPr>
        <p:spPr>
          <a:xfrm>
            <a:off x="914400" y="5387950"/>
            <a:ext cx="4175760" cy="243078"/>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Clipboard history stays off until the user turns it on</a:t>
            </a:r>
            <a:endParaRPr sz="1320"/>
          </a:p>
        </p:txBody>
      </p:sp>
      <p:cxnSp>
        <p:nvCxnSpPr>
          <p:cNvPr id="15" name="list rule"/>
          <p:cNvCxnSpPr/>
          <p:nvPr/>
        </p:nvCxnSpPr>
        <p:spPr>
          <a:xfrm>
            <a:off x="914400" y="5722468"/>
            <a:ext cx="4175760" cy="0"/>
          </a:xfrm>
          <a:prstGeom prst="line">
            <a:avLst/>
          </a:prstGeom>
          <a:ln w="9525">
            <a:solidFill>
              <a:srgbClr val="D2D2D7"/>
            </a:solidFill>
          </a:ln>
        </p:spPr>
      </p:cxnSp>
      <p:sp>
        <p:nvSpPr>
          <p:cNvPr id="16" name="screen card 50-dictation.png"/>
          <p:cNvSpPr/>
          <p:nvPr/>
        </p:nvSpPr>
        <p:spPr>
          <a:xfrm>
            <a:off x="5334000" y="746760"/>
            <a:ext cx="5943600" cy="1061242"/>
          </a:xfrm>
          <a:prstGeom prst="roundRect">
            <a:avLst>
              <a:gd name="adj" fmla="val 12062"/>
            </a:avLst>
          </a:prstGeom>
          <a:gradFill rotWithShape="1">
            <a:gsLst>
              <a:gs pos="0">
                <a:srgbClr val="0E0C0B"/>
              </a:gs>
              <a:gs pos="100000">
                <a:srgbClr val="1C1717"/>
              </a:gs>
            </a:gsLst>
            <a:lin ang="5400000" scaled="0"/>
          </a:gradFill>
          <a:ln>
            <a:noFill/>
          </a:ln>
        </p:spPr>
        <p:txBody>
          <a:bodyPr rtlCol="0" anchor="ctr"/>
          <a:lstStyle/>
          <a:p>
            <a:pPr algn="ctr"/>
          </a:p>
        </p:txBody>
      </p:sp>
      <p:pic>
        <p:nvPicPr>
          <p:cNvPr id="17" name="screen 50-dictation.png" descr="50-dictation.png"/>
          <p:cNvPicPr>
            <a:picLocks noChangeAspect="1"/>
          </p:cNvPicPr>
          <p:nvPr/>
        </p:nvPicPr>
        <p:blipFill>
          <a:blip r:embed="rId3"/>
          <a:stretch>
            <a:fillRect/>
          </a:stretch>
        </p:blipFill>
        <p:spPr>
          <a:xfrm>
            <a:off x="5443728" y="856488"/>
            <a:ext cx="5724144" cy="841786"/>
          </a:xfrm>
          <a:prstGeom prst="roundRect">
            <a:avLst>
              <a:gd name="adj" fmla="val 5431"/>
            </a:avLst>
          </a:prstGeom>
        </p:spPr>
      </p:pic>
      <p:sp>
        <p:nvSpPr>
          <p:cNvPr id="18" name="screen card 17-reply-drafter.png"/>
          <p:cNvSpPr/>
          <p:nvPr/>
        </p:nvSpPr>
        <p:spPr>
          <a:xfrm>
            <a:off x="5334000" y="2118360"/>
            <a:ext cx="5943600" cy="1959147"/>
          </a:xfrm>
          <a:prstGeom prst="roundRect">
            <a:avLst>
              <a:gd name="adj" fmla="val 6534"/>
            </a:avLst>
          </a:prstGeom>
          <a:gradFill rotWithShape="1">
            <a:gsLst>
              <a:gs pos="0">
                <a:srgbClr val="040303"/>
              </a:gs>
              <a:gs pos="100000">
                <a:srgbClr val="1B1716"/>
              </a:gs>
            </a:gsLst>
            <a:lin ang="5400000" scaled="0"/>
          </a:gradFill>
          <a:ln>
            <a:noFill/>
          </a:ln>
        </p:spPr>
        <p:txBody>
          <a:bodyPr rtlCol="0" anchor="ctr"/>
          <a:lstStyle/>
          <a:p>
            <a:pPr algn="ctr"/>
          </a:p>
        </p:txBody>
      </p:sp>
      <p:pic>
        <p:nvPicPr>
          <p:cNvPr id="19" name="screen 17-reply-drafter.png" descr="17-reply-drafter.png"/>
          <p:cNvPicPr>
            <a:picLocks noChangeAspect="1"/>
          </p:cNvPicPr>
          <p:nvPr/>
        </p:nvPicPr>
        <p:blipFill>
          <a:blip r:embed="rId4"/>
          <a:stretch>
            <a:fillRect/>
          </a:stretch>
        </p:blipFill>
        <p:spPr>
          <a:xfrm>
            <a:off x="5443728" y="2228088"/>
            <a:ext cx="5724144" cy="1739691"/>
          </a:xfrm>
          <a:prstGeom prst="roundRect">
            <a:avLst>
              <a:gd name="adj" fmla="val 2628"/>
            </a:avLst>
          </a:prstGeom>
        </p:spPr>
      </p:pic>
      <p:pic>
        <p:nvPicPr>
          <p:cNvPr id="20" name="window 14-clipboard-stack.png" descr="14-clipboard-stack.png"/>
          <p:cNvPicPr>
            <a:picLocks noChangeAspect="1"/>
          </p:cNvPicPr>
          <p:nvPr/>
        </p:nvPicPr>
        <p:blipFill>
          <a:blip r:embed="rId5"/>
          <a:stretch>
            <a:fillRect/>
          </a:stretch>
        </p:blipFill>
        <p:spPr>
          <a:xfrm>
            <a:off x="7219556" y="4450080"/>
            <a:ext cx="2172488" cy="1783080"/>
          </a:xfrm>
          <a:prstGeom prst="roundRect">
            <a:avLst>
              <a:gd name="adj" fmla="val 4102"/>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Audio capture needs a live check.</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06</a:t>
            </a:r>
            <a:endParaRPr sz="840"/>
          </a:p>
        </p:txBody>
      </p:sp>
      <p:sp>
        <p:nvSpPr>
          <p:cNvPr id="4" name="eyebrow"/>
          <p:cNvSpPr txBox="1"/>
          <p:nvPr/>
        </p:nvSpPr>
        <p:spPr>
          <a:xfrm>
            <a:off x="914400" y="1380363"/>
            <a:ext cx="41757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Meetings</a:t>
            </a:r>
            <a:endParaRPr sz="1320"/>
          </a:p>
        </p:txBody>
      </p:sp>
      <p:sp>
        <p:nvSpPr>
          <p:cNvPr id="5" name="h1_side"/>
          <p:cNvSpPr txBox="1"/>
          <p:nvPr/>
        </p:nvSpPr>
        <p:spPr>
          <a:xfrm>
            <a:off x="914400" y="1746580"/>
            <a:ext cx="417576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Meeting notes, no bot in the call</a:t>
            </a:r>
            <a:endParaRPr sz="3600"/>
          </a:p>
        </p:txBody>
      </p:sp>
      <p:sp>
        <p:nvSpPr>
          <p:cNvPr id="6" name="body"/>
          <p:cNvSpPr txBox="1"/>
          <p:nvPr/>
        </p:nvSpPr>
        <p:spPr>
          <a:xfrm>
            <a:off x="914400" y="2938805"/>
            <a:ext cx="417576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One click records the mic and the call audio. Transcription runs on the Mac.</a:t>
            </a:r>
            <a:endParaRPr sz="1320"/>
          </a:p>
        </p:txBody>
      </p:sp>
      <p:cxnSp>
        <p:nvCxnSpPr>
          <p:cNvPr id="7" name="list rule"/>
          <p:cNvCxnSpPr/>
          <p:nvPr/>
        </p:nvCxnSpPr>
        <p:spPr>
          <a:xfrm>
            <a:off x="914400" y="3654019"/>
            <a:ext cx="4175760" cy="0"/>
          </a:xfrm>
          <a:prstGeom prst="line">
            <a:avLst/>
          </a:prstGeom>
          <a:ln w="9525">
            <a:solidFill>
              <a:srgbClr val="D2D2D7"/>
            </a:solidFill>
          </a:ln>
        </p:spPr>
      </p:cxnSp>
      <p:sp>
        <p:nvSpPr>
          <p:cNvPr id="8" name="bullet"/>
          <p:cNvSpPr txBox="1"/>
          <p:nvPr/>
        </p:nvSpPr>
        <p:spPr>
          <a:xfrm>
            <a:off x="914400" y="3745459"/>
            <a:ext cx="4175760" cy="243078"/>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Minutes, decisions and your tasks with due days</a:t>
            </a:r>
            <a:endParaRPr sz="1320"/>
          </a:p>
        </p:txBody>
      </p:sp>
      <p:cxnSp>
        <p:nvCxnSpPr>
          <p:cNvPr id="9" name="list rule"/>
          <p:cNvCxnSpPr/>
          <p:nvPr/>
        </p:nvCxnSpPr>
        <p:spPr>
          <a:xfrm>
            <a:off x="914400" y="4079977"/>
            <a:ext cx="4175760" cy="0"/>
          </a:xfrm>
          <a:prstGeom prst="line">
            <a:avLst/>
          </a:prstGeom>
          <a:ln w="9525">
            <a:solidFill>
              <a:srgbClr val="D2D2D7"/>
            </a:solidFill>
          </a:ln>
        </p:spPr>
      </p:cxnSp>
      <p:sp>
        <p:nvSpPr>
          <p:cNvPr id="10" name="bullet"/>
          <p:cNvSpPr txBox="1"/>
          <p:nvPr/>
        </p:nvSpPr>
        <p:spPr>
          <a:xfrm>
            <a:off x="914400" y="4171417"/>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Suggested answers when someone asks you a question</a:t>
            </a:r>
            <a:endParaRPr sz="1320"/>
          </a:p>
        </p:txBody>
      </p:sp>
      <p:cxnSp>
        <p:nvCxnSpPr>
          <p:cNvPr id="11" name="list rule"/>
          <p:cNvCxnSpPr/>
          <p:nvPr/>
        </p:nvCxnSpPr>
        <p:spPr>
          <a:xfrm>
            <a:off x="914400" y="4749013"/>
            <a:ext cx="4175760" cy="0"/>
          </a:xfrm>
          <a:prstGeom prst="line">
            <a:avLst/>
          </a:prstGeom>
          <a:ln w="9525">
            <a:solidFill>
              <a:srgbClr val="D2D2D7"/>
            </a:solidFill>
          </a:ln>
        </p:spPr>
      </p:cxnSp>
      <p:sp>
        <p:nvSpPr>
          <p:cNvPr id="12" name="bullet"/>
          <p:cNvSpPr txBox="1"/>
          <p:nvPr/>
        </p:nvSpPr>
        <p:spPr>
          <a:xfrm>
            <a:off x="914400" y="4840453"/>
            <a:ext cx="4175760" cy="243078"/>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Live captions translate other speakers, on device</a:t>
            </a:r>
            <a:endParaRPr sz="1320"/>
          </a:p>
        </p:txBody>
      </p:sp>
      <p:cxnSp>
        <p:nvCxnSpPr>
          <p:cNvPr id="13" name="list rule"/>
          <p:cNvCxnSpPr/>
          <p:nvPr/>
        </p:nvCxnSpPr>
        <p:spPr>
          <a:xfrm>
            <a:off x="914400" y="5174971"/>
            <a:ext cx="4175760" cy="0"/>
          </a:xfrm>
          <a:prstGeom prst="line">
            <a:avLst/>
          </a:prstGeom>
          <a:ln w="9525">
            <a:solidFill>
              <a:srgbClr val="D2D2D7"/>
            </a:solidFill>
          </a:ln>
        </p:spPr>
      </p:cxnSp>
      <p:sp>
        <p:nvSpPr>
          <p:cNvPr id="14" name="bullet"/>
          <p:cNvSpPr txBox="1"/>
          <p:nvPr/>
        </p:nvSpPr>
        <p:spPr>
          <a:xfrm>
            <a:off x="914400" y="5266411"/>
            <a:ext cx="4175760" cy="243078"/>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Filed to the right client Space automatically</a:t>
            </a:r>
            <a:endParaRPr sz="1320"/>
          </a:p>
        </p:txBody>
      </p:sp>
      <p:cxnSp>
        <p:nvCxnSpPr>
          <p:cNvPr id="15" name="list rule"/>
          <p:cNvCxnSpPr/>
          <p:nvPr/>
        </p:nvCxnSpPr>
        <p:spPr>
          <a:xfrm>
            <a:off x="914400" y="5600929"/>
            <a:ext cx="4175760" cy="0"/>
          </a:xfrm>
          <a:prstGeom prst="line">
            <a:avLst/>
          </a:prstGeom>
          <a:ln w="9525">
            <a:solidFill>
              <a:srgbClr val="D2D2D7"/>
            </a:solidFill>
          </a:ln>
        </p:spPr>
      </p:cxnSp>
      <p:pic>
        <p:nvPicPr>
          <p:cNvPr id="16" name="window 37-meeting-live-answers.png" descr="37-meeting-live-answers.png"/>
          <p:cNvPicPr>
            <a:picLocks noChangeAspect="1"/>
          </p:cNvPicPr>
          <p:nvPr/>
        </p:nvPicPr>
        <p:blipFill>
          <a:blip r:embed="rId3"/>
          <a:stretch>
            <a:fillRect/>
          </a:stretch>
        </p:blipFill>
        <p:spPr>
          <a:xfrm>
            <a:off x="6744393" y="1441132"/>
            <a:ext cx="3122815" cy="2103120"/>
          </a:xfrm>
          <a:prstGeom prst="roundRect">
            <a:avLst>
              <a:gd name="adj" fmla="val 3478"/>
            </a:avLst>
          </a:prstGeom>
        </p:spPr>
      </p:pic>
      <p:pic>
        <p:nvPicPr>
          <p:cNvPr id="17" name="window 38-live-translation.png" descr="38-live-translation.png"/>
          <p:cNvPicPr>
            <a:picLocks noChangeAspect="1"/>
          </p:cNvPicPr>
          <p:nvPr/>
        </p:nvPicPr>
        <p:blipFill>
          <a:blip r:embed="rId4"/>
          <a:stretch>
            <a:fillRect/>
          </a:stretch>
        </p:blipFill>
        <p:spPr>
          <a:xfrm>
            <a:off x="5334000" y="3681413"/>
            <a:ext cx="5943600" cy="1857375"/>
          </a:xfrm>
          <a:prstGeom prst="roundRect">
            <a:avLst>
              <a:gd name="adj" fmla="val 3938"/>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Real render of the current build, sample data. The screen assistant needs a live check.</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07</a:t>
            </a:r>
            <a:endParaRPr sz="840"/>
          </a:p>
        </p:txBody>
      </p:sp>
      <p:sp>
        <p:nvSpPr>
          <p:cNvPr id="4" name="eyebrow"/>
          <p:cNvSpPr txBox="1"/>
          <p:nvPr/>
        </p:nvSpPr>
        <p:spPr>
          <a:xfrm>
            <a:off x="914400" y="1015746"/>
            <a:ext cx="41757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Find</a:t>
            </a:r>
            <a:endParaRPr sz="1320"/>
          </a:p>
        </p:txBody>
      </p:sp>
      <p:sp>
        <p:nvSpPr>
          <p:cNvPr id="5" name="h1_side"/>
          <p:cNvSpPr txBox="1"/>
          <p:nvPr/>
        </p:nvSpPr>
        <p:spPr>
          <a:xfrm>
            <a:off x="914400" y="1381963"/>
            <a:ext cx="417576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Every client in its own Space</a:t>
            </a:r>
            <a:endParaRPr sz="3600"/>
          </a:p>
        </p:txBody>
      </p:sp>
      <p:sp>
        <p:nvSpPr>
          <p:cNvPr id="6" name="body"/>
          <p:cNvSpPr txBox="1"/>
          <p:nvPr/>
        </p:nvSpPr>
        <p:spPr>
          <a:xfrm>
            <a:off x="914400" y="2574188"/>
            <a:ext cx="417576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Find anything you saw, heard or copied. Ask about anything on screen.</a:t>
            </a:r>
            <a:endParaRPr sz="1320"/>
          </a:p>
        </p:txBody>
      </p:sp>
      <p:cxnSp>
        <p:nvCxnSpPr>
          <p:cNvPr id="7" name="list rule"/>
          <p:cNvCxnSpPr/>
          <p:nvPr/>
        </p:nvCxnSpPr>
        <p:spPr>
          <a:xfrm>
            <a:off x="914400" y="3289402"/>
            <a:ext cx="4175760" cy="0"/>
          </a:xfrm>
          <a:prstGeom prst="line">
            <a:avLst/>
          </a:prstGeom>
          <a:ln w="9525">
            <a:solidFill>
              <a:srgbClr val="D2D2D7"/>
            </a:solidFill>
          </a:ln>
        </p:spPr>
      </p:cxnSp>
      <p:sp>
        <p:nvSpPr>
          <p:cNvPr id="8" name="bullet"/>
          <p:cNvSpPr txBox="1"/>
          <p:nvPr/>
        </p:nvSpPr>
        <p:spPr>
          <a:xfrm>
            <a:off x="914400" y="3380842"/>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Spaces file meetings, notes, mail, pages and screenshots per client</a:t>
            </a:r>
            <a:endParaRPr sz="1320"/>
          </a:p>
        </p:txBody>
      </p:sp>
      <p:cxnSp>
        <p:nvCxnSpPr>
          <p:cNvPr id="9" name="list rule"/>
          <p:cNvCxnSpPr/>
          <p:nvPr/>
        </p:nvCxnSpPr>
        <p:spPr>
          <a:xfrm>
            <a:off x="914400" y="3958438"/>
            <a:ext cx="4175760" cy="0"/>
          </a:xfrm>
          <a:prstGeom prst="line">
            <a:avLst/>
          </a:prstGeom>
          <a:ln w="9525">
            <a:solidFill>
              <a:srgbClr val="D2D2D7"/>
            </a:solidFill>
          </a:ln>
        </p:spPr>
      </p:cxnSp>
      <p:sp>
        <p:nvSpPr>
          <p:cNvPr id="10" name="bullet"/>
          <p:cNvSpPr txBox="1"/>
          <p:nvPr/>
        </p:nvSpPr>
        <p:spPr>
          <a:xfrm>
            <a:off x="914400" y="4049878"/>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⌥Space searches Spaces, meetings, dictations, clipboard and Tray</a:t>
            </a:r>
            <a:endParaRPr sz="1320"/>
          </a:p>
        </p:txBody>
      </p:sp>
      <p:cxnSp>
        <p:nvCxnSpPr>
          <p:cNvPr id="11" name="list rule"/>
          <p:cNvCxnSpPr/>
          <p:nvPr/>
        </p:nvCxnSpPr>
        <p:spPr>
          <a:xfrm>
            <a:off x="914400" y="4627474"/>
            <a:ext cx="4175760" cy="0"/>
          </a:xfrm>
          <a:prstGeom prst="line">
            <a:avLst/>
          </a:prstGeom>
          <a:ln w="9525">
            <a:solidFill>
              <a:srgbClr val="D2D2D7"/>
            </a:solidFill>
          </a:ln>
        </p:spPr>
      </p:cxnSp>
      <p:sp>
        <p:nvSpPr>
          <p:cNvPr id="12" name="bullet"/>
          <p:cNvSpPr txBox="1"/>
          <p:nvPr/>
        </p:nvSpPr>
        <p:spPr>
          <a:xfrm>
            <a:off x="914400" y="4718914"/>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Ask mode answers from your own items, with citations</a:t>
            </a:r>
            <a:endParaRPr sz="1320"/>
          </a:p>
        </p:txBody>
      </p:sp>
      <p:cxnSp>
        <p:nvCxnSpPr>
          <p:cNvPr id="13" name="list rule"/>
          <p:cNvCxnSpPr/>
          <p:nvPr/>
        </p:nvCxnSpPr>
        <p:spPr>
          <a:xfrm>
            <a:off x="914400" y="5296510"/>
            <a:ext cx="4175760" cy="0"/>
          </a:xfrm>
          <a:prstGeom prst="line">
            <a:avLst/>
          </a:prstGeom>
          <a:ln w="9525">
            <a:solidFill>
              <a:srgbClr val="D2D2D7"/>
            </a:solidFill>
          </a:ln>
        </p:spPr>
      </p:cxnSp>
      <p:sp>
        <p:nvSpPr>
          <p:cNvPr id="14" name="bullet"/>
          <p:cNvSpPr txBox="1"/>
          <p:nvPr/>
        </p:nvSpPr>
        <p:spPr>
          <a:xfrm>
            <a:off x="914400" y="5387950"/>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Hold ⌃⌥ and ask about any app; SparkV points at the spot</a:t>
            </a:r>
            <a:endParaRPr sz="1320"/>
          </a:p>
        </p:txBody>
      </p:sp>
      <p:cxnSp>
        <p:nvCxnSpPr>
          <p:cNvPr id="15" name="list rule"/>
          <p:cNvCxnSpPr/>
          <p:nvPr/>
        </p:nvCxnSpPr>
        <p:spPr>
          <a:xfrm>
            <a:off x="914400" y="5965546"/>
            <a:ext cx="4175760" cy="0"/>
          </a:xfrm>
          <a:prstGeom prst="line">
            <a:avLst/>
          </a:prstGeom>
          <a:ln w="9525">
            <a:solidFill>
              <a:srgbClr val="D2D2D7"/>
            </a:solidFill>
          </a:ln>
        </p:spPr>
      </p:cxnSp>
      <p:pic>
        <p:nvPicPr>
          <p:cNvPr id="16" name="window 09-spaces-window.png" descr="09-spaces-window.png"/>
          <p:cNvPicPr>
            <a:picLocks noChangeAspect="1"/>
          </p:cNvPicPr>
          <p:nvPr/>
        </p:nvPicPr>
        <p:blipFill>
          <a:blip r:embed="rId3"/>
          <a:stretch>
            <a:fillRect/>
          </a:stretch>
        </p:blipFill>
        <p:spPr>
          <a:xfrm>
            <a:off x="5334000" y="1581494"/>
            <a:ext cx="3566160" cy="2334214"/>
          </a:xfrm>
          <a:prstGeom prst="roundRect">
            <a:avLst>
              <a:gd name="adj" fmla="val 3133"/>
            </a:avLst>
          </a:prstGeom>
        </p:spPr>
      </p:pic>
      <p:pic>
        <p:nvPicPr>
          <p:cNvPr id="17" name="window 16-universal-search-panel.png" descr="15-universal-search.png"/>
          <p:cNvPicPr>
            <a:picLocks noChangeAspect="1"/>
          </p:cNvPicPr>
          <p:nvPr/>
        </p:nvPicPr>
        <p:blipFill>
          <a:blip r:embed="rId4"/>
          <a:stretch>
            <a:fillRect/>
          </a:stretch>
        </p:blipFill>
        <p:spPr>
          <a:xfrm>
            <a:off x="9128760" y="1581494"/>
            <a:ext cx="2148840" cy="653079"/>
          </a:xfrm>
          <a:prstGeom prst="roundRect">
            <a:avLst>
              <a:gd name="adj" fmla="val 11201"/>
            </a:avLst>
          </a:prstGeom>
        </p:spPr>
      </p:pic>
      <p:sp>
        <p:nvSpPr>
          <p:cNvPr id="18" name="screen card 51-clicky-answer.png"/>
          <p:cNvSpPr/>
          <p:nvPr/>
        </p:nvSpPr>
        <p:spPr>
          <a:xfrm>
            <a:off x="5334000" y="4187534"/>
            <a:ext cx="5943600" cy="1210893"/>
          </a:xfrm>
          <a:prstGeom prst="roundRect">
            <a:avLst>
              <a:gd name="adj" fmla="val 10572"/>
            </a:avLst>
          </a:prstGeom>
          <a:gradFill rotWithShape="1">
            <a:gsLst>
              <a:gs pos="0">
                <a:srgbClr val="0E0C0B"/>
              </a:gs>
              <a:gs pos="100000">
                <a:srgbClr val="1C1717"/>
              </a:gs>
            </a:gsLst>
            <a:lin ang="5400000" scaled="0"/>
          </a:gradFill>
          <a:ln>
            <a:noFill/>
          </a:ln>
        </p:spPr>
        <p:txBody>
          <a:bodyPr rtlCol="0" anchor="ctr"/>
          <a:lstStyle/>
          <a:p>
            <a:pPr algn="ctr"/>
          </a:p>
        </p:txBody>
      </p:sp>
      <p:pic>
        <p:nvPicPr>
          <p:cNvPr id="19" name="screen 51-clicky-answer.png" descr="51-clicky-answer.png"/>
          <p:cNvPicPr>
            <a:picLocks noChangeAspect="1"/>
          </p:cNvPicPr>
          <p:nvPr/>
        </p:nvPicPr>
        <p:blipFill>
          <a:blip r:embed="rId5"/>
          <a:stretch>
            <a:fillRect/>
          </a:stretch>
        </p:blipFill>
        <p:spPr>
          <a:xfrm>
            <a:off x="5443728" y="4297262"/>
            <a:ext cx="5724144" cy="991437"/>
          </a:xfrm>
          <a:prstGeom prst="roundRect">
            <a:avLst>
              <a:gd name="adj" fmla="val 4611"/>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Verified end to end on the bundled test site on 127.0.0.1. Use only on sites you own or may test.</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08</a:t>
            </a:r>
            <a:endParaRPr sz="840"/>
          </a:p>
        </p:txBody>
      </p:sp>
      <p:sp>
        <p:nvSpPr>
          <p:cNvPr id="4" name="eyebrow"/>
          <p:cNvSpPr txBox="1"/>
          <p:nvPr/>
        </p:nvSpPr>
        <p:spPr>
          <a:xfrm>
            <a:off x="914400" y="1015746"/>
            <a:ext cx="41757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UI Audit</a:t>
            </a:r>
            <a:endParaRPr sz="1320"/>
          </a:p>
        </p:txBody>
      </p:sp>
      <p:sp>
        <p:nvSpPr>
          <p:cNvPr id="5" name="h1_side"/>
          <p:cNvSpPr txBox="1"/>
          <p:nvPr/>
        </p:nvSpPr>
        <p:spPr>
          <a:xfrm>
            <a:off x="914400" y="1381963"/>
            <a:ext cx="4175760" cy="1024585"/>
          </a:xfrm>
          <a:prstGeom prst="rect">
            <a:avLst/>
          </a:prstGeom>
          <a:noFill/>
        </p:spPr>
        <p:txBody>
          <a:bodyPr wrap="square" lIns="0" tIns="0" rIns="0" bIns="0" anchor="t">
            <a:noAutofit/>
          </a:bodyPr>
          <a:lstStyle/>
          <a:p>
            <a:pPr algn="l">
              <a:lnSpc>
                <a:spcPts val="4032"/>
              </a:lnSpc>
              <a:spcBef>
                <a:spcPts val="0"/>
              </a:spcBef>
              <a:spcAft>
                <a:spcPts val="0"/>
              </a:spcAft>
            </a:pPr>
            <a:r>
              <a:rPr sz="3600" b="0" i="0" spc="-54">
                <a:solidFill>
                  <a:srgbClr val="1D1D1F"/>
                </a:solidFill>
                <a:latin typeface="Helvetica Neue Light"/>
              </a:rPr>
              <a:t>QA client sites before they ship</a:t>
            </a:r>
            <a:endParaRPr sz="3600"/>
          </a:p>
        </p:txBody>
      </p:sp>
      <p:sp>
        <p:nvSpPr>
          <p:cNvPr id="6" name="body"/>
          <p:cNvSpPr txBox="1"/>
          <p:nvPr/>
        </p:nvSpPr>
        <p:spPr>
          <a:xfrm>
            <a:off x="914400" y="2574188"/>
            <a:ext cx="417576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UI Audit walks your site like a tester, then writes the fix prompt</a:t>
            </a:r>
            <a:endParaRPr sz="1320"/>
          </a:p>
        </p:txBody>
      </p:sp>
      <p:cxnSp>
        <p:nvCxnSpPr>
          <p:cNvPr id="7" name="list rule"/>
          <p:cNvCxnSpPr/>
          <p:nvPr/>
        </p:nvCxnSpPr>
        <p:spPr>
          <a:xfrm>
            <a:off x="914400" y="3289402"/>
            <a:ext cx="4175760" cy="0"/>
          </a:xfrm>
          <a:prstGeom prst="line">
            <a:avLst/>
          </a:prstGeom>
          <a:ln w="9525">
            <a:solidFill>
              <a:srgbClr val="D2D2D7"/>
            </a:solidFill>
          </a:ln>
        </p:spPr>
      </p:cxnSp>
      <p:sp>
        <p:nvSpPr>
          <p:cNvPr id="8" name="bullet"/>
          <p:cNvSpPr txBox="1"/>
          <p:nvPr/>
        </p:nvSpPr>
        <p:spPr>
          <a:xfrm>
            <a:off x="914400" y="3380842"/>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Crawls pages, fills forms on test hosts, checks 1440 px and 390 px</a:t>
            </a:r>
            <a:endParaRPr sz="1320"/>
          </a:p>
        </p:txBody>
      </p:sp>
      <p:cxnSp>
        <p:nvCxnSpPr>
          <p:cNvPr id="9" name="list rule"/>
          <p:cNvCxnSpPr/>
          <p:nvPr/>
        </p:nvCxnSpPr>
        <p:spPr>
          <a:xfrm>
            <a:off x="914400" y="3958438"/>
            <a:ext cx="4175760" cy="0"/>
          </a:xfrm>
          <a:prstGeom prst="line">
            <a:avLst/>
          </a:prstGeom>
          <a:ln w="9525">
            <a:solidFill>
              <a:srgbClr val="D2D2D7"/>
            </a:solidFill>
          </a:ln>
        </p:spPr>
      </p:cxnSp>
      <p:sp>
        <p:nvSpPr>
          <p:cNvPr id="10" name="bullet"/>
          <p:cNvSpPr txBox="1"/>
          <p:nvPr/>
        </p:nvSpPr>
        <p:spPr>
          <a:xfrm>
            <a:off x="914400" y="4049878"/>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Accessibility (axe-core), Tab order, console errors, failed requests</a:t>
            </a:r>
            <a:endParaRPr sz="1320"/>
          </a:p>
        </p:txBody>
      </p:sp>
      <p:cxnSp>
        <p:nvCxnSpPr>
          <p:cNvPr id="11" name="list rule"/>
          <p:cNvCxnSpPr/>
          <p:nvPr/>
        </p:nvCxnSpPr>
        <p:spPr>
          <a:xfrm>
            <a:off x="914400" y="4627474"/>
            <a:ext cx="4175760" cy="0"/>
          </a:xfrm>
          <a:prstGeom prst="line">
            <a:avLst/>
          </a:prstGeom>
          <a:ln w="9525">
            <a:solidFill>
              <a:srgbClr val="D2D2D7"/>
            </a:solidFill>
          </a:ln>
        </p:spPr>
      </p:cxnSp>
      <p:sp>
        <p:nvSpPr>
          <p:cNvPr id="12" name="bullet"/>
          <p:cNvSpPr txBox="1"/>
          <p:nvPr/>
        </p:nvSpPr>
        <p:spPr>
          <a:xfrm>
            <a:off x="914400" y="4718914"/>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Findings by severity, with screenshot and steps to reproduce</a:t>
            </a:r>
            <a:endParaRPr sz="1320"/>
          </a:p>
        </p:txBody>
      </p:sp>
      <p:cxnSp>
        <p:nvCxnSpPr>
          <p:cNvPr id="13" name="list rule"/>
          <p:cNvCxnSpPr/>
          <p:nvPr/>
        </p:nvCxnSpPr>
        <p:spPr>
          <a:xfrm>
            <a:off x="914400" y="5296510"/>
            <a:ext cx="4175760" cy="0"/>
          </a:xfrm>
          <a:prstGeom prst="line">
            <a:avLst/>
          </a:prstGeom>
          <a:ln w="9525">
            <a:solidFill>
              <a:srgbClr val="D2D2D7"/>
            </a:solidFill>
          </a:ln>
        </p:spPr>
      </p:cxnSp>
      <p:sp>
        <p:nvSpPr>
          <p:cNvPr id="14" name="bullet"/>
          <p:cNvSpPr txBox="1"/>
          <p:nvPr/>
        </p:nvSpPr>
        <p:spPr>
          <a:xfrm>
            <a:off x="914400" y="5387950"/>
            <a:ext cx="4175760" cy="486156"/>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P copies a fix prompt for Claude Code, Cursor or Copilot</a:t>
            </a:r>
            <a:endParaRPr sz="1320"/>
          </a:p>
        </p:txBody>
      </p:sp>
      <p:cxnSp>
        <p:nvCxnSpPr>
          <p:cNvPr id="15" name="list rule"/>
          <p:cNvCxnSpPr/>
          <p:nvPr/>
        </p:nvCxnSpPr>
        <p:spPr>
          <a:xfrm>
            <a:off x="914400" y="5965546"/>
            <a:ext cx="4175760" cy="0"/>
          </a:xfrm>
          <a:prstGeom prst="line">
            <a:avLst/>
          </a:prstGeom>
          <a:ln w="9525">
            <a:solidFill>
              <a:srgbClr val="D2D2D7"/>
            </a:solidFill>
          </a:ln>
        </p:spPr>
      </p:cxnSp>
      <p:pic>
        <p:nvPicPr>
          <p:cNvPr id="16" name="window 22-ui-audit-window.png" descr="22-ui-audit-window.png"/>
          <p:cNvPicPr>
            <a:picLocks noChangeAspect="1"/>
          </p:cNvPicPr>
          <p:nvPr/>
        </p:nvPicPr>
        <p:blipFill>
          <a:blip r:embed="rId3"/>
          <a:stretch>
            <a:fillRect/>
          </a:stretch>
        </p:blipFill>
        <p:spPr>
          <a:xfrm>
            <a:off x="5334000" y="1508760"/>
            <a:ext cx="5943600" cy="3962400"/>
          </a:xfrm>
          <a:prstGeom prst="roundRect">
            <a:avLst>
              <a:gd name="adj" fmla="val 1846"/>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SparkV's own controller on 127.0.0.1; Apple Intelligence wrote the summary on device. Needs Node 20+ and Playwright's Chromium.</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09</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UI Audit · proof</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UI Audit, verified end to end</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Verified run on our test site: 6 pages, 69 findings, 3 critical, 15 high</a:t>
            </a:r>
            <a:endParaRPr sz="1680"/>
          </a:p>
        </p:txBody>
      </p:sp>
      <p:cxnSp>
        <p:nvCxnSpPr>
          <p:cNvPr id="7" name="strip rule"/>
          <p:cNvCxnSpPr/>
          <p:nvPr/>
        </p:nvCxnSpPr>
        <p:spPr>
          <a:xfrm>
            <a:off x="914400" y="5867705"/>
            <a:ext cx="10363200" cy="0"/>
          </a:xfrm>
          <a:prstGeom prst="line">
            <a:avLst/>
          </a:prstGeom>
          <a:ln w="9525">
            <a:solidFill>
              <a:srgbClr val="D2D2D7"/>
            </a:solidFill>
          </a:ln>
        </p:spPr>
      </p:cxnSp>
      <p:sp>
        <p:nvSpPr>
          <p:cNvPr id="8" name="strip text"/>
          <p:cNvSpPr txBox="1"/>
          <p:nvPr/>
        </p:nvSpPr>
        <p:spPr>
          <a:xfrm>
            <a:off x="914400" y="6004865"/>
            <a:ext cx="10363200"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Medium"/>
              </a:rPr>
              <a:t>Runner self-test:</a:t>
            </a:r>
            <a:r>
              <a:rPr sz="1320" b="0" i="0">
                <a:solidFill>
                  <a:srgbClr val="6E6E73"/>
                </a:solidFill>
                <a:latin typeface="Helvetica Neue"/>
              </a:rPr>
              <a:t> 48/48 passed. P produced a 51,666-character fix prompt covering 60 issues.</a:t>
            </a:r>
            <a:endParaRPr sz="1320"/>
          </a:p>
        </p:txBody>
      </p:sp>
      <p:sp>
        <p:nvSpPr>
          <p:cNvPr id="9" name="metric card"/>
          <p:cNvSpPr/>
          <p:nvPr/>
        </p:nvSpPr>
        <p:spPr>
          <a:xfrm>
            <a:off x="914400" y="2922346"/>
            <a:ext cx="2407920" cy="2103120"/>
          </a:xfrm>
          <a:prstGeom prst="roundRect">
            <a:avLst>
              <a:gd name="adj" fmla="val 7971"/>
            </a:avLst>
          </a:prstGeom>
          <a:solidFill>
            <a:srgbClr val="F5F5F7"/>
          </a:solidFill>
          <a:ln>
            <a:noFill/>
          </a:ln>
        </p:spPr>
        <p:txBody>
          <a:bodyPr rtlCol="0" anchor="ctr"/>
          <a:lstStyle/>
          <a:p>
            <a:pPr algn="ctr"/>
          </a:p>
        </p:txBody>
      </p:sp>
      <p:sp>
        <p:nvSpPr>
          <p:cNvPr id="10" name="metric value"/>
          <p:cNvSpPr txBox="1"/>
          <p:nvPr/>
        </p:nvSpPr>
        <p:spPr>
          <a:xfrm>
            <a:off x="1127760" y="3105226"/>
            <a:ext cx="19812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6</a:t>
            </a:r>
            <a:endParaRPr sz="4800"/>
          </a:p>
        </p:txBody>
      </p:sp>
      <p:sp>
        <p:nvSpPr>
          <p:cNvPr id="11" name="metric label"/>
          <p:cNvSpPr txBox="1"/>
          <p:nvPr/>
        </p:nvSpPr>
        <p:spPr>
          <a:xfrm>
            <a:off x="1127760" y="3867683"/>
            <a:ext cx="198120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pages crawled on the planted-issue test site</a:t>
            </a:r>
            <a:endParaRPr sz="1020"/>
          </a:p>
        </p:txBody>
      </p:sp>
      <p:sp>
        <p:nvSpPr>
          <p:cNvPr id="12" name="metric card"/>
          <p:cNvSpPr/>
          <p:nvPr/>
        </p:nvSpPr>
        <p:spPr>
          <a:xfrm>
            <a:off x="3566160" y="2922346"/>
            <a:ext cx="2407920" cy="2103120"/>
          </a:xfrm>
          <a:prstGeom prst="roundRect">
            <a:avLst>
              <a:gd name="adj" fmla="val 7971"/>
            </a:avLst>
          </a:prstGeom>
          <a:solidFill>
            <a:srgbClr val="F5F5F7"/>
          </a:solidFill>
          <a:ln>
            <a:noFill/>
          </a:ln>
        </p:spPr>
        <p:txBody>
          <a:bodyPr rtlCol="0" anchor="ctr"/>
          <a:lstStyle/>
          <a:p>
            <a:pPr algn="ctr"/>
          </a:p>
        </p:txBody>
      </p:sp>
      <p:sp>
        <p:nvSpPr>
          <p:cNvPr id="13" name="metric value"/>
          <p:cNvSpPr txBox="1"/>
          <p:nvPr/>
        </p:nvSpPr>
        <p:spPr>
          <a:xfrm>
            <a:off x="3779520" y="3105226"/>
            <a:ext cx="19812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69</a:t>
            </a:r>
            <a:endParaRPr sz="4800"/>
          </a:p>
        </p:txBody>
      </p:sp>
      <p:sp>
        <p:nvSpPr>
          <p:cNvPr id="14" name="metric label"/>
          <p:cNvSpPr txBox="1"/>
          <p:nvPr/>
        </p:nvSpPr>
        <p:spPr>
          <a:xfrm>
            <a:off x="3779520" y="3867683"/>
            <a:ext cx="198120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findings</a:t>
            </a:r>
            <a:endParaRPr sz="1020"/>
          </a:p>
        </p:txBody>
      </p:sp>
      <p:sp>
        <p:nvSpPr>
          <p:cNvPr id="15" name="metric card"/>
          <p:cNvSpPr/>
          <p:nvPr/>
        </p:nvSpPr>
        <p:spPr>
          <a:xfrm>
            <a:off x="6217920" y="2922346"/>
            <a:ext cx="2407920" cy="2103120"/>
          </a:xfrm>
          <a:prstGeom prst="roundRect">
            <a:avLst>
              <a:gd name="adj" fmla="val 7971"/>
            </a:avLst>
          </a:prstGeom>
          <a:solidFill>
            <a:srgbClr val="F5F5F7"/>
          </a:solidFill>
          <a:ln>
            <a:noFill/>
          </a:ln>
        </p:spPr>
        <p:txBody>
          <a:bodyPr rtlCol="0" anchor="ctr"/>
          <a:lstStyle/>
          <a:p>
            <a:pPr algn="ctr"/>
          </a:p>
        </p:txBody>
      </p:sp>
      <p:sp>
        <p:nvSpPr>
          <p:cNvPr id="16" name="metric value"/>
          <p:cNvSpPr txBox="1"/>
          <p:nvPr/>
        </p:nvSpPr>
        <p:spPr>
          <a:xfrm>
            <a:off x="6431280" y="3105226"/>
            <a:ext cx="19812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3</a:t>
            </a:r>
            <a:endParaRPr sz="4800"/>
          </a:p>
        </p:txBody>
      </p:sp>
      <p:sp>
        <p:nvSpPr>
          <p:cNvPr id="17" name="metric label"/>
          <p:cNvSpPr txBox="1"/>
          <p:nvPr/>
        </p:nvSpPr>
        <p:spPr>
          <a:xfrm>
            <a:off x="6431280" y="3867683"/>
            <a:ext cx="198120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critical findings</a:t>
            </a:r>
            <a:endParaRPr sz="1020"/>
          </a:p>
        </p:txBody>
      </p:sp>
      <p:sp>
        <p:nvSpPr>
          <p:cNvPr id="18" name="metric card"/>
          <p:cNvSpPr/>
          <p:nvPr/>
        </p:nvSpPr>
        <p:spPr>
          <a:xfrm>
            <a:off x="8869680" y="2922346"/>
            <a:ext cx="2407920" cy="2103120"/>
          </a:xfrm>
          <a:prstGeom prst="roundRect">
            <a:avLst>
              <a:gd name="adj" fmla="val 7971"/>
            </a:avLst>
          </a:prstGeom>
          <a:solidFill>
            <a:srgbClr val="F5F5F7"/>
          </a:solidFill>
          <a:ln>
            <a:noFill/>
          </a:ln>
        </p:spPr>
        <p:txBody>
          <a:bodyPr rtlCol="0" anchor="ctr"/>
          <a:lstStyle/>
          <a:p>
            <a:pPr algn="ctr"/>
          </a:p>
        </p:txBody>
      </p:sp>
      <p:sp>
        <p:nvSpPr>
          <p:cNvPr id="19" name="metric value"/>
          <p:cNvSpPr txBox="1"/>
          <p:nvPr/>
        </p:nvSpPr>
        <p:spPr>
          <a:xfrm>
            <a:off x="9083040" y="3105226"/>
            <a:ext cx="1981200" cy="671017"/>
          </a:xfrm>
          <a:prstGeom prst="rect">
            <a:avLst/>
          </a:prstGeom>
          <a:noFill/>
        </p:spPr>
        <p:txBody>
          <a:bodyPr wrap="square" lIns="0" tIns="0" rIns="0" bIns="0" anchor="t">
            <a:noAutofit/>
          </a:bodyPr>
          <a:lstStyle/>
          <a:p>
            <a:pPr algn="l">
              <a:lnSpc>
                <a:spcPts val="5280"/>
              </a:lnSpc>
              <a:spcBef>
                <a:spcPts val="0"/>
              </a:spcBef>
              <a:spcAft>
                <a:spcPts val="0"/>
              </a:spcAft>
            </a:pPr>
            <a:r>
              <a:rPr sz="4800" b="0" i="0" spc="-96">
                <a:solidFill>
                  <a:srgbClr val="1D1D1F"/>
                </a:solidFill>
                <a:latin typeface="Helvetica Neue Light"/>
              </a:rPr>
              <a:t>15</a:t>
            </a:r>
            <a:endParaRPr sz="4800"/>
          </a:p>
        </p:txBody>
      </p:sp>
      <p:sp>
        <p:nvSpPr>
          <p:cNvPr id="20" name="metric label"/>
          <p:cNvSpPr txBox="1"/>
          <p:nvPr/>
        </p:nvSpPr>
        <p:spPr>
          <a:xfrm>
            <a:off x="9083040" y="3867683"/>
            <a:ext cx="198120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high findings</a:t>
            </a:r>
            <a:endParaRPr sz="102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Assumptions are conservative and replaced by measured values in the pilot.</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10</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ROI model</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About 2.5 hours back per person, per week</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 model to test in the pilot, not a measured result</a:t>
            </a:r>
            <a:endParaRPr sz="1680"/>
          </a:p>
        </p:txBody>
      </p:sp>
      <p:sp>
        <p:nvSpPr>
          <p:cNvPr id="7" name="chart card"/>
          <p:cNvSpPr/>
          <p:nvPr/>
        </p:nvSpPr>
        <p:spPr>
          <a:xfrm>
            <a:off x="914400" y="2354428"/>
            <a:ext cx="5943600" cy="3893972"/>
          </a:xfrm>
          <a:prstGeom prst="roundRect">
            <a:avLst>
              <a:gd name="adj" fmla="val 4305"/>
            </a:avLst>
          </a:prstGeom>
          <a:solidFill>
            <a:srgbClr val="F5F5F7"/>
          </a:solidFill>
          <a:ln>
            <a:noFill/>
          </a:ln>
        </p:spPr>
        <p:txBody>
          <a:bodyPr rtlCol="0" anchor="ctr"/>
          <a:lstStyle/>
          <a:p>
            <a:pPr algn="ctr"/>
          </a:p>
        </p:txBody>
      </p:sp>
      <p:sp>
        <p:nvSpPr>
          <p:cNvPr id="8" name="chart subtitle"/>
          <p:cNvSpPr txBox="1"/>
          <p:nvPr/>
        </p:nvSpPr>
        <p:spPr>
          <a:xfrm>
            <a:off x="4439881" y="2567788"/>
            <a:ext cx="2174279" cy="188290"/>
          </a:xfrm>
          <a:prstGeom prst="rect">
            <a:avLst/>
          </a:prstGeom>
          <a:noFill/>
        </p:spPr>
        <p:txBody>
          <a:bodyPr wrap="square" lIns="0" tIns="0" rIns="0" bIns="0" anchor="t">
            <a:noAutofit/>
          </a:bodyPr>
          <a:lstStyle/>
          <a:p>
            <a:pPr algn="r">
              <a:lnSpc>
                <a:spcPts val="1479"/>
              </a:lnSpc>
              <a:spcBef>
                <a:spcPts val="0"/>
              </a:spcBef>
              <a:spcAft>
                <a:spcPts val="0"/>
              </a:spcAft>
            </a:pPr>
            <a:r>
              <a:rPr sz="1019" b="0" i="0">
                <a:solidFill>
                  <a:srgbClr val="86868B"/>
                </a:solidFill>
                <a:latin typeface="Helvetica Neue"/>
              </a:rPr>
              <a:t>Model: assumptions, not measured</a:t>
            </a:r>
            <a:endParaRPr sz="1020"/>
          </a:p>
        </p:txBody>
      </p:sp>
      <p:sp>
        <p:nvSpPr>
          <p:cNvPr id="9" name="chart title"/>
          <p:cNvSpPr txBox="1"/>
          <p:nvPr/>
        </p:nvSpPr>
        <p:spPr>
          <a:xfrm>
            <a:off x="1158240" y="2567788"/>
            <a:ext cx="3098761"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Modeled minutes saved per person per week</a:t>
            </a:r>
            <a:endParaRPr sz="1020"/>
          </a:p>
        </p:txBody>
      </p:sp>
      <p:sp>
        <p:nvSpPr>
          <p:cNvPr id="10" name="chart source"/>
          <p:cNvSpPr txBox="1"/>
          <p:nvPr/>
        </p:nvSpPr>
        <p:spPr>
          <a:xfrm>
            <a:off x="1158240" y="5796839"/>
            <a:ext cx="5455920" cy="238201"/>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Model (backup A1). Dictation speed-up is half of Stanford 2016's 3x phone-keyboard result. Break-even: minutes per week = 96 / (46 working weeks x hourly rate) x 60; at $40/h, 3.1 min.</a:t>
            </a:r>
            <a:endParaRPr sz="780"/>
          </a:p>
        </p:txBody>
      </p:sp>
      <p:graphicFrame>
        <p:nvGraphicFramePr>
          <p:cNvPr id="11" name="chart"/>
          <p:cNvGraphicFramePr>
            <a:graphicFrameLocks noGrp="1"/>
          </p:cNvGraphicFramePr>
          <p:nvPr/>
        </p:nvGraphicFramePr>
        <p:xfrm>
          <a:off x="1158240" y="2865806"/>
          <a:ext cx="5455920" cy="2840050"/>
        </p:xfrm>
        <a:graphic>
          <a:graphicData uri="http://schemas.openxmlformats.org/drawingml/2006/chart">
            <c:chart xmlns:c="http://schemas.openxmlformats.org/drawingml/2006/chart" r:id="rId3"/>
          </a:graphicData>
        </a:graphic>
      </p:graphicFrame>
      <p:sp>
        <p:nvSpPr>
          <p:cNvPr id="12" name="metric card"/>
          <p:cNvSpPr/>
          <p:nvPr/>
        </p:nvSpPr>
        <p:spPr>
          <a:xfrm>
            <a:off x="7101840" y="2354428"/>
            <a:ext cx="4175760" cy="1176071"/>
          </a:xfrm>
          <a:prstGeom prst="roundRect">
            <a:avLst>
              <a:gd name="adj" fmla="val 14254"/>
            </a:avLst>
          </a:prstGeom>
          <a:solidFill>
            <a:srgbClr val="F5F5F7"/>
          </a:solidFill>
          <a:ln>
            <a:noFill/>
          </a:ln>
        </p:spPr>
        <p:txBody>
          <a:bodyPr rtlCol="0" anchor="ctr"/>
          <a:lstStyle/>
          <a:p>
            <a:pPr algn="ctr"/>
          </a:p>
        </p:txBody>
      </p:sp>
      <p:sp>
        <p:nvSpPr>
          <p:cNvPr id="13" name="metric value"/>
          <p:cNvSpPr txBox="1"/>
          <p:nvPr/>
        </p:nvSpPr>
        <p:spPr>
          <a:xfrm>
            <a:off x="7315200" y="2537308"/>
            <a:ext cx="3749040" cy="276403"/>
          </a:xfrm>
          <a:prstGeom prst="rect">
            <a:avLst/>
          </a:prstGeom>
          <a:noFill/>
        </p:spPr>
        <p:txBody>
          <a:bodyPr wrap="square" lIns="0" tIns="0" rIns="0" bIns="0" anchor="t">
            <a:noAutofit/>
          </a:bodyPr>
          <a:lstStyle/>
          <a:p>
            <a:pPr algn="l">
              <a:lnSpc>
                <a:spcPts val="2173"/>
              </a:lnSpc>
              <a:spcBef>
                <a:spcPts val="0"/>
              </a:spcBef>
              <a:spcAft>
                <a:spcPts val="0"/>
              </a:spcAft>
            </a:pPr>
            <a:r>
              <a:rPr sz="1939" b="0" i="0" spc="-19">
                <a:solidFill>
                  <a:srgbClr val="1D1D1F"/>
                </a:solidFill>
                <a:latin typeface="Helvetica Neue Light"/>
              </a:rPr>
              <a:t>150 min</a:t>
            </a:r>
            <a:endParaRPr sz="1940"/>
          </a:p>
        </p:txBody>
      </p:sp>
      <p:sp>
        <p:nvSpPr>
          <p:cNvPr id="14" name="metric label"/>
          <p:cNvSpPr txBox="1"/>
          <p:nvPr/>
        </p:nvSpPr>
        <p:spPr>
          <a:xfrm>
            <a:off x="7315200" y="2905150"/>
            <a:ext cx="37490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modeled time saved per person per week</a:t>
            </a:r>
            <a:endParaRPr sz="1020"/>
          </a:p>
        </p:txBody>
      </p:sp>
      <p:sp>
        <p:nvSpPr>
          <p:cNvPr id="15" name="metric source"/>
          <p:cNvSpPr txBox="1"/>
          <p:nvPr/>
        </p:nvSpPr>
        <p:spPr>
          <a:xfrm>
            <a:off x="7315200" y="3187141"/>
            <a:ext cx="374904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Model (assumptions in backup A1)</a:t>
            </a:r>
            <a:endParaRPr sz="900"/>
          </a:p>
        </p:txBody>
      </p:sp>
      <p:sp>
        <p:nvSpPr>
          <p:cNvPr id="16" name="metric card"/>
          <p:cNvSpPr/>
          <p:nvPr/>
        </p:nvSpPr>
        <p:spPr>
          <a:xfrm>
            <a:off x="7101840" y="3713378"/>
            <a:ext cx="4175760" cy="1176071"/>
          </a:xfrm>
          <a:prstGeom prst="roundRect">
            <a:avLst>
              <a:gd name="adj" fmla="val 14254"/>
            </a:avLst>
          </a:prstGeom>
          <a:solidFill>
            <a:srgbClr val="F5F5F7"/>
          </a:solidFill>
          <a:ln>
            <a:noFill/>
          </a:ln>
        </p:spPr>
        <p:txBody>
          <a:bodyPr rtlCol="0" anchor="ctr"/>
          <a:lstStyle/>
          <a:p>
            <a:pPr algn="ctr"/>
          </a:p>
        </p:txBody>
      </p:sp>
      <p:sp>
        <p:nvSpPr>
          <p:cNvPr id="17" name="metric value"/>
          <p:cNvSpPr txBox="1"/>
          <p:nvPr/>
        </p:nvSpPr>
        <p:spPr>
          <a:xfrm>
            <a:off x="7315200" y="3896258"/>
            <a:ext cx="3749040" cy="276403"/>
          </a:xfrm>
          <a:prstGeom prst="rect">
            <a:avLst/>
          </a:prstGeom>
          <a:noFill/>
        </p:spPr>
        <p:txBody>
          <a:bodyPr wrap="square" lIns="0" tIns="0" rIns="0" bIns="0" anchor="t">
            <a:noAutofit/>
          </a:bodyPr>
          <a:lstStyle/>
          <a:p>
            <a:pPr algn="l">
              <a:lnSpc>
                <a:spcPts val="2173"/>
              </a:lnSpc>
              <a:spcBef>
                <a:spcPts val="0"/>
              </a:spcBef>
              <a:spcAft>
                <a:spcPts val="0"/>
              </a:spcAft>
            </a:pPr>
            <a:r>
              <a:rPr sz="1939" b="0" i="0" spc="-19">
                <a:solidFill>
                  <a:srgbClr val="1D1D1F"/>
                </a:solidFill>
                <a:latin typeface="Helvetica Neue Light"/>
              </a:rPr>
              <a:t>$96</a:t>
            </a:r>
            <a:endParaRPr sz="1940"/>
          </a:p>
        </p:txBody>
      </p:sp>
      <p:sp>
        <p:nvSpPr>
          <p:cNvPr id="18" name="metric label"/>
          <p:cNvSpPr txBox="1"/>
          <p:nvPr/>
        </p:nvSpPr>
        <p:spPr>
          <a:xfrm>
            <a:off x="7315200" y="4264101"/>
            <a:ext cx="37490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Team list price per seat per year</a:t>
            </a:r>
            <a:endParaRPr sz="1020"/>
          </a:p>
        </p:txBody>
      </p:sp>
      <p:sp>
        <p:nvSpPr>
          <p:cNvPr id="19" name="metric source"/>
          <p:cNvSpPr txBox="1"/>
          <p:nvPr/>
        </p:nvSpPr>
        <p:spPr>
          <a:xfrm>
            <a:off x="7315200" y="4546092"/>
            <a:ext cx="374904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SparkV pricing</a:t>
            </a:r>
            <a:endParaRPr sz="900"/>
          </a:p>
        </p:txBody>
      </p:sp>
      <p:sp>
        <p:nvSpPr>
          <p:cNvPr id="20" name="metric card"/>
          <p:cNvSpPr/>
          <p:nvPr/>
        </p:nvSpPr>
        <p:spPr>
          <a:xfrm>
            <a:off x="7101840" y="5072329"/>
            <a:ext cx="4175760" cy="1176071"/>
          </a:xfrm>
          <a:prstGeom prst="roundRect">
            <a:avLst>
              <a:gd name="adj" fmla="val 14254"/>
            </a:avLst>
          </a:prstGeom>
          <a:solidFill>
            <a:srgbClr val="F5F5F7"/>
          </a:solidFill>
          <a:ln>
            <a:noFill/>
          </a:ln>
        </p:spPr>
        <p:txBody>
          <a:bodyPr rtlCol="0" anchor="ctr"/>
          <a:lstStyle/>
          <a:p>
            <a:pPr algn="ctr"/>
          </a:p>
        </p:txBody>
      </p:sp>
      <p:sp>
        <p:nvSpPr>
          <p:cNvPr id="21" name="metric value"/>
          <p:cNvSpPr txBox="1"/>
          <p:nvPr/>
        </p:nvSpPr>
        <p:spPr>
          <a:xfrm>
            <a:off x="7315200" y="5255209"/>
            <a:ext cx="3749040" cy="276403"/>
          </a:xfrm>
          <a:prstGeom prst="rect">
            <a:avLst/>
          </a:prstGeom>
          <a:noFill/>
        </p:spPr>
        <p:txBody>
          <a:bodyPr wrap="square" lIns="0" tIns="0" rIns="0" bIns="0" anchor="t">
            <a:noAutofit/>
          </a:bodyPr>
          <a:lstStyle/>
          <a:p>
            <a:pPr algn="l">
              <a:lnSpc>
                <a:spcPts val="2173"/>
              </a:lnSpc>
              <a:spcBef>
                <a:spcPts val="0"/>
              </a:spcBef>
              <a:spcAft>
                <a:spcPts val="0"/>
              </a:spcAft>
            </a:pPr>
            <a:r>
              <a:rPr sz="1939" b="0" i="0" spc="-19">
                <a:solidFill>
                  <a:srgbClr val="1D1D1F"/>
                </a:solidFill>
                <a:latin typeface="Helvetica Neue Light"/>
              </a:rPr>
              <a:t>~3 min</a:t>
            </a:r>
            <a:endParaRPr sz="1940"/>
          </a:p>
        </p:txBody>
      </p:sp>
      <p:sp>
        <p:nvSpPr>
          <p:cNvPr id="22" name="metric label"/>
          <p:cNvSpPr txBox="1"/>
          <p:nvPr/>
        </p:nvSpPr>
        <p:spPr>
          <a:xfrm>
            <a:off x="7315200" y="5623052"/>
            <a:ext cx="37490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saved per week pays for a seat at $40/hour</a:t>
            </a:r>
            <a:endParaRPr sz="1020"/>
          </a:p>
        </p:txBody>
      </p:sp>
      <p:sp>
        <p:nvSpPr>
          <p:cNvPr id="23" name="metric source"/>
          <p:cNvSpPr txBox="1"/>
          <p:nvPr/>
        </p:nvSpPr>
        <p:spPr>
          <a:xfrm>
            <a:off x="7315200" y="5905043"/>
            <a:ext cx="374904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Example rate, </a:t>
            </a:r>
            <a:r>
              <a:rPr sz="900" b="0" i="1">
                <a:solidFill>
                  <a:srgbClr val="86868B"/>
                </a:solidFill>
                <a:latin typeface="Helvetica Neue"/>
              </a:rPr>
              <a:t>[TBD: your loaded rate]</a:t>
            </a:r>
            <a:endParaRPr sz="9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Gap to disclose: </a:t>
            </a:r>
            <a:r>
              <a:rPr sz="840" b="0" i="1">
                <a:solidFill>
                  <a:srgbClr val="86868B"/>
                </a:solidFill>
                <a:latin typeface="Helvetica Neue"/>
              </a:rPr>
              <a:t>[TBD: managed preference to disable Groq]</a:t>
            </a:r>
            <a:r>
              <a:rPr sz="840" b="0" i="0">
                <a:solidFill>
                  <a:srgbClr val="86868B"/>
                </a:solidFill>
                <a:latin typeface="Helvetica Neue"/>
              </a:rPr>
              <a:t> org-wide.</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11</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Privacy and security</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Private by default</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AI runs on the Mac. Nothing leaves unless someone turns it on.</a:t>
            </a:r>
            <a:endParaRPr sz="1680"/>
          </a:p>
        </p:txBody>
      </p:sp>
      <p:cxnSp>
        <p:nvCxnSpPr>
          <p:cNvPr id="7" name="strip rule"/>
          <p:cNvCxnSpPr/>
          <p:nvPr/>
        </p:nvCxnSpPr>
        <p:spPr>
          <a:xfrm>
            <a:off x="914400" y="5735117"/>
            <a:ext cx="2407920" cy="0"/>
          </a:xfrm>
          <a:prstGeom prst="line">
            <a:avLst/>
          </a:prstGeom>
          <a:ln w="9525">
            <a:solidFill>
              <a:srgbClr val="D2D2D7"/>
            </a:solidFill>
          </a:ln>
        </p:spPr>
      </p:cxnSp>
      <p:sp>
        <p:nvSpPr>
          <p:cNvPr id="8" name="strip text"/>
          <p:cNvSpPr txBox="1"/>
          <p:nvPr/>
        </p:nvSpPr>
        <p:spPr>
          <a:xfrm>
            <a:off x="914400" y="5872277"/>
            <a:ext cx="240792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Clipboard history off by default; passwords skipped</a:t>
            </a:r>
            <a:endParaRPr sz="1020"/>
          </a:p>
        </p:txBody>
      </p:sp>
      <p:cxnSp>
        <p:nvCxnSpPr>
          <p:cNvPr id="9" name="strip rule"/>
          <p:cNvCxnSpPr/>
          <p:nvPr/>
        </p:nvCxnSpPr>
        <p:spPr>
          <a:xfrm>
            <a:off x="3566160" y="5735117"/>
            <a:ext cx="2407920" cy="0"/>
          </a:xfrm>
          <a:prstGeom prst="line">
            <a:avLst/>
          </a:prstGeom>
          <a:ln w="9525">
            <a:solidFill>
              <a:srgbClr val="D2D2D7"/>
            </a:solidFill>
          </a:ln>
        </p:spPr>
      </p:cxnSp>
      <p:sp>
        <p:nvSpPr>
          <p:cNvPr id="10" name="strip text"/>
          <p:cNvSpPr txBox="1"/>
          <p:nvPr/>
        </p:nvSpPr>
        <p:spPr>
          <a:xfrm>
            <a:off x="3566160" y="5872277"/>
            <a:ext cx="240792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No meeting bot</a:t>
            </a:r>
            <a:endParaRPr sz="1020"/>
          </a:p>
        </p:txBody>
      </p:sp>
      <p:cxnSp>
        <p:nvCxnSpPr>
          <p:cNvPr id="11" name="strip rule"/>
          <p:cNvCxnSpPr/>
          <p:nvPr/>
        </p:nvCxnSpPr>
        <p:spPr>
          <a:xfrm>
            <a:off x="6217920" y="5735117"/>
            <a:ext cx="2407920" cy="0"/>
          </a:xfrm>
          <a:prstGeom prst="line">
            <a:avLst/>
          </a:prstGeom>
          <a:ln w="9525">
            <a:solidFill>
              <a:srgbClr val="D2D2D7"/>
            </a:solidFill>
          </a:ln>
        </p:spPr>
      </p:cxnSp>
      <p:sp>
        <p:nvSpPr>
          <p:cNvPr id="12" name="strip text"/>
          <p:cNvSpPr txBox="1"/>
          <p:nvPr/>
        </p:nvSpPr>
        <p:spPr>
          <a:xfrm>
            <a:off x="6217920" y="5872277"/>
            <a:ext cx="240792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Recorded browser passwords never saved</a:t>
            </a:r>
            <a:endParaRPr sz="1020"/>
          </a:p>
        </p:txBody>
      </p:sp>
      <p:cxnSp>
        <p:nvCxnSpPr>
          <p:cNvPr id="13" name="strip rule"/>
          <p:cNvCxnSpPr/>
          <p:nvPr/>
        </p:nvCxnSpPr>
        <p:spPr>
          <a:xfrm>
            <a:off x="8869680" y="5735117"/>
            <a:ext cx="2407920" cy="0"/>
          </a:xfrm>
          <a:prstGeom prst="line">
            <a:avLst/>
          </a:prstGeom>
          <a:ln w="9525">
            <a:solidFill>
              <a:srgbClr val="D2D2D7"/>
            </a:solidFill>
          </a:ln>
        </p:spPr>
      </p:cxnSp>
      <p:sp>
        <p:nvSpPr>
          <p:cNvPr id="14" name="strip text"/>
          <p:cNvSpPr txBox="1"/>
          <p:nvPr/>
        </p:nvSpPr>
        <p:spPr>
          <a:xfrm>
            <a:off x="8869680" y="5872277"/>
            <a:ext cx="240792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Face Unlock not in the sold build</a:t>
            </a:r>
            <a:endParaRPr sz="1020"/>
          </a:p>
        </p:txBody>
      </p:sp>
      <p:sp>
        <p:nvSpPr>
          <p:cNvPr id="15" name="list head"/>
          <p:cNvSpPr txBox="1"/>
          <p:nvPr/>
        </p:nvSpPr>
        <p:spPr>
          <a:xfrm>
            <a:off x="914400" y="2468423"/>
            <a:ext cx="505968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Stays on the Mac</a:t>
            </a:r>
            <a:endParaRPr sz="1680"/>
          </a:p>
        </p:txBody>
      </p:sp>
      <p:cxnSp>
        <p:nvCxnSpPr>
          <p:cNvPr id="16" name="list head rule"/>
          <p:cNvCxnSpPr/>
          <p:nvPr/>
        </p:nvCxnSpPr>
        <p:spPr>
          <a:xfrm>
            <a:off x="914400" y="2834640"/>
            <a:ext cx="5059680" cy="0"/>
          </a:xfrm>
          <a:prstGeom prst="line">
            <a:avLst/>
          </a:prstGeom>
          <a:ln w="9525">
            <a:solidFill>
              <a:srgbClr val="1D1D1F"/>
            </a:solidFill>
          </a:ln>
        </p:spPr>
      </p:cxnSp>
      <p:grpSp>
        <p:nvGrpSpPr>
          <p:cNvPr id="17" name="check mark"/>
          <p:cNvGrpSpPr/>
          <p:nvPr/>
        </p:nvGrpSpPr>
        <p:grpSpPr>
          <a:xfrm>
            <a:off x="920801" y="2978567"/>
            <a:ext cx="115214" cy="89611"/>
            <a:chOff x="920801" y="2978567"/>
            <a:chExt cx="115214" cy="89611"/>
          </a:xfrm>
        </p:grpSpPr>
        <p:cxnSp>
          <p:nvCxnSpPr>
            <p:cNvPr id="18" name="Connector 17"/>
            <p:cNvCxnSpPr/>
            <p:nvPr/>
          </p:nvCxnSpPr>
          <p:spPr>
            <a:xfrm>
              <a:off x="920801" y="3028493"/>
              <a:ext cx="42245" cy="39685"/>
            </a:xfrm>
            <a:prstGeom prst="line">
              <a:avLst/>
            </a:prstGeom>
            <a:ln w="19050">
              <a:solidFill>
                <a:srgbClr val="1D1D1F"/>
              </a:solidFill>
            </a:ln>
          </p:spPr>
        </p:cxnSp>
        <p:cxnSp>
          <p:nvCxnSpPr>
            <p:cNvPr id="19" name="Connector 18"/>
            <p:cNvCxnSpPr/>
            <p:nvPr/>
          </p:nvCxnSpPr>
          <p:spPr>
            <a:xfrm flipV="1">
              <a:off x="963046" y="2978567"/>
              <a:ext cx="72969" cy="89611"/>
            </a:xfrm>
            <a:prstGeom prst="line">
              <a:avLst/>
            </a:prstGeom>
            <a:ln w="19050">
              <a:solidFill>
                <a:srgbClr val="1D1D1F"/>
              </a:solidFill>
            </a:ln>
          </p:spPr>
        </p:cxnSp>
      </p:grpSp>
      <p:sp>
        <p:nvSpPr>
          <p:cNvPr id="20" name="list item"/>
          <p:cNvSpPr txBox="1"/>
          <p:nvPr/>
        </p:nvSpPr>
        <p:spPr>
          <a:xfrm>
            <a:off x="1170432" y="2926080"/>
            <a:ext cx="4803648"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Speech, meeting audio and transcripts</a:t>
            </a:r>
            <a:endParaRPr sz="1320"/>
          </a:p>
        </p:txBody>
      </p:sp>
      <p:cxnSp>
        <p:nvCxnSpPr>
          <p:cNvPr id="21" name="list rule"/>
          <p:cNvCxnSpPr/>
          <p:nvPr/>
        </p:nvCxnSpPr>
        <p:spPr>
          <a:xfrm>
            <a:off x="914400" y="3261055"/>
            <a:ext cx="5059680" cy="0"/>
          </a:xfrm>
          <a:prstGeom prst="line">
            <a:avLst/>
          </a:prstGeom>
          <a:ln w="9525">
            <a:solidFill>
              <a:srgbClr val="D2D2D7"/>
            </a:solidFill>
          </a:ln>
        </p:spPr>
      </p:cxnSp>
      <p:grpSp>
        <p:nvGrpSpPr>
          <p:cNvPr id="22" name="check mark"/>
          <p:cNvGrpSpPr/>
          <p:nvPr/>
        </p:nvGrpSpPr>
        <p:grpSpPr>
          <a:xfrm>
            <a:off x="920801" y="3404982"/>
            <a:ext cx="115214" cy="89611"/>
            <a:chOff x="920801" y="3404982"/>
            <a:chExt cx="115214" cy="89611"/>
          </a:xfrm>
        </p:grpSpPr>
        <p:cxnSp>
          <p:nvCxnSpPr>
            <p:cNvPr id="23" name="Connector 22"/>
            <p:cNvCxnSpPr/>
            <p:nvPr/>
          </p:nvCxnSpPr>
          <p:spPr>
            <a:xfrm>
              <a:off x="920801" y="3454908"/>
              <a:ext cx="42245" cy="39685"/>
            </a:xfrm>
            <a:prstGeom prst="line">
              <a:avLst/>
            </a:prstGeom>
            <a:ln w="19050">
              <a:solidFill>
                <a:srgbClr val="1D1D1F"/>
              </a:solidFill>
            </a:ln>
          </p:spPr>
        </p:cxnSp>
        <p:cxnSp>
          <p:nvCxnSpPr>
            <p:cNvPr id="24" name="Connector 23"/>
            <p:cNvCxnSpPr/>
            <p:nvPr/>
          </p:nvCxnSpPr>
          <p:spPr>
            <a:xfrm flipV="1">
              <a:off x="963046" y="3404982"/>
              <a:ext cx="72969" cy="89611"/>
            </a:xfrm>
            <a:prstGeom prst="line">
              <a:avLst/>
            </a:prstGeom>
            <a:ln w="19050">
              <a:solidFill>
                <a:srgbClr val="1D1D1F"/>
              </a:solidFill>
            </a:ln>
          </p:spPr>
        </p:cxnSp>
      </p:grpSp>
      <p:sp>
        <p:nvSpPr>
          <p:cNvPr id="25" name="list item"/>
          <p:cNvSpPr txBox="1"/>
          <p:nvPr/>
        </p:nvSpPr>
        <p:spPr>
          <a:xfrm>
            <a:off x="1170432" y="3352495"/>
            <a:ext cx="4803648"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Screenshots, clipboard, Spaces, camera</a:t>
            </a:r>
            <a:endParaRPr sz="1320"/>
          </a:p>
        </p:txBody>
      </p:sp>
      <p:cxnSp>
        <p:nvCxnSpPr>
          <p:cNvPr id="26" name="list rule"/>
          <p:cNvCxnSpPr/>
          <p:nvPr/>
        </p:nvCxnSpPr>
        <p:spPr>
          <a:xfrm>
            <a:off x="914400" y="3687470"/>
            <a:ext cx="5059680" cy="0"/>
          </a:xfrm>
          <a:prstGeom prst="line">
            <a:avLst/>
          </a:prstGeom>
          <a:ln w="9525">
            <a:solidFill>
              <a:srgbClr val="D2D2D7"/>
            </a:solidFill>
          </a:ln>
        </p:spPr>
      </p:cxnSp>
      <p:grpSp>
        <p:nvGrpSpPr>
          <p:cNvPr id="27" name="check mark"/>
          <p:cNvGrpSpPr/>
          <p:nvPr/>
        </p:nvGrpSpPr>
        <p:grpSpPr>
          <a:xfrm>
            <a:off x="920801" y="3831397"/>
            <a:ext cx="115214" cy="89611"/>
            <a:chOff x="920801" y="3831397"/>
            <a:chExt cx="115214" cy="89611"/>
          </a:xfrm>
        </p:grpSpPr>
        <p:cxnSp>
          <p:nvCxnSpPr>
            <p:cNvPr id="28" name="Connector 27"/>
            <p:cNvCxnSpPr/>
            <p:nvPr/>
          </p:nvCxnSpPr>
          <p:spPr>
            <a:xfrm>
              <a:off x="920801" y="3881323"/>
              <a:ext cx="42245" cy="39685"/>
            </a:xfrm>
            <a:prstGeom prst="line">
              <a:avLst/>
            </a:prstGeom>
            <a:ln w="19050">
              <a:solidFill>
                <a:srgbClr val="1D1D1F"/>
              </a:solidFill>
            </a:ln>
          </p:spPr>
        </p:cxnSp>
        <p:cxnSp>
          <p:nvCxnSpPr>
            <p:cNvPr id="29" name="Connector 28"/>
            <p:cNvCxnSpPr/>
            <p:nvPr/>
          </p:nvCxnSpPr>
          <p:spPr>
            <a:xfrm flipV="1">
              <a:off x="963046" y="3831397"/>
              <a:ext cx="72969" cy="89611"/>
            </a:xfrm>
            <a:prstGeom prst="line">
              <a:avLst/>
            </a:prstGeom>
            <a:ln w="19050">
              <a:solidFill>
                <a:srgbClr val="1D1D1F"/>
              </a:solidFill>
            </a:ln>
          </p:spPr>
        </p:cxnSp>
      </p:grpSp>
      <p:sp>
        <p:nvSpPr>
          <p:cNvPr id="30" name="list item"/>
          <p:cNvSpPr txBox="1"/>
          <p:nvPr/>
        </p:nvSpPr>
        <p:spPr>
          <a:xfrm>
            <a:off x="1170432" y="3778910"/>
            <a:ext cx="4803648"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AI: Apple Intelligence, Vision, Speech, Translation</a:t>
            </a:r>
            <a:endParaRPr sz="1320"/>
          </a:p>
        </p:txBody>
      </p:sp>
      <p:cxnSp>
        <p:nvCxnSpPr>
          <p:cNvPr id="31" name="list rule"/>
          <p:cNvCxnSpPr/>
          <p:nvPr/>
        </p:nvCxnSpPr>
        <p:spPr>
          <a:xfrm>
            <a:off x="914400" y="4113886"/>
            <a:ext cx="5059680" cy="0"/>
          </a:xfrm>
          <a:prstGeom prst="line">
            <a:avLst/>
          </a:prstGeom>
          <a:ln w="9525">
            <a:solidFill>
              <a:srgbClr val="D2D2D7"/>
            </a:solidFill>
          </a:ln>
        </p:spPr>
      </p:cxnSp>
      <p:grpSp>
        <p:nvGrpSpPr>
          <p:cNvPr id="32" name="check mark"/>
          <p:cNvGrpSpPr/>
          <p:nvPr/>
        </p:nvGrpSpPr>
        <p:grpSpPr>
          <a:xfrm>
            <a:off x="920801" y="4257812"/>
            <a:ext cx="115214" cy="89611"/>
            <a:chOff x="920801" y="4257812"/>
            <a:chExt cx="115214" cy="89611"/>
          </a:xfrm>
        </p:grpSpPr>
        <p:cxnSp>
          <p:nvCxnSpPr>
            <p:cNvPr id="33" name="Connector 32"/>
            <p:cNvCxnSpPr/>
            <p:nvPr/>
          </p:nvCxnSpPr>
          <p:spPr>
            <a:xfrm>
              <a:off x="920801" y="4307738"/>
              <a:ext cx="42245" cy="39685"/>
            </a:xfrm>
            <a:prstGeom prst="line">
              <a:avLst/>
            </a:prstGeom>
            <a:ln w="19050">
              <a:solidFill>
                <a:srgbClr val="1D1D1F"/>
              </a:solidFill>
            </a:ln>
          </p:spPr>
        </p:cxnSp>
        <p:cxnSp>
          <p:nvCxnSpPr>
            <p:cNvPr id="34" name="Connector 33"/>
            <p:cNvCxnSpPr/>
            <p:nvPr/>
          </p:nvCxnSpPr>
          <p:spPr>
            <a:xfrm flipV="1">
              <a:off x="963046" y="4257812"/>
              <a:ext cx="72969" cy="89611"/>
            </a:xfrm>
            <a:prstGeom prst="line">
              <a:avLst/>
            </a:prstGeom>
            <a:ln w="19050">
              <a:solidFill>
                <a:srgbClr val="1D1D1F"/>
              </a:solidFill>
            </a:ln>
          </p:spPr>
        </p:cxnSp>
      </p:grpSp>
      <p:sp>
        <p:nvSpPr>
          <p:cNvPr id="35" name="list item"/>
          <p:cNvSpPr txBox="1"/>
          <p:nvPr/>
        </p:nvSpPr>
        <p:spPr>
          <a:xfrm>
            <a:off x="1170432" y="4205326"/>
            <a:ext cx="4803648"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Keys stored in the macOS Keychain</a:t>
            </a:r>
            <a:endParaRPr sz="1320"/>
          </a:p>
        </p:txBody>
      </p:sp>
      <p:cxnSp>
        <p:nvCxnSpPr>
          <p:cNvPr id="36" name="list rule"/>
          <p:cNvCxnSpPr/>
          <p:nvPr/>
        </p:nvCxnSpPr>
        <p:spPr>
          <a:xfrm>
            <a:off x="914400" y="4540301"/>
            <a:ext cx="5059680" cy="0"/>
          </a:xfrm>
          <a:prstGeom prst="line">
            <a:avLst/>
          </a:prstGeom>
          <a:ln w="9525">
            <a:solidFill>
              <a:srgbClr val="D2D2D7"/>
            </a:solidFill>
          </a:ln>
        </p:spPr>
      </p:cxnSp>
      <p:sp>
        <p:nvSpPr>
          <p:cNvPr id="37" name="list head"/>
          <p:cNvSpPr txBox="1"/>
          <p:nvPr/>
        </p:nvSpPr>
        <p:spPr>
          <a:xfrm>
            <a:off x="6217920" y="2468423"/>
            <a:ext cx="505968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Leaves only by choice</a:t>
            </a:r>
            <a:endParaRPr sz="1680"/>
          </a:p>
        </p:txBody>
      </p:sp>
      <p:cxnSp>
        <p:nvCxnSpPr>
          <p:cNvPr id="38" name="list head rule"/>
          <p:cNvCxnSpPr/>
          <p:nvPr/>
        </p:nvCxnSpPr>
        <p:spPr>
          <a:xfrm>
            <a:off x="6217920" y="2834640"/>
            <a:ext cx="5059680" cy="0"/>
          </a:xfrm>
          <a:prstGeom prst="line">
            <a:avLst/>
          </a:prstGeom>
          <a:ln w="9525">
            <a:solidFill>
              <a:srgbClr val="1D1D1F"/>
            </a:solidFill>
          </a:ln>
        </p:spPr>
      </p:cxnSp>
      <p:grpSp>
        <p:nvGrpSpPr>
          <p:cNvPr id="39" name="cross mark"/>
          <p:cNvGrpSpPr/>
          <p:nvPr/>
        </p:nvGrpSpPr>
        <p:grpSpPr>
          <a:xfrm>
            <a:off x="6233282" y="2973446"/>
            <a:ext cx="97292" cy="97292"/>
            <a:chOff x="6233282" y="2973446"/>
            <a:chExt cx="97292" cy="97292"/>
          </a:xfrm>
        </p:grpSpPr>
        <p:cxnSp>
          <p:nvCxnSpPr>
            <p:cNvPr id="40" name="Connector 39"/>
            <p:cNvCxnSpPr/>
            <p:nvPr/>
          </p:nvCxnSpPr>
          <p:spPr>
            <a:xfrm>
              <a:off x="6233282" y="2973446"/>
              <a:ext cx="97292" cy="97292"/>
            </a:xfrm>
            <a:prstGeom prst="line">
              <a:avLst/>
            </a:prstGeom>
            <a:ln w="19050">
              <a:solidFill>
                <a:srgbClr val="1D1D1F"/>
              </a:solidFill>
            </a:ln>
          </p:spPr>
        </p:cxnSp>
        <p:cxnSp>
          <p:nvCxnSpPr>
            <p:cNvPr id="41" name="Connector 40"/>
            <p:cNvCxnSpPr/>
            <p:nvPr/>
          </p:nvCxnSpPr>
          <p:spPr>
            <a:xfrm flipH="1">
              <a:off x="6233282" y="2973446"/>
              <a:ext cx="97292" cy="97292"/>
            </a:xfrm>
            <a:prstGeom prst="line">
              <a:avLst/>
            </a:prstGeom>
            <a:ln w="19050">
              <a:solidFill>
                <a:srgbClr val="1D1D1F"/>
              </a:solidFill>
            </a:ln>
          </p:spPr>
        </p:cxnSp>
      </p:grpSp>
      <p:sp>
        <p:nvSpPr>
          <p:cNvPr id="42" name="list item"/>
          <p:cNvSpPr txBox="1"/>
          <p:nvPr/>
        </p:nvSpPr>
        <p:spPr>
          <a:xfrm>
            <a:off x="6473952" y="2926080"/>
            <a:ext cx="4803648"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Groq: opt-in per feature, with your own key</a:t>
            </a:r>
            <a:endParaRPr sz="1320"/>
          </a:p>
        </p:txBody>
      </p:sp>
      <p:cxnSp>
        <p:nvCxnSpPr>
          <p:cNvPr id="43" name="list rule"/>
          <p:cNvCxnSpPr/>
          <p:nvPr/>
        </p:nvCxnSpPr>
        <p:spPr>
          <a:xfrm>
            <a:off x="6217920" y="3261055"/>
            <a:ext cx="5059680" cy="0"/>
          </a:xfrm>
          <a:prstGeom prst="line">
            <a:avLst/>
          </a:prstGeom>
          <a:ln w="9525">
            <a:solidFill>
              <a:srgbClr val="D2D2D7"/>
            </a:solidFill>
          </a:ln>
        </p:spPr>
      </p:cxnSp>
      <p:grpSp>
        <p:nvGrpSpPr>
          <p:cNvPr id="44" name="cross mark"/>
          <p:cNvGrpSpPr/>
          <p:nvPr/>
        </p:nvGrpSpPr>
        <p:grpSpPr>
          <a:xfrm>
            <a:off x="6233282" y="3399861"/>
            <a:ext cx="97292" cy="97292"/>
            <a:chOff x="6233282" y="3399861"/>
            <a:chExt cx="97292" cy="97292"/>
          </a:xfrm>
        </p:grpSpPr>
        <p:cxnSp>
          <p:nvCxnSpPr>
            <p:cNvPr id="45" name="Connector 44"/>
            <p:cNvCxnSpPr/>
            <p:nvPr/>
          </p:nvCxnSpPr>
          <p:spPr>
            <a:xfrm>
              <a:off x="6233282" y="3399861"/>
              <a:ext cx="97292" cy="97292"/>
            </a:xfrm>
            <a:prstGeom prst="line">
              <a:avLst/>
            </a:prstGeom>
            <a:ln w="19050">
              <a:solidFill>
                <a:srgbClr val="1D1D1F"/>
              </a:solidFill>
            </a:ln>
          </p:spPr>
        </p:cxnSp>
        <p:cxnSp>
          <p:nvCxnSpPr>
            <p:cNvPr id="46" name="Connector 45"/>
            <p:cNvCxnSpPr/>
            <p:nvPr/>
          </p:nvCxnSpPr>
          <p:spPr>
            <a:xfrm flipH="1">
              <a:off x="6233282" y="3399861"/>
              <a:ext cx="97292" cy="97292"/>
            </a:xfrm>
            <a:prstGeom prst="line">
              <a:avLst/>
            </a:prstGeom>
            <a:ln w="19050">
              <a:solidFill>
                <a:srgbClr val="1D1D1F"/>
              </a:solidFill>
            </a:ln>
          </p:spPr>
        </p:cxnSp>
      </p:grpSp>
      <p:sp>
        <p:nvSpPr>
          <p:cNvPr id="47" name="list item"/>
          <p:cNvSpPr txBox="1"/>
          <p:nvPr/>
        </p:nvSpPr>
        <p:spPr>
          <a:xfrm>
            <a:off x="6473952" y="3352495"/>
            <a:ext cx="4803648"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Sends the screenshot under the pointer and the question, only while asking</a:t>
            </a:r>
            <a:endParaRPr sz="1320"/>
          </a:p>
        </p:txBody>
      </p:sp>
      <p:cxnSp>
        <p:nvCxnSpPr>
          <p:cNvPr id="48" name="list rule"/>
          <p:cNvCxnSpPr/>
          <p:nvPr/>
        </p:nvCxnSpPr>
        <p:spPr>
          <a:xfrm>
            <a:off x="6217920" y="3930548"/>
            <a:ext cx="5059680" cy="0"/>
          </a:xfrm>
          <a:prstGeom prst="line">
            <a:avLst/>
          </a:prstGeom>
          <a:ln w="9525">
            <a:solidFill>
              <a:srgbClr val="D2D2D7"/>
            </a:solidFill>
          </a:ln>
        </p:spPr>
      </p:cxnSp>
      <p:grpSp>
        <p:nvGrpSpPr>
          <p:cNvPr id="49" name="cross mark"/>
          <p:cNvGrpSpPr/>
          <p:nvPr/>
        </p:nvGrpSpPr>
        <p:grpSpPr>
          <a:xfrm>
            <a:off x="6233282" y="4069354"/>
            <a:ext cx="97292" cy="97292"/>
            <a:chOff x="6233282" y="4069354"/>
            <a:chExt cx="97292" cy="97292"/>
          </a:xfrm>
        </p:grpSpPr>
        <p:cxnSp>
          <p:nvCxnSpPr>
            <p:cNvPr id="50" name="Connector 49"/>
            <p:cNvCxnSpPr/>
            <p:nvPr/>
          </p:nvCxnSpPr>
          <p:spPr>
            <a:xfrm>
              <a:off x="6233282" y="4069354"/>
              <a:ext cx="97292" cy="97292"/>
            </a:xfrm>
            <a:prstGeom prst="line">
              <a:avLst/>
            </a:prstGeom>
            <a:ln w="19050">
              <a:solidFill>
                <a:srgbClr val="1D1D1F"/>
              </a:solidFill>
            </a:ln>
          </p:spPr>
        </p:cxnSp>
        <p:cxnSp>
          <p:nvCxnSpPr>
            <p:cNvPr id="51" name="Connector 50"/>
            <p:cNvCxnSpPr/>
            <p:nvPr/>
          </p:nvCxnSpPr>
          <p:spPr>
            <a:xfrm flipH="1">
              <a:off x="6233282" y="4069354"/>
              <a:ext cx="97292" cy="97292"/>
            </a:xfrm>
            <a:prstGeom prst="line">
              <a:avLst/>
            </a:prstGeom>
            <a:ln w="19050">
              <a:solidFill>
                <a:srgbClr val="1D1D1F"/>
              </a:solidFill>
            </a:ln>
          </p:spPr>
        </p:cxnSp>
      </p:grpSp>
      <p:sp>
        <p:nvSpPr>
          <p:cNvPr id="52" name="list item"/>
          <p:cNvSpPr txBox="1"/>
          <p:nvPr/>
        </p:nvSpPr>
        <p:spPr>
          <a:xfrm>
            <a:off x="6473952" y="4021988"/>
            <a:ext cx="4803648"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License check: key, anonymous device ID, app version to Lemon Squeezy</a:t>
            </a:r>
            <a:endParaRPr sz="1320"/>
          </a:p>
        </p:txBody>
      </p:sp>
      <p:cxnSp>
        <p:nvCxnSpPr>
          <p:cNvPr id="53" name="list rule"/>
          <p:cNvCxnSpPr/>
          <p:nvPr/>
        </p:nvCxnSpPr>
        <p:spPr>
          <a:xfrm>
            <a:off x="6217920" y="4600042"/>
            <a:ext cx="5059680" cy="0"/>
          </a:xfrm>
          <a:prstGeom prst="line">
            <a:avLst/>
          </a:prstGeom>
          <a:ln w="9525">
            <a:solidFill>
              <a:srgbClr val="D2D2D7"/>
            </a:solidFill>
          </a:ln>
        </p:spPr>
      </p:cxnSp>
      <p:grpSp>
        <p:nvGrpSpPr>
          <p:cNvPr id="54" name="cross mark"/>
          <p:cNvGrpSpPr/>
          <p:nvPr/>
        </p:nvGrpSpPr>
        <p:grpSpPr>
          <a:xfrm>
            <a:off x="6233282" y="4738848"/>
            <a:ext cx="97292" cy="97292"/>
            <a:chOff x="6233282" y="4738848"/>
            <a:chExt cx="97292" cy="97292"/>
          </a:xfrm>
        </p:grpSpPr>
        <p:cxnSp>
          <p:nvCxnSpPr>
            <p:cNvPr id="55" name="Connector 54"/>
            <p:cNvCxnSpPr/>
            <p:nvPr/>
          </p:nvCxnSpPr>
          <p:spPr>
            <a:xfrm>
              <a:off x="6233282" y="4738848"/>
              <a:ext cx="97292" cy="97292"/>
            </a:xfrm>
            <a:prstGeom prst="line">
              <a:avLst/>
            </a:prstGeom>
            <a:ln w="19050">
              <a:solidFill>
                <a:srgbClr val="1D1D1F"/>
              </a:solidFill>
            </a:ln>
          </p:spPr>
        </p:cxnSp>
        <p:cxnSp>
          <p:nvCxnSpPr>
            <p:cNvPr id="56" name="Connector 55"/>
            <p:cNvCxnSpPr/>
            <p:nvPr/>
          </p:nvCxnSpPr>
          <p:spPr>
            <a:xfrm flipH="1">
              <a:off x="6233282" y="4738848"/>
              <a:ext cx="97292" cy="97292"/>
            </a:xfrm>
            <a:prstGeom prst="line">
              <a:avLst/>
            </a:prstGeom>
            <a:ln w="19050">
              <a:solidFill>
                <a:srgbClr val="1D1D1F"/>
              </a:solidFill>
            </a:ln>
          </p:spPr>
        </p:cxnSp>
      </p:grpSp>
      <p:sp>
        <p:nvSpPr>
          <p:cNvPr id="57" name="list item"/>
          <p:cNvSpPr txBox="1"/>
          <p:nvPr/>
        </p:nvSpPr>
        <p:spPr>
          <a:xfrm>
            <a:off x="6473952" y="4691482"/>
            <a:ext cx="4803648" cy="243535"/>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Nothing else. No analytics.</a:t>
            </a:r>
            <a:endParaRPr sz="1320"/>
          </a:p>
        </p:txBody>
      </p:sp>
      <p:cxnSp>
        <p:nvCxnSpPr>
          <p:cNvPr id="58" name="list rule"/>
          <p:cNvCxnSpPr/>
          <p:nvPr/>
        </p:nvCxnSpPr>
        <p:spPr>
          <a:xfrm>
            <a:off x="6217920" y="5026457"/>
            <a:ext cx="5059680" cy="0"/>
          </a:xfrm>
          <a:prstGeom prst="line">
            <a:avLst/>
          </a:prstGeom>
          <a:ln w="9525">
            <a:solidFill>
              <a:srgbClr val="D2D2D7"/>
            </a:solidFill>
          </a:ln>
        </p:spPr>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Check PPPC behaviour against Apple's Privacy Preferences Policy Control payload docs for your macOS version.</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Deployment</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Deploy in a day</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Signed, notarized and packaged for your MDM</a:t>
            </a:r>
            <a:endParaRPr sz="1680"/>
          </a:p>
        </p:txBody>
      </p:sp>
      <p:cxnSp>
        <p:nvCxnSpPr>
          <p:cNvPr id="7" name="strip rule"/>
          <p:cNvCxnSpPr/>
          <p:nvPr/>
        </p:nvCxnSpPr>
        <p:spPr>
          <a:xfrm>
            <a:off x="914400" y="5381549"/>
            <a:ext cx="5059680" cy="0"/>
          </a:xfrm>
          <a:prstGeom prst="line">
            <a:avLst/>
          </a:prstGeom>
          <a:ln w="9525">
            <a:solidFill>
              <a:srgbClr val="D2D2D7"/>
            </a:solidFill>
          </a:ln>
        </p:spPr>
      </p:cxnSp>
      <p:sp>
        <p:nvSpPr>
          <p:cNvPr id="8" name="strip text"/>
          <p:cNvSpPr txBox="1"/>
          <p:nvPr/>
        </p:nvSpPr>
        <p:spPr>
          <a:xfrm>
            <a:off x="914400" y="5518709"/>
            <a:ext cx="5059680"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Status: signing, notarization, licensing and the .pkg are on the 1.0 checklist. The pilot runs on the notarized 1.0 build. </a:t>
            </a:r>
            <a:r>
              <a:rPr sz="1320" b="0" i="1">
                <a:solidFill>
                  <a:srgbClr val="86868B"/>
                </a:solidFill>
                <a:latin typeface="Helvetica Neue"/>
              </a:rPr>
              <a:t>[TBD: 1.0 date]</a:t>
            </a:r>
            <a:endParaRPr sz="1320"/>
          </a:p>
        </p:txBody>
      </p:sp>
      <p:cxnSp>
        <p:nvCxnSpPr>
          <p:cNvPr id="9" name="strip rule"/>
          <p:cNvCxnSpPr/>
          <p:nvPr/>
        </p:nvCxnSpPr>
        <p:spPr>
          <a:xfrm>
            <a:off x="6217920" y="5381549"/>
            <a:ext cx="5059680" cy="0"/>
          </a:xfrm>
          <a:prstGeom prst="line">
            <a:avLst/>
          </a:prstGeom>
          <a:ln w="9525">
            <a:solidFill>
              <a:srgbClr val="D2D2D7"/>
            </a:solidFill>
          </a:ln>
        </p:spPr>
      </p:cxnSp>
      <p:sp>
        <p:nvSpPr>
          <p:cNvPr id="10" name="strip text"/>
          <p:cNvSpPr txBox="1"/>
          <p:nvPr/>
        </p:nvSpPr>
        <p:spPr>
          <a:xfrm>
            <a:off x="6217920" y="5518709"/>
            <a:ext cx="5059680"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Requires Apple silicon and macOS 15+. Node 20+ only for UI Audit and Browser Flows.</a:t>
            </a:r>
            <a:endParaRPr sz="1320"/>
          </a:p>
        </p:txBody>
      </p:sp>
      <p:cxnSp>
        <p:nvCxnSpPr>
          <p:cNvPr id="11" name="step rule"/>
          <p:cNvCxnSpPr/>
          <p:nvPr/>
        </p:nvCxnSpPr>
        <p:spPr>
          <a:xfrm>
            <a:off x="914400" y="2589581"/>
            <a:ext cx="6827520" cy="0"/>
          </a:xfrm>
          <a:prstGeom prst="line">
            <a:avLst/>
          </a:prstGeom>
          <a:ln w="9525">
            <a:solidFill>
              <a:srgbClr val="D2D2D7"/>
            </a:solidFill>
          </a:ln>
        </p:spPr>
      </p:cxnSp>
      <p:sp>
        <p:nvSpPr>
          <p:cNvPr id="12" name="step number"/>
          <p:cNvSpPr txBox="1"/>
          <p:nvPr/>
        </p:nvSpPr>
        <p:spPr>
          <a:xfrm>
            <a:off x="914400" y="2700833"/>
            <a:ext cx="29260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01</a:t>
            </a:r>
            <a:endParaRPr sz="900"/>
          </a:p>
        </p:txBody>
      </p:sp>
      <p:sp>
        <p:nvSpPr>
          <p:cNvPr id="13" name="step label"/>
          <p:cNvSpPr txBox="1"/>
          <p:nvPr/>
        </p:nvSpPr>
        <p:spPr>
          <a:xfrm>
            <a:off x="1243584" y="2673401"/>
            <a:ext cx="137160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Package</a:t>
            </a:r>
            <a:endParaRPr sz="1680"/>
          </a:p>
        </p:txBody>
      </p:sp>
      <p:sp>
        <p:nvSpPr>
          <p:cNvPr id="14" name="step text"/>
          <p:cNvSpPr txBox="1"/>
          <p:nvPr/>
        </p:nvSpPr>
        <p:spPr>
          <a:xfrm>
            <a:off x="2743200" y="2673401"/>
            <a:ext cx="4998720" cy="25648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Developer ID signed, notarized .pkg (com.sparkv.app)</a:t>
            </a:r>
            <a:endParaRPr sz="1320"/>
          </a:p>
        </p:txBody>
      </p:sp>
      <p:cxnSp>
        <p:nvCxnSpPr>
          <p:cNvPr id="15" name="step rule"/>
          <p:cNvCxnSpPr/>
          <p:nvPr/>
        </p:nvCxnSpPr>
        <p:spPr>
          <a:xfrm>
            <a:off x="914400" y="3013710"/>
            <a:ext cx="6827520" cy="0"/>
          </a:xfrm>
          <a:prstGeom prst="line">
            <a:avLst/>
          </a:prstGeom>
          <a:ln w="9525">
            <a:solidFill>
              <a:srgbClr val="D2D2D7"/>
            </a:solidFill>
          </a:ln>
        </p:spPr>
      </p:cxnSp>
      <p:sp>
        <p:nvSpPr>
          <p:cNvPr id="16" name="step number"/>
          <p:cNvSpPr txBox="1"/>
          <p:nvPr/>
        </p:nvSpPr>
        <p:spPr>
          <a:xfrm>
            <a:off x="914400" y="3124962"/>
            <a:ext cx="29260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02</a:t>
            </a:r>
            <a:endParaRPr sz="900"/>
          </a:p>
        </p:txBody>
      </p:sp>
      <p:sp>
        <p:nvSpPr>
          <p:cNvPr id="17" name="step label"/>
          <p:cNvSpPr txBox="1"/>
          <p:nvPr/>
        </p:nvSpPr>
        <p:spPr>
          <a:xfrm>
            <a:off x="1243584" y="3097530"/>
            <a:ext cx="137160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Push</a:t>
            </a:r>
            <a:endParaRPr sz="1680"/>
          </a:p>
        </p:txBody>
      </p:sp>
      <p:sp>
        <p:nvSpPr>
          <p:cNvPr id="18" name="step text"/>
          <p:cNvSpPr txBox="1"/>
          <p:nvPr/>
        </p:nvSpPr>
        <p:spPr>
          <a:xfrm>
            <a:off x="2743200" y="3097530"/>
            <a:ext cx="4998720" cy="25648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Install with any MDM that deploys .pkg </a:t>
            </a:r>
            <a:r>
              <a:rPr sz="1320" b="0" i="1">
                <a:solidFill>
                  <a:srgbClr val="86868B"/>
                </a:solidFill>
                <a:latin typeface="Helvetica Neue"/>
              </a:rPr>
              <a:t>[TBD: MDMs tested]</a:t>
            </a:r>
            <a:endParaRPr sz="1320"/>
          </a:p>
        </p:txBody>
      </p:sp>
      <p:cxnSp>
        <p:nvCxnSpPr>
          <p:cNvPr id="19" name="step rule"/>
          <p:cNvCxnSpPr/>
          <p:nvPr/>
        </p:nvCxnSpPr>
        <p:spPr>
          <a:xfrm>
            <a:off x="914400" y="3437839"/>
            <a:ext cx="6827520" cy="0"/>
          </a:xfrm>
          <a:prstGeom prst="line">
            <a:avLst/>
          </a:prstGeom>
          <a:ln w="9525">
            <a:solidFill>
              <a:srgbClr val="D2D2D7"/>
            </a:solidFill>
          </a:ln>
        </p:spPr>
      </p:cxnSp>
      <p:sp>
        <p:nvSpPr>
          <p:cNvPr id="20" name="step number"/>
          <p:cNvSpPr txBox="1"/>
          <p:nvPr/>
        </p:nvSpPr>
        <p:spPr>
          <a:xfrm>
            <a:off x="914400" y="3549091"/>
            <a:ext cx="29260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03</a:t>
            </a:r>
            <a:endParaRPr sz="900"/>
          </a:p>
        </p:txBody>
      </p:sp>
      <p:sp>
        <p:nvSpPr>
          <p:cNvPr id="21" name="step label"/>
          <p:cNvSpPr txBox="1"/>
          <p:nvPr/>
        </p:nvSpPr>
        <p:spPr>
          <a:xfrm>
            <a:off x="1243584" y="3521659"/>
            <a:ext cx="137160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Pre-approve</a:t>
            </a:r>
            <a:endParaRPr sz="1680"/>
          </a:p>
        </p:txBody>
      </p:sp>
      <p:sp>
        <p:nvSpPr>
          <p:cNvPr id="22" name="step text"/>
          <p:cNvSpPr txBox="1"/>
          <p:nvPr/>
        </p:nvSpPr>
        <p:spPr>
          <a:xfrm>
            <a:off x="2743200" y="3521659"/>
            <a:ext cx="499872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PPPC profile allows Accessibility; Screen Recording, camera and mic stay user-approved</a:t>
            </a:r>
            <a:endParaRPr sz="1320"/>
          </a:p>
        </p:txBody>
      </p:sp>
      <p:cxnSp>
        <p:nvCxnSpPr>
          <p:cNvPr id="23" name="step rule"/>
          <p:cNvCxnSpPr/>
          <p:nvPr/>
        </p:nvCxnSpPr>
        <p:spPr>
          <a:xfrm>
            <a:off x="914400" y="4092092"/>
            <a:ext cx="6827520" cy="0"/>
          </a:xfrm>
          <a:prstGeom prst="line">
            <a:avLst/>
          </a:prstGeom>
          <a:ln w="9525">
            <a:solidFill>
              <a:srgbClr val="D2D2D7"/>
            </a:solidFill>
          </a:ln>
        </p:spPr>
      </p:cxnSp>
      <p:sp>
        <p:nvSpPr>
          <p:cNvPr id="24" name="step number"/>
          <p:cNvSpPr txBox="1"/>
          <p:nvPr/>
        </p:nvSpPr>
        <p:spPr>
          <a:xfrm>
            <a:off x="914400" y="4203344"/>
            <a:ext cx="29260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04</a:t>
            </a:r>
            <a:endParaRPr sz="900"/>
          </a:p>
        </p:txBody>
      </p:sp>
      <p:sp>
        <p:nvSpPr>
          <p:cNvPr id="25" name="step label"/>
          <p:cNvSpPr txBox="1"/>
          <p:nvPr/>
        </p:nvSpPr>
        <p:spPr>
          <a:xfrm>
            <a:off x="1243584" y="4175912"/>
            <a:ext cx="137160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First launch</a:t>
            </a:r>
            <a:endParaRPr sz="1680"/>
          </a:p>
        </p:txBody>
      </p:sp>
      <p:sp>
        <p:nvSpPr>
          <p:cNvPr id="26" name="step text"/>
          <p:cNvSpPr txBox="1"/>
          <p:nvPr/>
        </p:nvSpPr>
        <p:spPr>
          <a:xfrm>
            <a:off x="2743200" y="4175912"/>
            <a:ext cx="4998720" cy="25648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Setup explains each permission; nothing is asked until Allow</a:t>
            </a:r>
            <a:endParaRPr sz="1320"/>
          </a:p>
        </p:txBody>
      </p:sp>
      <p:cxnSp>
        <p:nvCxnSpPr>
          <p:cNvPr id="27" name="step rule"/>
          <p:cNvCxnSpPr/>
          <p:nvPr/>
        </p:nvCxnSpPr>
        <p:spPr>
          <a:xfrm>
            <a:off x="914400" y="4516222"/>
            <a:ext cx="6827520" cy="0"/>
          </a:xfrm>
          <a:prstGeom prst="line">
            <a:avLst/>
          </a:prstGeom>
          <a:ln w="9525">
            <a:solidFill>
              <a:srgbClr val="D2D2D7"/>
            </a:solidFill>
          </a:ln>
        </p:spPr>
      </p:cxnSp>
      <p:sp>
        <p:nvSpPr>
          <p:cNvPr id="28" name="step number"/>
          <p:cNvSpPr txBox="1"/>
          <p:nvPr/>
        </p:nvSpPr>
        <p:spPr>
          <a:xfrm>
            <a:off x="914400" y="4627474"/>
            <a:ext cx="292608"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05</a:t>
            </a:r>
            <a:endParaRPr sz="900"/>
          </a:p>
        </p:txBody>
      </p:sp>
      <p:sp>
        <p:nvSpPr>
          <p:cNvPr id="29" name="step label"/>
          <p:cNvSpPr txBox="1"/>
          <p:nvPr/>
        </p:nvSpPr>
        <p:spPr>
          <a:xfrm>
            <a:off x="1243584" y="4600042"/>
            <a:ext cx="137160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Activate</a:t>
            </a:r>
            <a:endParaRPr sz="1680"/>
          </a:p>
        </p:txBody>
      </p:sp>
      <p:sp>
        <p:nvSpPr>
          <p:cNvPr id="30" name="step text"/>
          <p:cNvSpPr txBox="1"/>
          <p:nvPr/>
        </p:nvSpPr>
        <p:spPr>
          <a:xfrm>
            <a:off x="2743200" y="4600042"/>
            <a:ext cx="4998720" cy="25648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Seat key from the Team portal; 2 Macs per person</a:t>
            </a:r>
            <a:endParaRPr sz="1320"/>
          </a:p>
        </p:txBody>
      </p:sp>
      <p:cxnSp>
        <p:nvCxnSpPr>
          <p:cNvPr id="31" name="step rule"/>
          <p:cNvCxnSpPr/>
          <p:nvPr/>
        </p:nvCxnSpPr>
        <p:spPr>
          <a:xfrm>
            <a:off x="914400" y="4940351"/>
            <a:ext cx="6827520" cy="0"/>
          </a:xfrm>
          <a:prstGeom prst="line">
            <a:avLst/>
          </a:prstGeom>
          <a:ln w="9525">
            <a:solidFill>
              <a:srgbClr val="D2D2D7"/>
            </a:solidFill>
          </a:ln>
        </p:spPr>
      </p:cxnSp>
      <p:pic>
        <p:nvPicPr>
          <p:cNvPr id="32" name="window 41-onboarding-permissions.png" descr="41-onboarding-permissions.png"/>
          <p:cNvPicPr>
            <a:picLocks noChangeAspect="1"/>
          </p:cNvPicPr>
          <p:nvPr/>
        </p:nvPicPr>
        <p:blipFill>
          <a:blip r:embed="rId3"/>
          <a:stretch>
            <a:fillRect/>
          </a:stretch>
        </p:blipFill>
        <p:spPr>
          <a:xfrm>
            <a:off x="8198291" y="2422703"/>
            <a:ext cx="3079309" cy="2684526"/>
          </a:xfrm>
          <a:prstGeom prst="roundRect">
            <a:avLst>
              <a:gd name="adj" fmla="val 2724"/>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Not available today: SSO, SCIM, a central policy console, live Spaces sync.</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13</a:t>
            </a:r>
            <a:endParaRPr sz="840"/>
          </a:p>
        </p:txBody>
      </p:sp>
      <p:sp>
        <p:nvSpPr>
          <p:cNvPr id="4" name="eyebrow"/>
          <p:cNvSpPr txBox="1"/>
          <p:nvPr/>
        </p:nvSpPr>
        <p:spPr>
          <a:xfrm>
            <a:off x="914400" y="731520"/>
            <a:ext cx="859536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Admin and support</a:t>
            </a:r>
            <a:endParaRPr sz="1320"/>
          </a:p>
        </p:txBody>
      </p:sp>
      <p:sp>
        <p:nvSpPr>
          <p:cNvPr id="5" name="headline"/>
          <p:cNvSpPr txBox="1"/>
          <p:nvPr/>
        </p:nvSpPr>
        <p:spPr>
          <a:xfrm>
            <a:off x="914400" y="1067257"/>
            <a:ext cx="8595360" cy="707593"/>
          </a:xfrm>
          <a:prstGeom prst="rect">
            <a:avLst/>
          </a:prstGeom>
          <a:noFill/>
        </p:spPr>
        <p:txBody>
          <a:bodyPr wrap="square" lIns="0" tIns="0" rIns="0" bIns="0" anchor="t">
            <a:noAutofit/>
          </a:bodyPr>
          <a:lstStyle/>
          <a:p>
            <a:pPr algn="l">
              <a:lnSpc>
                <a:spcPts val="5568"/>
              </a:lnSpc>
              <a:spcBef>
                <a:spcPts val="0"/>
              </a:spcBef>
              <a:spcAft>
                <a:spcPts val="0"/>
              </a:spcAft>
            </a:pPr>
            <a:r>
              <a:rPr sz="4800" b="0" i="0" spc="-72">
                <a:solidFill>
                  <a:srgbClr val="1D1D1F"/>
                </a:solidFill>
                <a:latin typeface="Helvetica Neue Light"/>
              </a:rPr>
              <a:t>Seats, admin and support</a:t>
            </a:r>
            <a:endParaRPr sz="4800"/>
          </a:p>
        </p:txBody>
      </p:sp>
      <p:sp>
        <p:nvSpPr>
          <p:cNvPr id="6" name="lead"/>
          <p:cNvSpPr txBox="1"/>
          <p:nvPr/>
        </p:nvSpPr>
        <p:spPr>
          <a:xfrm>
            <a:off x="914400" y="1972970"/>
            <a:ext cx="859536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One invoice, simple seats, and a person who answers</a:t>
            </a:r>
            <a:endParaRPr sz="1680"/>
          </a:p>
        </p:txBody>
      </p:sp>
      <p:cxnSp>
        <p:nvCxnSpPr>
          <p:cNvPr id="7" name="point rule"/>
          <p:cNvCxnSpPr/>
          <p:nvPr/>
        </p:nvCxnSpPr>
        <p:spPr>
          <a:xfrm>
            <a:off x="914400" y="4425696"/>
            <a:ext cx="2407920" cy="0"/>
          </a:xfrm>
          <a:prstGeom prst="line">
            <a:avLst/>
          </a:prstGeom>
          <a:ln w="9525">
            <a:solidFill>
              <a:srgbClr val="D2D2D7"/>
            </a:solidFill>
          </a:ln>
        </p:spPr>
      </p:cxnSp>
      <p:sp>
        <p:nvSpPr>
          <p:cNvPr id="8" name="point label"/>
          <p:cNvSpPr txBox="1"/>
          <p:nvPr/>
        </p:nvSpPr>
        <p:spPr>
          <a:xfrm>
            <a:off x="914400" y="4639056"/>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01</a:t>
            </a:r>
            <a:endParaRPr sz="900"/>
          </a:p>
        </p:txBody>
      </p:sp>
      <p:sp>
        <p:nvSpPr>
          <p:cNvPr id="9" name="point h3"/>
          <p:cNvSpPr txBox="1"/>
          <p:nvPr/>
        </p:nvSpPr>
        <p:spPr>
          <a:xfrm>
            <a:off x="914400" y="4913833"/>
            <a:ext cx="240792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Seats</a:t>
            </a:r>
            <a:endParaRPr sz="1680"/>
          </a:p>
        </p:txBody>
      </p:sp>
      <p:sp>
        <p:nvSpPr>
          <p:cNvPr id="10" name="point body"/>
          <p:cNvSpPr txBox="1"/>
          <p:nvPr/>
        </p:nvSpPr>
        <p:spPr>
          <a:xfrm>
            <a:off x="914400" y="5277002"/>
            <a:ext cx="2407920"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1 seat = 1 person on 2 Macs. Minimum 3 seats. Move a Mac by deactivating it in the gear menu.</a:t>
            </a:r>
            <a:endParaRPr sz="1320"/>
          </a:p>
        </p:txBody>
      </p:sp>
      <p:cxnSp>
        <p:nvCxnSpPr>
          <p:cNvPr id="11" name="point rule"/>
          <p:cNvCxnSpPr/>
          <p:nvPr/>
        </p:nvCxnSpPr>
        <p:spPr>
          <a:xfrm>
            <a:off x="3566160" y="4425696"/>
            <a:ext cx="2407920" cy="0"/>
          </a:xfrm>
          <a:prstGeom prst="line">
            <a:avLst/>
          </a:prstGeom>
          <a:ln w="9525">
            <a:solidFill>
              <a:srgbClr val="D2D2D7"/>
            </a:solidFill>
          </a:ln>
        </p:spPr>
      </p:cxnSp>
      <p:sp>
        <p:nvSpPr>
          <p:cNvPr id="12" name="point label"/>
          <p:cNvSpPr txBox="1"/>
          <p:nvPr/>
        </p:nvSpPr>
        <p:spPr>
          <a:xfrm>
            <a:off x="3566160" y="4639056"/>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02</a:t>
            </a:r>
            <a:endParaRPr sz="900"/>
          </a:p>
        </p:txBody>
      </p:sp>
      <p:sp>
        <p:nvSpPr>
          <p:cNvPr id="13" name="point h3"/>
          <p:cNvSpPr txBox="1"/>
          <p:nvPr/>
        </p:nvSpPr>
        <p:spPr>
          <a:xfrm>
            <a:off x="3566160" y="4913833"/>
            <a:ext cx="240792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Admin</a:t>
            </a:r>
            <a:endParaRPr sz="1680"/>
          </a:p>
        </p:txBody>
      </p:sp>
      <p:sp>
        <p:nvSpPr>
          <p:cNvPr id="14" name="point body"/>
          <p:cNvSpPr txBox="1"/>
          <p:nvPr/>
        </p:nvSpPr>
        <p:spPr>
          <a:xfrm>
            <a:off x="3566160" y="5277002"/>
            <a:ext cx="2407920"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Assign and revoke seats in the Lemon Squeezy customer portal. One invoice, PO or bank transfer.</a:t>
            </a:r>
            <a:endParaRPr sz="1320"/>
          </a:p>
        </p:txBody>
      </p:sp>
      <p:cxnSp>
        <p:nvCxnSpPr>
          <p:cNvPr id="15" name="point rule"/>
          <p:cNvCxnSpPr/>
          <p:nvPr/>
        </p:nvCxnSpPr>
        <p:spPr>
          <a:xfrm>
            <a:off x="6217920" y="4425696"/>
            <a:ext cx="2407920" cy="0"/>
          </a:xfrm>
          <a:prstGeom prst="line">
            <a:avLst/>
          </a:prstGeom>
          <a:ln w="9525">
            <a:solidFill>
              <a:srgbClr val="D2D2D7"/>
            </a:solidFill>
          </a:ln>
        </p:spPr>
      </p:cxnSp>
      <p:sp>
        <p:nvSpPr>
          <p:cNvPr id="16" name="point label"/>
          <p:cNvSpPr txBox="1"/>
          <p:nvPr/>
        </p:nvSpPr>
        <p:spPr>
          <a:xfrm>
            <a:off x="6217920" y="4639056"/>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03</a:t>
            </a:r>
            <a:endParaRPr sz="900"/>
          </a:p>
        </p:txBody>
      </p:sp>
      <p:sp>
        <p:nvSpPr>
          <p:cNvPr id="17" name="point h3"/>
          <p:cNvSpPr txBox="1"/>
          <p:nvPr/>
        </p:nvSpPr>
        <p:spPr>
          <a:xfrm>
            <a:off x="6217920" y="4913833"/>
            <a:ext cx="240792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Resilience</a:t>
            </a:r>
            <a:endParaRPr sz="1680"/>
          </a:p>
        </p:txBody>
      </p:sp>
      <p:sp>
        <p:nvSpPr>
          <p:cNvPr id="18" name="point body"/>
          <p:cNvSpPr txBox="1"/>
          <p:nvPr/>
        </p:nvSpPr>
        <p:spPr>
          <a:xfrm>
            <a:off x="6217920" y="5277002"/>
            <a:ext cx="2407920"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Checks the license every 7 days, 14 days offline grace. Never locks: falls back to Free and keeps data.</a:t>
            </a:r>
            <a:endParaRPr sz="1320"/>
          </a:p>
        </p:txBody>
      </p:sp>
      <p:cxnSp>
        <p:nvCxnSpPr>
          <p:cNvPr id="19" name="point rule"/>
          <p:cNvCxnSpPr/>
          <p:nvPr/>
        </p:nvCxnSpPr>
        <p:spPr>
          <a:xfrm>
            <a:off x="8869680" y="4425696"/>
            <a:ext cx="2407920" cy="0"/>
          </a:xfrm>
          <a:prstGeom prst="line">
            <a:avLst/>
          </a:prstGeom>
          <a:ln w="9525">
            <a:solidFill>
              <a:srgbClr val="D2D2D7"/>
            </a:solidFill>
          </a:ln>
        </p:spPr>
      </p:cxnSp>
      <p:sp>
        <p:nvSpPr>
          <p:cNvPr id="20" name="point label"/>
          <p:cNvSpPr txBox="1"/>
          <p:nvPr/>
        </p:nvSpPr>
        <p:spPr>
          <a:xfrm>
            <a:off x="8869680" y="4639056"/>
            <a:ext cx="240792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04</a:t>
            </a:r>
            <a:endParaRPr sz="900"/>
          </a:p>
        </p:txBody>
      </p:sp>
      <p:sp>
        <p:nvSpPr>
          <p:cNvPr id="21" name="point h3"/>
          <p:cNvSpPr txBox="1"/>
          <p:nvPr/>
        </p:nvSpPr>
        <p:spPr>
          <a:xfrm>
            <a:off x="8869680" y="4913833"/>
            <a:ext cx="240792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Support</a:t>
            </a:r>
            <a:endParaRPr sz="1680"/>
          </a:p>
        </p:txBody>
      </p:sp>
      <p:sp>
        <p:nvSpPr>
          <p:cNvPr id="22" name="point body"/>
          <p:cNvSpPr txBox="1"/>
          <p:nvPr/>
        </p:nvSpPr>
        <p:spPr>
          <a:xfrm>
            <a:off x="8869680" y="5277002"/>
            <a:ext cx="2407920" cy="729691"/>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Priority email, 1 business day. Signed automatic updates. 30-day refund.</a:t>
            </a:r>
            <a:endParaRPr sz="132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Third-party list prices, Oct 2026. Legal review required before external use.</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14</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Consolidation</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One seat instead of five subscriptions</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Overlapping tools, per seat, year one, list prices</a:t>
            </a:r>
            <a:endParaRPr sz="1680"/>
          </a:p>
        </p:txBody>
      </p:sp>
      <p:sp>
        <p:nvSpPr>
          <p:cNvPr id="7" name="column head"/>
          <p:cNvSpPr txBox="1"/>
          <p:nvPr/>
        </p:nvSpPr>
        <p:spPr>
          <a:xfrm>
            <a:off x="1024128" y="2422703"/>
            <a:ext cx="168406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TOOL</a:t>
            </a:r>
            <a:endParaRPr sz="900"/>
          </a:p>
        </p:txBody>
      </p:sp>
      <p:sp>
        <p:nvSpPr>
          <p:cNvPr id="8" name="column head"/>
          <p:cNvSpPr txBox="1"/>
          <p:nvPr/>
        </p:nvSpPr>
        <p:spPr>
          <a:xfrm>
            <a:off x="2891072" y="2422703"/>
            <a:ext cx="183716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COVERS</a:t>
            </a:r>
            <a:endParaRPr sz="900"/>
          </a:p>
        </p:txBody>
      </p:sp>
      <p:sp>
        <p:nvSpPr>
          <p:cNvPr id="9" name="column head"/>
          <p:cNvSpPr txBox="1"/>
          <p:nvPr/>
        </p:nvSpPr>
        <p:spPr>
          <a:xfrm>
            <a:off x="4911112" y="2422703"/>
            <a:ext cx="183716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LIST PRICE</a:t>
            </a:r>
            <a:endParaRPr sz="900"/>
          </a:p>
        </p:txBody>
      </p:sp>
      <p:cxnSp>
        <p:nvCxnSpPr>
          <p:cNvPr id="10" name="table head rule"/>
          <p:cNvCxnSpPr/>
          <p:nvPr/>
        </p:nvCxnSpPr>
        <p:spPr>
          <a:xfrm>
            <a:off x="914400" y="2670048"/>
            <a:ext cx="5943600" cy="0"/>
          </a:xfrm>
          <a:prstGeom prst="line">
            <a:avLst/>
          </a:prstGeom>
          <a:ln w="9525">
            <a:solidFill>
              <a:srgbClr val="1D1D1F"/>
            </a:solidFill>
          </a:ln>
        </p:spPr>
      </p:cxnSp>
      <p:sp>
        <p:nvSpPr>
          <p:cNvPr id="11" name="cell r1c1"/>
          <p:cNvSpPr txBox="1"/>
          <p:nvPr/>
        </p:nvSpPr>
        <p:spPr>
          <a:xfrm>
            <a:off x="1024128" y="2752344"/>
            <a:ext cx="168406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Wispr Flow Teams</a:t>
            </a:r>
            <a:endParaRPr sz="1020"/>
          </a:p>
        </p:txBody>
      </p:sp>
      <p:sp>
        <p:nvSpPr>
          <p:cNvPr id="12" name="cell r1c2"/>
          <p:cNvSpPr txBox="1"/>
          <p:nvPr/>
        </p:nvSpPr>
        <p:spPr>
          <a:xfrm>
            <a:off x="2891072" y="2752344"/>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Dictation</a:t>
            </a:r>
            <a:endParaRPr sz="1020"/>
          </a:p>
        </p:txBody>
      </p:sp>
      <p:sp>
        <p:nvSpPr>
          <p:cNvPr id="13" name="cell r1c3"/>
          <p:cNvSpPr txBox="1"/>
          <p:nvPr/>
        </p:nvSpPr>
        <p:spPr>
          <a:xfrm>
            <a:off x="4911112" y="2752344"/>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from $10/user/mo</a:t>
            </a:r>
            <a:endParaRPr sz="1020"/>
          </a:p>
        </p:txBody>
      </p:sp>
      <p:cxnSp>
        <p:nvCxnSpPr>
          <p:cNvPr id="14" name="row rule"/>
          <p:cNvCxnSpPr/>
          <p:nvPr/>
        </p:nvCxnSpPr>
        <p:spPr>
          <a:xfrm>
            <a:off x="914400" y="3009519"/>
            <a:ext cx="5943600" cy="0"/>
          </a:xfrm>
          <a:prstGeom prst="line">
            <a:avLst/>
          </a:prstGeom>
          <a:ln w="9525">
            <a:solidFill>
              <a:srgbClr val="D2D2D7"/>
            </a:solidFill>
          </a:ln>
        </p:spPr>
      </p:cxnSp>
      <p:sp>
        <p:nvSpPr>
          <p:cNvPr id="15" name="cell r2c1"/>
          <p:cNvSpPr txBox="1"/>
          <p:nvPr/>
        </p:nvSpPr>
        <p:spPr>
          <a:xfrm>
            <a:off x="1024128" y="3091815"/>
            <a:ext cx="168406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Granola Business</a:t>
            </a:r>
            <a:endParaRPr sz="1020"/>
          </a:p>
        </p:txBody>
      </p:sp>
      <p:sp>
        <p:nvSpPr>
          <p:cNvPr id="16" name="cell r2c2"/>
          <p:cNvSpPr txBox="1"/>
          <p:nvPr/>
        </p:nvSpPr>
        <p:spPr>
          <a:xfrm>
            <a:off x="2891072" y="3091815"/>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Meeting notes</a:t>
            </a:r>
            <a:endParaRPr sz="1020"/>
          </a:p>
        </p:txBody>
      </p:sp>
      <p:sp>
        <p:nvSpPr>
          <p:cNvPr id="17" name="cell r2c3"/>
          <p:cNvSpPr txBox="1"/>
          <p:nvPr/>
        </p:nvSpPr>
        <p:spPr>
          <a:xfrm>
            <a:off x="4911112" y="3091815"/>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$14/user/mo</a:t>
            </a:r>
            <a:endParaRPr sz="1020"/>
          </a:p>
        </p:txBody>
      </p:sp>
      <p:cxnSp>
        <p:nvCxnSpPr>
          <p:cNvPr id="18" name="row rule"/>
          <p:cNvCxnSpPr/>
          <p:nvPr/>
        </p:nvCxnSpPr>
        <p:spPr>
          <a:xfrm>
            <a:off x="914400" y="3348990"/>
            <a:ext cx="5943600" cy="0"/>
          </a:xfrm>
          <a:prstGeom prst="line">
            <a:avLst/>
          </a:prstGeom>
          <a:ln w="9525">
            <a:solidFill>
              <a:srgbClr val="D2D2D7"/>
            </a:solidFill>
          </a:ln>
        </p:spPr>
      </p:cxnSp>
      <p:sp>
        <p:nvSpPr>
          <p:cNvPr id="19" name="cell r3c1"/>
          <p:cNvSpPr txBox="1"/>
          <p:nvPr/>
        </p:nvSpPr>
        <p:spPr>
          <a:xfrm>
            <a:off x="1024128" y="3431286"/>
            <a:ext cx="168406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Raycast Pro</a:t>
            </a:r>
            <a:endParaRPr sz="1020"/>
          </a:p>
        </p:txBody>
      </p:sp>
      <p:sp>
        <p:nvSpPr>
          <p:cNvPr id="20" name="cell r3c2"/>
          <p:cNvSpPr txBox="1"/>
          <p:nvPr/>
        </p:nvSpPr>
        <p:spPr>
          <a:xfrm>
            <a:off x="2891072" y="3431286"/>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Launcher with AI</a:t>
            </a:r>
            <a:endParaRPr sz="1020"/>
          </a:p>
        </p:txBody>
      </p:sp>
      <p:sp>
        <p:nvSpPr>
          <p:cNvPr id="21" name="cell r3c3"/>
          <p:cNvSpPr txBox="1"/>
          <p:nvPr/>
        </p:nvSpPr>
        <p:spPr>
          <a:xfrm>
            <a:off x="4911112" y="3431286"/>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$8/mo billed yearly</a:t>
            </a:r>
            <a:endParaRPr sz="1020"/>
          </a:p>
        </p:txBody>
      </p:sp>
      <p:cxnSp>
        <p:nvCxnSpPr>
          <p:cNvPr id="22" name="row rule"/>
          <p:cNvCxnSpPr/>
          <p:nvPr/>
        </p:nvCxnSpPr>
        <p:spPr>
          <a:xfrm>
            <a:off x="914400" y="3688461"/>
            <a:ext cx="5943600" cy="0"/>
          </a:xfrm>
          <a:prstGeom prst="line">
            <a:avLst/>
          </a:prstGeom>
          <a:ln w="9525">
            <a:solidFill>
              <a:srgbClr val="D2D2D7"/>
            </a:solidFill>
          </a:ln>
        </p:spPr>
      </p:cxnSp>
      <p:sp>
        <p:nvSpPr>
          <p:cNvPr id="23" name="cell r4c1"/>
          <p:cNvSpPr txBox="1"/>
          <p:nvPr/>
        </p:nvSpPr>
        <p:spPr>
          <a:xfrm>
            <a:off x="1024128" y="3770757"/>
            <a:ext cx="168406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Paste</a:t>
            </a:r>
            <a:endParaRPr sz="1020"/>
          </a:p>
        </p:txBody>
      </p:sp>
      <p:sp>
        <p:nvSpPr>
          <p:cNvPr id="24" name="cell r4c2"/>
          <p:cNvSpPr txBox="1"/>
          <p:nvPr/>
        </p:nvSpPr>
        <p:spPr>
          <a:xfrm>
            <a:off x="2891072" y="3770757"/>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Clipboard</a:t>
            </a:r>
            <a:endParaRPr sz="1020"/>
          </a:p>
        </p:txBody>
      </p:sp>
      <p:sp>
        <p:nvSpPr>
          <p:cNvPr id="25" name="cell r4c3"/>
          <p:cNvSpPr txBox="1"/>
          <p:nvPr/>
        </p:nvSpPr>
        <p:spPr>
          <a:xfrm>
            <a:off x="4911112" y="3770757"/>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$29.99/yr</a:t>
            </a:r>
            <a:endParaRPr sz="1020"/>
          </a:p>
        </p:txBody>
      </p:sp>
      <p:cxnSp>
        <p:nvCxnSpPr>
          <p:cNvPr id="26" name="row rule"/>
          <p:cNvCxnSpPr/>
          <p:nvPr/>
        </p:nvCxnSpPr>
        <p:spPr>
          <a:xfrm>
            <a:off x="914400" y="4027932"/>
            <a:ext cx="5943600" cy="0"/>
          </a:xfrm>
          <a:prstGeom prst="line">
            <a:avLst/>
          </a:prstGeom>
          <a:ln w="9525">
            <a:solidFill>
              <a:srgbClr val="D2D2D7"/>
            </a:solidFill>
          </a:ln>
        </p:spPr>
      </p:cxnSp>
      <p:sp>
        <p:nvSpPr>
          <p:cNvPr id="27" name="cell r5c1"/>
          <p:cNvSpPr txBox="1"/>
          <p:nvPr/>
        </p:nvSpPr>
        <p:spPr>
          <a:xfrm>
            <a:off x="1024128" y="4110228"/>
            <a:ext cx="168406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CleanShot X</a:t>
            </a:r>
            <a:endParaRPr sz="1020"/>
          </a:p>
        </p:txBody>
      </p:sp>
      <p:sp>
        <p:nvSpPr>
          <p:cNvPr id="28" name="cell r5c2"/>
          <p:cNvSpPr txBox="1"/>
          <p:nvPr/>
        </p:nvSpPr>
        <p:spPr>
          <a:xfrm>
            <a:off x="2891072" y="4110228"/>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Screenshots, recording</a:t>
            </a:r>
            <a:endParaRPr sz="1020"/>
          </a:p>
        </p:txBody>
      </p:sp>
      <p:sp>
        <p:nvSpPr>
          <p:cNvPr id="29" name="cell r5c3"/>
          <p:cNvSpPr txBox="1"/>
          <p:nvPr/>
        </p:nvSpPr>
        <p:spPr>
          <a:xfrm>
            <a:off x="4911112" y="4110228"/>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$29 one-time</a:t>
            </a:r>
            <a:endParaRPr sz="1020"/>
          </a:p>
        </p:txBody>
      </p:sp>
      <p:cxnSp>
        <p:nvCxnSpPr>
          <p:cNvPr id="30" name="row rule"/>
          <p:cNvCxnSpPr/>
          <p:nvPr/>
        </p:nvCxnSpPr>
        <p:spPr>
          <a:xfrm>
            <a:off x="914400" y="4367403"/>
            <a:ext cx="5943600" cy="0"/>
          </a:xfrm>
          <a:prstGeom prst="line">
            <a:avLst/>
          </a:prstGeom>
          <a:ln w="9525">
            <a:solidFill>
              <a:srgbClr val="D2D2D7"/>
            </a:solidFill>
          </a:ln>
        </p:spPr>
      </p:cxnSp>
      <p:sp>
        <p:nvSpPr>
          <p:cNvPr id="31" name="cell r6c1"/>
          <p:cNvSpPr txBox="1"/>
          <p:nvPr/>
        </p:nvSpPr>
        <p:spPr>
          <a:xfrm>
            <a:off x="1024128" y="4449699"/>
            <a:ext cx="168406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NotchNook</a:t>
            </a:r>
            <a:endParaRPr sz="1020"/>
          </a:p>
        </p:txBody>
      </p:sp>
      <p:sp>
        <p:nvSpPr>
          <p:cNvPr id="32" name="cell r6c2"/>
          <p:cNvSpPr txBox="1"/>
          <p:nvPr/>
        </p:nvSpPr>
        <p:spPr>
          <a:xfrm>
            <a:off x="2891072" y="4449699"/>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Notch hub</a:t>
            </a:r>
            <a:endParaRPr sz="1020"/>
          </a:p>
        </p:txBody>
      </p:sp>
      <p:sp>
        <p:nvSpPr>
          <p:cNvPr id="33" name="cell r6c3"/>
          <p:cNvSpPr txBox="1"/>
          <p:nvPr/>
        </p:nvSpPr>
        <p:spPr>
          <a:xfrm>
            <a:off x="4911112" y="4449699"/>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$25 one-time</a:t>
            </a:r>
            <a:endParaRPr sz="1020"/>
          </a:p>
        </p:txBody>
      </p:sp>
      <p:cxnSp>
        <p:nvCxnSpPr>
          <p:cNvPr id="34" name="row rule"/>
          <p:cNvCxnSpPr/>
          <p:nvPr/>
        </p:nvCxnSpPr>
        <p:spPr>
          <a:xfrm>
            <a:off x="914400" y="4706874"/>
            <a:ext cx="5943600" cy="0"/>
          </a:xfrm>
          <a:prstGeom prst="line">
            <a:avLst/>
          </a:prstGeom>
          <a:ln w="9525">
            <a:solidFill>
              <a:srgbClr val="D2D2D7"/>
            </a:solidFill>
          </a:ln>
        </p:spPr>
      </p:cxnSp>
      <p:sp>
        <p:nvSpPr>
          <p:cNvPr id="35" name="cell r7c1"/>
          <p:cNvSpPr txBox="1"/>
          <p:nvPr/>
        </p:nvSpPr>
        <p:spPr>
          <a:xfrm>
            <a:off x="1024128" y="4789170"/>
            <a:ext cx="168406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Alcove</a:t>
            </a:r>
            <a:endParaRPr sz="1020"/>
          </a:p>
        </p:txBody>
      </p:sp>
      <p:sp>
        <p:nvSpPr>
          <p:cNvPr id="36" name="cell r7c2"/>
          <p:cNvSpPr txBox="1"/>
          <p:nvPr/>
        </p:nvSpPr>
        <p:spPr>
          <a:xfrm>
            <a:off x="2891072" y="4789170"/>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Notch</a:t>
            </a:r>
            <a:endParaRPr sz="1020"/>
          </a:p>
        </p:txBody>
      </p:sp>
      <p:sp>
        <p:nvSpPr>
          <p:cNvPr id="37" name="cell r7c3"/>
          <p:cNvSpPr txBox="1"/>
          <p:nvPr/>
        </p:nvSpPr>
        <p:spPr>
          <a:xfrm>
            <a:off x="4911112" y="4789170"/>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6E6E73"/>
                </a:solidFill>
                <a:latin typeface="Helvetica Neue"/>
              </a:rPr>
              <a:t>about $13.99 one-time</a:t>
            </a:r>
            <a:endParaRPr sz="1020"/>
          </a:p>
        </p:txBody>
      </p:sp>
      <p:cxnSp>
        <p:nvCxnSpPr>
          <p:cNvPr id="38" name="row rule"/>
          <p:cNvCxnSpPr/>
          <p:nvPr/>
        </p:nvCxnSpPr>
        <p:spPr>
          <a:xfrm>
            <a:off x="914400" y="5046345"/>
            <a:ext cx="5943600" cy="0"/>
          </a:xfrm>
          <a:prstGeom prst="line">
            <a:avLst/>
          </a:prstGeom>
          <a:ln w="9525">
            <a:solidFill>
              <a:srgbClr val="D2D2D7"/>
            </a:solidFill>
          </a:ln>
        </p:spPr>
      </p:cxnSp>
      <p:sp>
        <p:nvSpPr>
          <p:cNvPr id="39" name="highlight row"/>
          <p:cNvSpPr/>
          <p:nvPr/>
        </p:nvSpPr>
        <p:spPr>
          <a:xfrm>
            <a:off x="914400" y="5046345"/>
            <a:ext cx="5943600" cy="339471"/>
          </a:xfrm>
          <a:prstGeom prst="rect">
            <a:avLst/>
          </a:prstGeom>
          <a:solidFill>
            <a:srgbClr val="F5F5F7"/>
          </a:solidFill>
          <a:ln>
            <a:noFill/>
          </a:ln>
        </p:spPr>
        <p:txBody>
          <a:bodyPr rtlCol="0" anchor="ctr"/>
          <a:lstStyle/>
          <a:p>
            <a:pPr algn="ctr"/>
          </a:p>
        </p:txBody>
      </p:sp>
      <p:sp>
        <p:nvSpPr>
          <p:cNvPr id="40" name="highlight accent"/>
          <p:cNvSpPr/>
          <p:nvPr/>
        </p:nvSpPr>
        <p:spPr>
          <a:xfrm>
            <a:off x="914400" y="5046345"/>
            <a:ext cx="45720" cy="339471"/>
          </a:xfrm>
          <a:prstGeom prst="rect">
            <a:avLst/>
          </a:prstGeom>
          <a:solidFill>
            <a:srgbClr val="F01822"/>
          </a:solidFill>
          <a:ln>
            <a:noFill/>
          </a:ln>
        </p:spPr>
        <p:txBody>
          <a:bodyPr rtlCol="0" anchor="ctr"/>
          <a:lstStyle/>
          <a:p>
            <a:pPr algn="ctr"/>
          </a:p>
        </p:txBody>
      </p:sp>
      <p:sp>
        <p:nvSpPr>
          <p:cNvPr id="41" name="cell r8c1"/>
          <p:cNvSpPr txBox="1"/>
          <p:nvPr/>
        </p:nvSpPr>
        <p:spPr>
          <a:xfrm>
            <a:off x="1024128" y="5128641"/>
            <a:ext cx="1684064"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SparkV Team</a:t>
            </a:r>
            <a:endParaRPr sz="1020"/>
          </a:p>
        </p:txBody>
      </p:sp>
      <p:sp>
        <p:nvSpPr>
          <p:cNvPr id="42" name="cell r8c2"/>
          <p:cNvSpPr txBox="1"/>
          <p:nvPr/>
        </p:nvSpPr>
        <p:spPr>
          <a:xfrm>
            <a:off x="2891072" y="5128641"/>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All of the above areas</a:t>
            </a:r>
            <a:endParaRPr sz="1020"/>
          </a:p>
        </p:txBody>
      </p:sp>
      <p:sp>
        <p:nvSpPr>
          <p:cNvPr id="43" name="cell r8c3"/>
          <p:cNvSpPr txBox="1"/>
          <p:nvPr/>
        </p:nvSpPr>
        <p:spPr>
          <a:xfrm>
            <a:off x="4911112" y="5128641"/>
            <a:ext cx="1837160" cy="174879"/>
          </a:xfrm>
          <a:prstGeom prst="rect">
            <a:avLst/>
          </a:prstGeom>
          <a:noFill/>
        </p:spPr>
        <p:txBody>
          <a:bodyPr wrap="square" lIns="0" tIns="0" rIns="0" bIns="0" anchor="t">
            <a:noAutofit/>
          </a:bodyPr>
          <a:lstStyle/>
          <a:p>
            <a:pPr algn="l">
              <a:lnSpc>
                <a:spcPts val="1377"/>
              </a:lnSpc>
              <a:spcBef>
                <a:spcPts val="0"/>
              </a:spcBef>
              <a:spcAft>
                <a:spcPts val="0"/>
              </a:spcAft>
            </a:pPr>
            <a:r>
              <a:rPr sz="1019" b="0" i="0">
                <a:solidFill>
                  <a:srgbClr val="1D1D1F"/>
                </a:solidFill>
                <a:latin typeface="Helvetica Neue Medium"/>
              </a:rPr>
              <a:t>$8/seat/mo billed yearly</a:t>
            </a:r>
            <a:endParaRPr sz="1020"/>
          </a:p>
        </p:txBody>
      </p:sp>
      <p:sp>
        <p:nvSpPr>
          <p:cNvPr id="44" name="table note"/>
          <p:cNvSpPr txBox="1"/>
          <p:nvPr/>
        </p:nvSpPr>
        <p:spPr>
          <a:xfrm>
            <a:off x="914400" y="5872277"/>
            <a:ext cx="594360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Prices from third-party listings, Oct 2026; verify on vendor pages before external use.</a:t>
            </a:r>
            <a:endParaRPr sz="1020"/>
          </a:p>
          <a:p>
            <a:pPr algn="l">
              <a:lnSpc>
                <a:spcPts val="1479"/>
              </a:lnSpc>
              <a:spcBef>
                <a:spcPts val="0"/>
              </a:spcBef>
              <a:spcAft>
                <a:spcPts val="0"/>
              </a:spcAft>
            </a:pPr>
            <a:r>
              <a:rPr sz="1019" b="0" i="0">
                <a:solidFill>
                  <a:srgbClr val="6E6E73"/>
                </a:solidFill>
                <a:latin typeface="Helvetica Neue"/>
              </a:rPr>
              <a:t>Overlap in areas covered, not feature parity.</a:t>
            </a:r>
            <a:endParaRPr sz="1020"/>
          </a:p>
        </p:txBody>
      </p:sp>
      <p:sp>
        <p:nvSpPr>
          <p:cNvPr id="45" name="chart card"/>
          <p:cNvSpPr/>
          <p:nvPr/>
        </p:nvSpPr>
        <p:spPr>
          <a:xfrm>
            <a:off x="7101840" y="2422703"/>
            <a:ext cx="4175760" cy="3825697"/>
          </a:xfrm>
          <a:prstGeom prst="roundRect">
            <a:avLst>
              <a:gd name="adj" fmla="val 4381"/>
            </a:avLst>
          </a:prstGeom>
          <a:solidFill>
            <a:srgbClr val="F5F5F7"/>
          </a:solidFill>
          <a:ln>
            <a:noFill/>
          </a:ln>
        </p:spPr>
        <p:txBody>
          <a:bodyPr rtlCol="0" anchor="ctr"/>
          <a:lstStyle/>
          <a:p>
            <a:pPr algn="ctr"/>
          </a:p>
        </p:txBody>
      </p:sp>
      <p:sp>
        <p:nvSpPr>
          <p:cNvPr id="46" name="chart title"/>
          <p:cNvSpPr txBox="1"/>
          <p:nvPr/>
        </p:nvSpPr>
        <p:spPr>
          <a:xfrm>
            <a:off x="7345680" y="2636063"/>
            <a:ext cx="368808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Year-one cost per seat (USD, list)</a:t>
            </a:r>
            <a:endParaRPr sz="1020"/>
          </a:p>
        </p:txBody>
      </p:sp>
      <p:sp>
        <p:nvSpPr>
          <p:cNvPr id="47" name="chart source"/>
          <p:cNvSpPr txBox="1"/>
          <p:nvPr/>
        </p:nvSpPr>
        <p:spPr>
          <a:xfrm>
            <a:off x="7345680" y="5677967"/>
            <a:ext cx="3688080" cy="357073"/>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Stack = Wispr Flow Teams $120 + Granola Business $168 + Raycast Pro $96 + Paste $29.99 + CleanShot X $29. Monthly prices x 12. NotchNook and Alcove left out (one-time). Business plan §3.</a:t>
            </a:r>
            <a:endParaRPr sz="780"/>
          </a:p>
        </p:txBody>
      </p:sp>
      <p:graphicFrame>
        <p:nvGraphicFramePr>
          <p:cNvPr id="48" name="chart"/>
          <p:cNvGraphicFramePr>
            <a:graphicFrameLocks noGrp="1"/>
          </p:cNvGraphicFramePr>
          <p:nvPr/>
        </p:nvGraphicFramePr>
        <p:xfrm>
          <a:off x="7345680" y="2934081"/>
          <a:ext cx="3688080" cy="2652903"/>
        </p:xfrm>
        <a:graphic>
          <a:graphicData uri="http://schemas.openxmlformats.org/drawingml/2006/chart">
            <c:chart xmlns:c="http://schemas.openxmlformats.org/drawingml/2006/chart" r:id="rId3"/>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§6a. Pro: 12 months of updates, optional renewal $19/yr.</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15</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Pricing</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Simple per-seat pricing</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Start with a pilot. Keep the seats that earn their place.</a:t>
            </a:r>
            <a:endParaRPr sz="1680"/>
          </a:p>
        </p:txBody>
      </p:sp>
      <p:sp>
        <p:nvSpPr>
          <p:cNvPr id="7" name="plan card Free"/>
          <p:cNvSpPr/>
          <p:nvPr/>
        </p:nvSpPr>
        <p:spPr>
          <a:xfrm>
            <a:off x="914400" y="2422703"/>
            <a:ext cx="2407920" cy="3454527"/>
          </a:xfrm>
          <a:prstGeom prst="roundRect">
            <a:avLst>
              <a:gd name="adj" fmla="val 7594"/>
            </a:avLst>
          </a:prstGeom>
          <a:solidFill>
            <a:srgbClr val="FFFFFF"/>
          </a:solidFill>
          <a:ln w="9525">
            <a:solidFill>
              <a:srgbClr val="D2D2D7"/>
            </a:solidFill>
          </a:ln>
        </p:spPr>
        <p:txBody>
          <a:bodyPr rtlCol="0" anchor="ctr"/>
          <a:lstStyle/>
          <a:p>
            <a:pPr algn="ctr"/>
          </a:p>
        </p:txBody>
      </p:sp>
      <p:sp>
        <p:nvSpPr>
          <p:cNvPr id="8" name="plan name"/>
          <p:cNvSpPr txBox="1"/>
          <p:nvPr/>
        </p:nvSpPr>
        <p:spPr>
          <a:xfrm>
            <a:off x="1143000" y="2605583"/>
            <a:ext cx="195072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Free</a:t>
            </a:r>
            <a:endParaRPr sz="1680"/>
          </a:p>
        </p:txBody>
      </p:sp>
      <p:sp>
        <p:nvSpPr>
          <p:cNvPr id="9" name="plan price"/>
          <p:cNvSpPr txBox="1"/>
          <p:nvPr/>
        </p:nvSpPr>
        <p:spPr>
          <a:xfrm>
            <a:off x="1143000" y="2968752"/>
            <a:ext cx="195072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$0</a:t>
            </a:r>
            <a:endParaRPr sz="3840"/>
          </a:p>
        </p:txBody>
      </p:sp>
      <p:sp>
        <p:nvSpPr>
          <p:cNvPr id="10" name="plan note"/>
          <p:cNvSpPr txBox="1"/>
          <p:nvPr/>
        </p:nvSpPr>
        <p:spPr>
          <a:xfrm>
            <a:off x="1143000" y="3591611"/>
            <a:ext cx="195072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Trying the notch</a:t>
            </a:r>
            <a:endParaRPr sz="900"/>
          </a:p>
        </p:txBody>
      </p:sp>
      <p:cxnSp>
        <p:nvCxnSpPr>
          <p:cNvPr id="11" name="plan rule"/>
          <p:cNvCxnSpPr/>
          <p:nvPr/>
        </p:nvCxnSpPr>
        <p:spPr>
          <a:xfrm>
            <a:off x="1143000" y="3874008"/>
            <a:ext cx="1950720" cy="0"/>
          </a:xfrm>
          <a:prstGeom prst="line">
            <a:avLst/>
          </a:prstGeom>
          <a:ln w="9525">
            <a:solidFill>
              <a:srgbClr val="D2D2D7"/>
            </a:solidFill>
          </a:ln>
        </p:spPr>
      </p:cxnSp>
      <p:sp>
        <p:nvSpPr>
          <p:cNvPr id="12" name="plan card Pro"/>
          <p:cNvSpPr/>
          <p:nvPr/>
        </p:nvSpPr>
        <p:spPr>
          <a:xfrm>
            <a:off x="3566160" y="2422703"/>
            <a:ext cx="2407920" cy="3454527"/>
          </a:xfrm>
          <a:prstGeom prst="roundRect">
            <a:avLst>
              <a:gd name="adj" fmla="val 7594"/>
            </a:avLst>
          </a:prstGeom>
          <a:solidFill>
            <a:srgbClr val="FFFFFF"/>
          </a:solidFill>
          <a:ln w="9525">
            <a:solidFill>
              <a:srgbClr val="D2D2D7"/>
            </a:solidFill>
          </a:ln>
        </p:spPr>
        <p:txBody>
          <a:bodyPr rtlCol="0" anchor="ctr"/>
          <a:lstStyle/>
          <a:p>
            <a:pPr algn="ctr"/>
          </a:p>
        </p:txBody>
      </p:sp>
      <p:sp>
        <p:nvSpPr>
          <p:cNvPr id="13" name="plan name"/>
          <p:cNvSpPr txBox="1"/>
          <p:nvPr/>
        </p:nvSpPr>
        <p:spPr>
          <a:xfrm>
            <a:off x="3794760" y="2605583"/>
            <a:ext cx="1950720"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Pro</a:t>
            </a:r>
            <a:endParaRPr sz="1680"/>
          </a:p>
        </p:txBody>
      </p:sp>
      <p:sp>
        <p:nvSpPr>
          <p:cNvPr id="14" name="plan price"/>
          <p:cNvSpPr txBox="1"/>
          <p:nvPr/>
        </p:nvSpPr>
        <p:spPr>
          <a:xfrm>
            <a:off x="3794760" y="2968752"/>
            <a:ext cx="195072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$39</a:t>
            </a:r>
            <a:r>
              <a:rPr sz="1200" b="0" i="0">
                <a:solidFill>
                  <a:srgbClr val="6E6E73"/>
                </a:solidFill>
                <a:latin typeface="Helvetica Neue"/>
              </a:rPr>
              <a:t>  one-time</a:t>
            </a:r>
            <a:endParaRPr sz="3840"/>
          </a:p>
        </p:txBody>
      </p:sp>
      <p:sp>
        <p:nvSpPr>
          <p:cNvPr id="15" name="plan inr"/>
          <p:cNvSpPr txBox="1"/>
          <p:nvPr/>
        </p:nvSpPr>
        <p:spPr>
          <a:xfrm>
            <a:off x="3794760" y="3591611"/>
            <a:ext cx="195072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₹1,499</a:t>
            </a:r>
            <a:r>
              <a:rPr sz="1200" b="0" i="0">
                <a:solidFill>
                  <a:srgbClr val="86868B"/>
                </a:solidFill>
                <a:latin typeface="Helvetica Neue"/>
              </a:rPr>
              <a:t> · launch $29</a:t>
            </a:r>
            <a:endParaRPr sz="1200"/>
          </a:p>
        </p:txBody>
      </p:sp>
      <p:sp>
        <p:nvSpPr>
          <p:cNvPr id="16" name="plan note"/>
          <p:cNvSpPr txBox="1"/>
          <p:nvPr/>
        </p:nvSpPr>
        <p:spPr>
          <a:xfrm>
            <a:off x="3794760" y="3835908"/>
            <a:ext cx="195072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Individual professionals</a:t>
            </a:r>
            <a:endParaRPr sz="900"/>
          </a:p>
        </p:txBody>
      </p:sp>
      <p:cxnSp>
        <p:nvCxnSpPr>
          <p:cNvPr id="17" name="plan rule"/>
          <p:cNvCxnSpPr/>
          <p:nvPr/>
        </p:nvCxnSpPr>
        <p:spPr>
          <a:xfrm>
            <a:off x="3794760" y="4118305"/>
            <a:ext cx="1950720" cy="0"/>
          </a:xfrm>
          <a:prstGeom prst="line">
            <a:avLst/>
          </a:prstGeom>
          <a:ln w="9525">
            <a:solidFill>
              <a:srgbClr val="D2D2D7"/>
            </a:solidFill>
          </a:ln>
        </p:spPr>
      </p:cxnSp>
      <p:sp>
        <p:nvSpPr>
          <p:cNvPr id="18" name="plan card Team"/>
          <p:cNvSpPr/>
          <p:nvPr/>
        </p:nvSpPr>
        <p:spPr>
          <a:xfrm>
            <a:off x="6217920" y="2422703"/>
            <a:ext cx="2407920" cy="3454527"/>
          </a:xfrm>
          <a:prstGeom prst="roundRect">
            <a:avLst>
              <a:gd name="adj" fmla="val 7594"/>
            </a:avLst>
          </a:prstGeom>
          <a:solidFill>
            <a:srgbClr val="FFFFFF"/>
          </a:solidFill>
          <a:ln w="15240">
            <a:solidFill>
              <a:srgbClr val="F01822"/>
            </a:solidFill>
          </a:ln>
        </p:spPr>
        <p:txBody>
          <a:bodyPr rtlCol="0" anchor="ctr"/>
          <a:lstStyle/>
          <a:p>
            <a:pPr algn="ctr"/>
          </a:p>
        </p:txBody>
      </p:sp>
      <p:sp>
        <p:nvSpPr>
          <p:cNvPr id="19" name="plan tag"/>
          <p:cNvSpPr txBox="1"/>
          <p:nvPr/>
        </p:nvSpPr>
        <p:spPr>
          <a:xfrm>
            <a:off x="7568233" y="2669591"/>
            <a:ext cx="829007" cy="128473"/>
          </a:xfrm>
          <a:prstGeom prst="rect">
            <a:avLst/>
          </a:prstGeom>
          <a:noFill/>
        </p:spPr>
        <p:txBody>
          <a:bodyPr wrap="square" lIns="0" tIns="0" rIns="0" bIns="0" anchor="t">
            <a:noAutofit/>
          </a:bodyPr>
          <a:lstStyle/>
          <a:p>
            <a:pPr algn="r">
              <a:lnSpc>
                <a:spcPts val="1008"/>
              </a:lnSpc>
              <a:spcBef>
                <a:spcPts val="0"/>
              </a:spcBef>
              <a:spcAft>
                <a:spcPts val="0"/>
              </a:spcAft>
            </a:pPr>
            <a:r>
              <a:rPr sz="840" b="0" i="0">
                <a:solidFill>
                  <a:srgbClr val="F01822"/>
                </a:solidFill>
                <a:latin typeface="Helvetica Neue Medium"/>
              </a:rPr>
              <a:t>Recommended</a:t>
            </a:r>
            <a:endParaRPr sz="840"/>
          </a:p>
        </p:txBody>
      </p:sp>
      <p:sp>
        <p:nvSpPr>
          <p:cNvPr id="20" name="plan name"/>
          <p:cNvSpPr txBox="1"/>
          <p:nvPr/>
        </p:nvSpPr>
        <p:spPr>
          <a:xfrm>
            <a:off x="6446520" y="2605583"/>
            <a:ext cx="1030273"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Team</a:t>
            </a:r>
            <a:endParaRPr sz="1680"/>
          </a:p>
        </p:txBody>
      </p:sp>
      <p:sp>
        <p:nvSpPr>
          <p:cNvPr id="21" name="plan price"/>
          <p:cNvSpPr txBox="1"/>
          <p:nvPr/>
        </p:nvSpPr>
        <p:spPr>
          <a:xfrm>
            <a:off x="6446520" y="2968752"/>
            <a:ext cx="195072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77">
                <a:solidFill>
                  <a:srgbClr val="1D1D1F"/>
                </a:solidFill>
                <a:latin typeface="Helvetica Neue Light"/>
              </a:rPr>
              <a:t>$8</a:t>
            </a:r>
            <a:r>
              <a:rPr sz="1200" b="0" i="0">
                <a:solidFill>
                  <a:srgbClr val="6E6E73"/>
                </a:solidFill>
                <a:latin typeface="Helvetica Neue"/>
              </a:rPr>
              <a:t>  per seat / month</a:t>
            </a:r>
            <a:endParaRPr sz="3840"/>
          </a:p>
        </p:txBody>
      </p:sp>
      <p:sp>
        <p:nvSpPr>
          <p:cNvPr id="22" name="plan inr"/>
          <p:cNvSpPr txBox="1"/>
          <p:nvPr/>
        </p:nvSpPr>
        <p:spPr>
          <a:xfrm>
            <a:off x="6446520" y="3591611"/>
            <a:ext cx="1950720" cy="198577"/>
          </a:xfrm>
          <a:prstGeom prst="rect">
            <a:avLst/>
          </a:prstGeom>
          <a:noFill/>
        </p:spPr>
        <p:txBody>
          <a:bodyPr wrap="square" lIns="0" tIns="0" rIns="0" bIns="0" anchor="t">
            <a:noAutofit/>
          </a:bodyPr>
          <a:lstStyle/>
          <a:p>
            <a:pPr algn="l">
              <a:lnSpc>
                <a:spcPts val="1560"/>
              </a:lnSpc>
              <a:spcBef>
                <a:spcPts val="0"/>
              </a:spcBef>
              <a:spcAft>
                <a:spcPts val="0"/>
              </a:spcAft>
            </a:pPr>
            <a:r>
              <a:rPr sz="1200" b="0" i="0">
                <a:solidFill>
                  <a:srgbClr val="1D1D1F"/>
                </a:solidFill>
                <a:latin typeface="Helvetica Neue"/>
              </a:rPr>
              <a:t>₹499</a:t>
            </a:r>
            <a:r>
              <a:rPr sz="1200" b="0" i="0">
                <a:solidFill>
                  <a:srgbClr val="86868B"/>
                </a:solidFill>
                <a:latin typeface="Helvetica Neue"/>
              </a:rPr>
              <a:t> · billed yearly ($96)</a:t>
            </a:r>
            <a:endParaRPr sz="1200"/>
          </a:p>
        </p:txBody>
      </p:sp>
      <p:sp>
        <p:nvSpPr>
          <p:cNvPr id="23" name="plan note"/>
          <p:cNvSpPr txBox="1"/>
          <p:nvPr/>
        </p:nvSpPr>
        <p:spPr>
          <a:xfrm>
            <a:off x="6446520" y="3835908"/>
            <a:ext cx="1950720" cy="160477"/>
          </a:xfrm>
          <a:prstGeom prst="rect">
            <a:avLst/>
          </a:prstGeom>
          <a:noFill/>
        </p:spPr>
        <p:txBody>
          <a:bodyPr wrap="square" lIns="0" tIns="0" rIns="0" bIns="0" anchor="t">
            <a:noAutofit/>
          </a:bodyPr>
          <a:lstStyle/>
          <a:p>
            <a:pPr algn="l">
              <a:lnSpc>
                <a:spcPts val="1260"/>
              </a:lnSpc>
              <a:spcBef>
                <a:spcPts val="0"/>
              </a:spcBef>
              <a:spcAft>
                <a:spcPts val="0"/>
              </a:spcAft>
            </a:pPr>
            <a:r>
              <a:rPr sz="900" b="0" i="0">
                <a:solidFill>
                  <a:srgbClr val="86868B"/>
                </a:solidFill>
                <a:latin typeface="Helvetica Neue"/>
              </a:rPr>
              <a:t>Teams of 3 or more</a:t>
            </a:r>
            <a:endParaRPr sz="900"/>
          </a:p>
        </p:txBody>
      </p:sp>
      <p:cxnSp>
        <p:nvCxnSpPr>
          <p:cNvPr id="24" name="plan rule"/>
          <p:cNvCxnSpPr/>
          <p:nvPr/>
        </p:nvCxnSpPr>
        <p:spPr>
          <a:xfrm>
            <a:off x="6446520" y="4118305"/>
            <a:ext cx="1950720" cy="0"/>
          </a:xfrm>
          <a:prstGeom prst="line">
            <a:avLst/>
          </a:prstGeom>
          <a:ln w="9525">
            <a:solidFill>
              <a:srgbClr val="D2D2D7"/>
            </a:solidFill>
          </a:ln>
        </p:spPr>
      </p:cxnSp>
      <p:grpSp>
        <p:nvGrpSpPr>
          <p:cNvPr id="25" name="check mark"/>
          <p:cNvGrpSpPr/>
          <p:nvPr/>
        </p:nvGrpSpPr>
        <p:grpSpPr>
          <a:xfrm>
            <a:off x="1147572" y="4042562"/>
            <a:ext cx="82296" cy="64008"/>
            <a:chOff x="1147572" y="4042562"/>
            <a:chExt cx="82296" cy="64008"/>
          </a:xfrm>
        </p:grpSpPr>
        <p:cxnSp>
          <p:nvCxnSpPr>
            <p:cNvPr id="26" name="Connector 25"/>
            <p:cNvCxnSpPr/>
            <p:nvPr/>
          </p:nvCxnSpPr>
          <p:spPr>
            <a:xfrm>
              <a:off x="1147572" y="4078224"/>
              <a:ext cx="30175" cy="28346"/>
            </a:xfrm>
            <a:prstGeom prst="line">
              <a:avLst/>
            </a:prstGeom>
            <a:ln w="13970">
              <a:solidFill>
                <a:srgbClr val="1D1D1F"/>
              </a:solidFill>
            </a:ln>
          </p:spPr>
        </p:cxnSp>
        <p:cxnSp>
          <p:nvCxnSpPr>
            <p:cNvPr id="27" name="Connector 26"/>
            <p:cNvCxnSpPr/>
            <p:nvPr/>
          </p:nvCxnSpPr>
          <p:spPr>
            <a:xfrm flipV="1">
              <a:off x="1177747" y="4042562"/>
              <a:ext cx="52121" cy="64008"/>
            </a:xfrm>
            <a:prstGeom prst="line">
              <a:avLst/>
            </a:prstGeom>
            <a:ln w="13970">
              <a:solidFill>
                <a:srgbClr val="1D1D1F"/>
              </a:solidFill>
            </a:ln>
          </p:spPr>
        </p:cxnSp>
      </p:grpSp>
      <p:sp>
        <p:nvSpPr>
          <p:cNvPr id="28" name="plan feature"/>
          <p:cNvSpPr txBox="1"/>
          <p:nvPr/>
        </p:nvSpPr>
        <p:spPr>
          <a:xfrm>
            <a:off x="1310640" y="3995928"/>
            <a:ext cx="1783080" cy="683209"/>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Notch core, clocks and gauges, clipboard (25), Copy Text, dictation without AI formatting</a:t>
            </a:r>
            <a:endParaRPr sz="960"/>
          </a:p>
        </p:txBody>
      </p:sp>
      <p:grpSp>
        <p:nvGrpSpPr>
          <p:cNvPr id="29" name="check mark"/>
          <p:cNvGrpSpPr/>
          <p:nvPr/>
        </p:nvGrpSpPr>
        <p:grpSpPr>
          <a:xfrm>
            <a:off x="1147572" y="4778654"/>
            <a:ext cx="82296" cy="64008"/>
            <a:chOff x="1147572" y="4778654"/>
            <a:chExt cx="82296" cy="64008"/>
          </a:xfrm>
        </p:grpSpPr>
        <p:cxnSp>
          <p:nvCxnSpPr>
            <p:cNvPr id="30" name="Connector 29"/>
            <p:cNvCxnSpPr/>
            <p:nvPr/>
          </p:nvCxnSpPr>
          <p:spPr>
            <a:xfrm>
              <a:off x="1147572" y="4814316"/>
              <a:ext cx="30175" cy="28346"/>
            </a:xfrm>
            <a:prstGeom prst="line">
              <a:avLst/>
            </a:prstGeom>
            <a:ln w="13970">
              <a:solidFill>
                <a:srgbClr val="1D1D1F"/>
              </a:solidFill>
            </a:ln>
          </p:spPr>
        </p:cxnSp>
        <p:cxnSp>
          <p:nvCxnSpPr>
            <p:cNvPr id="31" name="Connector 30"/>
            <p:cNvCxnSpPr/>
            <p:nvPr/>
          </p:nvCxnSpPr>
          <p:spPr>
            <a:xfrm flipV="1">
              <a:off x="1177747" y="4778654"/>
              <a:ext cx="52121" cy="64008"/>
            </a:xfrm>
            <a:prstGeom prst="line">
              <a:avLst/>
            </a:prstGeom>
            <a:ln w="13970">
              <a:solidFill>
                <a:srgbClr val="1D1D1F"/>
              </a:solidFill>
            </a:ln>
          </p:spPr>
        </p:cxnSp>
      </p:grpSp>
      <p:sp>
        <p:nvSpPr>
          <p:cNvPr id="32" name="plan feature"/>
          <p:cNvSpPr txBox="1"/>
          <p:nvPr/>
        </p:nvSpPr>
        <p:spPr>
          <a:xfrm>
            <a:off x="1310640" y="4732020"/>
            <a:ext cx="178308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1 Mac</a:t>
            </a:r>
            <a:endParaRPr sz="960"/>
          </a:p>
        </p:txBody>
      </p:sp>
      <p:grpSp>
        <p:nvGrpSpPr>
          <p:cNvPr id="33" name="check mark"/>
          <p:cNvGrpSpPr/>
          <p:nvPr/>
        </p:nvGrpSpPr>
        <p:grpSpPr>
          <a:xfrm>
            <a:off x="1147572" y="5002682"/>
            <a:ext cx="82296" cy="64008"/>
            <a:chOff x="1147572" y="5002682"/>
            <a:chExt cx="82296" cy="64008"/>
          </a:xfrm>
        </p:grpSpPr>
        <p:cxnSp>
          <p:nvCxnSpPr>
            <p:cNvPr id="34" name="Connector 33"/>
            <p:cNvCxnSpPr/>
            <p:nvPr/>
          </p:nvCxnSpPr>
          <p:spPr>
            <a:xfrm>
              <a:off x="1147572" y="5038344"/>
              <a:ext cx="30175" cy="28346"/>
            </a:xfrm>
            <a:prstGeom prst="line">
              <a:avLst/>
            </a:prstGeom>
            <a:ln w="13970">
              <a:solidFill>
                <a:srgbClr val="1D1D1F"/>
              </a:solidFill>
            </a:ln>
          </p:spPr>
        </p:cxnSp>
        <p:cxnSp>
          <p:nvCxnSpPr>
            <p:cNvPr id="35" name="Connector 34"/>
            <p:cNvCxnSpPr/>
            <p:nvPr/>
          </p:nvCxnSpPr>
          <p:spPr>
            <a:xfrm flipV="1">
              <a:off x="1177747" y="5002682"/>
              <a:ext cx="52121" cy="64008"/>
            </a:xfrm>
            <a:prstGeom prst="line">
              <a:avLst/>
            </a:prstGeom>
            <a:ln w="13970">
              <a:solidFill>
                <a:srgbClr val="1D1D1F"/>
              </a:solidFill>
            </a:ln>
          </p:spPr>
        </p:cxnSp>
      </p:grpSp>
      <p:sp>
        <p:nvSpPr>
          <p:cNvPr id="36" name="plan feature"/>
          <p:cNvSpPr txBox="1"/>
          <p:nvPr/>
        </p:nvSpPr>
        <p:spPr>
          <a:xfrm>
            <a:off x="1310640" y="4956048"/>
            <a:ext cx="178308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Always free</a:t>
            </a:r>
            <a:endParaRPr sz="960"/>
          </a:p>
        </p:txBody>
      </p:sp>
      <p:grpSp>
        <p:nvGrpSpPr>
          <p:cNvPr id="37" name="check mark"/>
          <p:cNvGrpSpPr/>
          <p:nvPr/>
        </p:nvGrpSpPr>
        <p:grpSpPr>
          <a:xfrm>
            <a:off x="3799332" y="4286860"/>
            <a:ext cx="82296" cy="64008"/>
            <a:chOff x="3799332" y="4286860"/>
            <a:chExt cx="82296" cy="64008"/>
          </a:xfrm>
        </p:grpSpPr>
        <p:cxnSp>
          <p:nvCxnSpPr>
            <p:cNvPr id="38" name="Connector 37"/>
            <p:cNvCxnSpPr/>
            <p:nvPr/>
          </p:nvCxnSpPr>
          <p:spPr>
            <a:xfrm>
              <a:off x="3799332" y="4322521"/>
              <a:ext cx="30175" cy="28347"/>
            </a:xfrm>
            <a:prstGeom prst="line">
              <a:avLst/>
            </a:prstGeom>
            <a:ln w="13970">
              <a:solidFill>
                <a:srgbClr val="1D1D1F"/>
              </a:solidFill>
            </a:ln>
          </p:spPr>
        </p:cxnSp>
        <p:cxnSp>
          <p:nvCxnSpPr>
            <p:cNvPr id="39" name="Connector 38"/>
            <p:cNvCxnSpPr/>
            <p:nvPr/>
          </p:nvCxnSpPr>
          <p:spPr>
            <a:xfrm flipV="1">
              <a:off x="3829507" y="4286860"/>
              <a:ext cx="52121" cy="64008"/>
            </a:xfrm>
            <a:prstGeom prst="line">
              <a:avLst/>
            </a:prstGeom>
            <a:ln w="13970">
              <a:solidFill>
                <a:srgbClr val="1D1D1F"/>
              </a:solidFill>
            </a:ln>
          </p:spPr>
        </p:cxnSp>
      </p:grpSp>
      <p:sp>
        <p:nvSpPr>
          <p:cNvPr id="40" name="plan feature"/>
          <p:cNvSpPr txBox="1"/>
          <p:nvPr/>
        </p:nvSpPr>
        <p:spPr>
          <a:xfrm>
            <a:off x="3962400" y="4240225"/>
            <a:ext cx="1783080" cy="512521"/>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Everything: AI assistants, meetings, Spaces, developer tools</a:t>
            </a:r>
            <a:endParaRPr sz="960"/>
          </a:p>
        </p:txBody>
      </p:sp>
      <p:grpSp>
        <p:nvGrpSpPr>
          <p:cNvPr id="41" name="check mark"/>
          <p:cNvGrpSpPr/>
          <p:nvPr/>
        </p:nvGrpSpPr>
        <p:grpSpPr>
          <a:xfrm>
            <a:off x="3799332" y="4852264"/>
            <a:ext cx="82296" cy="64008"/>
            <a:chOff x="3799332" y="4852264"/>
            <a:chExt cx="82296" cy="64008"/>
          </a:xfrm>
        </p:grpSpPr>
        <p:cxnSp>
          <p:nvCxnSpPr>
            <p:cNvPr id="42" name="Connector 41"/>
            <p:cNvCxnSpPr/>
            <p:nvPr/>
          </p:nvCxnSpPr>
          <p:spPr>
            <a:xfrm>
              <a:off x="3799332" y="4887925"/>
              <a:ext cx="30175" cy="28347"/>
            </a:xfrm>
            <a:prstGeom prst="line">
              <a:avLst/>
            </a:prstGeom>
            <a:ln w="13970">
              <a:solidFill>
                <a:srgbClr val="1D1D1F"/>
              </a:solidFill>
            </a:ln>
          </p:spPr>
        </p:cxnSp>
        <p:cxnSp>
          <p:nvCxnSpPr>
            <p:cNvPr id="43" name="Connector 42"/>
            <p:cNvCxnSpPr/>
            <p:nvPr/>
          </p:nvCxnSpPr>
          <p:spPr>
            <a:xfrm flipV="1">
              <a:off x="3829507" y="4852264"/>
              <a:ext cx="52121" cy="64008"/>
            </a:xfrm>
            <a:prstGeom prst="line">
              <a:avLst/>
            </a:prstGeom>
            <a:ln w="13970">
              <a:solidFill>
                <a:srgbClr val="1D1D1F"/>
              </a:solidFill>
            </a:ln>
          </p:spPr>
        </p:cxnSp>
      </p:grpSp>
      <p:sp>
        <p:nvSpPr>
          <p:cNvPr id="44" name="plan feature"/>
          <p:cNvSpPr txBox="1"/>
          <p:nvPr/>
        </p:nvSpPr>
        <p:spPr>
          <a:xfrm>
            <a:off x="3962400" y="4805629"/>
            <a:ext cx="178308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2 Macs per person</a:t>
            </a:r>
            <a:endParaRPr sz="960"/>
          </a:p>
        </p:txBody>
      </p:sp>
      <p:grpSp>
        <p:nvGrpSpPr>
          <p:cNvPr id="45" name="check mark"/>
          <p:cNvGrpSpPr/>
          <p:nvPr/>
        </p:nvGrpSpPr>
        <p:grpSpPr>
          <a:xfrm>
            <a:off x="3799332" y="5076292"/>
            <a:ext cx="82296" cy="64008"/>
            <a:chOff x="3799332" y="5076292"/>
            <a:chExt cx="82296" cy="64008"/>
          </a:xfrm>
        </p:grpSpPr>
        <p:cxnSp>
          <p:nvCxnSpPr>
            <p:cNvPr id="46" name="Connector 45"/>
            <p:cNvCxnSpPr/>
            <p:nvPr/>
          </p:nvCxnSpPr>
          <p:spPr>
            <a:xfrm>
              <a:off x="3799332" y="5111953"/>
              <a:ext cx="30175" cy="28347"/>
            </a:xfrm>
            <a:prstGeom prst="line">
              <a:avLst/>
            </a:prstGeom>
            <a:ln w="13970">
              <a:solidFill>
                <a:srgbClr val="1D1D1F"/>
              </a:solidFill>
            </a:ln>
          </p:spPr>
        </p:cxnSp>
        <p:cxnSp>
          <p:nvCxnSpPr>
            <p:cNvPr id="47" name="Connector 46"/>
            <p:cNvCxnSpPr/>
            <p:nvPr/>
          </p:nvCxnSpPr>
          <p:spPr>
            <a:xfrm flipV="1">
              <a:off x="3829507" y="5076292"/>
              <a:ext cx="52121" cy="64008"/>
            </a:xfrm>
            <a:prstGeom prst="line">
              <a:avLst/>
            </a:prstGeom>
            <a:ln w="13970">
              <a:solidFill>
                <a:srgbClr val="1D1D1F"/>
              </a:solidFill>
            </a:ln>
          </p:spPr>
        </p:cxnSp>
      </p:grpSp>
      <p:sp>
        <p:nvSpPr>
          <p:cNvPr id="48" name="plan feature"/>
          <p:cNvSpPr txBox="1"/>
          <p:nvPr/>
        </p:nvSpPr>
        <p:spPr>
          <a:xfrm>
            <a:off x="3962400" y="5029657"/>
            <a:ext cx="178308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14-day full trial, no card</a:t>
            </a:r>
            <a:endParaRPr sz="960"/>
          </a:p>
        </p:txBody>
      </p:sp>
      <p:grpSp>
        <p:nvGrpSpPr>
          <p:cNvPr id="49" name="check mark"/>
          <p:cNvGrpSpPr/>
          <p:nvPr/>
        </p:nvGrpSpPr>
        <p:grpSpPr>
          <a:xfrm>
            <a:off x="6451092" y="4286860"/>
            <a:ext cx="82296" cy="64008"/>
            <a:chOff x="6451092" y="4286860"/>
            <a:chExt cx="82296" cy="64008"/>
          </a:xfrm>
        </p:grpSpPr>
        <p:cxnSp>
          <p:nvCxnSpPr>
            <p:cNvPr id="50" name="Connector 49"/>
            <p:cNvCxnSpPr/>
            <p:nvPr/>
          </p:nvCxnSpPr>
          <p:spPr>
            <a:xfrm>
              <a:off x="6451092" y="4322521"/>
              <a:ext cx="30175" cy="28347"/>
            </a:xfrm>
            <a:prstGeom prst="line">
              <a:avLst/>
            </a:prstGeom>
            <a:ln w="13970">
              <a:solidFill>
                <a:srgbClr val="1D1D1F"/>
              </a:solidFill>
            </a:ln>
          </p:spPr>
        </p:cxnSp>
        <p:cxnSp>
          <p:nvCxnSpPr>
            <p:cNvPr id="51" name="Connector 50"/>
            <p:cNvCxnSpPr/>
            <p:nvPr/>
          </p:nvCxnSpPr>
          <p:spPr>
            <a:xfrm flipV="1">
              <a:off x="6481267" y="4286860"/>
              <a:ext cx="52121" cy="64008"/>
            </a:xfrm>
            <a:prstGeom prst="line">
              <a:avLst/>
            </a:prstGeom>
            <a:ln w="13970">
              <a:solidFill>
                <a:srgbClr val="1D1D1F"/>
              </a:solidFill>
            </a:ln>
          </p:spPr>
        </p:cxnSp>
      </p:grpSp>
      <p:sp>
        <p:nvSpPr>
          <p:cNvPr id="52" name="plan feature"/>
          <p:cNvSpPr txBox="1"/>
          <p:nvPr/>
        </p:nvSpPr>
        <p:spPr>
          <a:xfrm>
            <a:off x="6614160" y="4240225"/>
            <a:ext cx="1783080" cy="683209"/>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Everything in Pro, plus one invoice, seat portal, shared Spaces packages, priority support, MDM .pkg</a:t>
            </a:r>
            <a:endParaRPr sz="960"/>
          </a:p>
        </p:txBody>
      </p:sp>
      <p:grpSp>
        <p:nvGrpSpPr>
          <p:cNvPr id="53" name="check mark"/>
          <p:cNvGrpSpPr/>
          <p:nvPr/>
        </p:nvGrpSpPr>
        <p:grpSpPr>
          <a:xfrm>
            <a:off x="6451092" y="5022952"/>
            <a:ext cx="82296" cy="64008"/>
            <a:chOff x="6451092" y="5022952"/>
            <a:chExt cx="82296" cy="64008"/>
          </a:xfrm>
        </p:grpSpPr>
        <p:cxnSp>
          <p:nvCxnSpPr>
            <p:cNvPr id="54" name="Connector 53"/>
            <p:cNvCxnSpPr/>
            <p:nvPr/>
          </p:nvCxnSpPr>
          <p:spPr>
            <a:xfrm>
              <a:off x="6451092" y="5058613"/>
              <a:ext cx="30175" cy="28347"/>
            </a:xfrm>
            <a:prstGeom prst="line">
              <a:avLst/>
            </a:prstGeom>
            <a:ln w="13970">
              <a:solidFill>
                <a:srgbClr val="1D1D1F"/>
              </a:solidFill>
            </a:ln>
          </p:spPr>
        </p:cxnSp>
        <p:cxnSp>
          <p:nvCxnSpPr>
            <p:cNvPr id="55" name="Connector 54"/>
            <p:cNvCxnSpPr/>
            <p:nvPr/>
          </p:nvCxnSpPr>
          <p:spPr>
            <a:xfrm flipV="1">
              <a:off x="6481267" y="5022952"/>
              <a:ext cx="52121" cy="64008"/>
            </a:xfrm>
            <a:prstGeom prst="line">
              <a:avLst/>
            </a:prstGeom>
            <a:ln w="13970">
              <a:solidFill>
                <a:srgbClr val="1D1D1F"/>
              </a:solidFill>
            </a:ln>
          </p:spPr>
        </p:cxnSp>
      </p:grpSp>
      <p:sp>
        <p:nvSpPr>
          <p:cNvPr id="56" name="plan feature"/>
          <p:cNvSpPr txBox="1"/>
          <p:nvPr/>
        </p:nvSpPr>
        <p:spPr>
          <a:xfrm>
            <a:off x="6614160" y="4976317"/>
            <a:ext cx="178308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2 Macs per seat</a:t>
            </a:r>
            <a:endParaRPr sz="960"/>
          </a:p>
        </p:txBody>
      </p:sp>
      <p:grpSp>
        <p:nvGrpSpPr>
          <p:cNvPr id="57" name="check mark"/>
          <p:cNvGrpSpPr/>
          <p:nvPr/>
        </p:nvGrpSpPr>
        <p:grpSpPr>
          <a:xfrm>
            <a:off x="6451092" y="5246980"/>
            <a:ext cx="82296" cy="64008"/>
            <a:chOff x="6451092" y="5246980"/>
            <a:chExt cx="82296" cy="64008"/>
          </a:xfrm>
        </p:grpSpPr>
        <p:cxnSp>
          <p:nvCxnSpPr>
            <p:cNvPr id="58" name="Connector 57"/>
            <p:cNvCxnSpPr/>
            <p:nvPr/>
          </p:nvCxnSpPr>
          <p:spPr>
            <a:xfrm>
              <a:off x="6451092" y="5282641"/>
              <a:ext cx="30175" cy="28347"/>
            </a:xfrm>
            <a:prstGeom prst="line">
              <a:avLst/>
            </a:prstGeom>
            <a:ln w="13970">
              <a:solidFill>
                <a:srgbClr val="1D1D1F"/>
              </a:solidFill>
            </a:ln>
          </p:spPr>
        </p:cxnSp>
        <p:cxnSp>
          <p:nvCxnSpPr>
            <p:cNvPr id="59" name="Connector 58"/>
            <p:cNvCxnSpPr/>
            <p:nvPr/>
          </p:nvCxnSpPr>
          <p:spPr>
            <a:xfrm flipV="1">
              <a:off x="6481267" y="5246980"/>
              <a:ext cx="52121" cy="64008"/>
            </a:xfrm>
            <a:prstGeom prst="line">
              <a:avLst/>
            </a:prstGeom>
            <a:ln w="13970">
              <a:solidFill>
                <a:srgbClr val="1D1D1F"/>
              </a:solidFill>
            </a:ln>
          </p:spPr>
        </p:cxnSp>
      </p:grpSp>
      <p:sp>
        <p:nvSpPr>
          <p:cNvPr id="60" name="plan feature"/>
          <p:cNvSpPr txBox="1"/>
          <p:nvPr/>
        </p:nvSpPr>
        <p:spPr>
          <a:xfrm>
            <a:off x="6614160" y="5200345"/>
            <a:ext cx="1783080" cy="171145"/>
          </a:xfrm>
          <a:prstGeom prst="rect">
            <a:avLst/>
          </a:prstGeom>
          <a:noFill/>
        </p:spPr>
        <p:txBody>
          <a:bodyPr wrap="square" lIns="0" tIns="0" rIns="0" bIns="0" anchor="t">
            <a:noAutofit/>
          </a:bodyPr>
          <a:lstStyle/>
          <a:p>
            <a:pPr algn="l">
              <a:lnSpc>
                <a:spcPts val="1344"/>
              </a:lnSpc>
              <a:spcBef>
                <a:spcPts val="0"/>
              </a:spcBef>
              <a:spcAft>
                <a:spcPts val="0"/>
              </a:spcAft>
            </a:pPr>
            <a:r>
              <a:rPr sz="960" b="0" i="0">
                <a:solidFill>
                  <a:srgbClr val="6E6E73"/>
                </a:solidFill>
                <a:latin typeface="Helvetica Neue"/>
              </a:rPr>
              <a:t>30-day pilot, up to 5 seats</a:t>
            </a:r>
            <a:endParaRPr sz="960"/>
          </a:p>
        </p:txBody>
      </p:sp>
      <p:sp>
        <p:nvSpPr>
          <p:cNvPr id="61" name="pricing aside"/>
          <p:cNvSpPr txBox="1"/>
          <p:nvPr/>
        </p:nvSpPr>
        <p:spPr>
          <a:xfrm>
            <a:off x="914400" y="6060110"/>
            <a:ext cx="7711440" cy="188290"/>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6E6E73"/>
                </a:solidFill>
                <a:latin typeface="Helvetica Neue"/>
              </a:rPr>
              <a:t>List prices. </a:t>
            </a:r>
            <a:r>
              <a:rPr sz="1019" b="0" i="1">
                <a:solidFill>
                  <a:srgbClr val="86868B"/>
                </a:solidFill>
                <a:latin typeface="Helvetica Neue"/>
              </a:rPr>
              <a:t>[TBD: volume tiers above 50 seats]</a:t>
            </a:r>
            <a:endParaRPr sz="1020"/>
          </a:p>
        </p:txBody>
      </p:sp>
      <p:sp>
        <p:nvSpPr>
          <p:cNvPr id="62" name="chart card"/>
          <p:cNvSpPr/>
          <p:nvPr/>
        </p:nvSpPr>
        <p:spPr>
          <a:xfrm>
            <a:off x="8869680" y="2422703"/>
            <a:ext cx="2407920" cy="3825697"/>
          </a:xfrm>
          <a:prstGeom prst="roundRect">
            <a:avLst>
              <a:gd name="adj" fmla="val 6962"/>
            </a:avLst>
          </a:prstGeom>
          <a:solidFill>
            <a:srgbClr val="F5F5F7"/>
          </a:solidFill>
          <a:ln>
            <a:noFill/>
          </a:ln>
        </p:spPr>
        <p:txBody>
          <a:bodyPr rtlCol="0" anchor="ctr"/>
          <a:lstStyle/>
          <a:p>
            <a:pPr algn="ctr"/>
          </a:p>
        </p:txBody>
      </p:sp>
      <p:sp>
        <p:nvSpPr>
          <p:cNvPr id="63" name="chart title"/>
          <p:cNvSpPr txBox="1"/>
          <p:nvPr/>
        </p:nvSpPr>
        <p:spPr>
          <a:xfrm>
            <a:off x="9113520" y="2636063"/>
            <a:ext cx="1920240" cy="376123"/>
          </a:xfrm>
          <a:prstGeom prst="rect">
            <a:avLst/>
          </a:prstGeom>
          <a:noFill/>
        </p:spPr>
        <p:txBody>
          <a:bodyPr wrap="square" lIns="0" tIns="0" rIns="0" bIns="0" anchor="t">
            <a:noAutofit/>
          </a:bodyPr>
          <a:lstStyle/>
          <a:p>
            <a:pPr algn="l">
              <a:lnSpc>
                <a:spcPts val="1479"/>
              </a:lnSpc>
              <a:spcBef>
                <a:spcPts val="0"/>
              </a:spcBef>
              <a:spcAft>
                <a:spcPts val="0"/>
              </a:spcAft>
            </a:pPr>
            <a:r>
              <a:rPr sz="1019" b="0" i="0">
                <a:solidFill>
                  <a:srgbClr val="1D1D1F"/>
                </a:solidFill>
                <a:latin typeface="Helvetica Neue Medium"/>
              </a:rPr>
              <a:t>Annual Team cost by seat count (USD, list)</a:t>
            </a:r>
            <a:endParaRPr sz="1020"/>
          </a:p>
        </p:txBody>
      </p:sp>
      <p:sp>
        <p:nvSpPr>
          <p:cNvPr id="64" name="chart source"/>
          <p:cNvSpPr txBox="1"/>
          <p:nvPr/>
        </p:nvSpPr>
        <p:spPr>
          <a:xfrm>
            <a:off x="9113520" y="5796839"/>
            <a:ext cx="1920240" cy="238201"/>
          </a:xfrm>
          <a:prstGeom prst="rect">
            <a:avLst/>
          </a:prstGeom>
          <a:noFill/>
        </p:spPr>
        <p:txBody>
          <a:bodyPr wrap="square" lIns="0" tIns="0" rIns="0" bIns="0" anchor="t">
            <a:noAutofit/>
          </a:bodyPr>
          <a:lstStyle/>
          <a:p>
            <a:pPr algn="l">
              <a:lnSpc>
                <a:spcPts val="936"/>
              </a:lnSpc>
              <a:spcBef>
                <a:spcPts val="0"/>
              </a:spcBef>
              <a:spcAft>
                <a:spcPts val="0"/>
              </a:spcAft>
            </a:pPr>
            <a:r>
              <a:rPr sz="780" b="0" i="0">
                <a:solidFill>
                  <a:srgbClr val="86868B"/>
                </a:solidFill>
                <a:latin typeface="Helvetica Neue"/>
              </a:rPr>
              <a:t>Source: List-price arithmetic ($96 or ₹5,988 per seat per year); not a forecast.</a:t>
            </a:r>
            <a:endParaRPr sz="780"/>
          </a:p>
        </p:txBody>
      </p:sp>
      <p:graphicFrame>
        <p:nvGraphicFramePr>
          <p:cNvPr id="65" name="chart"/>
          <p:cNvGraphicFramePr>
            <a:graphicFrameLocks noGrp="1"/>
          </p:cNvGraphicFramePr>
          <p:nvPr/>
        </p:nvGraphicFramePr>
        <p:xfrm>
          <a:off x="9113520" y="3121914"/>
          <a:ext cx="1920240" cy="2583942"/>
        </p:xfrm>
        <a:graphic>
          <a:graphicData uri="http://schemas.openxmlformats.org/drawingml/2006/chart">
            <c:chart xmlns:c="http://schemas.openxmlformats.org/drawingml/2006/chart" r:id="rId3"/>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Measurement method agreed on day 0: </a:t>
            </a:r>
            <a:r>
              <a:rPr sz="840" b="0" i="1">
                <a:solidFill>
                  <a:srgbClr val="86868B"/>
                </a:solidFill>
                <a:latin typeface="Helvetica Neue"/>
              </a:rPr>
              <a:t>[TBD: time-log method, e.g. a short daily form]</a:t>
            </a:r>
            <a:r>
              <a:rPr sz="840" b="0" i="0">
                <a:solidFill>
                  <a:srgbClr val="86868B"/>
                </a:solidFill>
                <a:latin typeface="Helvetica Neue"/>
              </a:rPr>
              <a:t>.</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16</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The pilot</a:t>
            </a:r>
            <a:endParaRPr sz="1320"/>
          </a:p>
        </p:txBody>
      </p:sp>
      <p:sp>
        <p:nvSpPr>
          <p:cNvPr id="5" name="headline"/>
          <p:cNvSpPr txBox="1"/>
          <p:nvPr/>
        </p:nvSpPr>
        <p:spPr>
          <a:xfrm>
            <a:off x="914400" y="1067257"/>
            <a:ext cx="10363200" cy="546659"/>
          </a:xfrm>
          <a:prstGeom prst="rect">
            <a:avLst/>
          </a:prstGeom>
          <a:noFill/>
        </p:spPr>
        <p:txBody>
          <a:bodyPr wrap="square" lIns="0" tIns="0" rIns="0" bIns="0" anchor="t">
            <a:noAutofit/>
          </a:bodyPr>
          <a:lstStyle/>
          <a:p>
            <a:pPr algn="l">
              <a:lnSpc>
                <a:spcPts val="4301"/>
              </a:lnSpc>
              <a:spcBef>
                <a:spcPts val="0"/>
              </a:spcBef>
              <a:spcAft>
                <a:spcPts val="0"/>
              </a:spcAft>
            </a:pPr>
            <a:r>
              <a:rPr sz="3840" b="0" i="0" spc="-58">
                <a:solidFill>
                  <a:srgbClr val="1D1D1F"/>
                </a:solidFill>
                <a:latin typeface="Helvetica Neue Light"/>
              </a:rPr>
              <a:t>The 30-day pilot</a:t>
            </a:r>
            <a:endParaRPr sz="3840"/>
          </a:p>
        </p:txBody>
      </p:sp>
      <p:sp>
        <p:nvSpPr>
          <p:cNvPr id="6" name="lead"/>
          <p:cNvSpPr txBox="1"/>
          <p:nvPr/>
        </p:nvSpPr>
        <p:spPr>
          <a:xfrm>
            <a:off x="914400" y="1812036"/>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Up to 5 seats. Your success criteria. A clear yes or no.</a:t>
            </a:r>
            <a:endParaRPr sz="1680"/>
          </a:p>
        </p:txBody>
      </p:sp>
      <p:cxnSp>
        <p:nvCxnSpPr>
          <p:cNvPr id="7" name="strip rule"/>
          <p:cNvCxnSpPr/>
          <p:nvPr/>
        </p:nvCxnSpPr>
        <p:spPr>
          <a:xfrm>
            <a:off x="914400" y="5624627"/>
            <a:ext cx="5059680" cy="0"/>
          </a:xfrm>
          <a:prstGeom prst="line">
            <a:avLst/>
          </a:prstGeom>
          <a:ln w="9525">
            <a:solidFill>
              <a:srgbClr val="D2D2D7"/>
            </a:solidFill>
          </a:ln>
        </p:spPr>
      </p:cxnSp>
      <p:sp>
        <p:nvSpPr>
          <p:cNvPr id="8" name="strip text"/>
          <p:cNvSpPr txBox="1"/>
          <p:nvPr/>
        </p:nvSpPr>
        <p:spPr>
          <a:xfrm>
            <a:off x="914400" y="5761787"/>
            <a:ext cx="505968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Success criteria </a:t>
            </a:r>
            <a:r>
              <a:rPr sz="1320" b="0" i="1">
                <a:solidFill>
                  <a:srgbClr val="86868B"/>
                </a:solidFill>
                <a:latin typeface="Helvetica Neue"/>
              </a:rPr>
              <a:t>[TBD with customer]</a:t>
            </a:r>
            <a:r>
              <a:rPr sz="1320" b="0" i="0">
                <a:solidFill>
                  <a:srgbClr val="6E6E73"/>
                </a:solidFill>
                <a:latin typeface="Helvetica Neue"/>
              </a:rPr>
              <a:t>: hours saved per user per week, zero open security findings, users who want to keep it</a:t>
            </a:r>
            <a:endParaRPr sz="1320"/>
          </a:p>
        </p:txBody>
      </p:sp>
      <p:cxnSp>
        <p:nvCxnSpPr>
          <p:cNvPr id="9" name="strip rule"/>
          <p:cNvCxnSpPr/>
          <p:nvPr/>
        </p:nvCxnSpPr>
        <p:spPr>
          <a:xfrm>
            <a:off x="6217920" y="5624627"/>
            <a:ext cx="5059680" cy="0"/>
          </a:xfrm>
          <a:prstGeom prst="line">
            <a:avLst/>
          </a:prstGeom>
          <a:ln w="9525">
            <a:solidFill>
              <a:srgbClr val="D2D2D7"/>
            </a:solidFill>
          </a:ln>
        </p:spPr>
      </p:cxnSp>
      <p:sp>
        <p:nvSpPr>
          <p:cNvPr id="10" name="strip text"/>
          <p:cNvSpPr txBox="1"/>
          <p:nvPr/>
        </p:nvSpPr>
        <p:spPr>
          <a:xfrm>
            <a:off x="6217920" y="5761787"/>
            <a:ext cx="505968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After day 30: seats convert to Team (minimum 3) or are removed; the app falls back to Free</a:t>
            </a:r>
            <a:endParaRPr sz="1320"/>
          </a:p>
        </p:txBody>
      </p:sp>
      <p:cxnSp>
        <p:nvCxnSpPr>
          <p:cNvPr id="11" name="timeline rail"/>
          <p:cNvCxnSpPr/>
          <p:nvPr/>
        </p:nvCxnSpPr>
        <p:spPr>
          <a:xfrm>
            <a:off x="914400" y="3134716"/>
            <a:ext cx="10363200" cy="0"/>
          </a:xfrm>
          <a:prstGeom prst="line">
            <a:avLst/>
          </a:prstGeom>
          <a:ln w="9525">
            <a:solidFill>
              <a:srgbClr val="D2D2D7"/>
            </a:solidFill>
          </a:ln>
        </p:spPr>
      </p:cxnSp>
      <p:sp>
        <p:nvSpPr>
          <p:cNvPr id="12" name="timeline dot"/>
          <p:cNvSpPr/>
          <p:nvPr/>
        </p:nvSpPr>
        <p:spPr>
          <a:xfrm>
            <a:off x="914400" y="3061564"/>
            <a:ext cx="146304" cy="146304"/>
          </a:xfrm>
          <a:prstGeom prst="ellipse">
            <a:avLst/>
          </a:prstGeom>
          <a:solidFill>
            <a:srgbClr val="F01822"/>
          </a:solidFill>
          <a:ln>
            <a:noFill/>
          </a:ln>
        </p:spPr>
        <p:txBody>
          <a:bodyPr rtlCol="0" anchor="ctr"/>
          <a:lstStyle/>
          <a:p>
            <a:pPr algn="ctr"/>
          </a:p>
        </p:txBody>
      </p:sp>
      <p:sp>
        <p:nvSpPr>
          <p:cNvPr id="13" name="timeline label"/>
          <p:cNvSpPr txBox="1"/>
          <p:nvPr/>
        </p:nvSpPr>
        <p:spPr>
          <a:xfrm>
            <a:off x="914400" y="3363316"/>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 0</a:t>
            </a:r>
            <a:endParaRPr sz="1680"/>
          </a:p>
        </p:txBody>
      </p:sp>
      <p:sp>
        <p:nvSpPr>
          <p:cNvPr id="14" name="timeline text"/>
          <p:cNvSpPr txBox="1"/>
          <p:nvPr/>
        </p:nvSpPr>
        <p:spPr>
          <a:xfrm>
            <a:off x="914400" y="3711245"/>
            <a:ext cx="187756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Kickoff: pick 5 users, agree success criteria, share the security pack</a:t>
            </a:r>
            <a:endParaRPr sz="1320"/>
          </a:p>
        </p:txBody>
      </p:sp>
      <p:sp>
        <p:nvSpPr>
          <p:cNvPr id="15" name="timeline dot"/>
          <p:cNvSpPr/>
          <p:nvPr/>
        </p:nvSpPr>
        <p:spPr>
          <a:xfrm>
            <a:off x="3035808" y="3079852"/>
            <a:ext cx="109728" cy="109728"/>
          </a:xfrm>
          <a:prstGeom prst="ellipse">
            <a:avLst/>
          </a:prstGeom>
          <a:solidFill>
            <a:srgbClr val="1D1D1F"/>
          </a:solidFill>
          <a:ln>
            <a:noFill/>
          </a:ln>
        </p:spPr>
        <p:txBody>
          <a:bodyPr rtlCol="0" anchor="ctr"/>
          <a:lstStyle/>
          <a:p>
            <a:pPr algn="ctr"/>
          </a:p>
        </p:txBody>
      </p:sp>
      <p:sp>
        <p:nvSpPr>
          <p:cNvPr id="16" name="timeline label"/>
          <p:cNvSpPr txBox="1"/>
          <p:nvPr/>
        </p:nvSpPr>
        <p:spPr>
          <a:xfrm>
            <a:off x="3035808" y="3363316"/>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1-3</a:t>
            </a:r>
            <a:endParaRPr sz="1680"/>
          </a:p>
        </p:txBody>
      </p:sp>
      <p:sp>
        <p:nvSpPr>
          <p:cNvPr id="17" name="timeline text"/>
          <p:cNvSpPr txBox="1"/>
          <p:nvPr/>
        </p:nvSpPr>
        <p:spPr>
          <a:xfrm>
            <a:off x="3035808" y="3711245"/>
            <a:ext cx="187756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Deploy the .pkg and PPPC profile; 15-minute permissions walkthrough</a:t>
            </a:r>
            <a:endParaRPr sz="1320"/>
          </a:p>
        </p:txBody>
      </p:sp>
      <p:sp>
        <p:nvSpPr>
          <p:cNvPr id="18" name="timeline dot"/>
          <p:cNvSpPr/>
          <p:nvPr/>
        </p:nvSpPr>
        <p:spPr>
          <a:xfrm>
            <a:off x="5157216" y="3079852"/>
            <a:ext cx="109728" cy="109728"/>
          </a:xfrm>
          <a:prstGeom prst="ellipse">
            <a:avLst/>
          </a:prstGeom>
          <a:solidFill>
            <a:srgbClr val="1D1D1F"/>
          </a:solidFill>
          <a:ln>
            <a:noFill/>
          </a:ln>
        </p:spPr>
        <p:txBody>
          <a:bodyPr rtlCol="0" anchor="ctr"/>
          <a:lstStyle/>
          <a:p>
            <a:pPr algn="ctr"/>
          </a:p>
        </p:txBody>
      </p:sp>
      <p:sp>
        <p:nvSpPr>
          <p:cNvPr id="19" name="timeline label"/>
          <p:cNvSpPr txBox="1"/>
          <p:nvPr/>
        </p:nvSpPr>
        <p:spPr>
          <a:xfrm>
            <a:off x="5157216" y="3363316"/>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1-7</a:t>
            </a:r>
            <a:endParaRPr sz="1680"/>
          </a:p>
        </p:txBody>
      </p:sp>
      <p:sp>
        <p:nvSpPr>
          <p:cNvPr id="20" name="timeline text"/>
          <p:cNvSpPr txBox="1"/>
          <p:nvPr/>
        </p:nvSpPr>
        <p:spPr>
          <a:xfrm>
            <a:off x="5157216" y="3711245"/>
            <a:ext cx="187756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Baseline: users log time on writing, meeting notes and searching</a:t>
            </a:r>
            <a:endParaRPr sz="1320"/>
          </a:p>
        </p:txBody>
      </p:sp>
      <p:sp>
        <p:nvSpPr>
          <p:cNvPr id="21" name="timeline dot"/>
          <p:cNvSpPr/>
          <p:nvPr/>
        </p:nvSpPr>
        <p:spPr>
          <a:xfrm>
            <a:off x="7278624" y="3079852"/>
            <a:ext cx="109728" cy="109728"/>
          </a:xfrm>
          <a:prstGeom prst="ellipse">
            <a:avLst/>
          </a:prstGeom>
          <a:solidFill>
            <a:srgbClr val="1D1D1F"/>
          </a:solidFill>
          <a:ln>
            <a:noFill/>
          </a:ln>
        </p:spPr>
        <p:txBody>
          <a:bodyPr rtlCol="0" anchor="ctr"/>
          <a:lstStyle/>
          <a:p>
            <a:pPr algn="ctr"/>
          </a:p>
        </p:txBody>
      </p:sp>
      <p:sp>
        <p:nvSpPr>
          <p:cNvPr id="22" name="timeline label"/>
          <p:cNvSpPr txBox="1"/>
          <p:nvPr/>
        </p:nvSpPr>
        <p:spPr>
          <a:xfrm>
            <a:off x="7278624" y="3363316"/>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8-25</a:t>
            </a:r>
            <a:endParaRPr sz="1680"/>
          </a:p>
        </p:txBody>
      </p:sp>
      <p:sp>
        <p:nvSpPr>
          <p:cNvPr id="23" name="timeline text"/>
          <p:cNvSpPr txBox="1"/>
          <p:nvPr/>
        </p:nvSpPr>
        <p:spPr>
          <a:xfrm>
            <a:off x="7278624" y="3711245"/>
            <a:ext cx="187756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Daily use; weekly 15-minute check-in; support within 1 business day</a:t>
            </a:r>
            <a:endParaRPr sz="1320"/>
          </a:p>
        </p:txBody>
      </p:sp>
      <p:sp>
        <p:nvSpPr>
          <p:cNvPr id="24" name="timeline dot"/>
          <p:cNvSpPr/>
          <p:nvPr/>
        </p:nvSpPr>
        <p:spPr>
          <a:xfrm>
            <a:off x="9400032" y="3079852"/>
            <a:ext cx="109728" cy="109728"/>
          </a:xfrm>
          <a:prstGeom prst="ellipse">
            <a:avLst/>
          </a:prstGeom>
          <a:solidFill>
            <a:srgbClr val="1D1D1F"/>
          </a:solidFill>
          <a:ln>
            <a:noFill/>
          </a:ln>
        </p:spPr>
        <p:txBody>
          <a:bodyPr rtlCol="0" anchor="ctr"/>
          <a:lstStyle/>
          <a:p>
            <a:pPr algn="ctr"/>
          </a:p>
        </p:txBody>
      </p:sp>
      <p:sp>
        <p:nvSpPr>
          <p:cNvPr id="25" name="timeline label"/>
          <p:cNvSpPr txBox="1"/>
          <p:nvPr/>
        </p:nvSpPr>
        <p:spPr>
          <a:xfrm>
            <a:off x="9400032" y="3363316"/>
            <a:ext cx="1877568" cy="256489"/>
          </a:xfrm>
          <a:prstGeom prst="rect">
            <a:avLst/>
          </a:prstGeom>
          <a:noFill/>
        </p:spPr>
        <p:txBody>
          <a:bodyPr wrap="square" lIns="0" tIns="0" rIns="0" bIns="0" anchor="t">
            <a:noAutofit/>
          </a:bodyPr>
          <a:lstStyle/>
          <a:p>
            <a:pPr algn="l">
              <a:lnSpc>
                <a:spcPts val="2016"/>
              </a:lnSpc>
              <a:spcBef>
                <a:spcPts val="0"/>
              </a:spcBef>
              <a:spcAft>
                <a:spcPts val="0"/>
              </a:spcAft>
            </a:pPr>
            <a:r>
              <a:rPr sz="1680" b="0" i="0">
                <a:solidFill>
                  <a:srgbClr val="1D1D1F"/>
                </a:solidFill>
                <a:latin typeface="Helvetica Neue Medium"/>
              </a:rPr>
              <a:t>Days 26-30</a:t>
            </a:r>
            <a:endParaRPr sz="1680"/>
          </a:p>
        </p:txBody>
      </p:sp>
      <p:sp>
        <p:nvSpPr>
          <p:cNvPr id="26" name="timeline text"/>
          <p:cNvSpPr txBox="1"/>
          <p:nvPr/>
        </p:nvSpPr>
        <p:spPr>
          <a:xfrm>
            <a:off x="9400032" y="3711245"/>
            <a:ext cx="1877568" cy="972769"/>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6E6E73"/>
                </a:solidFill>
                <a:latin typeface="Helvetica Neue"/>
              </a:rPr>
              <a:t>Readout: measured vs. modeled time saved; decide on Team seats</a:t>
            </a:r>
            <a:endParaRPr sz="132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headline"/>
          <p:cNvSpPr txBox="1"/>
          <p:nvPr/>
        </p:nvSpPr>
        <p:spPr>
          <a:xfrm>
            <a:off x="914400" y="731520"/>
            <a:ext cx="10363200" cy="707593"/>
          </a:xfrm>
          <a:prstGeom prst="rect">
            <a:avLst/>
          </a:prstGeom>
          <a:noFill/>
        </p:spPr>
        <p:txBody>
          <a:bodyPr wrap="square" lIns="0" tIns="0" rIns="0" bIns="0" anchor="t">
            <a:noAutofit/>
          </a:bodyPr>
          <a:lstStyle/>
          <a:p>
            <a:pPr algn="ctr">
              <a:lnSpc>
                <a:spcPts val="5568"/>
              </a:lnSpc>
              <a:spcBef>
                <a:spcPts val="0"/>
              </a:spcBef>
              <a:spcAft>
                <a:spcPts val="0"/>
              </a:spcAft>
            </a:pPr>
            <a:r>
              <a:rPr sz="4800" b="0" i="0" spc="-72">
                <a:solidFill>
                  <a:srgbClr val="1D1D1F"/>
                </a:solidFill>
                <a:latin typeface="Helvetica Neue Light"/>
              </a:rPr>
              <a:t>Start your 30-day pilot</a:t>
            </a:r>
            <a:endParaRPr sz="4800"/>
          </a:p>
        </p:txBody>
      </p:sp>
      <p:sp>
        <p:nvSpPr>
          <p:cNvPr id="3" name="lead"/>
          <p:cNvSpPr txBox="1"/>
          <p:nvPr/>
        </p:nvSpPr>
        <p:spPr>
          <a:xfrm>
            <a:off x="914400" y="1637233"/>
            <a:ext cx="10363200" cy="290627"/>
          </a:xfrm>
          <a:prstGeom prst="rect">
            <a:avLst/>
          </a:prstGeom>
          <a:noFill/>
        </p:spPr>
        <p:txBody>
          <a:bodyPr wrap="square" lIns="0" tIns="0" rIns="0" bIns="0" anchor="t">
            <a:noAutofit/>
          </a:bodyPr>
          <a:lstStyle/>
          <a:p>
            <a:pPr algn="ctr">
              <a:lnSpc>
                <a:spcPts val="2285"/>
              </a:lnSpc>
              <a:spcBef>
                <a:spcPts val="0"/>
              </a:spcBef>
              <a:spcAft>
                <a:spcPts val="0"/>
              </a:spcAft>
            </a:pPr>
            <a:r>
              <a:rPr sz="1680" b="0" i="0">
                <a:solidFill>
                  <a:srgbClr val="6E6E73"/>
                </a:solidFill>
                <a:latin typeface="Helvetica Neue"/>
              </a:rPr>
              <a:t>Five seats. Thirty days. Your numbers.</a:t>
            </a:r>
            <a:endParaRPr sz="1680"/>
          </a:p>
        </p:txBody>
      </p:sp>
      <p:cxnSp>
        <p:nvCxnSpPr>
          <p:cNvPr id="4" name="step rule"/>
          <p:cNvCxnSpPr/>
          <p:nvPr/>
        </p:nvCxnSpPr>
        <p:spPr>
          <a:xfrm>
            <a:off x="914400" y="2293620"/>
            <a:ext cx="3291840" cy="0"/>
          </a:xfrm>
          <a:prstGeom prst="line">
            <a:avLst/>
          </a:prstGeom>
          <a:ln w="9525">
            <a:solidFill>
              <a:srgbClr val="D2D2D7"/>
            </a:solidFill>
          </a:ln>
        </p:spPr>
      </p:cxnSp>
      <p:sp>
        <p:nvSpPr>
          <p:cNvPr id="5" name="step number"/>
          <p:cNvSpPr txBox="1"/>
          <p:nvPr/>
        </p:nvSpPr>
        <p:spPr>
          <a:xfrm>
            <a:off x="914400" y="2439924"/>
            <a:ext cx="329184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01</a:t>
            </a:r>
            <a:endParaRPr sz="900"/>
          </a:p>
        </p:txBody>
      </p:sp>
      <p:sp>
        <p:nvSpPr>
          <p:cNvPr id="6" name="step text"/>
          <p:cNvSpPr txBox="1"/>
          <p:nvPr/>
        </p:nvSpPr>
        <p:spPr>
          <a:xfrm>
            <a:off x="914400" y="2668524"/>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Name up to 5 pilot users and a start date</a:t>
            </a:r>
            <a:endParaRPr sz="1320"/>
          </a:p>
        </p:txBody>
      </p:sp>
      <p:cxnSp>
        <p:nvCxnSpPr>
          <p:cNvPr id="7" name="step rule"/>
          <p:cNvCxnSpPr/>
          <p:nvPr/>
        </p:nvCxnSpPr>
        <p:spPr>
          <a:xfrm>
            <a:off x="4450080" y="2293620"/>
            <a:ext cx="3291840" cy="0"/>
          </a:xfrm>
          <a:prstGeom prst="line">
            <a:avLst/>
          </a:prstGeom>
          <a:ln w="9525">
            <a:solidFill>
              <a:srgbClr val="D2D2D7"/>
            </a:solidFill>
          </a:ln>
        </p:spPr>
      </p:cxnSp>
      <p:sp>
        <p:nvSpPr>
          <p:cNvPr id="8" name="step number"/>
          <p:cNvSpPr txBox="1"/>
          <p:nvPr/>
        </p:nvSpPr>
        <p:spPr>
          <a:xfrm>
            <a:off x="4450080" y="2439924"/>
            <a:ext cx="329184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02</a:t>
            </a:r>
            <a:endParaRPr sz="900"/>
          </a:p>
        </p:txBody>
      </p:sp>
      <p:sp>
        <p:nvSpPr>
          <p:cNvPr id="9" name="step text"/>
          <p:cNvSpPr txBox="1"/>
          <p:nvPr/>
        </p:nvSpPr>
        <p:spPr>
          <a:xfrm>
            <a:off x="4450080" y="2668524"/>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We send the security pack and the signed .pkg</a:t>
            </a:r>
            <a:endParaRPr sz="1320"/>
          </a:p>
        </p:txBody>
      </p:sp>
      <p:cxnSp>
        <p:nvCxnSpPr>
          <p:cNvPr id="10" name="step rule"/>
          <p:cNvCxnSpPr/>
          <p:nvPr/>
        </p:nvCxnSpPr>
        <p:spPr>
          <a:xfrm>
            <a:off x="7985760" y="2293620"/>
            <a:ext cx="3291840" cy="0"/>
          </a:xfrm>
          <a:prstGeom prst="line">
            <a:avLst/>
          </a:prstGeom>
          <a:ln w="9525">
            <a:solidFill>
              <a:srgbClr val="D2D2D7"/>
            </a:solidFill>
          </a:ln>
        </p:spPr>
      </p:cxnSp>
      <p:sp>
        <p:nvSpPr>
          <p:cNvPr id="11" name="step number"/>
          <p:cNvSpPr txBox="1"/>
          <p:nvPr/>
        </p:nvSpPr>
        <p:spPr>
          <a:xfrm>
            <a:off x="7985760" y="2439924"/>
            <a:ext cx="329184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03</a:t>
            </a:r>
            <a:endParaRPr sz="900"/>
          </a:p>
        </p:txBody>
      </p:sp>
      <p:sp>
        <p:nvSpPr>
          <p:cNvPr id="12" name="step text"/>
          <p:cNvSpPr txBox="1"/>
          <p:nvPr/>
        </p:nvSpPr>
        <p:spPr>
          <a:xfrm>
            <a:off x="7985760" y="2668524"/>
            <a:ext cx="3291840" cy="486613"/>
          </a:xfrm>
          <a:prstGeom prst="rect">
            <a:avLst/>
          </a:prstGeom>
          <a:noFill/>
        </p:spPr>
        <p:txBody>
          <a:bodyPr wrap="square" lIns="0" tIns="0" rIns="0" bIns="0" anchor="t">
            <a:noAutofit/>
          </a:bodyPr>
          <a:lstStyle/>
          <a:p>
            <a:pPr algn="l">
              <a:lnSpc>
                <a:spcPts val="1914"/>
              </a:lnSpc>
              <a:spcBef>
                <a:spcPts val="0"/>
              </a:spcBef>
              <a:spcAft>
                <a:spcPts val="0"/>
              </a:spcAft>
            </a:pPr>
            <a:r>
              <a:rPr sz="1320" b="0" i="0">
                <a:solidFill>
                  <a:srgbClr val="1D1D1F"/>
                </a:solidFill>
                <a:latin typeface="Helvetica Neue"/>
              </a:rPr>
              <a:t>Day 30: readout and a decision</a:t>
            </a:r>
            <a:endParaRPr sz="1320"/>
          </a:p>
        </p:txBody>
      </p:sp>
      <p:sp>
        <p:nvSpPr>
          <p:cNvPr id="13" name="contact"/>
          <p:cNvSpPr txBox="1"/>
          <p:nvPr/>
        </p:nvSpPr>
        <p:spPr>
          <a:xfrm>
            <a:off x="914400" y="3383737"/>
            <a:ext cx="10363200" cy="243535"/>
          </a:xfrm>
          <a:prstGeom prst="rect">
            <a:avLst/>
          </a:prstGeom>
          <a:noFill/>
        </p:spPr>
        <p:txBody>
          <a:bodyPr wrap="square" lIns="0" tIns="0" rIns="0" bIns="0" anchor="t">
            <a:noAutofit/>
          </a:bodyPr>
          <a:lstStyle/>
          <a:p>
            <a:pPr algn="ctr">
              <a:lnSpc>
                <a:spcPts val="1914"/>
              </a:lnSpc>
              <a:spcBef>
                <a:spcPts val="0"/>
              </a:spcBef>
              <a:spcAft>
                <a:spcPts val="0"/>
              </a:spcAft>
            </a:pPr>
            <a:r>
              <a:rPr sz="1320" b="0" i="1">
                <a:solidFill>
                  <a:srgbClr val="86868B"/>
                </a:solidFill>
                <a:latin typeface="Helvetica Neue"/>
              </a:rPr>
              <a:t>[TBD: sales contact email]</a:t>
            </a:r>
            <a:r>
              <a:rPr sz="1320" b="0" i="0">
                <a:solidFill>
                  <a:srgbClr val="6E6E73"/>
                </a:solidFill>
                <a:latin typeface="Helvetica Neue"/>
              </a:rPr>
              <a:t> · sparkv.si</a:t>
            </a:r>
            <a:endParaRPr sz="1320"/>
          </a:p>
        </p:txBody>
      </p:sp>
      <p:sp>
        <p:nvSpPr>
          <p:cNvPr id="14" name="device lid"/>
          <p:cNvSpPr/>
          <p:nvPr/>
        </p:nvSpPr>
        <p:spPr>
          <a:xfrm>
            <a:off x="2712720" y="3993032"/>
            <a:ext cx="6766560" cy="2864968"/>
          </a:xfrm>
          <a:prstGeom prst="round2SameRect">
            <a:avLst>
              <a:gd name="adj1" fmla="val 6915"/>
              <a:gd name="adj2" fmla="val 0"/>
            </a:avLst>
          </a:prstGeom>
          <a:solidFill>
            <a:srgbClr val="0A0A0B"/>
          </a:solidFill>
          <a:ln w="15240">
            <a:solidFill>
              <a:srgbClr val="BDBDC2"/>
            </a:solidFill>
          </a:ln>
        </p:spPr>
        <p:txBody>
          <a:bodyPr rtlCol="0" anchor="ctr"/>
          <a:lstStyle/>
          <a:p>
            <a:pPr algn="ctr"/>
          </a:p>
        </p:txBody>
      </p:sp>
      <p:sp>
        <p:nvSpPr>
          <p:cNvPr id="15" name="device screen"/>
          <p:cNvSpPr/>
          <p:nvPr/>
        </p:nvSpPr>
        <p:spPr>
          <a:xfrm>
            <a:off x="2834640" y="4114952"/>
            <a:ext cx="6522720" cy="2743048"/>
          </a:xfrm>
          <a:prstGeom prst="round2SameRect">
            <a:avLst>
              <a:gd name="adj1" fmla="val 2777"/>
              <a:gd name="adj2" fmla="val 0"/>
            </a:avLst>
          </a:prstGeom>
          <a:gradFill rotWithShape="1">
            <a:gsLst>
              <a:gs pos="0">
                <a:srgbClr val="130A0E"/>
              </a:gs>
              <a:gs pos="54785">
                <a:srgbClr val="1C1717"/>
              </a:gs>
              <a:gs pos="100000">
                <a:srgbClr val="0F1119"/>
              </a:gs>
            </a:gsLst>
            <a:lin ang="5400000" scaled="0"/>
          </a:gradFill>
          <a:ln>
            <a:noFill/>
          </a:ln>
        </p:spPr>
        <p:txBody>
          <a:bodyPr rtlCol="0" anchor="ctr"/>
          <a:lstStyle/>
          <a:p>
            <a:pPr algn="ctr"/>
          </a:p>
        </p:txBody>
      </p:sp>
      <p:pic>
        <p:nvPicPr>
          <p:cNvPr id="16" name="device screenshot 01-home.png" descr="01-home.png"/>
          <p:cNvPicPr>
            <a:picLocks noChangeAspect="1"/>
          </p:cNvPicPr>
          <p:nvPr/>
        </p:nvPicPr>
        <p:blipFill>
          <a:blip r:embed="rId3"/>
          <a:stretch>
            <a:fillRect/>
          </a:stretch>
        </p:blipFill>
        <p:spPr>
          <a:xfrm>
            <a:off x="2834640" y="4114952"/>
            <a:ext cx="6522720" cy="1502784"/>
          </a:xfrm>
          <a:prstGeom prst="rect">
            <a:avLst/>
          </a:prstGeom>
        </p:spPr>
      </p:pic>
      <p:sp>
        <p:nvSpPr>
          <p:cNvPr id="17" name="device notch"/>
          <p:cNvSpPr/>
          <p:nvPr/>
        </p:nvSpPr>
        <p:spPr>
          <a:xfrm>
            <a:off x="5117592" y="4114952"/>
            <a:ext cx="1956816" cy="289609"/>
          </a:xfrm>
          <a:prstGeom prst="round2SameRect">
            <a:avLst>
              <a:gd name="adj1" fmla="val 0"/>
              <a:gd name="adj2" fmla="val 37843"/>
            </a:avLst>
          </a:prstGeom>
          <a:solidFill>
            <a:srgbClr val="000000"/>
          </a:solidFill>
          <a:ln>
            <a:noFill/>
          </a:ln>
        </p:spPr>
        <p:txBody>
          <a:bodyPr rtlCol="0" anchor="ctr"/>
          <a:lstStyle/>
          <a:p>
            <a:pPr algn="ctr"/>
          </a:p>
        </p:txBody>
      </p:sp>
      <p:sp>
        <p:nvSpPr>
          <p:cNvPr id="18" name="device camera"/>
          <p:cNvSpPr/>
          <p:nvPr/>
        </p:nvSpPr>
        <p:spPr>
          <a:xfrm>
            <a:off x="6057900" y="4221657"/>
            <a:ext cx="76200" cy="76200"/>
          </a:xfrm>
          <a:prstGeom prst="ellipse">
            <a:avLst/>
          </a:prstGeom>
          <a:gradFill rotWithShape="1">
            <a:gsLst>
              <a:gs pos="0">
                <a:srgbClr val="2B3448"/>
              </a:gs>
              <a:gs pos="100000">
                <a:srgbClr val="11141C"/>
              </a:gs>
            </a:gsLst>
            <a:lin ang="5400000" scaled="0"/>
          </a:gradFill>
          <a:ln>
            <a:noFill/>
          </a:ln>
        </p:spPr>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ROI model (enterprise blueprint, slide 9 assumptions table).</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A1</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Appendix</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ROI model assumptions</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Backup for slide 10. Assumptions, not measurements.</a:t>
            </a:r>
            <a:endParaRPr sz="1680"/>
          </a:p>
        </p:txBody>
      </p:sp>
      <p:sp>
        <p:nvSpPr>
          <p:cNvPr id="7" name="column head"/>
          <p:cNvSpPr txBox="1"/>
          <p:nvPr/>
        </p:nvSpPr>
        <p:spPr>
          <a:xfrm>
            <a:off x="1005840" y="2308708"/>
            <a:ext cx="185180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WORKFLOW</a:t>
            </a:r>
            <a:endParaRPr sz="900"/>
          </a:p>
        </p:txBody>
      </p:sp>
      <p:sp>
        <p:nvSpPr>
          <p:cNvPr id="8" name="column head"/>
          <p:cNvSpPr txBox="1"/>
          <p:nvPr/>
        </p:nvSpPr>
        <p:spPr>
          <a:xfrm>
            <a:off x="3040524" y="2308708"/>
            <a:ext cx="6481313"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ASSUMPTION</a:t>
            </a:r>
            <a:endParaRPr sz="900"/>
          </a:p>
        </p:txBody>
      </p:sp>
      <p:sp>
        <p:nvSpPr>
          <p:cNvPr id="9" name="column head"/>
          <p:cNvSpPr txBox="1"/>
          <p:nvPr/>
        </p:nvSpPr>
        <p:spPr>
          <a:xfrm>
            <a:off x="9704717" y="2308708"/>
            <a:ext cx="1481443"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MINUTES PER WEEK</a:t>
            </a:r>
            <a:endParaRPr sz="900"/>
          </a:p>
        </p:txBody>
      </p:sp>
      <p:cxnSp>
        <p:nvCxnSpPr>
          <p:cNvPr id="10" name="table head rule"/>
          <p:cNvCxnSpPr/>
          <p:nvPr/>
        </p:nvCxnSpPr>
        <p:spPr>
          <a:xfrm>
            <a:off x="914400" y="2556053"/>
            <a:ext cx="10363200" cy="0"/>
          </a:xfrm>
          <a:prstGeom prst="line">
            <a:avLst/>
          </a:prstGeom>
          <a:ln w="9525">
            <a:solidFill>
              <a:srgbClr val="1D1D1F"/>
            </a:solidFill>
          </a:ln>
        </p:spPr>
      </p:cxnSp>
      <p:sp>
        <p:nvSpPr>
          <p:cNvPr id="11" name="cell r1c1"/>
          <p:cNvSpPr txBox="1"/>
          <p:nvPr/>
        </p:nvSpPr>
        <p:spPr>
          <a:xfrm>
            <a:off x="1005840" y="2638349"/>
            <a:ext cx="185180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Dictation</a:t>
            </a:r>
            <a:endParaRPr sz="900"/>
          </a:p>
        </p:txBody>
      </p:sp>
      <p:sp>
        <p:nvSpPr>
          <p:cNvPr id="12" name="cell r1c2"/>
          <p:cNvSpPr txBox="1"/>
          <p:nvPr/>
        </p:nvSpPr>
        <p:spPr>
          <a:xfrm>
            <a:off x="3040524" y="2638349"/>
            <a:ext cx="648131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120 min/week of typed prose; speech 1.5x faster (half the 3x phone-keyboard result)</a:t>
            </a:r>
            <a:endParaRPr sz="900"/>
          </a:p>
        </p:txBody>
      </p:sp>
      <p:sp>
        <p:nvSpPr>
          <p:cNvPr id="13" name="cell r1c3"/>
          <p:cNvSpPr txBox="1"/>
          <p:nvPr/>
        </p:nvSpPr>
        <p:spPr>
          <a:xfrm>
            <a:off x="9704717" y="2638349"/>
            <a:ext cx="148144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40</a:t>
            </a:r>
            <a:endParaRPr sz="900"/>
          </a:p>
        </p:txBody>
      </p:sp>
      <p:cxnSp>
        <p:nvCxnSpPr>
          <p:cNvPr id="14" name="row rule"/>
          <p:cNvCxnSpPr/>
          <p:nvPr/>
        </p:nvCxnSpPr>
        <p:spPr>
          <a:xfrm>
            <a:off x="914400" y="2874950"/>
            <a:ext cx="10363200" cy="0"/>
          </a:xfrm>
          <a:prstGeom prst="line">
            <a:avLst/>
          </a:prstGeom>
          <a:ln w="9525">
            <a:solidFill>
              <a:srgbClr val="D2D2D7"/>
            </a:solidFill>
          </a:ln>
        </p:spPr>
      </p:cxnSp>
      <p:sp>
        <p:nvSpPr>
          <p:cNvPr id="15" name="cell r2c1"/>
          <p:cNvSpPr txBox="1"/>
          <p:nvPr/>
        </p:nvSpPr>
        <p:spPr>
          <a:xfrm>
            <a:off x="1005840" y="2957246"/>
            <a:ext cx="185180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Meeting write-ups</a:t>
            </a:r>
            <a:endParaRPr sz="900"/>
          </a:p>
        </p:txBody>
      </p:sp>
      <p:sp>
        <p:nvSpPr>
          <p:cNvPr id="16" name="cell r2c2"/>
          <p:cNvSpPr txBox="1"/>
          <p:nvPr/>
        </p:nvSpPr>
        <p:spPr>
          <a:xfrm>
            <a:off x="3040524" y="2957246"/>
            <a:ext cx="648131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4 recorded meetings/week x 10 min of notes saved</a:t>
            </a:r>
            <a:endParaRPr sz="900"/>
          </a:p>
        </p:txBody>
      </p:sp>
      <p:sp>
        <p:nvSpPr>
          <p:cNvPr id="17" name="cell r2c3"/>
          <p:cNvSpPr txBox="1"/>
          <p:nvPr/>
        </p:nvSpPr>
        <p:spPr>
          <a:xfrm>
            <a:off x="9704717" y="2957246"/>
            <a:ext cx="148144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40</a:t>
            </a:r>
            <a:endParaRPr sz="900"/>
          </a:p>
        </p:txBody>
      </p:sp>
      <p:cxnSp>
        <p:nvCxnSpPr>
          <p:cNvPr id="18" name="row rule"/>
          <p:cNvCxnSpPr/>
          <p:nvPr/>
        </p:nvCxnSpPr>
        <p:spPr>
          <a:xfrm>
            <a:off x="914400" y="3193847"/>
            <a:ext cx="10363200" cy="0"/>
          </a:xfrm>
          <a:prstGeom prst="line">
            <a:avLst/>
          </a:prstGeom>
          <a:ln w="9525">
            <a:solidFill>
              <a:srgbClr val="D2D2D7"/>
            </a:solidFill>
          </a:ln>
        </p:spPr>
      </p:cxnSp>
      <p:sp>
        <p:nvSpPr>
          <p:cNvPr id="19" name="cell r3c1"/>
          <p:cNvSpPr txBox="1"/>
          <p:nvPr/>
        </p:nvSpPr>
        <p:spPr>
          <a:xfrm>
            <a:off x="1005840" y="3276143"/>
            <a:ext cx="185180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Reply drafts</a:t>
            </a:r>
            <a:endParaRPr sz="900"/>
          </a:p>
        </p:txBody>
      </p:sp>
      <p:sp>
        <p:nvSpPr>
          <p:cNvPr id="20" name="cell r3c2"/>
          <p:cNvSpPr txBox="1"/>
          <p:nvPr/>
        </p:nvSpPr>
        <p:spPr>
          <a:xfrm>
            <a:off x="3040524" y="3276143"/>
            <a:ext cx="648131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15 routine replies/week x 2 min saved</a:t>
            </a:r>
            <a:endParaRPr sz="900"/>
          </a:p>
        </p:txBody>
      </p:sp>
      <p:sp>
        <p:nvSpPr>
          <p:cNvPr id="21" name="cell r3c3"/>
          <p:cNvSpPr txBox="1"/>
          <p:nvPr/>
        </p:nvSpPr>
        <p:spPr>
          <a:xfrm>
            <a:off x="9704717" y="3276143"/>
            <a:ext cx="148144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30</a:t>
            </a:r>
            <a:endParaRPr sz="900"/>
          </a:p>
        </p:txBody>
      </p:sp>
      <p:cxnSp>
        <p:nvCxnSpPr>
          <p:cNvPr id="22" name="row rule"/>
          <p:cNvCxnSpPr/>
          <p:nvPr/>
        </p:nvCxnSpPr>
        <p:spPr>
          <a:xfrm>
            <a:off x="914400" y="3512744"/>
            <a:ext cx="10363200" cy="0"/>
          </a:xfrm>
          <a:prstGeom prst="line">
            <a:avLst/>
          </a:prstGeom>
          <a:ln w="9525">
            <a:solidFill>
              <a:srgbClr val="D2D2D7"/>
            </a:solidFill>
          </a:ln>
        </p:spPr>
      </p:cxnSp>
      <p:sp>
        <p:nvSpPr>
          <p:cNvPr id="23" name="cell r4c1"/>
          <p:cNvSpPr txBox="1"/>
          <p:nvPr/>
        </p:nvSpPr>
        <p:spPr>
          <a:xfrm>
            <a:off x="1005840" y="3595040"/>
            <a:ext cx="185180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Finding past work</a:t>
            </a:r>
            <a:endParaRPr sz="900"/>
          </a:p>
        </p:txBody>
      </p:sp>
      <p:sp>
        <p:nvSpPr>
          <p:cNvPr id="24" name="cell r4c2"/>
          <p:cNvSpPr txBox="1"/>
          <p:nvPr/>
        </p:nvSpPr>
        <p:spPr>
          <a:xfrm>
            <a:off x="3040524" y="3595040"/>
            <a:ext cx="648131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Spaces + Universal Search save 20 min/week of looking</a:t>
            </a:r>
            <a:endParaRPr sz="900"/>
          </a:p>
        </p:txBody>
      </p:sp>
      <p:sp>
        <p:nvSpPr>
          <p:cNvPr id="25" name="cell r4c3"/>
          <p:cNvSpPr txBox="1"/>
          <p:nvPr/>
        </p:nvSpPr>
        <p:spPr>
          <a:xfrm>
            <a:off x="9704717" y="3595040"/>
            <a:ext cx="148144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20</a:t>
            </a:r>
            <a:endParaRPr sz="900"/>
          </a:p>
        </p:txBody>
      </p:sp>
      <p:cxnSp>
        <p:nvCxnSpPr>
          <p:cNvPr id="26" name="row rule"/>
          <p:cNvCxnSpPr/>
          <p:nvPr/>
        </p:nvCxnSpPr>
        <p:spPr>
          <a:xfrm>
            <a:off x="914400" y="3831641"/>
            <a:ext cx="10363200" cy="0"/>
          </a:xfrm>
          <a:prstGeom prst="line">
            <a:avLst/>
          </a:prstGeom>
          <a:ln w="9525">
            <a:solidFill>
              <a:srgbClr val="D2D2D7"/>
            </a:solidFill>
          </a:ln>
        </p:spPr>
      </p:cxnSp>
      <p:sp>
        <p:nvSpPr>
          <p:cNvPr id="27" name="cell r5c1"/>
          <p:cNvSpPr txBox="1"/>
          <p:nvPr/>
        </p:nvSpPr>
        <p:spPr>
          <a:xfrm>
            <a:off x="1005840" y="3913937"/>
            <a:ext cx="185180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Screen tools</a:t>
            </a:r>
            <a:endParaRPr sz="900"/>
          </a:p>
        </p:txBody>
      </p:sp>
      <p:sp>
        <p:nvSpPr>
          <p:cNvPr id="28" name="cell r5c2"/>
          <p:cNvSpPr txBox="1"/>
          <p:nvPr/>
        </p:nvSpPr>
        <p:spPr>
          <a:xfrm>
            <a:off x="3040524" y="3913937"/>
            <a:ext cx="648131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Copy Text, clipboard stack, Converter, Ask Screen: 20 min/week</a:t>
            </a:r>
            <a:endParaRPr sz="900"/>
          </a:p>
        </p:txBody>
      </p:sp>
      <p:sp>
        <p:nvSpPr>
          <p:cNvPr id="29" name="cell r5c3"/>
          <p:cNvSpPr txBox="1"/>
          <p:nvPr/>
        </p:nvSpPr>
        <p:spPr>
          <a:xfrm>
            <a:off x="9704717" y="3913937"/>
            <a:ext cx="148144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20</a:t>
            </a:r>
            <a:endParaRPr sz="900"/>
          </a:p>
        </p:txBody>
      </p:sp>
      <p:cxnSp>
        <p:nvCxnSpPr>
          <p:cNvPr id="30" name="row rule"/>
          <p:cNvCxnSpPr/>
          <p:nvPr/>
        </p:nvCxnSpPr>
        <p:spPr>
          <a:xfrm>
            <a:off x="914400" y="4150538"/>
            <a:ext cx="10363200" cy="0"/>
          </a:xfrm>
          <a:prstGeom prst="line">
            <a:avLst/>
          </a:prstGeom>
          <a:ln w="9525">
            <a:solidFill>
              <a:srgbClr val="D2D2D7"/>
            </a:solidFill>
          </a:ln>
        </p:spPr>
      </p:cxnSp>
      <p:sp>
        <p:nvSpPr>
          <p:cNvPr id="31" name="cell r6c1"/>
          <p:cNvSpPr txBox="1"/>
          <p:nvPr/>
        </p:nvSpPr>
        <p:spPr>
          <a:xfrm>
            <a:off x="1005840" y="4232834"/>
            <a:ext cx="185180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Total</a:t>
            </a:r>
            <a:endParaRPr sz="900"/>
          </a:p>
        </p:txBody>
      </p:sp>
      <p:sp>
        <p:nvSpPr>
          <p:cNvPr id="32" name="cell r6c2"/>
          <p:cNvSpPr txBox="1"/>
          <p:nvPr/>
        </p:nvSpPr>
        <p:spPr>
          <a:xfrm>
            <a:off x="3040524" y="4232834"/>
            <a:ext cx="648131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Sum</a:t>
            </a:r>
            <a:endParaRPr sz="900"/>
          </a:p>
        </p:txBody>
      </p:sp>
      <p:sp>
        <p:nvSpPr>
          <p:cNvPr id="33" name="cell r6c3"/>
          <p:cNvSpPr txBox="1"/>
          <p:nvPr/>
        </p:nvSpPr>
        <p:spPr>
          <a:xfrm>
            <a:off x="9704717" y="4232834"/>
            <a:ext cx="148144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150</a:t>
            </a:r>
            <a:endParaRPr sz="9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 SparkV Business Plan, section 3 (competitor prices with linked sources). Third-party listings; verify on vendor pages.</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A2</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Appendix</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Year-one cost per seat, by tool</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Backup for slide 14.</a:t>
            </a:r>
            <a:endParaRPr sz="1680"/>
          </a:p>
        </p:txBody>
      </p:sp>
      <p:sp>
        <p:nvSpPr>
          <p:cNvPr id="7" name="column head"/>
          <p:cNvSpPr txBox="1"/>
          <p:nvPr/>
        </p:nvSpPr>
        <p:spPr>
          <a:xfrm>
            <a:off x="1005840" y="2308708"/>
            <a:ext cx="2831123"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ITEM</a:t>
            </a:r>
            <a:endParaRPr sz="900"/>
          </a:p>
        </p:txBody>
      </p:sp>
      <p:sp>
        <p:nvSpPr>
          <p:cNvPr id="8" name="column head"/>
          <p:cNvSpPr txBox="1"/>
          <p:nvPr/>
        </p:nvSpPr>
        <p:spPr>
          <a:xfrm>
            <a:off x="4019843" y="2308708"/>
            <a:ext cx="5284763"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BASIS</a:t>
            </a:r>
            <a:endParaRPr sz="900"/>
          </a:p>
        </p:txBody>
      </p:sp>
      <p:sp>
        <p:nvSpPr>
          <p:cNvPr id="9" name="column head"/>
          <p:cNvSpPr txBox="1"/>
          <p:nvPr/>
        </p:nvSpPr>
        <p:spPr>
          <a:xfrm>
            <a:off x="9487486" y="2308708"/>
            <a:ext cx="169867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USD</a:t>
            </a:r>
            <a:endParaRPr sz="900"/>
          </a:p>
        </p:txBody>
      </p:sp>
      <p:cxnSp>
        <p:nvCxnSpPr>
          <p:cNvPr id="10" name="table head rule"/>
          <p:cNvCxnSpPr/>
          <p:nvPr/>
        </p:nvCxnSpPr>
        <p:spPr>
          <a:xfrm>
            <a:off x="914400" y="2556053"/>
            <a:ext cx="10363200" cy="0"/>
          </a:xfrm>
          <a:prstGeom prst="line">
            <a:avLst/>
          </a:prstGeom>
          <a:ln w="9525">
            <a:solidFill>
              <a:srgbClr val="1D1D1F"/>
            </a:solidFill>
          </a:ln>
        </p:spPr>
      </p:cxnSp>
      <p:sp>
        <p:nvSpPr>
          <p:cNvPr id="11" name="cell r1c1"/>
          <p:cNvSpPr txBox="1"/>
          <p:nvPr/>
        </p:nvSpPr>
        <p:spPr>
          <a:xfrm>
            <a:off x="1005840" y="2638349"/>
            <a:ext cx="283112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Wispr Flow Teams</a:t>
            </a:r>
            <a:endParaRPr sz="900"/>
          </a:p>
        </p:txBody>
      </p:sp>
      <p:sp>
        <p:nvSpPr>
          <p:cNvPr id="12" name="cell r1c2"/>
          <p:cNvSpPr txBox="1"/>
          <p:nvPr/>
        </p:nvSpPr>
        <p:spPr>
          <a:xfrm>
            <a:off x="4019843" y="2638349"/>
            <a:ext cx="528476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from $10/user/mo x 12</a:t>
            </a:r>
            <a:endParaRPr sz="900"/>
          </a:p>
        </p:txBody>
      </p:sp>
      <p:sp>
        <p:nvSpPr>
          <p:cNvPr id="13" name="cell r1c3"/>
          <p:cNvSpPr txBox="1"/>
          <p:nvPr/>
        </p:nvSpPr>
        <p:spPr>
          <a:xfrm>
            <a:off x="9487486" y="2638349"/>
            <a:ext cx="169867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$120.00</a:t>
            </a:r>
            <a:endParaRPr sz="900"/>
          </a:p>
        </p:txBody>
      </p:sp>
      <p:cxnSp>
        <p:nvCxnSpPr>
          <p:cNvPr id="14" name="row rule"/>
          <p:cNvCxnSpPr/>
          <p:nvPr/>
        </p:nvCxnSpPr>
        <p:spPr>
          <a:xfrm>
            <a:off x="914400" y="2874950"/>
            <a:ext cx="10363200" cy="0"/>
          </a:xfrm>
          <a:prstGeom prst="line">
            <a:avLst/>
          </a:prstGeom>
          <a:ln w="9525">
            <a:solidFill>
              <a:srgbClr val="D2D2D7"/>
            </a:solidFill>
          </a:ln>
        </p:spPr>
      </p:cxnSp>
      <p:sp>
        <p:nvSpPr>
          <p:cNvPr id="15" name="cell r2c1"/>
          <p:cNvSpPr txBox="1"/>
          <p:nvPr/>
        </p:nvSpPr>
        <p:spPr>
          <a:xfrm>
            <a:off x="1005840" y="2957246"/>
            <a:ext cx="283112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Granola Business</a:t>
            </a:r>
            <a:endParaRPr sz="900"/>
          </a:p>
        </p:txBody>
      </p:sp>
      <p:sp>
        <p:nvSpPr>
          <p:cNvPr id="16" name="cell r2c2"/>
          <p:cNvSpPr txBox="1"/>
          <p:nvPr/>
        </p:nvSpPr>
        <p:spPr>
          <a:xfrm>
            <a:off x="4019843" y="2957246"/>
            <a:ext cx="528476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$14/user/mo x 12</a:t>
            </a:r>
            <a:endParaRPr sz="900"/>
          </a:p>
        </p:txBody>
      </p:sp>
      <p:sp>
        <p:nvSpPr>
          <p:cNvPr id="17" name="cell r2c3"/>
          <p:cNvSpPr txBox="1"/>
          <p:nvPr/>
        </p:nvSpPr>
        <p:spPr>
          <a:xfrm>
            <a:off x="9487486" y="2957246"/>
            <a:ext cx="169867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$168.00</a:t>
            </a:r>
            <a:endParaRPr sz="900"/>
          </a:p>
        </p:txBody>
      </p:sp>
      <p:cxnSp>
        <p:nvCxnSpPr>
          <p:cNvPr id="18" name="row rule"/>
          <p:cNvCxnSpPr/>
          <p:nvPr/>
        </p:nvCxnSpPr>
        <p:spPr>
          <a:xfrm>
            <a:off x="914400" y="3193847"/>
            <a:ext cx="10363200" cy="0"/>
          </a:xfrm>
          <a:prstGeom prst="line">
            <a:avLst/>
          </a:prstGeom>
          <a:ln w="9525">
            <a:solidFill>
              <a:srgbClr val="D2D2D7"/>
            </a:solidFill>
          </a:ln>
        </p:spPr>
      </p:cxnSp>
      <p:sp>
        <p:nvSpPr>
          <p:cNvPr id="19" name="cell r3c1"/>
          <p:cNvSpPr txBox="1"/>
          <p:nvPr/>
        </p:nvSpPr>
        <p:spPr>
          <a:xfrm>
            <a:off x="1005840" y="3276143"/>
            <a:ext cx="283112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Raycast Pro</a:t>
            </a:r>
            <a:endParaRPr sz="900"/>
          </a:p>
        </p:txBody>
      </p:sp>
      <p:sp>
        <p:nvSpPr>
          <p:cNvPr id="20" name="cell r3c2"/>
          <p:cNvSpPr txBox="1"/>
          <p:nvPr/>
        </p:nvSpPr>
        <p:spPr>
          <a:xfrm>
            <a:off x="4019843" y="3276143"/>
            <a:ext cx="528476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$8/mo billed yearly x 12</a:t>
            </a:r>
            <a:endParaRPr sz="900"/>
          </a:p>
        </p:txBody>
      </p:sp>
      <p:sp>
        <p:nvSpPr>
          <p:cNvPr id="21" name="cell r3c3"/>
          <p:cNvSpPr txBox="1"/>
          <p:nvPr/>
        </p:nvSpPr>
        <p:spPr>
          <a:xfrm>
            <a:off x="9487486" y="3276143"/>
            <a:ext cx="169867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$96.00</a:t>
            </a:r>
            <a:endParaRPr sz="900"/>
          </a:p>
        </p:txBody>
      </p:sp>
      <p:cxnSp>
        <p:nvCxnSpPr>
          <p:cNvPr id="22" name="row rule"/>
          <p:cNvCxnSpPr/>
          <p:nvPr/>
        </p:nvCxnSpPr>
        <p:spPr>
          <a:xfrm>
            <a:off x="914400" y="3512744"/>
            <a:ext cx="10363200" cy="0"/>
          </a:xfrm>
          <a:prstGeom prst="line">
            <a:avLst/>
          </a:prstGeom>
          <a:ln w="9525">
            <a:solidFill>
              <a:srgbClr val="D2D2D7"/>
            </a:solidFill>
          </a:ln>
        </p:spPr>
      </p:cxnSp>
      <p:sp>
        <p:nvSpPr>
          <p:cNvPr id="23" name="cell r4c1"/>
          <p:cNvSpPr txBox="1"/>
          <p:nvPr/>
        </p:nvSpPr>
        <p:spPr>
          <a:xfrm>
            <a:off x="1005840" y="3595040"/>
            <a:ext cx="283112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Paste</a:t>
            </a:r>
            <a:endParaRPr sz="900"/>
          </a:p>
        </p:txBody>
      </p:sp>
      <p:sp>
        <p:nvSpPr>
          <p:cNvPr id="24" name="cell r4c2"/>
          <p:cNvSpPr txBox="1"/>
          <p:nvPr/>
        </p:nvSpPr>
        <p:spPr>
          <a:xfrm>
            <a:off x="4019843" y="3595040"/>
            <a:ext cx="528476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$29.99/yr</a:t>
            </a:r>
            <a:endParaRPr sz="900"/>
          </a:p>
        </p:txBody>
      </p:sp>
      <p:sp>
        <p:nvSpPr>
          <p:cNvPr id="25" name="cell r4c3"/>
          <p:cNvSpPr txBox="1"/>
          <p:nvPr/>
        </p:nvSpPr>
        <p:spPr>
          <a:xfrm>
            <a:off x="9487486" y="3595040"/>
            <a:ext cx="169867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$29.99</a:t>
            </a:r>
            <a:endParaRPr sz="900"/>
          </a:p>
        </p:txBody>
      </p:sp>
      <p:cxnSp>
        <p:nvCxnSpPr>
          <p:cNvPr id="26" name="row rule"/>
          <p:cNvCxnSpPr/>
          <p:nvPr/>
        </p:nvCxnSpPr>
        <p:spPr>
          <a:xfrm>
            <a:off x="914400" y="3831641"/>
            <a:ext cx="10363200" cy="0"/>
          </a:xfrm>
          <a:prstGeom prst="line">
            <a:avLst/>
          </a:prstGeom>
          <a:ln w="9525">
            <a:solidFill>
              <a:srgbClr val="D2D2D7"/>
            </a:solidFill>
          </a:ln>
        </p:spPr>
      </p:cxnSp>
      <p:sp>
        <p:nvSpPr>
          <p:cNvPr id="27" name="cell r5c1"/>
          <p:cNvSpPr txBox="1"/>
          <p:nvPr/>
        </p:nvSpPr>
        <p:spPr>
          <a:xfrm>
            <a:off x="1005840" y="3913937"/>
            <a:ext cx="283112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CleanShot X</a:t>
            </a:r>
            <a:endParaRPr sz="900"/>
          </a:p>
        </p:txBody>
      </p:sp>
      <p:sp>
        <p:nvSpPr>
          <p:cNvPr id="28" name="cell r5c2"/>
          <p:cNvSpPr txBox="1"/>
          <p:nvPr/>
        </p:nvSpPr>
        <p:spPr>
          <a:xfrm>
            <a:off x="4019843" y="3913937"/>
            <a:ext cx="528476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$29 one-time (year one)</a:t>
            </a:r>
            <a:endParaRPr sz="900"/>
          </a:p>
        </p:txBody>
      </p:sp>
      <p:sp>
        <p:nvSpPr>
          <p:cNvPr id="29" name="cell r5c3"/>
          <p:cNvSpPr txBox="1"/>
          <p:nvPr/>
        </p:nvSpPr>
        <p:spPr>
          <a:xfrm>
            <a:off x="9487486" y="3913937"/>
            <a:ext cx="169867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$29.00</a:t>
            </a:r>
            <a:endParaRPr sz="900"/>
          </a:p>
        </p:txBody>
      </p:sp>
      <p:cxnSp>
        <p:nvCxnSpPr>
          <p:cNvPr id="30" name="row rule"/>
          <p:cNvCxnSpPr/>
          <p:nvPr/>
        </p:nvCxnSpPr>
        <p:spPr>
          <a:xfrm>
            <a:off x="914400" y="4150538"/>
            <a:ext cx="10363200" cy="0"/>
          </a:xfrm>
          <a:prstGeom prst="line">
            <a:avLst/>
          </a:prstGeom>
          <a:ln w="9525">
            <a:solidFill>
              <a:srgbClr val="D2D2D7"/>
            </a:solidFill>
          </a:ln>
        </p:spPr>
      </p:cxnSp>
      <p:sp>
        <p:nvSpPr>
          <p:cNvPr id="31" name="cell r6c1"/>
          <p:cNvSpPr txBox="1"/>
          <p:nvPr/>
        </p:nvSpPr>
        <p:spPr>
          <a:xfrm>
            <a:off x="1005840" y="4232834"/>
            <a:ext cx="283112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Stack total</a:t>
            </a:r>
            <a:endParaRPr sz="900"/>
          </a:p>
        </p:txBody>
      </p:sp>
      <p:sp>
        <p:nvSpPr>
          <p:cNvPr id="32" name="cell r6c2"/>
          <p:cNvSpPr txBox="1"/>
          <p:nvPr/>
        </p:nvSpPr>
        <p:spPr>
          <a:xfrm>
            <a:off x="4019843" y="4232834"/>
            <a:ext cx="528476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sum</a:t>
            </a:r>
            <a:endParaRPr sz="900"/>
          </a:p>
        </p:txBody>
      </p:sp>
      <p:sp>
        <p:nvSpPr>
          <p:cNvPr id="33" name="cell r6c3"/>
          <p:cNvSpPr txBox="1"/>
          <p:nvPr/>
        </p:nvSpPr>
        <p:spPr>
          <a:xfrm>
            <a:off x="9487486" y="4232834"/>
            <a:ext cx="169867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$442.99</a:t>
            </a:r>
            <a:endParaRPr sz="900"/>
          </a:p>
        </p:txBody>
      </p:sp>
      <p:cxnSp>
        <p:nvCxnSpPr>
          <p:cNvPr id="34" name="row rule"/>
          <p:cNvCxnSpPr/>
          <p:nvPr/>
        </p:nvCxnSpPr>
        <p:spPr>
          <a:xfrm>
            <a:off x="914400" y="4469435"/>
            <a:ext cx="10363200" cy="0"/>
          </a:xfrm>
          <a:prstGeom prst="line">
            <a:avLst/>
          </a:prstGeom>
          <a:ln w="9525">
            <a:solidFill>
              <a:srgbClr val="D2D2D7"/>
            </a:solidFill>
          </a:ln>
        </p:spPr>
      </p:cxnSp>
      <p:sp>
        <p:nvSpPr>
          <p:cNvPr id="35" name="highlight row"/>
          <p:cNvSpPr/>
          <p:nvPr/>
        </p:nvSpPr>
        <p:spPr>
          <a:xfrm>
            <a:off x="914400" y="4469435"/>
            <a:ext cx="10363200" cy="318897"/>
          </a:xfrm>
          <a:prstGeom prst="rect">
            <a:avLst/>
          </a:prstGeom>
          <a:solidFill>
            <a:srgbClr val="F5F5F7"/>
          </a:solidFill>
          <a:ln>
            <a:noFill/>
          </a:ln>
        </p:spPr>
        <p:txBody>
          <a:bodyPr rtlCol="0" anchor="ctr"/>
          <a:lstStyle/>
          <a:p>
            <a:pPr algn="ctr"/>
          </a:p>
        </p:txBody>
      </p:sp>
      <p:sp>
        <p:nvSpPr>
          <p:cNvPr id="36" name="highlight accent"/>
          <p:cNvSpPr/>
          <p:nvPr/>
        </p:nvSpPr>
        <p:spPr>
          <a:xfrm>
            <a:off x="914400" y="4469435"/>
            <a:ext cx="45720" cy="318897"/>
          </a:xfrm>
          <a:prstGeom prst="rect">
            <a:avLst/>
          </a:prstGeom>
          <a:solidFill>
            <a:srgbClr val="F01822"/>
          </a:solidFill>
          <a:ln>
            <a:noFill/>
          </a:ln>
        </p:spPr>
        <p:txBody>
          <a:bodyPr rtlCol="0" anchor="ctr"/>
          <a:lstStyle/>
          <a:p>
            <a:pPr algn="ctr"/>
          </a:p>
        </p:txBody>
      </p:sp>
      <p:sp>
        <p:nvSpPr>
          <p:cNvPr id="37" name="cell r7c1"/>
          <p:cNvSpPr txBox="1"/>
          <p:nvPr/>
        </p:nvSpPr>
        <p:spPr>
          <a:xfrm>
            <a:off x="1005840" y="4551731"/>
            <a:ext cx="283112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SparkV Team</a:t>
            </a:r>
            <a:endParaRPr sz="900"/>
          </a:p>
        </p:txBody>
      </p:sp>
      <p:sp>
        <p:nvSpPr>
          <p:cNvPr id="38" name="cell r7c2"/>
          <p:cNvSpPr txBox="1"/>
          <p:nvPr/>
        </p:nvSpPr>
        <p:spPr>
          <a:xfrm>
            <a:off x="4019843" y="4551731"/>
            <a:ext cx="5284763"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$8/seat/mo billed yearly</a:t>
            </a:r>
            <a:endParaRPr sz="900"/>
          </a:p>
        </p:txBody>
      </p:sp>
      <p:sp>
        <p:nvSpPr>
          <p:cNvPr id="39" name="cell r7c3"/>
          <p:cNvSpPr txBox="1"/>
          <p:nvPr/>
        </p:nvSpPr>
        <p:spPr>
          <a:xfrm>
            <a:off x="9487486" y="4551731"/>
            <a:ext cx="169867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$96.00</a:t>
            </a:r>
            <a:endParaRPr sz="9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Sources: SparkV Business Plan §6a; IDC preliminary, Jan 2026.</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A3</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Appendix</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Team cost by seat count and Mac shipments</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Backup for slides 03 and 15.</a:t>
            </a:r>
            <a:endParaRPr sz="1680"/>
          </a:p>
        </p:txBody>
      </p:sp>
      <p:sp>
        <p:nvSpPr>
          <p:cNvPr id="7" name="column head"/>
          <p:cNvSpPr txBox="1"/>
          <p:nvPr/>
        </p:nvSpPr>
        <p:spPr>
          <a:xfrm>
            <a:off x="1005840" y="2308708"/>
            <a:ext cx="2036984"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ITEM</a:t>
            </a:r>
            <a:endParaRPr sz="900"/>
          </a:p>
        </p:txBody>
      </p:sp>
      <p:sp>
        <p:nvSpPr>
          <p:cNvPr id="8" name="column head"/>
          <p:cNvSpPr txBox="1"/>
          <p:nvPr/>
        </p:nvSpPr>
        <p:spPr>
          <a:xfrm>
            <a:off x="3225704" y="2308708"/>
            <a:ext cx="4999870"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BASIS</a:t>
            </a:r>
            <a:endParaRPr sz="900"/>
          </a:p>
        </p:txBody>
      </p:sp>
      <p:sp>
        <p:nvSpPr>
          <p:cNvPr id="9" name="column head"/>
          <p:cNvSpPr txBox="1"/>
          <p:nvPr/>
        </p:nvSpPr>
        <p:spPr>
          <a:xfrm>
            <a:off x="8408454" y="2308708"/>
            <a:ext cx="2777706"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VALUE</a:t>
            </a:r>
            <a:endParaRPr sz="900"/>
          </a:p>
        </p:txBody>
      </p:sp>
      <p:cxnSp>
        <p:nvCxnSpPr>
          <p:cNvPr id="10" name="table head rule"/>
          <p:cNvCxnSpPr/>
          <p:nvPr/>
        </p:nvCxnSpPr>
        <p:spPr>
          <a:xfrm>
            <a:off x="914400" y="2556053"/>
            <a:ext cx="10363200" cy="0"/>
          </a:xfrm>
          <a:prstGeom prst="line">
            <a:avLst/>
          </a:prstGeom>
          <a:ln w="9525">
            <a:solidFill>
              <a:srgbClr val="1D1D1F"/>
            </a:solidFill>
          </a:ln>
        </p:spPr>
      </p:cxnSp>
      <p:sp>
        <p:nvSpPr>
          <p:cNvPr id="11" name="cell r1c1"/>
          <p:cNvSpPr txBox="1"/>
          <p:nvPr/>
        </p:nvSpPr>
        <p:spPr>
          <a:xfrm>
            <a:off x="1005840" y="2638349"/>
            <a:ext cx="203698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5 seats</a:t>
            </a:r>
            <a:endParaRPr sz="900"/>
          </a:p>
        </p:txBody>
      </p:sp>
      <p:sp>
        <p:nvSpPr>
          <p:cNvPr id="12" name="cell r1c2"/>
          <p:cNvSpPr txBox="1"/>
          <p:nvPr/>
        </p:nvSpPr>
        <p:spPr>
          <a:xfrm>
            <a:off x="3225704" y="2638349"/>
            <a:ext cx="4999870"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Annual Team list price</a:t>
            </a:r>
            <a:endParaRPr sz="900"/>
          </a:p>
        </p:txBody>
      </p:sp>
      <p:sp>
        <p:nvSpPr>
          <p:cNvPr id="13" name="cell r1c3"/>
          <p:cNvSpPr txBox="1"/>
          <p:nvPr/>
        </p:nvSpPr>
        <p:spPr>
          <a:xfrm>
            <a:off x="8408454" y="2638349"/>
            <a:ext cx="277770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$480 · ₹29,940</a:t>
            </a:r>
            <a:endParaRPr sz="900"/>
          </a:p>
        </p:txBody>
      </p:sp>
      <p:cxnSp>
        <p:nvCxnSpPr>
          <p:cNvPr id="14" name="row rule"/>
          <p:cNvCxnSpPr/>
          <p:nvPr/>
        </p:nvCxnSpPr>
        <p:spPr>
          <a:xfrm>
            <a:off x="914400" y="2874950"/>
            <a:ext cx="10363200" cy="0"/>
          </a:xfrm>
          <a:prstGeom prst="line">
            <a:avLst/>
          </a:prstGeom>
          <a:ln w="9525">
            <a:solidFill>
              <a:srgbClr val="D2D2D7"/>
            </a:solidFill>
          </a:ln>
        </p:spPr>
      </p:cxnSp>
      <p:sp>
        <p:nvSpPr>
          <p:cNvPr id="15" name="cell r2c1"/>
          <p:cNvSpPr txBox="1"/>
          <p:nvPr/>
        </p:nvSpPr>
        <p:spPr>
          <a:xfrm>
            <a:off x="1005840" y="2957246"/>
            <a:ext cx="203698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10 seats</a:t>
            </a:r>
            <a:endParaRPr sz="900"/>
          </a:p>
        </p:txBody>
      </p:sp>
      <p:sp>
        <p:nvSpPr>
          <p:cNvPr id="16" name="cell r2c2"/>
          <p:cNvSpPr txBox="1"/>
          <p:nvPr/>
        </p:nvSpPr>
        <p:spPr>
          <a:xfrm>
            <a:off x="3225704" y="2957246"/>
            <a:ext cx="4999870"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Annual Team list price</a:t>
            </a:r>
            <a:endParaRPr sz="900"/>
          </a:p>
        </p:txBody>
      </p:sp>
      <p:sp>
        <p:nvSpPr>
          <p:cNvPr id="17" name="cell r2c3"/>
          <p:cNvSpPr txBox="1"/>
          <p:nvPr/>
        </p:nvSpPr>
        <p:spPr>
          <a:xfrm>
            <a:off x="8408454" y="2957246"/>
            <a:ext cx="277770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$960 · ₹59,880</a:t>
            </a:r>
            <a:endParaRPr sz="900"/>
          </a:p>
        </p:txBody>
      </p:sp>
      <p:cxnSp>
        <p:nvCxnSpPr>
          <p:cNvPr id="18" name="row rule"/>
          <p:cNvCxnSpPr/>
          <p:nvPr/>
        </p:nvCxnSpPr>
        <p:spPr>
          <a:xfrm>
            <a:off x="914400" y="3193847"/>
            <a:ext cx="10363200" cy="0"/>
          </a:xfrm>
          <a:prstGeom prst="line">
            <a:avLst/>
          </a:prstGeom>
          <a:ln w="9525">
            <a:solidFill>
              <a:srgbClr val="D2D2D7"/>
            </a:solidFill>
          </a:ln>
        </p:spPr>
      </p:cxnSp>
      <p:sp>
        <p:nvSpPr>
          <p:cNvPr id="19" name="cell r3c1"/>
          <p:cNvSpPr txBox="1"/>
          <p:nvPr/>
        </p:nvSpPr>
        <p:spPr>
          <a:xfrm>
            <a:off x="1005840" y="3276143"/>
            <a:ext cx="203698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25 seats</a:t>
            </a:r>
            <a:endParaRPr sz="900"/>
          </a:p>
        </p:txBody>
      </p:sp>
      <p:sp>
        <p:nvSpPr>
          <p:cNvPr id="20" name="cell r3c2"/>
          <p:cNvSpPr txBox="1"/>
          <p:nvPr/>
        </p:nvSpPr>
        <p:spPr>
          <a:xfrm>
            <a:off x="3225704" y="3276143"/>
            <a:ext cx="4999870"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Annual Team list price</a:t>
            </a:r>
            <a:endParaRPr sz="900"/>
          </a:p>
        </p:txBody>
      </p:sp>
      <p:sp>
        <p:nvSpPr>
          <p:cNvPr id="21" name="cell r3c3"/>
          <p:cNvSpPr txBox="1"/>
          <p:nvPr/>
        </p:nvSpPr>
        <p:spPr>
          <a:xfrm>
            <a:off x="8408454" y="3276143"/>
            <a:ext cx="277770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$2,400 · ₹149,700</a:t>
            </a:r>
            <a:endParaRPr sz="900"/>
          </a:p>
        </p:txBody>
      </p:sp>
      <p:cxnSp>
        <p:nvCxnSpPr>
          <p:cNvPr id="22" name="row rule"/>
          <p:cNvCxnSpPr/>
          <p:nvPr/>
        </p:nvCxnSpPr>
        <p:spPr>
          <a:xfrm>
            <a:off x="914400" y="3512744"/>
            <a:ext cx="10363200" cy="0"/>
          </a:xfrm>
          <a:prstGeom prst="line">
            <a:avLst/>
          </a:prstGeom>
          <a:ln w="9525">
            <a:solidFill>
              <a:srgbClr val="D2D2D7"/>
            </a:solidFill>
          </a:ln>
        </p:spPr>
      </p:cxnSp>
      <p:sp>
        <p:nvSpPr>
          <p:cNvPr id="23" name="cell r4c1"/>
          <p:cNvSpPr txBox="1"/>
          <p:nvPr/>
        </p:nvSpPr>
        <p:spPr>
          <a:xfrm>
            <a:off x="1005840" y="3595040"/>
            <a:ext cx="203698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50 seats</a:t>
            </a:r>
            <a:endParaRPr sz="900"/>
          </a:p>
        </p:txBody>
      </p:sp>
      <p:sp>
        <p:nvSpPr>
          <p:cNvPr id="24" name="cell r4c2"/>
          <p:cNvSpPr txBox="1"/>
          <p:nvPr/>
        </p:nvSpPr>
        <p:spPr>
          <a:xfrm>
            <a:off x="3225704" y="3595040"/>
            <a:ext cx="4999870"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Annual Team list price</a:t>
            </a:r>
            <a:endParaRPr sz="900"/>
          </a:p>
        </p:txBody>
      </p:sp>
      <p:sp>
        <p:nvSpPr>
          <p:cNvPr id="25" name="cell r4c3"/>
          <p:cNvSpPr txBox="1"/>
          <p:nvPr/>
        </p:nvSpPr>
        <p:spPr>
          <a:xfrm>
            <a:off x="8408454" y="3595040"/>
            <a:ext cx="277770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$4,800 · ₹299,400</a:t>
            </a:r>
            <a:endParaRPr sz="900"/>
          </a:p>
        </p:txBody>
      </p:sp>
      <p:cxnSp>
        <p:nvCxnSpPr>
          <p:cNvPr id="26" name="row rule"/>
          <p:cNvCxnSpPr/>
          <p:nvPr/>
        </p:nvCxnSpPr>
        <p:spPr>
          <a:xfrm>
            <a:off x="914400" y="3831641"/>
            <a:ext cx="10363200" cy="0"/>
          </a:xfrm>
          <a:prstGeom prst="line">
            <a:avLst/>
          </a:prstGeom>
          <a:ln w="9525">
            <a:solidFill>
              <a:srgbClr val="D2D2D7"/>
            </a:solidFill>
          </a:ln>
        </p:spPr>
      </p:cxnSp>
      <p:sp>
        <p:nvSpPr>
          <p:cNvPr id="27" name="cell r5c1"/>
          <p:cNvSpPr txBox="1"/>
          <p:nvPr/>
        </p:nvSpPr>
        <p:spPr>
          <a:xfrm>
            <a:off x="1005840" y="3913937"/>
            <a:ext cx="203698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Macs 2024</a:t>
            </a:r>
            <a:endParaRPr sz="900"/>
          </a:p>
        </p:txBody>
      </p:sp>
      <p:sp>
        <p:nvSpPr>
          <p:cNvPr id="28" name="cell r5c2"/>
          <p:cNvSpPr txBox="1"/>
          <p:nvPr/>
        </p:nvSpPr>
        <p:spPr>
          <a:xfrm>
            <a:off x="3225704" y="3913937"/>
            <a:ext cx="4999870"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derived: 25.6 / 1.111 (IDC growth rate)</a:t>
            </a:r>
            <a:endParaRPr sz="900"/>
          </a:p>
        </p:txBody>
      </p:sp>
      <p:sp>
        <p:nvSpPr>
          <p:cNvPr id="29" name="cell r5c3"/>
          <p:cNvSpPr txBox="1"/>
          <p:nvPr/>
        </p:nvSpPr>
        <p:spPr>
          <a:xfrm>
            <a:off x="8408454" y="3913937"/>
            <a:ext cx="277770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23.0M units · 8.7% share</a:t>
            </a:r>
            <a:endParaRPr sz="900"/>
          </a:p>
        </p:txBody>
      </p:sp>
      <p:cxnSp>
        <p:nvCxnSpPr>
          <p:cNvPr id="30" name="row rule"/>
          <p:cNvCxnSpPr/>
          <p:nvPr/>
        </p:nvCxnSpPr>
        <p:spPr>
          <a:xfrm>
            <a:off x="914400" y="4150538"/>
            <a:ext cx="10363200" cy="0"/>
          </a:xfrm>
          <a:prstGeom prst="line">
            <a:avLst/>
          </a:prstGeom>
          <a:ln w="9525">
            <a:solidFill>
              <a:srgbClr val="D2D2D7"/>
            </a:solidFill>
          </a:ln>
        </p:spPr>
      </p:cxnSp>
      <p:sp>
        <p:nvSpPr>
          <p:cNvPr id="31" name="cell r6c1"/>
          <p:cNvSpPr txBox="1"/>
          <p:nvPr/>
        </p:nvSpPr>
        <p:spPr>
          <a:xfrm>
            <a:off x="1005840" y="4232834"/>
            <a:ext cx="2036984"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Macs 2025</a:t>
            </a:r>
            <a:endParaRPr sz="900"/>
          </a:p>
        </p:txBody>
      </p:sp>
      <p:sp>
        <p:nvSpPr>
          <p:cNvPr id="32" name="cell r6c2"/>
          <p:cNvSpPr txBox="1"/>
          <p:nvPr/>
        </p:nvSpPr>
        <p:spPr>
          <a:xfrm>
            <a:off x="3225704" y="4232834"/>
            <a:ext cx="4999870"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IDC preliminary</a:t>
            </a:r>
            <a:endParaRPr sz="900"/>
          </a:p>
        </p:txBody>
      </p:sp>
      <p:sp>
        <p:nvSpPr>
          <p:cNvPr id="33" name="cell r6c3"/>
          <p:cNvSpPr txBox="1"/>
          <p:nvPr/>
        </p:nvSpPr>
        <p:spPr>
          <a:xfrm>
            <a:off x="8408454" y="4232834"/>
            <a:ext cx="2777706"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25.6M units · 9.0% share</a:t>
            </a:r>
            <a:endParaRPr sz="9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footer"/>
          <p:cNvSpPr txBox="1"/>
          <p:nvPr/>
        </p:nvSpPr>
        <p:spPr>
          <a:xfrm>
            <a:off x="914400" y="6431280"/>
            <a:ext cx="9570720" cy="152400"/>
          </a:xfrm>
          <a:prstGeom prst="rect">
            <a:avLst/>
          </a:prstGeom>
          <a:noFill/>
        </p:spPr>
        <p:txBody>
          <a:bodyPr wrap="square" lIns="0" tIns="0" rIns="0" bIns="0" anchor="t">
            <a:noAutofit/>
          </a:bodyPr>
          <a:lstStyle/>
          <a:p>
            <a:pPr algn="l">
              <a:lnSpc>
                <a:spcPts val="1200"/>
              </a:lnSpc>
              <a:spcBef>
                <a:spcPts val="0"/>
              </a:spcBef>
              <a:spcAft>
                <a:spcPts val="0"/>
              </a:spcAft>
            </a:pPr>
            <a:r>
              <a:rPr sz="840" b="0" i="0">
                <a:solidFill>
                  <a:srgbClr val="86868B"/>
                </a:solidFill>
                <a:latin typeface="Helvetica Neue"/>
              </a:rPr>
              <a:t>Verify every third-party figure on the linked page before external use.</a:t>
            </a:r>
            <a:endParaRPr sz="840"/>
          </a:p>
        </p:txBody>
      </p:sp>
      <p:sp>
        <p:nvSpPr>
          <p:cNvPr id="3" name="page number"/>
          <p:cNvSpPr txBox="1"/>
          <p:nvPr/>
        </p:nvSpPr>
        <p:spPr>
          <a:xfrm>
            <a:off x="10728960" y="6431280"/>
            <a:ext cx="548640" cy="152400"/>
          </a:xfrm>
          <a:prstGeom prst="rect">
            <a:avLst/>
          </a:prstGeom>
          <a:noFill/>
        </p:spPr>
        <p:txBody>
          <a:bodyPr wrap="square" lIns="0" tIns="0" rIns="0" bIns="0" anchor="t">
            <a:noAutofit/>
          </a:bodyPr>
          <a:lstStyle/>
          <a:p>
            <a:pPr algn="r">
              <a:lnSpc>
                <a:spcPts val="1200"/>
              </a:lnSpc>
              <a:spcBef>
                <a:spcPts val="0"/>
              </a:spcBef>
              <a:spcAft>
                <a:spcPts val="0"/>
              </a:spcAft>
            </a:pPr>
            <a:r>
              <a:rPr sz="840" b="0" i="0">
                <a:solidFill>
                  <a:srgbClr val="86868B"/>
                </a:solidFill>
                <a:latin typeface="Helvetica Neue"/>
              </a:rPr>
              <a:t>A4</a:t>
            </a:r>
            <a:endParaRPr sz="840"/>
          </a:p>
        </p:txBody>
      </p:sp>
      <p:sp>
        <p:nvSpPr>
          <p:cNvPr id="4" name="eyebrow"/>
          <p:cNvSpPr txBox="1"/>
          <p:nvPr/>
        </p:nvSpPr>
        <p:spPr>
          <a:xfrm>
            <a:off x="914400" y="731520"/>
            <a:ext cx="10363200" cy="213817"/>
          </a:xfrm>
          <a:prstGeom prst="rect">
            <a:avLst/>
          </a:prstGeom>
          <a:noFill/>
        </p:spPr>
        <p:txBody>
          <a:bodyPr wrap="square" lIns="0" tIns="0" rIns="0" bIns="0" anchor="t">
            <a:noAutofit/>
          </a:bodyPr>
          <a:lstStyle/>
          <a:p>
            <a:pPr algn="l">
              <a:lnSpc>
                <a:spcPts val="1680"/>
              </a:lnSpc>
              <a:spcBef>
                <a:spcPts val="0"/>
              </a:spcBef>
              <a:spcAft>
                <a:spcPts val="0"/>
              </a:spcAft>
            </a:pPr>
            <a:r>
              <a:rPr sz="1320" b="0" i="0">
                <a:solidFill>
                  <a:srgbClr val="6E6E73"/>
                </a:solidFill>
                <a:latin typeface="Helvetica Neue Medium"/>
              </a:rPr>
              <a:t>Appendix</a:t>
            </a:r>
            <a:endParaRPr sz="1320"/>
          </a:p>
        </p:txBody>
      </p:sp>
      <p:sp>
        <p:nvSpPr>
          <p:cNvPr id="5" name="headline"/>
          <p:cNvSpPr txBox="1"/>
          <p:nvPr/>
        </p:nvSpPr>
        <p:spPr>
          <a:xfrm>
            <a:off x="914400" y="1067257"/>
            <a:ext cx="10363200" cy="478384"/>
          </a:xfrm>
          <a:prstGeom prst="rect">
            <a:avLst/>
          </a:prstGeom>
          <a:noFill/>
        </p:spPr>
        <p:txBody>
          <a:bodyPr wrap="square" lIns="0" tIns="0" rIns="0" bIns="0" anchor="t">
            <a:noAutofit/>
          </a:bodyPr>
          <a:lstStyle/>
          <a:p>
            <a:pPr algn="l">
              <a:lnSpc>
                <a:spcPts val="3763"/>
              </a:lnSpc>
              <a:spcBef>
                <a:spcPts val="0"/>
              </a:spcBef>
              <a:spcAft>
                <a:spcPts val="0"/>
              </a:spcAft>
            </a:pPr>
            <a:r>
              <a:rPr sz="3360" b="0" i="0" spc="-50">
                <a:solidFill>
                  <a:srgbClr val="1D1D1F"/>
                </a:solidFill>
                <a:latin typeface="Helvetica Neue Light"/>
              </a:rPr>
              <a:t>Sources</a:t>
            </a:r>
            <a:endParaRPr sz="3360"/>
          </a:p>
        </p:txBody>
      </p:sp>
      <p:sp>
        <p:nvSpPr>
          <p:cNvPr id="6" name="lead"/>
          <p:cNvSpPr txBox="1"/>
          <p:nvPr/>
        </p:nvSpPr>
        <p:spPr>
          <a:xfrm>
            <a:off x="914400" y="1743761"/>
            <a:ext cx="10363200" cy="290627"/>
          </a:xfrm>
          <a:prstGeom prst="rect">
            <a:avLst/>
          </a:prstGeom>
          <a:noFill/>
        </p:spPr>
        <p:txBody>
          <a:bodyPr wrap="square" lIns="0" tIns="0" rIns="0" bIns="0" anchor="t">
            <a:noAutofit/>
          </a:bodyPr>
          <a:lstStyle/>
          <a:p>
            <a:pPr algn="l">
              <a:lnSpc>
                <a:spcPts val="2285"/>
              </a:lnSpc>
              <a:spcBef>
                <a:spcPts val="0"/>
              </a:spcBef>
              <a:spcAft>
                <a:spcPts val="0"/>
              </a:spcAft>
            </a:pPr>
            <a:r>
              <a:rPr sz="1680" b="0" i="0">
                <a:solidFill>
                  <a:srgbClr val="6E6E73"/>
                </a:solidFill>
                <a:latin typeface="Helvetica Neue"/>
              </a:rPr>
              <a:t>Links are in the speaker notes.</a:t>
            </a:r>
            <a:endParaRPr sz="1680"/>
          </a:p>
        </p:txBody>
      </p:sp>
      <p:sp>
        <p:nvSpPr>
          <p:cNvPr id="7" name="column head"/>
          <p:cNvSpPr txBox="1"/>
          <p:nvPr/>
        </p:nvSpPr>
        <p:spPr>
          <a:xfrm>
            <a:off x="1005840" y="2308708"/>
            <a:ext cx="4544291"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SOURCE</a:t>
            </a:r>
            <a:endParaRPr sz="900"/>
          </a:p>
        </p:txBody>
      </p:sp>
      <p:sp>
        <p:nvSpPr>
          <p:cNvPr id="8" name="column head"/>
          <p:cNvSpPr txBox="1"/>
          <p:nvPr/>
        </p:nvSpPr>
        <p:spPr>
          <a:xfrm>
            <a:off x="5733011" y="2308708"/>
            <a:ext cx="5453149" cy="137617"/>
          </a:xfrm>
          <a:prstGeom prst="rect">
            <a:avLst/>
          </a:prstGeom>
          <a:noFill/>
        </p:spPr>
        <p:txBody>
          <a:bodyPr wrap="square" lIns="0" tIns="0" rIns="0" bIns="0" anchor="t">
            <a:noAutofit/>
          </a:bodyPr>
          <a:lstStyle/>
          <a:p>
            <a:pPr algn="l">
              <a:lnSpc>
                <a:spcPts val="1080"/>
              </a:lnSpc>
              <a:spcBef>
                <a:spcPts val="0"/>
              </a:spcBef>
              <a:spcAft>
                <a:spcPts val="0"/>
              </a:spcAft>
            </a:pPr>
            <a:r>
              <a:rPr sz="900" b="0" i="0" spc="36">
                <a:solidFill>
                  <a:srgbClr val="86868B"/>
                </a:solidFill>
                <a:latin typeface="Helvetica Neue Medium"/>
              </a:rPr>
              <a:t>NOTE</a:t>
            </a:r>
            <a:endParaRPr sz="900"/>
          </a:p>
        </p:txBody>
      </p:sp>
      <p:cxnSp>
        <p:nvCxnSpPr>
          <p:cNvPr id="9" name="table head rule"/>
          <p:cNvCxnSpPr/>
          <p:nvPr/>
        </p:nvCxnSpPr>
        <p:spPr>
          <a:xfrm>
            <a:off x="914400" y="2556053"/>
            <a:ext cx="10363200" cy="0"/>
          </a:xfrm>
          <a:prstGeom prst="line">
            <a:avLst/>
          </a:prstGeom>
          <a:ln w="9525">
            <a:solidFill>
              <a:srgbClr val="1D1D1F"/>
            </a:solidFill>
          </a:ln>
        </p:spPr>
      </p:cxnSp>
      <p:sp>
        <p:nvSpPr>
          <p:cNvPr id="10" name="cell r1c1"/>
          <p:cNvSpPr txBox="1"/>
          <p:nvPr/>
        </p:nvSpPr>
        <p:spPr>
          <a:xfrm>
            <a:off x="1005840" y="2638349"/>
            <a:ext cx="454429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Microsoft Work Trend Index 2023: Will AI Fix Work?</a:t>
            </a:r>
            <a:endParaRPr sz="900"/>
          </a:p>
        </p:txBody>
      </p:sp>
      <p:sp>
        <p:nvSpPr>
          <p:cNvPr id="11" name="cell r1c2"/>
          <p:cNvSpPr txBox="1"/>
          <p:nvPr/>
        </p:nvSpPr>
        <p:spPr>
          <a:xfrm>
            <a:off x="5733011" y="2638349"/>
            <a:ext cx="54531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57/43 communicate/create split and 68% focus-time figure; verify wording on Microsoft's page</a:t>
            </a:r>
            <a:endParaRPr sz="900"/>
          </a:p>
        </p:txBody>
      </p:sp>
      <p:cxnSp>
        <p:nvCxnSpPr>
          <p:cNvPr id="12" name="row rule"/>
          <p:cNvCxnSpPr/>
          <p:nvPr/>
        </p:nvCxnSpPr>
        <p:spPr>
          <a:xfrm>
            <a:off x="914400" y="2874950"/>
            <a:ext cx="10363200" cy="0"/>
          </a:xfrm>
          <a:prstGeom prst="line">
            <a:avLst/>
          </a:prstGeom>
          <a:ln w="9525">
            <a:solidFill>
              <a:srgbClr val="D2D2D7"/>
            </a:solidFill>
          </a:ln>
        </p:spPr>
      </p:cxnSp>
      <p:sp>
        <p:nvSpPr>
          <p:cNvPr id="13" name="cell r2c1"/>
          <p:cNvSpPr txBox="1"/>
          <p:nvPr/>
        </p:nvSpPr>
        <p:spPr>
          <a:xfrm>
            <a:off x="1005840" y="2957246"/>
            <a:ext cx="4544291"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McKinsey Global Institute, The social economy (2012)</a:t>
            </a:r>
            <a:endParaRPr sz="900"/>
          </a:p>
        </p:txBody>
      </p:sp>
      <p:sp>
        <p:nvSpPr>
          <p:cNvPr id="14" name="cell r2c2"/>
          <p:cNvSpPr txBox="1"/>
          <p:nvPr/>
        </p:nvSpPr>
        <p:spPr>
          <a:xfrm>
            <a:off x="5733011" y="2957246"/>
            <a:ext cx="5453149"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19% of interaction workers' time searching and gathering information; do not convert to '1.8 hours a day'</a:t>
            </a:r>
            <a:endParaRPr sz="900"/>
          </a:p>
        </p:txBody>
      </p:sp>
      <p:cxnSp>
        <p:nvCxnSpPr>
          <p:cNvPr id="15" name="row rule"/>
          <p:cNvCxnSpPr/>
          <p:nvPr/>
        </p:nvCxnSpPr>
        <p:spPr>
          <a:xfrm>
            <a:off x="914400" y="3348152"/>
            <a:ext cx="10363200" cy="0"/>
          </a:xfrm>
          <a:prstGeom prst="line">
            <a:avLst/>
          </a:prstGeom>
          <a:ln w="9525">
            <a:solidFill>
              <a:srgbClr val="D2D2D7"/>
            </a:solidFill>
          </a:ln>
        </p:spPr>
      </p:cxnSp>
      <p:sp>
        <p:nvSpPr>
          <p:cNvPr id="16" name="cell r3c1"/>
          <p:cNvSpPr txBox="1"/>
          <p:nvPr/>
        </p:nvSpPr>
        <p:spPr>
          <a:xfrm>
            <a:off x="1005840" y="3430448"/>
            <a:ext cx="4544291"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Stanford News: speech recognition three times faster than typing (Ruan, Landay et al., 2016)</a:t>
            </a:r>
            <a:endParaRPr sz="900"/>
          </a:p>
        </p:txBody>
      </p:sp>
      <p:sp>
        <p:nvSpPr>
          <p:cNvPr id="17" name="cell r3c2"/>
          <p:cNvSpPr txBox="1"/>
          <p:nvPr/>
        </p:nvSpPr>
        <p:spPr>
          <a:xfrm>
            <a:off x="5733011" y="3430448"/>
            <a:ext cx="5453149" cy="308610"/>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Phone keyboard comparison; English 3.0x</a:t>
            </a:r>
            <a:endParaRPr sz="900"/>
          </a:p>
        </p:txBody>
      </p:sp>
      <p:cxnSp>
        <p:nvCxnSpPr>
          <p:cNvPr id="18" name="row rule"/>
          <p:cNvCxnSpPr/>
          <p:nvPr/>
        </p:nvCxnSpPr>
        <p:spPr>
          <a:xfrm>
            <a:off x="914400" y="3821354"/>
            <a:ext cx="10363200" cy="0"/>
          </a:xfrm>
          <a:prstGeom prst="line">
            <a:avLst/>
          </a:prstGeom>
          <a:ln w="9525">
            <a:solidFill>
              <a:srgbClr val="D2D2D7"/>
            </a:solidFill>
          </a:ln>
        </p:spPr>
      </p:cxnSp>
      <p:sp>
        <p:nvSpPr>
          <p:cNvPr id="19" name="cell r4c1"/>
          <p:cNvSpPr txBox="1"/>
          <p:nvPr/>
        </p:nvSpPr>
        <p:spPr>
          <a:xfrm>
            <a:off x="1005840" y="3903650"/>
            <a:ext cx="454429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9to5Mac: Apple shipments unchanged as PC market grew during Q4 2025 (IDC)</a:t>
            </a:r>
            <a:endParaRPr sz="900"/>
          </a:p>
        </p:txBody>
      </p:sp>
      <p:sp>
        <p:nvSpPr>
          <p:cNvPr id="20" name="cell r4c2"/>
          <p:cNvSpPr txBox="1"/>
          <p:nvPr/>
        </p:nvSpPr>
        <p:spPr>
          <a:xfrm>
            <a:off x="5733011" y="3903650"/>
            <a:ext cx="54531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IDC preliminary: 2025 Mac 25.6M (+11.1%), share 9.0% (from 8.7%), PC market 284.7M</a:t>
            </a:r>
            <a:endParaRPr sz="900"/>
          </a:p>
        </p:txBody>
      </p:sp>
      <p:cxnSp>
        <p:nvCxnSpPr>
          <p:cNvPr id="21" name="row rule"/>
          <p:cNvCxnSpPr/>
          <p:nvPr/>
        </p:nvCxnSpPr>
        <p:spPr>
          <a:xfrm>
            <a:off x="914400" y="4140251"/>
            <a:ext cx="10363200" cy="0"/>
          </a:xfrm>
          <a:prstGeom prst="line">
            <a:avLst/>
          </a:prstGeom>
          <a:ln w="9525">
            <a:solidFill>
              <a:srgbClr val="D2D2D7"/>
            </a:solidFill>
          </a:ln>
        </p:spPr>
      </p:cxnSp>
      <p:sp>
        <p:nvSpPr>
          <p:cNvPr id="22" name="cell r5c1"/>
          <p:cNvSpPr txBox="1"/>
          <p:nvPr/>
        </p:nvSpPr>
        <p:spPr>
          <a:xfrm>
            <a:off x="1005840" y="4222547"/>
            <a:ext cx="454429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MacTech: IDC on 2025 Mac sales</a:t>
            </a:r>
            <a:endParaRPr sz="900"/>
          </a:p>
        </p:txBody>
      </p:sp>
      <p:sp>
        <p:nvSpPr>
          <p:cNvPr id="23" name="cell r5c2"/>
          <p:cNvSpPr txBox="1"/>
          <p:nvPr/>
        </p:nvSpPr>
        <p:spPr>
          <a:xfrm>
            <a:off x="5733011" y="4222547"/>
            <a:ext cx="54531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Q4 detail; Omdia 27.7M alternative reported via Cult of Mac</a:t>
            </a:r>
            <a:endParaRPr sz="900"/>
          </a:p>
        </p:txBody>
      </p:sp>
      <p:cxnSp>
        <p:nvCxnSpPr>
          <p:cNvPr id="24" name="row rule"/>
          <p:cNvCxnSpPr/>
          <p:nvPr/>
        </p:nvCxnSpPr>
        <p:spPr>
          <a:xfrm>
            <a:off x="914400" y="4459148"/>
            <a:ext cx="10363200" cy="0"/>
          </a:xfrm>
          <a:prstGeom prst="line">
            <a:avLst/>
          </a:prstGeom>
          <a:ln w="9525">
            <a:solidFill>
              <a:srgbClr val="D2D2D7"/>
            </a:solidFill>
          </a:ln>
        </p:spPr>
      </p:cxnSp>
      <p:sp>
        <p:nvSpPr>
          <p:cNvPr id="25" name="cell r6c1"/>
          <p:cNvSpPr txBox="1"/>
          <p:nvPr/>
        </p:nvSpPr>
        <p:spPr>
          <a:xfrm>
            <a:off x="1005840" y="4541444"/>
            <a:ext cx="454429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SparkV Business Plan, section 3 (competitor prices with linked sources)</a:t>
            </a:r>
            <a:endParaRPr sz="900"/>
          </a:p>
        </p:txBody>
      </p:sp>
      <p:sp>
        <p:nvSpPr>
          <p:cNvPr id="26" name="cell r6c2"/>
          <p:cNvSpPr txBox="1"/>
          <p:nvPr/>
        </p:nvSpPr>
        <p:spPr>
          <a:xfrm>
            <a:off x="5733011" y="4541444"/>
            <a:ext cx="54531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Third-party listings; verify on vendor pages</a:t>
            </a:r>
            <a:endParaRPr sz="900"/>
          </a:p>
        </p:txBody>
      </p:sp>
      <p:cxnSp>
        <p:nvCxnSpPr>
          <p:cNvPr id="27" name="row rule"/>
          <p:cNvCxnSpPr/>
          <p:nvPr/>
        </p:nvCxnSpPr>
        <p:spPr>
          <a:xfrm>
            <a:off x="914400" y="4778045"/>
            <a:ext cx="10363200" cy="0"/>
          </a:xfrm>
          <a:prstGeom prst="line">
            <a:avLst/>
          </a:prstGeom>
          <a:ln w="9525">
            <a:solidFill>
              <a:srgbClr val="D2D2D7"/>
            </a:solidFill>
          </a:ln>
        </p:spPr>
      </p:cxnSp>
      <p:sp>
        <p:nvSpPr>
          <p:cNvPr id="28" name="cell r7c1"/>
          <p:cNvSpPr txBox="1"/>
          <p:nvPr/>
        </p:nvSpPr>
        <p:spPr>
          <a:xfrm>
            <a:off x="1005840" y="4860341"/>
            <a:ext cx="454429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SparkV Business Plan, section 6a (pricing)</a:t>
            </a:r>
            <a:endParaRPr sz="900"/>
          </a:p>
        </p:txBody>
      </p:sp>
      <p:sp>
        <p:nvSpPr>
          <p:cNvPr id="29" name="cell r7c2"/>
          <p:cNvSpPr txBox="1"/>
          <p:nvPr/>
        </p:nvSpPr>
        <p:spPr>
          <a:xfrm>
            <a:off x="5733011" y="4860341"/>
            <a:ext cx="5453149" cy="154305"/>
          </a:xfrm>
          <a:prstGeom prst="rect">
            <a:avLst/>
          </a:prstGeom>
          <a:noFill/>
        </p:spPr>
        <p:txBody>
          <a:bodyPr wrap="square" lIns="0" tIns="0" rIns="0" bIns="0" anchor="t">
            <a:noAutofit/>
          </a:bodyPr>
          <a:lstStyle/>
          <a:p>
            <a:pPr algn="l">
              <a:lnSpc>
                <a:spcPts val="1215"/>
              </a:lnSpc>
              <a:spcBef>
                <a:spcPts val="0"/>
              </a:spcBef>
              <a:spcAft>
                <a:spcPts val="0"/>
              </a:spcAft>
            </a:pPr>
            <a:endParaRPr sz="900"/>
          </a:p>
        </p:txBody>
      </p:sp>
      <p:cxnSp>
        <p:nvCxnSpPr>
          <p:cNvPr id="30" name="row rule"/>
          <p:cNvCxnSpPr/>
          <p:nvPr/>
        </p:nvCxnSpPr>
        <p:spPr>
          <a:xfrm>
            <a:off x="914400" y="5096942"/>
            <a:ext cx="10363200" cy="0"/>
          </a:xfrm>
          <a:prstGeom prst="line">
            <a:avLst/>
          </a:prstGeom>
          <a:ln w="9525">
            <a:solidFill>
              <a:srgbClr val="D2D2D7"/>
            </a:solidFill>
          </a:ln>
        </p:spPr>
      </p:cxnSp>
      <p:sp>
        <p:nvSpPr>
          <p:cNvPr id="31" name="cell r8c1"/>
          <p:cNvSpPr txBox="1"/>
          <p:nvPr/>
        </p:nvSpPr>
        <p:spPr>
          <a:xfrm>
            <a:off x="1005840" y="5179238"/>
            <a:ext cx="454429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Apple Platform Deployment: Privacy Preferences Policy Control payload</a:t>
            </a:r>
            <a:endParaRPr sz="900"/>
          </a:p>
        </p:txBody>
      </p:sp>
      <p:sp>
        <p:nvSpPr>
          <p:cNvPr id="32" name="cell r8c2"/>
          <p:cNvSpPr txBox="1"/>
          <p:nvPr/>
        </p:nvSpPr>
        <p:spPr>
          <a:xfrm>
            <a:off x="5733011" y="5179238"/>
            <a:ext cx="54531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Verify which services can be pre-approved on the customer's macOS version</a:t>
            </a:r>
            <a:endParaRPr sz="900"/>
          </a:p>
        </p:txBody>
      </p:sp>
      <p:cxnSp>
        <p:nvCxnSpPr>
          <p:cNvPr id="33" name="row rule"/>
          <p:cNvCxnSpPr/>
          <p:nvPr/>
        </p:nvCxnSpPr>
        <p:spPr>
          <a:xfrm>
            <a:off x="914400" y="5415839"/>
            <a:ext cx="10363200" cy="0"/>
          </a:xfrm>
          <a:prstGeom prst="line">
            <a:avLst/>
          </a:prstGeom>
          <a:ln w="9525">
            <a:solidFill>
              <a:srgbClr val="D2D2D7"/>
            </a:solidFill>
          </a:ln>
        </p:spPr>
      </p:cxnSp>
      <p:sp>
        <p:nvSpPr>
          <p:cNvPr id="34" name="cell r9c1"/>
          <p:cNvSpPr txBox="1"/>
          <p:nvPr/>
        </p:nvSpPr>
        <p:spPr>
          <a:xfrm>
            <a:off x="1005840" y="5498135"/>
            <a:ext cx="4544291"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1D1D1F"/>
                </a:solidFill>
                <a:latin typeface="Helvetica Neue Medium"/>
              </a:rPr>
              <a:t>SparkV ROI model (this blueprint, slide 9)</a:t>
            </a:r>
            <a:endParaRPr sz="900"/>
          </a:p>
        </p:txBody>
      </p:sp>
      <p:sp>
        <p:nvSpPr>
          <p:cNvPr id="35" name="cell r9c2"/>
          <p:cNvSpPr txBox="1"/>
          <p:nvPr/>
        </p:nvSpPr>
        <p:spPr>
          <a:xfrm>
            <a:off x="5733011" y="5498135"/>
            <a:ext cx="5453149" cy="154305"/>
          </a:xfrm>
          <a:prstGeom prst="rect">
            <a:avLst/>
          </a:prstGeom>
          <a:noFill/>
        </p:spPr>
        <p:txBody>
          <a:bodyPr wrap="square" lIns="0" tIns="0" rIns="0" bIns="0" anchor="t">
            <a:noAutofit/>
          </a:bodyPr>
          <a:lstStyle/>
          <a:p>
            <a:pPr algn="l">
              <a:lnSpc>
                <a:spcPts val="1215"/>
              </a:lnSpc>
              <a:spcBef>
                <a:spcPts val="0"/>
              </a:spcBef>
              <a:spcAft>
                <a:spcPts val="0"/>
              </a:spcAft>
            </a:pPr>
            <a:r>
              <a:rPr sz="900" b="0" i="0">
                <a:solidFill>
                  <a:srgbClr val="6E6E73"/>
                </a:solidFill>
                <a:latin typeface="Helvetica Neue"/>
              </a:rPr>
              <a:t>Assumptions, not measurements</a:t>
            </a:r>
            <a:endParaRPr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SparkV Team: 30-day pilot proposal</dc:title>
  <dc:subject/>
  <dc:creator>SparkV</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