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Swift lines</c:v>
                </c:pt>
              </c:strCache>
            </c:strRef>
          </c:tx>
          <c:spPr>
            <a:solidFill>
              <a:srgbClr val="AEAEB2"/>
            </a:solidFill>
            <a:ln>
              <a:noFill/>
            </a:ln>
          </c:spPr>
          <c:invertIfNegative val="0"/>
          <c:dPt>
            <c:idx val="1"/>
            <c:spPr>
              <a:solidFill>
                <a:srgbClr val="F01822"/>
              </a:solidFill>
            </c:spPr>
          </c:dPt>
          <c:dPt>
            <c:idx val="12"/>
            <c:spPr>
              <a:solidFill>
                <a:srgbClr val="F01822"/>
              </a:solidFill>
            </c:spPr>
          </c:dPt>
          <c:dPt>
            <c:idx val="16"/>
            <c:spPr>
              <a:solidFill>
                <a:srgbClr val="F01822"/>
              </a:solidFill>
            </c:spPr>
          </c:dPt>
          <c:cat>
            <c:strRef>
              <c:f>Sheet1!$A$2:$A$23</c:f>
              <c:strCache>
                <c:ptCount val="22"/>
                <c:pt idx="0">
                  <c:v>Spaces</c:v>
                </c:pt>
                <c:pt idx="1">
                  <c:v>FlowCanvas</c:v>
                </c:pt>
                <c:pt idx="2">
                  <c:v>Modes</c:v>
                </c:pt>
                <c:pt idx="3">
                  <c:v>JobAgent</c:v>
                </c:pt>
                <c:pt idx="4">
                  <c:v>Clipboard</c:v>
                </c:pt>
                <c:pt idx="5">
                  <c:v>Focus</c:v>
                </c:pt>
                <c:pt idx="6">
                  <c:v>ReplyDrafter</c:v>
                </c:pt>
                <c:pt idx="7">
                  <c:v>UniversalSearch</c:v>
                </c:pt>
                <c:pt idx="8">
                  <c:v>Converter</c:v>
                </c:pt>
                <c:pt idx="9">
                  <c:v>Downloads</c:v>
                </c:pt>
                <c:pt idx="10">
                  <c:v>ScreenRegion</c:v>
                </c:pt>
                <c:pt idx="11">
                  <c:v>PromptRefiner</c:v>
                </c:pt>
                <c:pt idx="12">
                  <c:v>BrowserRecorder</c:v>
                </c:pt>
                <c:pt idx="13">
                  <c:v>Widgets</c:v>
                </c:pt>
                <c:pt idx="14">
                  <c:v>FileDropActions</c:v>
                </c:pt>
                <c:pt idx="15">
                  <c:v>LiveTranslation</c:v>
                </c:pt>
                <c:pt idx="16">
                  <c:v>UIAudit</c:v>
                </c:pt>
                <c:pt idx="17">
                  <c:v>ScreenDistance</c:v>
                </c:pt>
                <c:pt idx="18">
                  <c:v>Onboarding</c:v>
                </c:pt>
                <c:pt idx="19">
                  <c:v>QuickCapture</c:v>
                </c:pt>
                <c:pt idx="20">
                  <c:v>ScreenRecorder</c:v>
                </c:pt>
                <c:pt idx="21">
                  <c:v>Media</c:v>
                </c:pt>
              </c:strCache>
            </c:strRef>
          </c:cat>
          <c:val>
            <c:numRef>
              <c:f>Sheet1!$B$2:$B$23</c:f>
              <c:numCache>
                <c:formatCode>#,##0</c:formatCode>
                <c:ptCount val="22"/>
                <c:pt idx="0">
                  <c:v>9644</c:v>
                </c:pt>
                <c:pt idx="1">
                  <c:v>6919</c:v>
                </c:pt>
                <c:pt idx="2">
                  <c:v>5652</c:v>
                </c:pt>
                <c:pt idx="3">
                  <c:v>5300</c:v>
                </c:pt>
                <c:pt idx="4">
                  <c:v>5244</c:v>
                </c:pt>
                <c:pt idx="5">
                  <c:v>4192</c:v>
                </c:pt>
                <c:pt idx="6">
                  <c:v>4140</c:v>
                </c:pt>
                <c:pt idx="7">
                  <c:v>3674</c:v>
                </c:pt>
                <c:pt idx="8">
                  <c:v>3571</c:v>
                </c:pt>
                <c:pt idx="9">
                  <c:v>3481</c:v>
                </c:pt>
                <c:pt idx="10">
                  <c:v>3459</c:v>
                </c:pt>
                <c:pt idx="11">
                  <c:v>3112</c:v>
                </c:pt>
                <c:pt idx="12">
                  <c:v>2859</c:v>
                </c:pt>
                <c:pt idx="13">
                  <c:v>2829</c:v>
                </c:pt>
                <c:pt idx="14">
                  <c:v>2815</c:v>
                </c:pt>
                <c:pt idx="15">
                  <c:v>2374</c:v>
                </c:pt>
                <c:pt idx="16">
                  <c:v>2192</c:v>
                </c:pt>
                <c:pt idx="17">
                  <c:v>2187</c:v>
                </c:pt>
                <c:pt idx="18">
                  <c:v>1987</c:v>
                </c:pt>
                <c:pt idx="19">
                  <c:v>1741</c:v>
                </c:pt>
                <c:pt idx="20">
                  <c:v>1448</c:v>
                </c:pt>
                <c:pt idx="21">
                  <c:v>986</c:v>
                </c:pt>
              </c:numCache>
            </c:numRef>
          </c:val>
        </c:ser>
        <c:dLbls>
          <c:numFmt formatCode="#,##0" sourceLinked="0"/>
          <c:txPr>
            <a:bodyPr/>
            <a:lstStyle/>
            <a:p>
              <a:pPr>
                <a:defRPr sz="900">
                  <a:solidFill>
                    <a:srgbClr val="1D1D1F"/>
                  </a:solidFill>
                  <a:latin typeface="Helvetica Neue Medium"/>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axMin"/>
        </c:scaling>
        <c:delete val="0"/>
        <c:axPos val="l"/>
        <c:majorTickMark val="none"/>
        <c:minorTickMark val="none"/>
        <c:tickLblPos val="low"/>
        <c:spPr>
          <a:ln w="9525">
            <a:solidFill>
              <a:srgbClr val="D2D2D7"/>
            </a:solidFill>
          </a:ln>
        </c:spPr>
        <c:txPr>
          <a:bodyPr/>
          <a:lstStyle/>
          <a:p>
            <a:pPr>
              <a:defRPr sz="900">
                <a:solidFill>
                  <a:srgbClr val="6E6E73"/>
                </a:solidFill>
              </a:defRPr>
            </a:pPr>
          </a:p>
        </c:txPr>
        <c:crossAx val="-2113994440"/>
        <c:crosses val="autoZero"/>
        <c:auto val="1"/>
        <c:lblAlgn val="ctr"/>
        <c:lblOffset val="100"/>
        <c:noMultiLvlLbl val="0"/>
      </c:catAx>
      <c:valAx>
        <c:axId val="-2113994440"/>
        <c:scaling>
          <c:max val="12000.0"/>
          <c:min val="0.0"/>
        </c:scaling>
        <c:delete/>
        <c:axPos val="b"/>
        <c:majorTickMark val="out"/>
        <c:minorTickMark val="none"/>
        <c:tickLblPos val="nextTo"/>
        <c:crossAx val="-2068027336"/>
        <c:crosses val="autoZero"/>
      </c:valAx>
      <c:spPr>
        <a:noFill/>
      </c:spPr>
    </c:plotArea>
    <c:dispBlanksAs val="gap"/>
  </c:chart>
  <c:spPr>
    <a:noFill/>
    <a:ln>
      <a:noFill/>
    </a:ln>
  </c:spPr>
  <c:txPr>
    <a:bodyPr/>
    <a:lstStyle/>
    <a:p>
      <a:pPr>
        <a:defRPr sz="900">
          <a:solidFill>
            <a:srgbClr val="6E6E73"/>
          </a:solidFill>
          <a:latin typeface="Helvetica Neue"/>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Files</c:v>
                </c:pt>
              </c:strCache>
            </c:strRef>
          </c:tx>
          <c:spPr>
            <a:solidFill>
              <a:srgbClr val="AEAEB2"/>
            </a:solidFill>
            <a:ln>
              <a:noFill/>
            </a:ln>
          </c:spPr>
          <c:invertIfNegative val="0"/>
          <c:dPt>
            <c:idx val="2"/>
            <c:spPr>
              <a:solidFill>
                <a:srgbClr val="F01822"/>
              </a:solidFill>
            </c:spPr>
          </c:dPt>
          <c:dPt>
            <c:idx val="3"/>
            <c:spPr>
              <a:solidFill>
                <a:srgbClr val="1D1D1F"/>
              </a:solidFill>
            </c:spPr>
          </c:dPt>
          <c:dPt>
            <c:idx val="5"/>
            <c:spPr>
              <a:solidFill>
                <a:srgbClr val="1D1D1F"/>
              </a:solidFill>
            </c:spPr>
          </c:dPt>
          <c:dPt>
            <c:idx val="6"/>
            <c:spPr>
              <a:solidFill>
                <a:srgbClr val="1D1D1F"/>
              </a:solidFill>
            </c:spPr>
          </c:dPt>
          <c:dPt>
            <c:idx val="7"/>
            <c:spPr>
              <a:solidFill>
                <a:srgbClr val="1D1D1F"/>
              </a:solidFill>
            </c:spPr>
          </c:dPt>
          <c:dPt>
            <c:idx val="8"/>
            <c:spPr>
              <a:solidFill>
                <a:srgbClr val="1D1D1F"/>
              </a:solidFill>
            </c:spPr>
          </c:dPt>
          <c:cat>
            <c:strRef>
              <c:f>Sheet1!$A$2:$A$10</c:f>
              <c:strCache>
                <c:ptCount val="9"/>
                <c:pt idx="0">
                  <c:v>ApplicationServices</c:v>
                </c:pt>
                <c:pt idx="1">
                  <c:v>AVFoundation</c:v>
                </c:pt>
                <c:pt idx="2">
                  <c:v>FoundationModels</c:v>
                </c:pt>
                <c:pt idx="3">
                  <c:v>Vision</c:v>
                </c:pt>
                <c:pt idx="4">
                  <c:v>PDFKit</c:v>
                </c:pt>
                <c:pt idx="5">
                  <c:v>ScreenCaptureKit</c:v>
                </c:pt>
                <c:pt idx="6">
                  <c:v>NaturalLanguage</c:v>
                </c:pt>
                <c:pt idx="7">
                  <c:v>Speech</c:v>
                </c:pt>
                <c:pt idx="8">
                  <c:v>Translation</c:v>
                </c:pt>
              </c:strCache>
            </c:strRef>
          </c:cat>
          <c:val>
            <c:numRef>
              <c:f>Sheet1!$B$2:$B$10</c:f>
              <c:numCache>
                <c:formatCode>0</c:formatCode>
                <c:ptCount val="9"/>
                <c:pt idx="0">
                  <c:v>14</c:v>
                </c:pt>
                <c:pt idx="1">
                  <c:v>13</c:v>
                </c:pt>
                <c:pt idx="2">
                  <c:v>10</c:v>
                </c:pt>
                <c:pt idx="3">
                  <c:v>9</c:v>
                </c:pt>
                <c:pt idx="4">
                  <c:v>6</c:v>
                </c:pt>
                <c:pt idx="5">
                  <c:v>5</c:v>
                </c:pt>
                <c:pt idx="6">
                  <c:v>5</c:v>
                </c:pt>
                <c:pt idx="7">
                  <c:v>4</c:v>
                </c:pt>
                <c:pt idx="8">
                  <c:v>3</c:v>
                </c:pt>
              </c:numCache>
            </c:numRef>
          </c:val>
        </c:ser>
        <c:dLbls>
          <c:numFmt formatCode="0" sourceLinked="0"/>
          <c:txPr>
            <a:bodyPr/>
            <a:lstStyle/>
            <a:p>
              <a:pPr>
                <a:defRPr sz="900">
                  <a:solidFill>
                    <a:srgbClr val="1D1D1F"/>
                  </a:solidFill>
                  <a:latin typeface="Helvetica Neue Medium"/>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axMin"/>
        </c:scaling>
        <c:delete val="0"/>
        <c:axPos val="l"/>
        <c:majorTickMark val="none"/>
        <c:minorTickMark val="none"/>
        <c:tickLblPos val="low"/>
        <c:spPr>
          <a:ln w="9525">
            <a:solidFill>
              <a:srgbClr val="D2D2D7"/>
            </a:solidFill>
          </a:ln>
        </c:spPr>
        <c:txPr>
          <a:bodyPr/>
          <a:lstStyle/>
          <a:p>
            <a:pPr>
              <a:defRPr sz="900">
                <a:solidFill>
                  <a:srgbClr val="6E6E73"/>
                </a:solidFill>
              </a:defRPr>
            </a:pPr>
          </a:p>
        </c:txPr>
        <c:crossAx val="-2113994440"/>
        <c:crosses val="autoZero"/>
        <c:auto val="1"/>
        <c:lblAlgn val="ctr"/>
        <c:lblOffset val="100"/>
        <c:noMultiLvlLbl val="0"/>
      </c:catAx>
      <c:valAx>
        <c:axId val="-2113994440"/>
        <c:scaling>
          <c:max val="20.0"/>
          <c:min val="0.0"/>
        </c:scaling>
        <c:delete/>
        <c:axPos val="b"/>
        <c:majorTickMark val="out"/>
        <c:minorTickMark val="none"/>
        <c:tickLblPos val="nextTo"/>
        <c:crossAx val="-2068027336"/>
        <c:crosses val="autoZero"/>
      </c:valAx>
      <c:spPr>
        <a:noFill/>
      </c:spPr>
    </c:plotArea>
    <c:dispBlanksAs val="gap"/>
  </c:chart>
  <c:spPr>
    <a:noFill/>
    <a:ln>
      <a:noFill/>
    </a:ln>
  </c:spPr>
  <c:txPr>
    <a:bodyPr/>
    <a:lstStyle/>
    <a:p>
      <a:pPr>
        <a:defRPr sz="900">
          <a:solidFill>
            <a:srgbClr val="6E6E73"/>
          </a:solidFill>
          <a:latin typeface="Helvetica Neue"/>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High (s)</c:v>
                </c:pt>
              </c:strCache>
            </c:strRef>
          </c:tx>
          <c:spPr>
            <a:solidFill>
              <a:srgbClr val="AEAEB2"/>
            </a:solidFill>
            <a:ln>
              <a:noFill/>
            </a:ln>
          </c:spPr>
          <c:invertIfNegative val="0"/>
          <c:dPt>
            <c:idx val="1"/>
            <c:spPr>
              <a:solidFill>
                <a:srgbClr val="F01822"/>
              </a:solidFill>
            </c:spPr>
          </c:dPt>
          <c:dLbls>
            <c:dLbl>
              <c:idx val="0"/>
              <c:tx>
                <c:rich>
                  <a:bodyPr/>
                  <a:lstStyle/>
                  <a:p>
                    <a:r>
                      <a:rPr sz="900">
                        <a:solidFill>
                          <a:srgbClr val="1D1D1F"/>
                        </a:solidFill>
                        <a:latin typeface="Helvetica Neue Medium"/>
                      </a:rPr>
                      <a:t>1.8–2.8 s</a:t>
                    </a:r>
                  </a:p>
                </c:rich>
              </c:tx>
              <c:dLblPos val="outEnd"/>
              <c:showLegendKey val="0"/>
              <c:showVal val="1"/>
              <c:showCatName val="0"/>
              <c:showSerName val="0"/>
              <c:showPercent val="0"/>
              <c:showBubbleSize val="0"/>
            </c:dLbl>
            <c:dLbl>
              <c:idx val="1"/>
              <c:tx>
                <c:rich>
                  <a:bodyPr/>
                  <a:lstStyle/>
                  <a:p>
                    <a:r>
                      <a:rPr sz="900">
                        <a:solidFill>
                          <a:srgbClr val="1D1D1F"/>
                        </a:solidFill>
                        <a:latin typeface="Helvetica Neue Medium"/>
                      </a:rPr>
                      <a:t>0.33–0.8 s</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Cold session (es→en)</c:v>
                </c:pt>
                <c:pt idx="1">
                  <c:v>Warm session, per caption</c:v>
                </c:pt>
              </c:strCache>
            </c:strRef>
          </c:cat>
          <c:val>
            <c:numRef>
              <c:f>Sheet1!$B$2:$B$3</c:f>
              <c:numCache>
                <c:formatCode>0.0#</c:formatCode>
                <c:ptCount val="2"/>
                <c:pt idx="0">
                  <c:v>2.8</c:v>
                </c:pt>
                <c:pt idx="1">
                  <c:v>0.8</c:v>
                </c:pt>
              </c:numCache>
            </c:numRef>
          </c:val>
        </c:ser>
        <c:ser>
          <c:idx val="1"/>
          <c:order val="1"/>
          <c:tx>
            <c:strRef>
              <c:f>Sheet1!$C$1</c:f>
              <c:strCache>
                <c:ptCount val="1"/>
                <c:pt idx="0">
                  <c:v>Low (s)</c:v>
                </c:pt>
              </c:strCache>
            </c:strRef>
          </c:tx>
          <c:spPr>
            <a:solidFill>
              <a:srgbClr val="F5F5F7"/>
            </a:solidFill>
            <a:ln>
              <a:noFill/>
            </a:ln>
          </c:spPr>
          <c:invertIfNegative val="0"/>
          <c:dLbls>
            <c:delete val="1"/>
          </c:dLbls>
          <c:cat>
            <c:strRef>
              <c:f>Sheet1!$A$2:$A$3</c:f>
              <c:strCache>
                <c:ptCount val="2"/>
                <c:pt idx="0">
                  <c:v>Cold session (es→en)</c:v>
                </c:pt>
                <c:pt idx="1">
                  <c:v>Warm session, per caption</c:v>
                </c:pt>
              </c:strCache>
            </c:strRef>
          </c:cat>
          <c:val>
            <c:numRef>
              <c:f>Sheet1!$C$2:$C$3</c:f>
              <c:numCache>
                <c:formatCode>0.0#</c:formatCode>
                <c:ptCount val="2"/>
                <c:pt idx="0">
                  <c:v>1.8</c:v>
                </c:pt>
                <c:pt idx="1">
                  <c:v>0.33</c:v>
                </c:pt>
              </c:numCache>
            </c:numRef>
          </c:val>
        </c:ser>
        <c:dLbls>
          <c:numFmt formatCode="0.0#" sourceLinked="0"/>
          <c:txPr>
            <a:bodyPr/>
            <a:lstStyle/>
            <a:p>
              <a:pPr>
                <a:defRPr sz="900">
                  <a:solidFill>
                    <a:srgbClr val="1D1D1F"/>
                  </a:solidFill>
                  <a:latin typeface="Helvetica Neue Medium"/>
                </a:defRPr>
              </a:pPr>
            </a:p>
          </c:txPr>
          <c:dLblPos val="outEnd"/>
          <c:showLegendKey val="0"/>
          <c:showVal val="1"/>
          <c:showCatName val="0"/>
          <c:showSerName val="0"/>
          <c:showPercent val="0"/>
          <c:showBubbleSize val="0"/>
          <c:showLeaderLines val="1"/>
        </c:dLbls>
        <c:gapWidth val="90"/>
        <c:overlap val="100"/>
        <c:axId val="-2068027336"/>
        <c:axId val="-2113994440"/>
      </c:barChart>
      <c:catAx>
        <c:axId val="-2068027336"/>
        <c:scaling>
          <c:orientation val="maxMin"/>
        </c:scaling>
        <c:delete val="0"/>
        <c:axPos val="l"/>
        <c:majorTickMark val="none"/>
        <c:minorTickMark val="none"/>
        <c:tickLblPos val="low"/>
        <c:spPr>
          <a:ln w="9525">
            <a:solidFill>
              <a:srgbClr val="D2D2D7"/>
            </a:solidFill>
          </a:ln>
        </c:spPr>
        <c:txPr>
          <a:bodyPr/>
          <a:lstStyle/>
          <a:p>
            <a:pPr>
              <a:defRPr sz="900">
                <a:solidFill>
                  <a:srgbClr val="6E6E73"/>
                </a:solidFill>
              </a:defRPr>
            </a:pPr>
          </a:p>
        </c:txPr>
        <c:crossAx val="-2113994440"/>
        <c:crosses val="autoZero"/>
        <c:auto val="1"/>
        <c:lblAlgn val="ctr"/>
        <c:lblOffset val="100"/>
        <c:noMultiLvlLbl val="0"/>
      </c:catAx>
      <c:valAx>
        <c:axId val="-2113994440"/>
        <c:scaling>
          <c:max val="3.0"/>
          <c:min val="0.0"/>
        </c:scaling>
        <c:delete/>
        <c:axPos val="b"/>
        <c:majorTickMark val="out"/>
        <c:minorTickMark val="none"/>
        <c:tickLblPos val="nextTo"/>
        <c:crossAx val="-2068027336"/>
        <c:crosses val="autoZero"/>
      </c:valAx>
      <c:spPr>
        <a:noFill/>
      </c:spPr>
    </c:plotArea>
    <c:dispBlanksAs val="gap"/>
  </c:chart>
  <c:spPr>
    <a:noFill/>
    <a:ln>
      <a:noFill/>
    </a:ln>
  </c:spPr>
  <c:txPr>
    <a:bodyPr/>
    <a:lstStyle/>
    <a:p>
      <a:pPr>
        <a:defRPr sz="900">
          <a:solidFill>
            <a:srgbClr val="6E6E73"/>
          </a:solidFill>
          <a:latin typeface="Helvetica Neue"/>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Findings</c:v>
                </c:pt>
              </c:strCache>
            </c:strRef>
          </c:tx>
          <c:spPr>
            <a:solidFill>
              <a:srgbClr val="AEAEB2"/>
            </a:solidFill>
            <a:ln>
              <a:noFill/>
            </a:ln>
          </c:spPr>
          <c:invertIfNegative val="0"/>
          <c:dPt>
            <c:idx val="0"/>
            <c:spPr>
              <a:solidFill>
                <a:srgbClr val="E5484D"/>
              </a:solidFill>
            </c:spPr>
          </c:dPt>
          <c:dPt>
            <c:idx val="1"/>
            <c:spPr>
              <a:solidFill>
                <a:srgbClr val="F59E0B"/>
              </a:solidFill>
            </c:spPr>
          </c:dPt>
          <c:dPt>
            <c:idx val="2"/>
            <c:spPr>
              <a:solidFill>
                <a:srgbClr val="EAB308"/>
              </a:solidFill>
            </c:spPr>
          </c:dPt>
          <c:dPt>
            <c:idx val="3"/>
            <c:spPr>
              <a:solidFill>
                <a:srgbClr val="3B82F6"/>
              </a:solidFill>
            </c:spPr>
          </c:dPt>
          <c:cat>
            <c:strRef>
              <c:f>Sheet1!$A$2:$A$5</c:f>
              <c:strCache>
                <c:ptCount val="4"/>
                <c:pt idx="0">
                  <c:v>Critical</c:v>
                </c:pt>
                <c:pt idx="1">
                  <c:v>High</c:v>
                </c:pt>
                <c:pt idx="2">
                  <c:v>Medium</c:v>
                </c:pt>
                <c:pt idx="3">
                  <c:v>Low</c:v>
                </c:pt>
              </c:strCache>
            </c:strRef>
          </c:cat>
          <c:val>
            <c:numRef>
              <c:f>Sheet1!$B$2:$B$5</c:f>
              <c:numCache>
                <c:formatCode>0</c:formatCode>
                <c:ptCount val="4"/>
                <c:pt idx="0">
                  <c:v>3</c:v>
                </c:pt>
                <c:pt idx="1">
                  <c:v>15</c:v>
                </c:pt>
                <c:pt idx="2">
                  <c:v>34</c:v>
                </c:pt>
                <c:pt idx="3">
                  <c:v>17</c:v>
                </c:pt>
              </c:numCache>
            </c:numRef>
          </c:val>
        </c:ser>
        <c:dLbls>
          <c:numFmt formatCode="0" sourceLinked="0"/>
          <c:txPr>
            <a:bodyPr/>
            <a:lstStyle/>
            <a:p>
              <a:pPr>
                <a:defRPr sz="900">
                  <a:solidFill>
                    <a:srgbClr val="1D1D1F"/>
                  </a:solidFill>
                  <a:latin typeface="Helvetica Neue Medium"/>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low"/>
        <c:spPr>
          <a:ln w="9525">
            <a:solidFill>
              <a:srgbClr val="D2D2D7"/>
            </a:solidFill>
          </a:ln>
        </c:spPr>
        <c:txPr>
          <a:bodyPr/>
          <a:lstStyle/>
          <a:p>
            <a:pPr>
              <a:defRPr sz="900">
                <a:solidFill>
                  <a:srgbClr val="6E6E73"/>
                </a:solidFill>
              </a:defRPr>
            </a:pPr>
          </a:p>
        </c:txPr>
        <c:crossAx val="-2113994440"/>
        <c:crosses val="autoZero"/>
        <c:auto val="1"/>
        <c:lblAlgn val="ctr"/>
        <c:lblOffset val="100"/>
        <c:noMultiLvlLbl val="0"/>
      </c:catAx>
      <c:valAx>
        <c:axId val="-2113994440"/>
        <c:scaling>
          <c:max val="40.0"/>
          <c:min val="0.0"/>
        </c:scaling>
        <c:delete/>
        <c:axPos val="l"/>
        <c:majorTickMark val="out"/>
        <c:minorTickMark val="none"/>
        <c:tickLblPos val="nextTo"/>
        <c:crossAx val="-2068027336"/>
        <c:crosses val="autoZero"/>
      </c:valAx>
      <c:spPr>
        <a:noFill/>
      </c:spPr>
    </c:plotArea>
    <c:dispBlanksAs val="gap"/>
  </c:chart>
  <c:spPr>
    <a:noFill/>
    <a:ln>
      <a:noFill/>
    </a:ln>
  </c:spPr>
  <c:txPr>
    <a:bodyPr/>
    <a:lstStyle/>
    <a:p>
      <a:pPr>
        <a:defRPr sz="900">
          <a:solidFill>
            <a:srgbClr val="6E6E73"/>
          </a:solidFill>
          <a:latin typeface="Helvetica Neue"/>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Passing checks</c:v>
                </c:pt>
              </c:strCache>
            </c:strRef>
          </c:tx>
          <c:spPr>
            <a:solidFill>
              <a:srgbClr val="1D1D1F"/>
            </a:solidFill>
            <a:ln>
              <a:noFill/>
            </a:ln>
          </c:spPr>
          <c:invertIfNegative val="0"/>
          <c:dLbls>
            <c:dLbl>
              <c:idx val="0"/>
              <c:tx>
                <c:rich>
                  <a:bodyPr/>
                  <a:lstStyle/>
                  <a:p>
                    <a:r>
                      <a:rPr sz="900">
                        <a:solidFill>
                          <a:srgbClr val="1D1D1F"/>
                        </a:solidFill>
                        <a:latin typeface="Helvetica Neue Medium"/>
                      </a:rPr>
                      <a:t>29,283 · 0 fail</a:t>
                    </a:r>
                  </a:p>
                </c:rich>
              </c:tx>
              <c:dLblPos val="outEnd"/>
              <c:showLegendKey val="0"/>
              <c:showVal val="1"/>
              <c:showCatName val="0"/>
              <c:showSerName val="0"/>
              <c:showPercent val="0"/>
              <c:showBubbleSize val="0"/>
            </c:dLbl>
            <c:dLbl>
              <c:idx val="1"/>
              <c:tx>
                <c:rich>
                  <a:bodyPr/>
                  <a:lstStyle/>
                  <a:p>
                    <a:r>
                      <a:rPr sz="900">
                        <a:solidFill>
                          <a:srgbClr val="1D1D1F"/>
                        </a:solidFill>
                        <a:latin typeface="Helvetica Neue Medium"/>
                      </a:rPr>
                      <a:t>195 · 0 fail</a:t>
                    </a:r>
                  </a:p>
                </c:rich>
              </c:tx>
              <c:dLblPos val="outEnd"/>
              <c:showLegendKey val="0"/>
              <c:showVal val="1"/>
              <c:showCatName val="0"/>
              <c:showSerName val="0"/>
              <c:showPercent val="0"/>
              <c:showBubbleSize val="0"/>
            </c:dLbl>
            <c:dLbl>
              <c:idx val="2"/>
              <c:tx>
                <c:rich>
                  <a:bodyPr/>
                  <a:lstStyle/>
                  <a:p>
                    <a:r>
                      <a:rPr sz="900">
                        <a:solidFill>
                          <a:srgbClr val="1D1D1F"/>
                        </a:solidFill>
                        <a:latin typeface="Helvetica Neue Medium"/>
                      </a:rPr>
                      <a:t>63 · 0 fail</a:t>
                    </a:r>
                  </a:p>
                </c:rich>
              </c:tx>
              <c:dLblPos val="outEnd"/>
              <c:showLegendKey val="0"/>
              <c:showVal val="1"/>
              <c:showCatName val="0"/>
              <c:showSerName val="0"/>
              <c:showPercent val="0"/>
              <c:showBubbleSize val="0"/>
            </c:dLbl>
            <c:dLbl>
              <c:idx val="3"/>
              <c:tx>
                <c:rich>
                  <a:bodyPr/>
                  <a:lstStyle/>
                  <a:p>
                    <a:r>
                      <a:rPr sz="900">
                        <a:solidFill>
                          <a:srgbClr val="1D1D1F"/>
                        </a:solidFill>
                        <a:latin typeface="Helvetica Neue Medium"/>
                      </a:rPr>
                      <a:t>48/48</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Widgets</c:v>
                </c:pt>
                <c:pt idx="1">
                  <c:v>Clipboard + paste stack</c:v>
                </c:pt>
                <c:pt idx="2">
                  <c:v>Copy Text OCR + screen recorder</c:v>
                </c:pt>
                <c:pt idx="3">
                  <c:v>UI Audit runner self-test</c:v>
                </c:pt>
                <c:pt idx="4">
                  <c:v>Browser Flows recorder self-test</c:v>
                </c:pt>
              </c:strCache>
            </c:strRef>
          </c:cat>
          <c:val>
            <c:numRef>
              <c:f>Sheet1!$B$2:$B$6</c:f>
              <c:numCache>
                <c:formatCode>#,##0</c:formatCode>
                <c:ptCount val="5"/>
                <c:pt idx="0">
                  <c:v>29283</c:v>
                </c:pt>
                <c:pt idx="1">
                  <c:v>195</c:v>
                </c:pt>
                <c:pt idx="2">
                  <c:v>63</c:v>
                </c:pt>
                <c:pt idx="3">
                  <c:v>48</c:v>
                </c:pt>
              </c:numCache>
            </c:numRef>
          </c:val>
        </c:ser>
        <c:dLbls>
          <c:numFmt formatCode="#,##0" sourceLinked="0"/>
          <c:txPr>
            <a:bodyPr/>
            <a:lstStyle/>
            <a:p>
              <a:pPr>
                <a:defRPr sz="900">
                  <a:solidFill>
                    <a:srgbClr val="1D1D1F"/>
                  </a:solidFill>
                  <a:latin typeface="Helvetica Neue Medium"/>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axMin"/>
        </c:scaling>
        <c:delete val="0"/>
        <c:axPos val="l"/>
        <c:majorTickMark val="none"/>
        <c:minorTickMark val="none"/>
        <c:tickLblPos val="low"/>
        <c:spPr>
          <a:ln w="9525">
            <a:solidFill>
              <a:srgbClr val="D2D2D7"/>
            </a:solidFill>
          </a:ln>
        </c:spPr>
        <c:txPr>
          <a:bodyPr/>
          <a:lstStyle/>
          <a:p>
            <a:pPr>
              <a:defRPr sz="900">
                <a:solidFill>
                  <a:srgbClr val="6E6E73"/>
                </a:solidFill>
              </a:defRPr>
            </a:pPr>
          </a:p>
        </c:txPr>
        <c:crossAx val="-2113994440"/>
        <c:crosses val="autoZero"/>
        <c:auto val="1"/>
        <c:lblAlgn val="ctr"/>
        <c:lblOffset val="100"/>
        <c:noMultiLvlLbl val="0"/>
      </c:catAx>
      <c:valAx>
        <c:axId val="-2113994440"/>
        <c:scaling>
          <c:logBase val="10"/>
          <c:max val="100000.0"/>
          <c:min val="1.0"/>
        </c:scaling>
        <c:delete/>
        <c:axPos val="b"/>
        <c:majorTickMark val="out"/>
        <c:minorTickMark val="none"/>
        <c:tickLblPos val="nextTo"/>
        <c:crossAx val="-2068027336"/>
        <c:crosses val="autoZero"/>
      </c:valAx>
      <c:spPr>
        <a:noFill/>
      </c:spPr>
    </c:plotArea>
    <c:dispBlanksAs val="gap"/>
  </c:chart>
  <c:spPr>
    <a:noFill/>
    <a:ln>
      <a:noFill/>
    </a:ln>
  </c:spPr>
  <c:txPr>
    <a:bodyPr/>
    <a:lstStyle/>
    <a:p>
      <a:pPr>
        <a:defRPr sz="900">
          <a:solidFill>
            <a:srgbClr val="6E6E73"/>
          </a:solidFill>
          <a:latin typeface="Helvetica Neue"/>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List price</c:v>
                </c:pt>
              </c:strCache>
            </c:strRef>
          </c:tx>
          <c:spPr>
            <a:solidFill>
              <a:srgbClr val="AEAEB2"/>
            </a:solidFill>
            <a:ln>
              <a:noFill/>
            </a:ln>
          </c:spPr>
          <c:invertIfNegative val="0"/>
          <c:cat>
            <c:strRef>
              <c:f>Sheet1!$A$2:$A$5</c:f>
              <c:strCache>
                <c:ptCount val="4"/>
                <c:pt idx="0">
                  <c:v>Pro, student (50% off)</c:v>
                </c:pt>
                <c:pt idx="1">
                  <c:v>Pro, launch</c:v>
                </c:pt>
                <c:pt idx="2">
                  <c:v>Pro</c:v>
                </c:pt>
                <c:pt idx="3">
                  <c:v>Team, per seat-year</c:v>
                </c:pt>
              </c:strCache>
            </c:strRef>
          </c:cat>
          <c:val>
            <c:numRef>
              <c:f>Sheet1!$B$2:$B$5</c:f>
              <c:numCache>
                <c:formatCode>$#,##0.00</c:formatCode>
                <c:ptCount val="4"/>
                <c:pt idx="0">
                  <c:v>19.5</c:v>
                </c:pt>
                <c:pt idx="1">
                  <c:v>29.0</c:v>
                </c:pt>
                <c:pt idx="2">
                  <c:v>39.0</c:v>
                </c:pt>
                <c:pt idx="3">
                  <c:v>96.0</c:v>
                </c:pt>
              </c:numCache>
            </c:numRef>
          </c:val>
        </c:ser>
        <c:ser>
          <c:idx val="1"/>
          <c:order val="1"/>
          <c:tx>
            <c:strRef>
              <c:f>Sheet1!$C$1</c:f>
              <c:strCache>
                <c:ptCount val="1"/>
                <c:pt idx="0">
                  <c:v>Net to SparkV</c:v>
                </c:pt>
              </c:strCache>
            </c:strRef>
          </c:tx>
          <c:spPr>
            <a:solidFill>
              <a:srgbClr val="1D1D1F"/>
            </a:solidFill>
            <a:ln>
              <a:noFill/>
            </a:ln>
          </c:spPr>
          <c:invertIfNegative val="0"/>
          <c:dPt>
            <c:idx val="2"/>
            <c:spPr>
              <a:solidFill>
                <a:srgbClr val="F01822"/>
              </a:solidFill>
            </c:spPr>
          </c:dPt>
          <c:cat>
            <c:strRef>
              <c:f>Sheet1!$A$2:$A$5</c:f>
              <c:strCache>
                <c:ptCount val="4"/>
                <c:pt idx="0">
                  <c:v>Pro, student (50% off)</c:v>
                </c:pt>
                <c:pt idx="1">
                  <c:v>Pro, launch</c:v>
                </c:pt>
                <c:pt idx="2">
                  <c:v>Pro</c:v>
                </c:pt>
                <c:pt idx="3">
                  <c:v>Team, per seat-year</c:v>
                </c:pt>
              </c:strCache>
            </c:strRef>
          </c:cat>
          <c:val>
            <c:numRef>
              <c:f>Sheet1!$C$2:$C$5</c:f>
              <c:numCache>
                <c:formatCode>$#,##0.00</c:formatCode>
                <c:ptCount val="4"/>
                <c:pt idx="0">
                  <c:v>18.03</c:v>
                </c:pt>
                <c:pt idx="1">
                  <c:v>27.05</c:v>
                </c:pt>
                <c:pt idx="2">
                  <c:v>36.55</c:v>
                </c:pt>
                <c:pt idx="3">
                  <c:v>90.22</c:v>
                </c:pt>
              </c:numCache>
            </c:numRef>
          </c:val>
        </c:ser>
        <c:dLbls>
          <c:numFmt formatCode="$#,##0.00" sourceLinked="0"/>
          <c:txPr>
            <a:bodyPr/>
            <a:lstStyle/>
            <a:p>
              <a:pPr>
                <a:defRPr sz="900">
                  <a:solidFill>
                    <a:srgbClr val="1D1D1F"/>
                  </a:solidFill>
                  <a:latin typeface="Helvetica Neue Medium"/>
                </a:defRPr>
              </a:pPr>
            </a:p>
          </c:txPr>
          <c:dLblPos val="outEnd"/>
          <c:showLegendKey val="0"/>
          <c:showVal val="1"/>
          <c:showCatName val="0"/>
          <c:showSerName val="0"/>
          <c:showPercent val="0"/>
          <c:showBubbleSize val="0"/>
          <c:showLeaderLines val="1"/>
        </c:dLbls>
        <c:gapWidth val="70"/>
        <c:overlap val="-12"/>
        <c:axId val="-2068027336"/>
        <c:axId val="-2113994440"/>
      </c:barChart>
      <c:catAx>
        <c:axId val="-2068027336"/>
        <c:scaling>
          <c:orientation val="maxMin"/>
        </c:scaling>
        <c:delete val="0"/>
        <c:axPos val="l"/>
        <c:majorTickMark val="none"/>
        <c:minorTickMark val="none"/>
        <c:tickLblPos val="low"/>
        <c:spPr>
          <a:ln w="9525">
            <a:solidFill>
              <a:srgbClr val="D2D2D7"/>
            </a:solidFill>
          </a:ln>
        </c:spPr>
        <c:txPr>
          <a:bodyPr/>
          <a:lstStyle/>
          <a:p>
            <a:pPr>
              <a:defRPr sz="900">
                <a:solidFill>
                  <a:srgbClr val="6E6E73"/>
                </a:solidFill>
              </a:defRPr>
            </a:pPr>
          </a:p>
        </c:txPr>
        <c:crossAx val="-2113994440"/>
        <c:crosses val="autoZero"/>
        <c:auto val="1"/>
        <c:lblAlgn val="ctr"/>
        <c:lblOffset val="100"/>
        <c:noMultiLvlLbl val="0"/>
      </c:catAx>
      <c:valAx>
        <c:axId val="-2113994440"/>
        <c:scaling>
          <c:max val="120.0"/>
          <c:min val="0.0"/>
        </c:scaling>
        <c:delete/>
        <c:axPos val="b"/>
        <c:majorTickMark val="out"/>
        <c:minorTickMark val="none"/>
        <c:tickLblPos val="nextTo"/>
        <c:crossAx val="-2068027336"/>
        <c:crosses val="autoZero"/>
      </c:valAx>
      <c:spPr>
        <a:noFill/>
      </c:spPr>
    </c:plotArea>
    <c:legend>
      <c:legendPos val="b"/>
      <c:overlay val="0"/>
      <c:txPr>
        <a:bodyPr/>
        <a:lstStyle/>
        <a:p>
          <a:pPr>
            <a:defRPr sz="900">
              <a:solidFill>
                <a:srgbClr val="6E6E73"/>
              </a:solidFill>
            </a:defRPr>
          </a:pPr>
        </a:p>
      </c:txPr>
    </c:legend>
    <c:dispBlanksAs val="gap"/>
  </c:chart>
  <c:spPr>
    <a:noFill/>
    <a:ln>
      <a:noFill/>
    </a:ln>
  </c:spPr>
  <c:txPr>
    <a:bodyPr/>
    <a:lstStyle/>
    <a:p>
      <a:pPr>
        <a:defRPr sz="900">
          <a:solidFill>
            <a:srgbClr val="6E6E73"/>
          </a:solidFill>
          <a:latin typeface="Helvetica Neue"/>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First-year cost</c:v>
                </c:pt>
              </c:strCache>
            </c:strRef>
          </c:tx>
          <c:spPr>
            <a:solidFill>
              <a:srgbClr val="AEAEB2"/>
            </a:solidFill>
            <a:ln>
              <a:noFill/>
            </a:ln>
          </c:spPr>
          <c:invertIfNegative val="0"/>
          <c:dPt>
            <c:idx val="6"/>
            <c:spPr>
              <a:solidFill>
                <a:srgbClr val="F01822"/>
              </a:solidFill>
            </c:spPr>
          </c:dPt>
          <c:cat>
            <c:strRef>
              <c:f>Sheet1!$A$2:$A$8</c:f>
              <c:strCache>
                <c:ptCount val="7"/>
                <c:pt idx="0">
                  <c:v>Granola Business</c:v>
                </c:pt>
                <c:pt idx="1">
                  <c:v>Wispr Flow Pro</c:v>
                </c:pt>
                <c:pt idx="2">
                  <c:v>Raycast Pro</c:v>
                </c:pt>
                <c:pt idx="3">
                  <c:v>Paste</c:v>
                </c:pt>
                <c:pt idx="4">
                  <c:v>CleanShot X</c:v>
                </c:pt>
                <c:pt idx="5">
                  <c:v>NotchNook</c:v>
                </c:pt>
                <c:pt idx="6">
                  <c:v>SparkV Pro</c:v>
                </c:pt>
              </c:strCache>
            </c:strRef>
          </c:cat>
          <c:val>
            <c:numRef>
              <c:f>Sheet1!$B$2:$B$8</c:f>
              <c:numCache>
                <c:formatCode>$#,##0.00</c:formatCode>
                <c:ptCount val="7"/>
                <c:pt idx="0">
                  <c:v>168.0</c:v>
                </c:pt>
                <c:pt idx="1">
                  <c:v>144.0</c:v>
                </c:pt>
                <c:pt idx="2">
                  <c:v>96.0</c:v>
                </c:pt>
                <c:pt idx="3">
                  <c:v>29.99</c:v>
                </c:pt>
                <c:pt idx="4">
                  <c:v>29.0</c:v>
                </c:pt>
                <c:pt idx="5">
                  <c:v>25.0</c:v>
                </c:pt>
                <c:pt idx="6">
                  <c:v>39.0</c:v>
                </c:pt>
              </c:numCache>
            </c:numRef>
          </c:val>
        </c:ser>
        <c:dLbls>
          <c:numFmt formatCode="$#,##0.00" sourceLinked="0"/>
          <c:txPr>
            <a:bodyPr/>
            <a:lstStyle/>
            <a:p>
              <a:pPr>
                <a:defRPr sz="900">
                  <a:solidFill>
                    <a:srgbClr val="1D1D1F"/>
                  </a:solidFill>
                  <a:latin typeface="Helvetica Neue Medium"/>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axMin"/>
        </c:scaling>
        <c:delete val="0"/>
        <c:axPos val="l"/>
        <c:majorTickMark val="none"/>
        <c:minorTickMark val="none"/>
        <c:tickLblPos val="low"/>
        <c:spPr>
          <a:ln w="9525">
            <a:solidFill>
              <a:srgbClr val="D2D2D7"/>
            </a:solidFill>
          </a:ln>
        </c:spPr>
        <c:txPr>
          <a:bodyPr/>
          <a:lstStyle/>
          <a:p>
            <a:pPr>
              <a:defRPr sz="900">
                <a:solidFill>
                  <a:srgbClr val="6E6E73"/>
                </a:solidFill>
              </a:defRPr>
            </a:pPr>
          </a:p>
        </c:txPr>
        <c:crossAx val="-2113994440"/>
        <c:crosses val="autoZero"/>
        <c:auto val="1"/>
        <c:lblAlgn val="ctr"/>
        <c:lblOffset val="100"/>
        <c:noMultiLvlLbl val="0"/>
      </c:catAx>
      <c:valAx>
        <c:axId val="-2113994440"/>
        <c:scaling>
          <c:max val="200.0"/>
          <c:min val="0.0"/>
        </c:scaling>
        <c:delete/>
        <c:axPos val="b"/>
        <c:majorTickMark val="out"/>
        <c:minorTickMark val="none"/>
        <c:tickLblPos val="nextTo"/>
        <c:crossAx val="-2068027336"/>
        <c:crosses val="autoZero"/>
      </c:valAx>
      <c:spPr>
        <a:noFill/>
      </c:spPr>
    </c:plotArea>
    <c:dispBlanksAs val="gap"/>
  </c:chart>
  <c:spPr>
    <a:noFill/>
    <a:ln>
      <a:noFill/>
    </a:ln>
  </c:spPr>
  <c:txPr>
    <a:bodyPr/>
    <a:lstStyle/>
    <a:p>
      <a:pPr>
        <a:defRPr sz="900">
          <a:solidFill>
            <a:srgbClr val="6E6E73"/>
          </a:solidFill>
          <a:latin typeface="Helvetica Neue"/>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Active devices (B)</c:v>
                </c:pt>
              </c:strCache>
            </c:strRef>
          </c:tx>
          <c:spPr>
            <a:solidFill>
              <a:srgbClr val="AEAEB2"/>
            </a:solidFill>
            <a:ln>
              <a:noFill/>
            </a:ln>
          </c:spPr>
          <c:invertIfNegative val="0"/>
          <c:dPt>
            <c:idx val="2"/>
            <c:spPr>
              <a:solidFill>
                <a:srgbClr val="1D1D1F"/>
              </a:solidFill>
            </c:spPr>
          </c:dPt>
          <c:cat>
            <c:strRef>
              <c:f>Sheet1!$A$2:$A$4</c:f>
              <c:strCache>
                <c:ptCount val="3"/>
                <c:pt idx="0">
                  <c:v>Jan 2024</c:v>
                </c:pt>
                <c:pt idx="1">
                  <c:v>Jan 2025</c:v>
                </c:pt>
                <c:pt idx="2">
                  <c:v>Jan 2026</c:v>
                </c:pt>
              </c:strCache>
            </c:strRef>
          </c:cat>
          <c:val>
            <c:numRef>
              <c:f>Sheet1!$B$2:$B$4</c:f>
              <c:numCache>
                <c:formatCode>0.00"B"</c:formatCode>
                <c:ptCount val="3"/>
                <c:pt idx="0">
                  <c:v>2.2</c:v>
                </c:pt>
                <c:pt idx="1">
                  <c:v>2.35</c:v>
                </c:pt>
                <c:pt idx="2">
                  <c:v>2.5</c:v>
                </c:pt>
              </c:numCache>
            </c:numRef>
          </c:val>
        </c:ser>
        <c:dLbls>
          <c:numFmt formatCode="0.00&quot;B&quot;" sourceLinked="0"/>
          <c:txPr>
            <a:bodyPr/>
            <a:lstStyle/>
            <a:p>
              <a:pPr>
                <a:defRPr sz="900">
                  <a:solidFill>
                    <a:srgbClr val="1D1D1F"/>
                  </a:solidFill>
                  <a:latin typeface="Helvetica Neue Medium"/>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low"/>
        <c:spPr>
          <a:ln w="9525">
            <a:solidFill>
              <a:srgbClr val="D2D2D7"/>
            </a:solidFill>
          </a:ln>
        </c:spPr>
        <c:txPr>
          <a:bodyPr/>
          <a:lstStyle/>
          <a:p>
            <a:pPr>
              <a:defRPr sz="900">
                <a:solidFill>
                  <a:srgbClr val="6E6E73"/>
                </a:solidFill>
              </a:defRPr>
            </a:pPr>
          </a:p>
        </c:txPr>
        <c:crossAx val="-2113994440"/>
        <c:crosses val="autoZero"/>
        <c:auto val="1"/>
        <c:lblAlgn val="ctr"/>
        <c:lblOffset val="100"/>
        <c:noMultiLvlLbl val="0"/>
      </c:catAx>
      <c:valAx>
        <c:axId val="-2113994440"/>
        <c:scaling>
          <c:max val="3.0"/>
          <c:min val="0.0"/>
        </c:scaling>
        <c:delete/>
        <c:axPos val="l"/>
        <c:majorTickMark val="out"/>
        <c:minorTickMark val="none"/>
        <c:tickLblPos val="nextTo"/>
        <c:crossAx val="-2068027336"/>
        <c:crosses val="autoZero"/>
      </c:valAx>
      <c:spPr>
        <a:noFill/>
      </c:spPr>
    </c:plotArea>
    <c:dispBlanksAs val="gap"/>
  </c:chart>
  <c:spPr>
    <a:noFill/>
    <a:ln>
      <a:noFill/>
    </a:ln>
  </c:spPr>
  <c:txPr>
    <a:bodyPr/>
    <a:lstStyle/>
    <a:p>
      <a:pPr>
        <a:defRPr sz="900">
          <a:solidFill>
            <a:srgbClr val="6E6E73"/>
          </a:solidFill>
          <a:latin typeface="Helvetica Neue"/>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SparkV turns the MacBook notch into a control surface: hover the notch and a drawer slides out with media, a file tray, your day, converters, knowledge Spaces and a hub of more than twenty agents. This talk is about how it's built: the window, the activity engine, the on-device AI stack, the privacy model, the developer agents and how we build and ship. Every picture you'll see is a real render from the current source code, not a mock-up. Where something still needs a live check, I'll say so.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109 thousand lines of Swift: 29 thousand in the core (window, activities, media, dictation, meetings, Clicky) and 80 thousand in 22 Labs modules. AI cost per user is zero because inference runs on the buyer's Mac; a cloud model is only used with the buyer's own key.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 counts are a size signal, not a quality claim; the quality evidence is on the testing slide. The three highlighted modules (UIAudit, BrowserRecorder, FlowCanvas) are the developer agents shown later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app is one borderless, non-activating panel at status-bar level. It joins every Space, including full-screen apps, never steals focus, and lets clicks fall through while the island is closed. AppKit normally pushes windows below the menu bar, so the panel overrides constrainFrameRect to sit at the absolute top edge.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window controller owns 31 long-lived feature objects plus the shared ActivityCenter. New features are built in isolation in a Labs folder: a DESIGN.md with the research and decisions, an INTEGRATION.md with exact wiring steps, then one copy line in build.sh. Only the lead touches the four shared files, which is what let us build features in parallel without merge fights.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closed island follows Dynamic Island rules. Compact activities grow sideways inside the menu-bar height, so nothing below the menu bar is covered. Short alerts go into a priority queue whose clock only runs while they're visible, so a notification can't eat the charging alert. Volume and brightness are live feedback: newest wins and they're never replayed. Long-running things like a timer, a meeting or a recording peek in the band for four seconds and then tuck into the wings.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of this is one ActivityCenter, and every feature posts a LiveActivity with a priority, an optional compact form and a tab to open on hover. Honest status: the bands render from source, but key interception, banners and AirPods need the running app to confirm.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constraint shaped the code: we build with the Command Line Tools only, and the @Generable macro plugin isn't part of them, so guided generation uses DynamicGenerationSchema built at runtime. The model has a 4096-token context, so meeting transcripts are chunked. Speech uses the new SpeechAnalyzer and SpeechTranscriber on macOS 26 and falls back to SFSpeechRecognizer. ScreenCaptureKit gives us stills with SparkV's own windows excluded, and an SCStream with capturesAudio for meeting audio, which is why no bot has to join a call.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files use the on-device Apple Intelligence model through FoundationModels: Tray AI, Clicky, dictation formatting, meeting summaries and answers, Reply Drafter, Prompt Refiner, Live Translation's fallback, Ask Screen, Flow Canvas and Downloads.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pipelines share one pattern: capture on device, recognise on device, structure with the on-device model. Dictation formats text with a prewarmed LanguageModelSession so the cleanup is fast when you release fn. Meetings record your mic and the meeting's audio through ScreenCaptureKit, transcribe on device and produce minutes, decisions and your tasks as guided 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Translation tries Apple Translation first, falls back to the on-device model when a language pair isn't downloaded, and uses Groq only if the user turned on that specific toggle. Cold sessions take two to three seconds; warm ones under a second per caption, which is why sessions are cached per pair.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privacy model is simple to state and easy to audit. Speech, camera, screen captures, clipboard, Spaces and meeting audio stay on the Mac. Groq is the only cloud path, and it's opt-in per feature: Clicky, Tray AI, meetings, Live Translation, Flow Canvas and UI Audit summaries each have their own switch, default off, using the buyer's own key. When a switch is off the code doesn't even read the keychain item. Clipboard history is off until you turn it on, and it honours the pasteboard conventions password managers use to mark concealed or transient copies. Setup asks for nothing up front: each of the 12 permissions is requested only when you click Allow, and every feature works in a reduced way without it. License checks, when they ship, will send the key, an anonymous device ID and the app version to Lemon Squeezy, and nothing else. There are no analytics.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UI Audit audits websites you own. The Swift controller writes a run config, starts a Node runner with Playwright and axe-core, and talks to it over JSON lines: plan, page, step and finding events come out; pause, resume and stop go in. If the app dies, stdin closes and the runner stops, so you never leak a crawler. The runner crawls, checks layout at 1440 and 390 pixels, walks the Tab order, runs axe-core for WCAG 2.2 A and AA, and fills forms with type-correct test data. The safety model is strict: navigation outside the allowed origins is aborted, every non-GET request is blocked unless the host is local or test or you opt in for this run, and anything that looks like pay, delete or log out is never clicked. It needs Node 20 and Playwright's Chromium on the machine today.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numbers are from a real end-to-end run against our planted-issue test site: 69 findings, an on-device summary, and a 51,666-character fix prompt. The runner's own self-test passes 48 of 48, including the checks that it never hit the logout or delete URLs.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Browser Flows records a browser task once and replays it. Each recorded step keeps an ordered list of selectors, in the spirit of Selenium IDE's targets list, plus a fingerprint of the element: tag, role, accessible name, text, attributes and ancestor path. When every selector fails, the runner scores all elements against the fingerprint and accepts the best one only if it scores at least 0.6 and clearly beats the runner-up, then writes the healed selector first. Password, card, CVV, OTP and SSN fields are never read: they become variables and are passed over stdin at replay, never on the command line. Flows that mention purchase, payment or delete need an explicit confirmation. Honest status: the recorder self-test isn't clean yet; under heavy load one replay timed out and a CSV loop hung. That's on the roadmap before launch.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Flow Canvas is a whiteboard for AI workflows. Source cards hold links, PDFs, screenshots or notes; action cards extract fields, compare, summarize or write a report; edges carry data between them, and Run all executes the graph. You can also describe the goal in one sentence and Suggest steps builds the chain. It ships with four templates, including the competitor pricing comparison you see here. The engine indicator top right says 'On this Mac': FoundationModels, Vision OCR and Apple Translation do the work. Groq is a separate opt-in for this feature only. Canvases are plain versioned JSON in Application Support, and dropped files are copied into the canvas's assets folder; originals are never moved.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build with the Command Line Tools only. build.sh copies sources into a temp folder, compiles GlanceKit as a static library with its own concurrency settings, compiles the app, builds the Now Playing adapter framework with clang, signs nested code first and then the app with the Hardened Runtime. The temp folder exists because the project lives on iCloud Desktop, which touches files mid-build and adds Finder attributes codesign rejects. No Xcode means no macro plugins, so the code avoids @State, #Preview, @Entry and @Generable. A stable self-signed identity, 'NotchIsland Developer', gives every build the same designated requirement, so Accessibility and Screen Recording grants survive rebuilds.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Tests are harnesses that compile the real app sources, for example the clipboard harness runs against private named pasteboards, never the general one, in both Swift 5 and Swift 6 modes. The log scale is there because the widget harness sweeps time zones and has far more checks than the others; don't read it as a coverage ranking.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SparkV can't be sandboxed. Apple's DTS says Accessibility APIs aren't compatible with the App Sandbox, and we also need event taps for the fn key, posted key events for paste, private DisplayServices for the HUD, the MediaRemote adapter for Now Playing, and child processes for Node and Shortcuts. NotchNook stays off the App Store for the same MediaRemote reason. So we ship direct: a Developer ID certificate replaces today's local identity, every nested binary is signed with the Hardened Runtime and a secure timestamp, the DMG is notarized and stapled, and Sparkle 2 delivers updates from a signed appcast. Since Sequoia, an un-notarized app can't be opened with right-click Open, so notarization isn't optional for a paid product. The local identity stays for development builds. Sources for the sandbox constraints are in the business plan, section 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partners, the business model matters because it's shaped by the architecture. We pay nothing per user for AI, so we can charge once instead of monthly. Pro is $39 one-time with a $29 launch price, 1,499 rupees in India. Team is $8 per seat per month billed yearly. Developer tools sit in Pro.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merchant-of-record fees we keep about $36.55 of a $39 sale. We don't have sales yet, so there's no revenue chart with numbers; the scenario row stays a placeholder until we do.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buyer who wants what SparkV does would otherwise assemble a stack: a notch app, a clipboard manager, dictation, meeting notes, a launcher with AI and a screenshot tool. Year one of that stack is about $490; SparkV Pro is $39. That's a category comparison, not a claim that every feature matches.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right, platform context: Apple reports 2.5 billion active devices across all products. Apple hasn't published a Mac-only figure since 'over 100 million' in 2018, so the number we actually need, notched MacBooks on macOS 15 or later, is marked to be sourced. We have no user numbers to show yet.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launch plan is thirty days. The engineering-heavy parts are days 8 to 15: licensing with Lemon Squeezy's License API, Keychain-stored trial dates, a 14-day offline grace window, gating at the window controller so locked features never even instantiate, Sparkle, and a notarized DMG, then a clean-Mac test on a fresh user account. Two known blockers are explicit: Face Unlock comes out of the commercial build because of the ArcFace licence, and UI Audit and Browser Flows currently need Node on the buyer's Mac.</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1.0 the first engineering item is making the Browser Flows self-test pass reliably. Shared Spaces today is a file package; live sync doesn't exist and we don't advertise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build websites, the fastest way to judge SparkV is to point UI Audit at your own staging site and read the fix prompt it produces. We're looking for beta testers for the developer tools and for partners; the specific partnership tracks and the contact address are being finalised. Questions.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the stack-cost slide. Full source links: Granola Business: https://granola.ai/blog/granola-pricing-plans-features-roi; Wispr Flow Pro: https://www.getvoibe.com/resources/wispr-flow-pricing/; Raycast Pro: https://www.raycast.com/blog/changing-how-raycast-ai-is-priced; Paste: https://apps.apple.com/app/id967805235; CleanShot X: https://toolradar.com/tools/cleanshot/pricing; NotchNook: https://www.imore.com/apps/mac-apps/this-dollar25-app-gives-my-macbook-pro-a-dynamic-island-and-it-was-worth-every-penny; SparkV Pro: Business Plan §6a. Overlap is by category, not feature parity. Prices are third-party listings (Business Plan §3); check vendor pages before quoting publicly.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the net-per-sale chart. Derived from Business Plan §4 Lemon Squeezy fees (5% + 50¢; +0.5% on subscriptions). Excludes ~1.5% non-US surcharge and payout fees.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the installed-base slide. Full links: Jan 2024: https://supportplan.com/apple-has-more-than-2-35-billion-active-devices-up-550-million-since-2022; Jan 2025: https://supportplan.com/apple-has-more-than-2-35-billion-active-devices-up-550-million-since-2022; Jan 2026: https://9to5mac.com/2026/01/29/apple-reveals-it-has-2-5-billion-active-devices-around-the-world/; Mac active base: https://forums.appleinsider.com/discussion/208001.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chart" Target="../charts/char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chart" Target="../charts/char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chart" Target="../charts/char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chart" Target="../charts/char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eyebrow"/>
          <p:cNvSpPr txBox="1"/>
          <p:nvPr/>
        </p:nvSpPr>
        <p:spPr>
          <a:xfrm>
            <a:off x="914400" y="731520"/>
            <a:ext cx="10363200" cy="213817"/>
          </a:xfrm>
          <a:prstGeom prst="rect">
            <a:avLst/>
          </a:prstGeom>
          <a:noFill/>
        </p:spPr>
        <p:txBody>
          <a:bodyPr wrap="square" lIns="0" tIns="0" rIns="0" bIns="0" anchor="t">
            <a:noAutofit/>
          </a:bodyPr>
          <a:lstStyle/>
          <a:p>
            <a:pPr algn="ctr">
              <a:lnSpc>
                <a:spcPts val="1680"/>
              </a:lnSpc>
              <a:spcBef>
                <a:spcPts val="0"/>
              </a:spcBef>
              <a:spcAft>
                <a:spcPts val="0"/>
              </a:spcAft>
            </a:pPr>
            <a:r>
              <a:rPr sz="1320" b="0" i="0">
                <a:solidFill>
                  <a:srgbClr val="F01822"/>
                </a:solidFill>
                <a:latin typeface="Helvetica Neue Medium"/>
              </a:rPr>
              <a:t>Technical briefing for developers and partners · October 2026</a:t>
            </a:r>
            <a:endParaRPr sz="1320"/>
          </a:p>
        </p:txBody>
      </p:sp>
      <p:sp>
        <p:nvSpPr>
          <p:cNvPr id="3" name="headline"/>
          <p:cNvSpPr txBox="1"/>
          <p:nvPr/>
        </p:nvSpPr>
        <p:spPr>
          <a:xfrm>
            <a:off x="914400" y="1082497"/>
            <a:ext cx="10363200" cy="757580"/>
          </a:xfrm>
          <a:prstGeom prst="rect">
            <a:avLst/>
          </a:prstGeom>
          <a:noFill/>
        </p:spPr>
        <p:txBody>
          <a:bodyPr wrap="square" lIns="0" tIns="0" rIns="0" bIns="0" anchor="t">
            <a:noAutofit/>
          </a:bodyPr>
          <a:lstStyle/>
          <a:p>
            <a:pPr algn="ctr">
              <a:lnSpc>
                <a:spcPts val="5962"/>
              </a:lnSpc>
              <a:spcBef>
                <a:spcPts val="0"/>
              </a:spcBef>
              <a:spcAft>
                <a:spcPts val="0"/>
              </a:spcAft>
            </a:pPr>
            <a:r>
              <a:rPr sz="5520" b="0" i="0" spc="-110">
                <a:solidFill>
                  <a:srgbClr val="1D1D1F"/>
                </a:solidFill>
                <a:latin typeface="Helvetica Neue Light"/>
              </a:rPr>
              <a:t>SparkV</a:t>
            </a:r>
            <a:endParaRPr sz="5520"/>
          </a:p>
        </p:txBody>
      </p:sp>
      <p:sp>
        <p:nvSpPr>
          <p:cNvPr id="4" name="lead"/>
          <p:cNvSpPr txBox="1"/>
          <p:nvPr/>
        </p:nvSpPr>
        <p:spPr>
          <a:xfrm>
            <a:off x="914400" y="2007718"/>
            <a:ext cx="10363200" cy="290627"/>
          </a:xfrm>
          <a:prstGeom prst="rect">
            <a:avLst/>
          </a:prstGeom>
          <a:noFill/>
        </p:spPr>
        <p:txBody>
          <a:bodyPr wrap="square" lIns="0" tIns="0" rIns="0" bIns="0" anchor="t">
            <a:noAutofit/>
          </a:bodyPr>
          <a:lstStyle/>
          <a:p>
            <a:pPr algn="ctr">
              <a:lnSpc>
                <a:spcPts val="2285"/>
              </a:lnSpc>
              <a:spcBef>
                <a:spcPts val="0"/>
              </a:spcBef>
              <a:spcAft>
                <a:spcPts val="0"/>
              </a:spcAft>
            </a:pPr>
            <a:r>
              <a:rPr sz="1680" b="0" i="0">
                <a:solidFill>
                  <a:srgbClr val="6E6E73"/>
                </a:solidFill>
                <a:latin typeface="Helvetica Neue"/>
              </a:rPr>
              <a:t>The MacBook notch, rebuilt as an on-device AI runtime</a:t>
            </a:r>
            <a:endParaRPr sz="1680"/>
          </a:p>
        </p:txBody>
      </p:sp>
      <p:sp>
        <p:nvSpPr>
          <p:cNvPr id="5" name="stack"/>
          <p:cNvSpPr txBox="1"/>
          <p:nvPr/>
        </p:nvSpPr>
        <p:spPr>
          <a:xfrm>
            <a:off x="914400" y="2374544"/>
            <a:ext cx="10363200" cy="256489"/>
          </a:xfrm>
          <a:prstGeom prst="rect">
            <a:avLst/>
          </a:prstGeom>
          <a:noFill/>
        </p:spPr>
        <p:txBody>
          <a:bodyPr wrap="square" lIns="0" tIns="0" rIns="0" bIns="0" anchor="t">
            <a:noAutofit/>
          </a:bodyPr>
          <a:lstStyle/>
          <a:p>
            <a:pPr algn="ctr">
              <a:lnSpc>
                <a:spcPts val="2016"/>
              </a:lnSpc>
              <a:spcBef>
                <a:spcPts val="0"/>
              </a:spcBef>
              <a:spcAft>
                <a:spcPts val="0"/>
              </a:spcAft>
            </a:pPr>
            <a:r>
              <a:rPr sz="1440" b="0" i="0">
                <a:solidFill>
                  <a:srgbClr val="6E6E73"/>
                </a:solidFill>
                <a:latin typeface="Helvetica Neue"/>
              </a:rPr>
              <a:t>Native Swift · AppKit + SwiftUI · macOS 15+ · Apple silicon</a:t>
            </a:r>
            <a:endParaRPr sz="1440"/>
          </a:p>
        </p:txBody>
      </p:sp>
      <p:sp>
        <p:nvSpPr>
          <p:cNvPr id="6" name="url pill"/>
          <p:cNvSpPr/>
          <p:nvPr/>
        </p:nvSpPr>
        <p:spPr>
          <a:xfrm>
            <a:off x="5530256" y="2832202"/>
            <a:ext cx="1131488" cy="411480"/>
          </a:xfrm>
          <a:prstGeom prst="roundRect">
            <a:avLst>
              <a:gd name="adj" fmla="val 50000"/>
            </a:avLst>
          </a:prstGeom>
          <a:solidFill>
            <a:srgbClr val="F01822"/>
          </a:solidFill>
          <a:ln>
            <a:noFill/>
          </a:ln>
        </p:spPr>
        <p:txBody>
          <a:bodyPr rtlCol="0" anchor="ctr" wrap="square" lIns="228600" tIns="114300" rIns="228600" bIns="114300">
            <a:noAutofit/>
          </a:bodyPr>
          <a:lstStyle/>
          <a:p>
            <a:pPr algn="ctr">
              <a:lnSpc>
                <a:spcPts val="1440"/>
              </a:lnSpc>
              <a:spcBef>
                <a:spcPts val="0"/>
              </a:spcBef>
              <a:spcAft>
                <a:spcPts val="0"/>
              </a:spcAft>
            </a:pPr>
            <a:r>
              <a:rPr sz="1200" b="0" i="0">
                <a:solidFill>
                  <a:srgbClr val="FFFFFF"/>
                </a:solidFill>
                <a:latin typeface="Helvetica Neue Medium"/>
              </a:rPr>
              <a:t>sparkv.si</a:t>
            </a:r>
            <a:endParaRPr sz="1200"/>
          </a:p>
        </p:txBody>
      </p:sp>
      <p:sp>
        <p:nvSpPr>
          <p:cNvPr id="7" name="hero device lid"/>
          <p:cNvSpPr/>
          <p:nvPr/>
        </p:nvSpPr>
        <p:spPr>
          <a:xfrm>
            <a:off x="1904848" y="3563722"/>
            <a:ext cx="8382305" cy="3294278"/>
          </a:xfrm>
          <a:prstGeom prst="round2SameRect">
            <a:avLst>
              <a:gd name="adj1" fmla="val 6014"/>
              <a:gd name="adj2" fmla="val 0"/>
            </a:avLst>
          </a:prstGeom>
          <a:solidFill>
            <a:srgbClr val="0A0A0B"/>
          </a:solidFill>
          <a:ln w="15240">
            <a:solidFill>
              <a:srgbClr val="BDBDC2"/>
            </a:solidFill>
          </a:ln>
        </p:spPr>
        <p:txBody>
          <a:bodyPr rtlCol="0" anchor="ctr"/>
          <a:lstStyle/>
          <a:p>
            <a:pPr algn="ctr"/>
          </a:p>
        </p:txBody>
      </p:sp>
      <p:sp>
        <p:nvSpPr>
          <p:cNvPr id="8" name="hero device screen"/>
          <p:cNvSpPr/>
          <p:nvPr/>
        </p:nvSpPr>
        <p:spPr>
          <a:xfrm>
            <a:off x="2042008" y="3700882"/>
            <a:ext cx="8107985" cy="3157118"/>
          </a:xfrm>
          <a:prstGeom prst="round2SameRect">
            <a:avLst>
              <a:gd name="adj1" fmla="val 2413"/>
              <a:gd name="adj2" fmla="val 0"/>
            </a:avLst>
          </a:prstGeom>
          <a:gradFill rotWithShape="1">
            <a:gsLst>
              <a:gs pos="0">
                <a:srgbClr val="130A0E"/>
              </a:gs>
              <a:gs pos="59168">
                <a:srgbClr val="1C1717"/>
              </a:gs>
              <a:gs pos="100000">
                <a:srgbClr val="0F1119"/>
              </a:gs>
            </a:gsLst>
            <a:lin ang="5400000" scaled="0"/>
          </a:gradFill>
          <a:ln>
            <a:noFill/>
          </a:ln>
        </p:spPr>
        <p:txBody>
          <a:bodyPr rtlCol="0" anchor="ctr"/>
          <a:lstStyle/>
          <a:p>
            <a:pPr algn="ctr"/>
          </a:p>
        </p:txBody>
      </p:sp>
      <p:pic>
        <p:nvPicPr>
          <p:cNvPr id="9" name="hero device screenshot 01-home.png" descr="01-home.png"/>
          <p:cNvPicPr>
            <a:picLocks noChangeAspect="1"/>
          </p:cNvPicPr>
          <p:nvPr/>
        </p:nvPicPr>
        <p:blipFill>
          <a:blip r:embed="rId3"/>
          <a:stretch>
            <a:fillRect/>
          </a:stretch>
        </p:blipFill>
        <p:spPr>
          <a:xfrm>
            <a:off x="2042008" y="3700882"/>
            <a:ext cx="8107985" cy="1868016"/>
          </a:xfrm>
          <a:prstGeom prst="rect">
            <a:avLst/>
          </a:prstGeom>
        </p:spPr>
      </p:pic>
      <p:sp>
        <p:nvSpPr>
          <p:cNvPr id="10" name="hero device notch"/>
          <p:cNvSpPr/>
          <p:nvPr/>
        </p:nvSpPr>
        <p:spPr>
          <a:xfrm>
            <a:off x="4879802" y="3700882"/>
            <a:ext cx="2432395" cy="359995"/>
          </a:xfrm>
          <a:prstGeom prst="round2SameRect">
            <a:avLst>
              <a:gd name="adj1" fmla="val 0"/>
              <a:gd name="adj2" fmla="val 37843"/>
            </a:avLst>
          </a:prstGeom>
          <a:solidFill>
            <a:srgbClr val="000000"/>
          </a:solidFill>
          <a:ln>
            <a:noFill/>
          </a:ln>
        </p:spPr>
        <p:txBody>
          <a:bodyPr rtlCol="0" anchor="ctr"/>
          <a:lstStyle/>
          <a:p>
            <a:pPr algn="ctr"/>
          </a:p>
        </p:txBody>
      </p:sp>
      <p:sp>
        <p:nvSpPr>
          <p:cNvPr id="11" name="hero device camera"/>
          <p:cNvSpPr/>
          <p:nvPr/>
        </p:nvSpPr>
        <p:spPr>
          <a:xfrm>
            <a:off x="6057900" y="3842779"/>
            <a:ext cx="76200" cy="76200"/>
          </a:xfrm>
          <a:prstGeom prst="ellipse">
            <a:avLst/>
          </a:prstGeom>
          <a:gradFill rotWithShape="1">
            <a:gsLst>
              <a:gs pos="0">
                <a:srgbClr val="2B3448"/>
              </a:gs>
              <a:gs pos="100000">
                <a:srgbClr val="11141C"/>
              </a:gs>
            </a:gsLst>
            <a:lin ang="5400000" scaled="0"/>
          </a:gradFill>
          <a:ln>
            <a:noFill/>
          </a:ln>
        </p:spPr>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Excludes vendored GlanceKit, the Node runners and the Now Playing adapter.</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02</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Codebase</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The codebase at a glance</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Counted from Sources/ on 22 October 2026</a:t>
            </a:r>
            <a:endParaRPr sz="1680"/>
          </a:p>
        </p:txBody>
      </p:sp>
      <p:sp>
        <p:nvSpPr>
          <p:cNvPr id="7" name="tile"/>
          <p:cNvSpPr/>
          <p:nvPr/>
        </p:nvSpPr>
        <p:spPr>
          <a:xfrm>
            <a:off x="914400" y="2354428"/>
            <a:ext cx="3332480" cy="1855546"/>
          </a:xfrm>
          <a:prstGeom prst="roundRect">
            <a:avLst>
              <a:gd name="adj" fmla="val 9034"/>
            </a:avLst>
          </a:prstGeom>
          <a:solidFill>
            <a:srgbClr val="F5F5F7"/>
          </a:solidFill>
          <a:ln>
            <a:noFill/>
          </a:ln>
        </p:spPr>
        <p:txBody>
          <a:bodyPr rtlCol="0" anchor="ctr"/>
          <a:lstStyle/>
          <a:p>
            <a:pPr algn="ctr"/>
          </a:p>
        </p:txBody>
      </p:sp>
      <p:sp>
        <p:nvSpPr>
          <p:cNvPr id="8" name="tile value"/>
          <p:cNvSpPr txBox="1"/>
          <p:nvPr/>
        </p:nvSpPr>
        <p:spPr>
          <a:xfrm>
            <a:off x="1158240" y="2552548"/>
            <a:ext cx="284480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109,247</a:t>
            </a:r>
            <a:endParaRPr sz="4800"/>
          </a:p>
        </p:txBody>
      </p:sp>
      <p:sp>
        <p:nvSpPr>
          <p:cNvPr id="9" name="tile label"/>
          <p:cNvSpPr txBox="1"/>
          <p:nvPr/>
        </p:nvSpPr>
        <p:spPr>
          <a:xfrm>
            <a:off x="1158240" y="3315005"/>
            <a:ext cx="284480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lines of Swift</a:t>
            </a:r>
            <a:endParaRPr sz="1440"/>
          </a:p>
        </p:txBody>
      </p:sp>
      <p:sp>
        <p:nvSpPr>
          <p:cNvPr id="10" name="tile"/>
          <p:cNvSpPr/>
          <p:nvPr/>
        </p:nvSpPr>
        <p:spPr>
          <a:xfrm>
            <a:off x="4429760" y="2354428"/>
            <a:ext cx="3332480" cy="1855546"/>
          </a:xfrm>
          <a:prstGeom prst="roundRect">
            <a:avLst>
              <a:gd name="adj" fmla="val 9034"/>
            </a:avLst>
          </a:prstGeom>
          <a:solidFill>
            <a:srgbClr val="F5F5F7"/>
          </a:solidFill>
          <a:ln>
            <a:noFill/>
          </a:ln>
        </p:spPr>
        <p:txBody>
          <a:bodyPr rtlCol="0" anchor="ctr"/>
          <a:lstStyle/>
          <a:p>
            <a:pPr algn="ctr"/>
          </a:p>
        </p:txBody>
      </p:sp>
      <p:sp>
        <p:nvSpPr>
          <p:cNvPr id="11" name="tile value"/>
          <p:cNvSpPr txBox="1"/>
          <p:nvPr/>
        </p:nvSpPr>
        <p:spPr>
          <a:xfrm>
            <a:off x="4673600" y="2552548"/>
            <a:ext cx="284480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250</a:t>
            </a:r>
            <a:endParaRPr sz="4800"/>
          </a:p>
        </p:txBody>
      </p:sp>
      <p:sp>
        <p:nvSpPr>
          <p:cNvPr id="12" name="tile label"/>
          <p:cNvSpPr txBox="1"/>
          <p:nvPr/>
        </p:nvSpPr>
        <p:spPr>
          <a:xfrm>
            <a:off x="4673600" y="3315005"/>
            <a:ext cx="284480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source files</a:t>
            </a:r>
            <a:endParaRPr sz="1440"/>
          </a:p>
        </p:txBody>
      </p:sp>
      <p:sp>
        <p:nvSpPr>
          <p:cNvPr id="13" name="tile"/>
          <p:cNvSpPr/>
          <p:nvPr/>
        </p:nvSpPr>
        <p:spPr>
          <a:xfrm>
            <a:off x="7945120" y="2354428"/>
            <a:ext cx="3332480" cy="1855546"/>
          </a:xfrm>
          <a:prstGeom prst="roundRect">
            <a:avLst>
              <a:gd name="adj" fmla="val 9034"/>
            </a:avLst>
          </a:prstGeom>
          <a:solidFill>
            <a:srgbClr val="F5F5F7"/>
          </a:solidFill>
          <a:ln>
            <a:noFill/>
          </a:ln>
        </p:spPr>
        <p:txBody>
          <a:bodyPr rtlCol="0" anchor="ctr"/>
          <a:lstStyle/>
          <a:p>
            <a:pPr algn="ctr"/>
          </a:p>
        </p:txBody>
      </p:sp>
      <p:sp>
        <p:nvSpPr>
          <p:cNvPr id="14" name="tile value"/>
          <p:cNvSpPr txBox="1"/>
          <p:nvPr/>
        </p:nvSpPr>
        <p:spPr>
          <a:xfrm>
            <a:off x="8188960" y="2552548"/>
            <a:ext cx="284480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22</a:t>
            </a:r>
            <a:endParaRPr sz="4800"/>
          </a:p>
        </p:txBody>
      </p:sp>
      <p:sp>
        <p:nvSpPr>
          <p:cNvPr id="15" name="tile label"/>
          <p:cNvSpPr txBox="1"/>
          <p:nvPr/>
        </p:nvSpPr>
        <p:spPr>
          <a:xfrm>
            <a:off x="8188960" y="3315005"/>
            <a:ext cx="284480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Labs feature modules</a:t>
            </a:r>
            <a:endParaRPr sz="1440"/>
          </a:p>
        </p:txBody>
      </p:sp>
      <p:sp>
        <p:nvSpPr>
          <p:cNvPr id="16" name="tile"/>
          <p:cNvSpPr/>
          <p:nvPr/>
        </p:nvSpPr>
        <p:spPr>
          <a:xfrm>
            <a:off x="914400" y="4392854"/>
            <a:ext cx="3332480" cy="1855546"/>
          </a:xfrm>
          <a:prstGeom prst="roundRect">
            <a:avLst>
              <a:gd name="adj" fmla="val 9034"/>
            </a:avLst>
          </a:prstGeom>
          <a:solidFill>
            <a:srgbClr val="F5F5F7"/>
          </a:solidFill>
          <a:ln>
            <a:noFill/>
          </a:ln>
        </p:spPr>
        <p:txBody>
          <a:bodyPr rtlCol="0" anchor="ctr"/>
          <a:lstStyle/>
          <a:p>
            <a:pPr algn="ctr"/>
          </a:p>
        </p:txBody>
      </p:sp>
      <p:sp>
        <p:nvSpPr>
          <p:cNvPr id="17" name="tile value"/>
          <p:cNvSpPr txBox="1"/>
          <p:nvPr/>
        </p:nvSpPr>
        <p:spPr>
          <a:xfrm>
            <a:off x="1158240" y="4590974"/>
            <a:ext cx="284480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21</a:t>
            </a:r>
            <a:endParaRPr sz="4800"/>
          </a:p>
        </p:txBody>
      </p:sp>
      <p:sp>
        <p:nvSpPr>
          <p:cNvPr id="18" name="tile label"/>
          <p:cNvSpPr txBox="1"/>
          <p:nvPr/>
        </p:nvSpPr>
        <p:spPr>
          <a:xfrm>
            <a:off x="1158240" y="5353431"/>
            <a:ext cx="284480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drawer pages</a:t>
            </a:r>
            <a:endParaRPr sz="1440"/>
          </a:p>
        </p:txBody>
      </p:sp>
      <p:sp>
        <p:nvSpPr>
          <p:cNvPr id="19" name="tile"/>
          <p:cNvSpPr/>
          <p:nvPr/>
        </p:nvSpPr>
        <p:spPr>
          <a:xfrm>
            <a:off x="4429760" y="4392854"/>
            <a:ext cx="3332480" cy="1855546"/>
          </a:xfrm>
          <a:prstGeom prst="roundRect">
            <a:avLst>
              <a:gd name="adj" fmla="val 9034"/>
            </a:avLst>
          </a:prstGeom>
          <a:solidFill>
            <a:srgbClr val="F5F5F7"/>
          </a:solidFill>
          <a:ln>
            <a:noFill/>
          </a:ln>
        </p:spPr>
        <p:txBody>
          <a:bodyPr rtlCol="0" anchor="ctr"/>
          <a:lstStyle/>
          <a:p>
            <a:pPr algn="ctr"/>
          </a:p>
        </p:txBody>
      </p:sp>
      <p:sp>
        <p:nvSpPr>
          <p:cNvPr id="20" name="tile value"/>
          <p:cNvSpPr txBox="1"/>
          <p:nvPr/>
        </p:nvSpPr>
        <p:spPr>
          <a:xfrm>
            <a:off x="4673600" y="4590974"/>
            <a:ext cx="284480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10</a:t>
            </a:r>
            <a:endParaRPr sz="4800"/>
          </a:p>
        </p:txBody>
      </p:sp>
      <p:sp>
        <p:nvSpPr>
          <p:cNvPr id="21" name="tile label"/>
          <p:cNvSpPr txBox="1"/>
          <p:nvPr/>
        </p:nvSpPr>
        <p:spPr>
          <a:xfrm>
            <a:off x="4673600" y="5353431"/>
            <a:ext cx="284480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files on FoundationModels</a:t>
            </a:r>
            <a:endParaRPr sz="1440"/>
          </a:p>
        </p:txBody>
      </p:sp>
      <p:sp>
        <p:nvSpPr>
          <p:cNvPr id="22" name="tile"/>
          <p:cNvSpPr/>
          <p:nvPr/>
        </p:nvSpPr>
        <p:spPr>
          <a:xfrm>
            <a:off x="7945120" y="4392854"/>
            <a:ext cx="3332480" cy="1855546"/>
          </a:xfrm>
          <a:prstGeom prst="roundRect">
            <a:avLst>
              <a:gd name="adj" fmla="val 9034"/>
            </a:avLst>
          </a:prstGeom>
          <a:solidFill>
            <a:srgbClr val="F5F5F7"/>
          </a:solidFill>
          <a:ln>
            <a:noFill/>
          </a:ln>
        </p:spPr>
        <p:txBody>
          <a:bodyPr rtlCol="0" anchor="ctr"/>
          <a:lstStyle/>
          <a:p>
            <a:pPr algn="ctr"/>
          </a:p>
        </p:txBody>
      </p:sp>
      <p:sp>
        <p:nvSpPr>
          <p:cNvPr id="23" name="tile value"/>
          <p:cNvSpPr txBox="1"/>
          <p:nvPr/>
        </p:nvSpPr>
        <p:spPr>
          <a:xfrm>
            <a:off x="8188960" y="4590974"/>
            <a:ext cx="284480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F01822"/>
                </a:solidFill>
                <a:latin typeface="Helvetica Neue Medium"/>
              </a:rPr>
              <a:t>$0</a:t>
            </a:r>
            <a:endParaRPr sz="4800"/>
          </a:p>
        </p:txBody>
      </p:sp>
      <p:sp>
        <p:nvSpPr>
          <p:cNvPr id="24" name="tile label"/>
          <p:cNvSpPr txBox="1"/>
          <p:nvPr/>
        </p:nvSpPr>
        <p:spPr>
          <a:xfrm>
            <a:off x="8188960" y="5353431"/>
            <a:ext cx="284480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AI cost per user</a:t>
            </a:r>
            <a:endParaRPr sz="144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Red: UIAudit, BrowserRecorder and FlowCanvas, the developer agents in this deck. Excludes vendored GlanceKit, the Node runners and the Now Playing adapter.</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03</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Codebase</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Swift lines per Labs module</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Counted from Sources/ on 22 October 2026</a:t>
            </a:r>
            <a:endParaRPr sz="1680"/>
          </a:p>
        </p:txBody>
      </p:sp>
      <p:sp>
        <p:nvSpPr>
          <p:cNvPr id="7" name="chart card"/>
          <p:cNvSpPr/>
          <p:nvPr/>
        </p:nvSpPr>
        <p:spPr>
          <a:xfrm>
            <a:off x="914400" y="2308708"/>
            <a:ext cx="10363200" cy="3939692"/>
          </a:xfrm>
          <a:prstGeom prst="roundRect">
            <a:avLst>
              <a:gd name="adj" fmla="val 4255"/>
            </a:avLst>
          </a:prstGeom>
          <a:solidFill>
            <a:srgbClr val="F5F5F7"/>
          </a:solidFill>
          <a:ln>
            <a:noFill/>
          </a:ln>
        </p:spPr>
        <p:txBody>
          <a:bodyPr rtlCol="0" anchor="ctr"/>
          <a:lstStyle/>
          <a:p>
            <a:pPr algn="ctr"/>
          </a:p>
        </p:txBody>
      </p:sp>
      <p:sp>
        <p:nvSpPr>
          <p:cNvPr id="8" name="chart source"/>
          <p:cNvSpPr txBox="1"/>
          <p:nvPr/>
        </p:nvSpPr>
        <p:spPr>
          <a:xfrm>
            <a:off x="1158240" y="5915711"/>
            <a:ext cx="9875520" cy="119329"/>
          </a:xfrm>
          <a:prstGeom prst="rect">
            <a:avLst/>
          </a:prstGeom>
          <a:noFill/>
        </p:spPr>
        <p:txBody>
          <a:bodyPr wrap="square" lIns="0" tIns="0" rIns="0" bIns="0" anchor="t">
            <a:noAutofit/>
          </a:bodyPr>
          <a:lstStyle/>
          <a:p>
            <a:pPr algn="l">
              <a:lnSpc>
                <a:spcPts val="936"/>
              </a:lnSpc>
              <a:spcBef>
                <a:spcPts val="0"/>
              </a:spcBef>
              <a:spcAft>
                <a:spcPts val="0"/>
              </a:spcAft>
            </a:pPr>
            <a:r>
              <a:rPr sz="780" b="0" i="0">
                <a:solidFill>
                  <a:srgbClr val="86868B"/>
                </a:solidFill>
                <a:latin typeface="Helvetica Neue"/>
              </a:rPr>
              <a:t>Source: wc -l Sources/Labs/&lt;module&gt;/*.swift, 22 Oct 2026</a:t>
            </a:r>
            <a:endParaRPr sz="780"/>
          </a:p>
        </p:txBody>
      </p:sp>
      <p:graphicFrame>
        <p:nvGraphicFramePr>
          <p:cNvPr id="9" name="chart"/>
          <p:cNvGraphicFramePr>
            <a:graphicFrameLocks noGrp="1"/>
          </p:cNvGraphicFramePr>
          <p:nvPr/>
        </p:nvGraphicFramePr>
        <p:xfrm>
          <a:off x="1158240" y="2522068"/>
          <a:ext cx="9875520" cy="3302660"/>
        </p:xfrm>
        <a:graphic>
          <a:graphicData uri="http://schemas.openxmlformats.org/drawingml/2006/chart">
            <c:chart xmlns:c="http://schemas.openxmlformats.org/drawingml/2006/chart" r:id="rId3"/>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offscreen renders from current source, sample data.</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04</a:t>
            </a:r>
            <a:endParaRPr sz="840"/>
          </a:p>
        </p:txBody>
      </p:sp>
      <p:sp>
        <p:nvSpPr>
          <p:cNvPr id="4" name="eyebrow"/>
          <p:cNvSpPr txBox="1"/>
          <p:nvPr/>
        </p:nvSpPr>
        <p:spPr>
          <a:xfrm>
            <a:off x="914400" y="899998"/>
            <a:ext cx="417576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Architecture</a:t>
            </a:r>
            <a:endParaRPr sz="1320"/>
          </a:p>
        </p:txBody>
      </p:sp>
      <p:sp>
        <p:nvSpPr>
          <p:cNvPr id="5" name="headline"/>
          <p:cNvSpPr txBox="1"/>
          <p:nvPr/>
        </p:nvSpPr>
        <p:spPr>
          <a:xfrm>
            <a:off x="914400" y="1250975"/>
            <a:ext cx="4175760" cy="1024585"/>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Light"/>
              </a:rPr>
              <a:t>One panel, thirty-one feature objects</a:t>
            </a:r>
            <a:endParaRPr sz="3600"/>
          </a:p>
        </p:txBody>
      </p:sp>
      <p:sp>
        <p:nvSpPr>
          <p:cNvPr id="6" name="lead"/>
          <p:cNvSpPr txBox="1"/>
          <p:nvPr/>
        </p:nvSpPr>
        <p:spPr>
          <a:xfrm>
            <a:off x="914400" y="2443201"/>
            <a:ext cx="4175760" cy="580796"/>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How a non-activating NSPanel becomes a command center</a:t>
            </a:r>
            <a:endParaRPr sz="1680"/>
          </a:p>
        </p:txBody>
      </p:sp>
      <p:cxnSp>
        <p:nvCxnSpPr>
          <p:cNvPr id="7" name="list rule"/>
          <p:cNvCxnSpPr/>
          <p:nvPr/>
        </p:nvCxnSpPr>
        <p:spPr>
          <a:xfrm>
            <a:off x="914400" y="3298317"/>
            <a:ext cx="4175760" cy="0"/>
          </a:xfrm>
          <a:prstGeom prst="line">
            <a:avLst/>
          </a:prstGeom>
          <a:ln w="9525">
            <a:solidFill>
              <a:srgbClr val="D2D2D7"/>
            </a:solidFill>
          </a:ln>
        </p:spPr>
      </p:cxnSp>
      <p:sp>
        <p:nvSpPr>
          <p:cNvPr id="8" name="bullet"/>
          <p:cNvSpPr txBox="1"/>
          <p:nvPr/>
        </p:nvSpPr>
        <p:spPr>
          <a:xfrm>
            <a:off x="914400" y="3389757"/>
            <a:ext cx="417576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NotchPanel: borderless, non-activating, .statusBar level, on every Space</a:t>
            </a:r>
            <a:endParaRPr sz="1440"/>
          </a:p>
        </p:txBody>
      </p:sp>
      <p:cxnSp>
        <p:nvCxnSpPr>
          <p:cNvPr id="9" name="list rule"/>
          <p:cNvCxnSpPr/>
          <p:nvPr/>
        </p:nvCxnSpPr>
        <p:spPr>
          <a:xfrm>
            <a:off x="914400" y="3993718"/>
            <a:ext cx="4175760" cy="0"/>
          </a:xfrm>
          <a:prstGeom prst="line">
            <a:avLst/>
          </a:prstGeom>
          <a:ln w="9525">
            <a:solidFill>
              <a:srgbClr val="D2D2D7"/>
            </a:solidFill>
          </a:ln>
        </p:spPr>
      </p:cxnSp>
      <p:sp>
        <p:nvSpPr>
          <p:cNvPr id="10" name="bullet"/>
          <p:cNvSpPr txBox="1"/>
          <p:nvPr/>
        </p:nvSpPr>
        <p:spPr>
          <a:xfrm>
            <a:off x="914400" y="4085158"/>
            <a:ext cx="417576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Click-through at rest; becomes key only when a control needs it</a:t>
            </a:r>
            <a:endParaRPr sz="1440"/>
          </a:p>
        </p:txBody>
      </p:sp>
      <p:cxnSp>
        <p:nvCxnSpPr>
          <p:cNvPr id="11" name="list rule"/>
          <p:cNvCxnSpPr/>
          <p:nvPr/>
        </p:nvCxnSpPr>
        <p:spPr>
          <a:xfrm>
            <a:off x="914400" y="4689119"/>
            <a:ext cx="4175760" cy="0"/>
          </a:xfrm>
          <a:prstGeom prst="line">
            <a:avLst/>
          </a:prstGeom>
          <a:ln w="9525">
            <a:solidFill>
              <a:srgbClr val="D2D2D7"/>
            </a:solidFill>
          </a:ln>
        </p:spPr>
      </p:cxnSp>
      <p:sp>
        <p:nvSpPr>
          <p:cNvPr id="12" name="bullet"/>
          <p:cNvSpPr txBox="1"/>
          <p:nvPr/>
        </p:nvSpPr>
        <p:spPr>
          <a:xfrm>
            <a:off x="914400" y="4780559"/>
            <a:ext cx="417576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NotchWindowController owns the controllers and one shared ActivityCenter</a:t>
            </a:r>
            <a:endParaRPr sz="1440"/>
          </a:p>
        </p:txBody>
      </p:sp>
      <p:cxnSp>
        <p:nvCxnSpPr>
          <p:cNvPr id="13" name="list rule"/>
          <p:cNvCxnSpPr/>
          <p:nvPr/>
        </p:nvCxnSpPr>
        <p:spPr>
          <a:xfrm>
            <a:off x="914400" y="5384521"/>
            <a:ext cx="4175760" cy="0"/>
          </a:xfrm>
          <a:prstGeom prst="line">
            <a:avLst/>
          </a:prstGeom>
          <a:ln w="9525">
            <a:solidFill>
              <a:srgbClr val="D2D2D7"/>
            </a:solidFill>
          </a:ln>
        </p:spPr>
      </p:cxnSp>
      <p:sp>
        <p:nvSpPr>
          <p:cNvPr id="14" name="bullet"/>
          <p:cNvSpPr txBox="1"/>
          <p:nvPr/>
        </p:nvSpPr>
        <p:spPr>
          <a:xfrm>
            <a:off x="914400" y="5475961"/>
            <a:ext cx="417576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Features live in Sources/Labs/&lt;Feature&gt;/ with DESIGN.md and INTEGRATION.md</a:t>
            </a:r>
            <a:endParaRPr sz="1440"/>
          </a:p>
        </p:txBody>
      </p:sp>
      <p:cxnSp>
        <p:nvCxnSpPr>
          <p:cNvPr id="15" name="list rule"/>
          <p:cNvCxnSpPr/>
          <p:nvPr/>
        </p:nvCxnSpPr>
        <p:spPr>
          <a:xfrm>
            <a:off x="914400" y="6079922"/>
            <a:ext cx="4175760" cy="0"/>
          </a:xfrm>
          <a:prstGeom prst="line">
            <a:avLst/>
          </a:prstGeom>
          <a:ln w="9525">
            <a:solidFill>
              <a:srgbClr val="D2D2D7"/>
            </a:solidFill>
          </a:ln>
        </p:spPr>
      </p:cxnSp>
      <p:sp>
        <p:nvSpPr>
          <p:cNvPr id="16" name="device lid"/>
          <p:cNvSpPr/>
          <p:nvPr/>
        </p:nvSpPr>
        <p:spPr>
          <a:xfrm>
            <a:off x="5761443" y="1641936"/>
            <a:ext cx="5271595" cy="3528408"/>
          </a:xfrm>
          <a:prstGeom prst="round2SameRect">
            <a:avLst>
              <a:gd name="adj1" fmla="val 5614"/>
              <a:gd name="adj2" fmla="val 1295"/>
            </a:avLst>
          </a:prstGeom>
          <a:solidFill>
            <a:srgbClr val="0A0A0B"/>
          </a:solidFill>
          <a:ln w="15240">
            <a:solidFill>
              <a:srgbClr val="BDBDC2"/>
            </a:solidFill>
          </a:ln>
        </p:spPr>
        <p:txBody>
          <a:bodyPr rtlCol="0" anchor="ctr"/>
          <a:lstStyle/>
          <a:p>
            <a:pPr algn="ctr"/>
          </a:p>
        </p:txBody>
      </p:sp>
      <p:sp>
        <p:nvSpPr>
          <p:cNvPr id="17" name="device screen"/>
          <p:cNvSpPr/>
          <p:nvPr/>
        </p:nvSpPr>
        <p:spPr>
          <a:xfrm>
            <a:off x="5868123" y="1748616"/>
            <a:ext cx="5058235" cy="3284568"/>
          </a:xfrm>
          <a:prstGeom prst="round2SameRect">
            <a:avLst>
              <a:gd name="adj1" fmla="val 2319"/>
              <a:gd name="adj2" fmla="val 463"/>
            </a:avLst>
          </a:prstGeom>
          <a:gradFill rotWithShape="1">
            <a:gsLst>
              <a:gs pos="0">
                <a:srgbClr val="040403"/>
              </a:gs>
              <a:gs pos="58379">
                <a:srgbClr val="1A1616"/>
              </a:gs>
              <a:gs pos="100000">
                <a:srgbClr val="0F1119"/>
              </a:gs>
            </a:gsLst>
            <a:lin ang="5400000" scaled="0"/>
          </a:gradFill>
          <a:ln>
            <a:noFill/>
          </a:ln>
        </p:spPr>
        <p:txBody>
          <a:bodyPr rtlCol="0" anchor="ctr"/>
          <a:lstStyle/>
          <a:p>
            <a:pPr algn="ctr"/>
          </a:p>
        </p:txBody>
      </p:sp>
      <p:pic>
        <p:nvPicPr>
          <p:cNvPr id="18" name="device screenshot 10-agents-hub.png" descr="10-agents-hub.png"/>
          <p:cNvPicPr>
            <a:picLocks noChangeAspect="1"/>
          </p:cNvPicPr>
          <p:nvPr/>
        </p:nvPicPr>
        <p:blipFill>
          <a:blip r:embed="rId3"/>
          <a:stretch>
            <a:fillRect/>
          </a:stretch>
        </p:blipFill>
        <p:spPr>
          <a:xfrm>
            <a:off x="5868123" y="1748616"/>
            <a:ext cx="5058235" cy="1917501"/>
          </a:xfrm>
          <a:prstGeom prst="rect">
            <a:avLst/>
          </a:prstGeom>
        </p:spPr>
      </p:pic>
      <p:sp>
        <p:nvSpPr>
          <p:cNvPr id="19" name="device notch"/>
          <p:cNvSpPr/>
          <p:nvPr/>
        </p:nvSpPr>
        <p:spPr>
          <a:xfrm>
            <a:off x="7638505" y="1748616"/>
            <a:ext cx="1517470" cy="224586"/>
          </a:xfrm>
          <a:prstGeom prst="round2SameRect">
            <a:avLst>
              <a:gd name="adj1" fmla="val 0"/>
              <a:gd name="adj2" fmla="val 37843"/>
            </a:avLst>
          </a:prstGeom>
          <a:solidFill>
            <a:srgbClr val="000000"/>
          </a:solidFill>
          <a:ln>
            <a:noFill/>
          </a:ln>
        </p:spPr>
        <p:txBody>
          <a:bodyPr rtlCol="0" anchor="ctr"/>
          <a:lstStyle/>
          <a:p>
            <a:pPr algn="ctr"/>
          </a:p>
        </p:txBody>
      </p:sp>
      <p:sp>
        <p:nvSpPr>
          <p:cNvPr id="20" name="device camera"/>
          <p:cNvSpPr/>
          <p:nvPr/>
        </p:nvSpPr>
        <p:spPr>
          <a:xfrm>
            <a:off x="8359140" y="1822809"/>
            <a:ext cx="76200" cy="76200"/>
          </a:xfrm>
          <a:prstGeom prst="ellipse">
            <a:avLst/>
          </a:prstGeom>
          <a:gradFill rotWithShape="1">
            <a:gsLst>
              <a:gs pos="0">
                <a:srgbClr val="2B3448"/>
              </a:gs>
              <a:gs pos="100000">
                <a:srgbClr val="11141C"/>
              </a:gs>
            </a:gsLst>
            <a:lin ang="5400000" scaled="0"/>
          </a:gradFill>
          <a:ln>
            <a:noFill/>
          </a:ln>
        </p:spPr>
        <p:txBody>
          <a:bodyPr rtlCol="0" anchor="ctr"/>
          <a:lstStyle/>
          <a:p>
            <a:pPr algn="ctr"/>
          </a:p>
        </p:txBody>
      </p:sp>
      <p:sp>
        <p:nvSpPr>
          <p:cNvPr id="21" name="device base"/>
          <p:cNvSpPr/>
          <p:nvPr/>
        </p:nvSpPr>
        <p:spPr>
          <a:xfrm>
            <a:off x="5516880" y="5170344"/>
            <a:ext cx="5760720" cy="167640"/>
          </a:xfrm>
          <a:prstGeom prst="round2SameRect">
            <a:avLst>
              <a:gd name="adj1" fmla="val 13636"/>
              <a:gd name="adj2" fmla="val 50000"/>
            </a:avLst>
          </a:prstGeom>
          <a:gradFill rotWithShape="1">
            <a:gsLst>
              <a:gs pos="0">
                <a:srgbClr val="E3E3E7"/>
              </a:gs>
              <a:gs pos="45000">
                <a:srgbClr val="CFCFD4"/>
              </a:gs>
              <a:gs pos="100000">
                <a:srgbClr val="A8A8AD"/>
              </a:gs>
            </a:gsLst>
            <a:lin ang="5400000" scaled="0"/>
          </a:gradFill>
          <a:ln>
            <a:noFill/>
          </a:ln>
        </p:spPr>
        <p:txBody>
          <a:bodyPr rtlCol="0" anchor="ctr"/>
          <a:lstStyle/>
          <a:p>
            <a:pPr algn="ctr"/>
          </a:p>
        </p:txBody>
      </p:sp>
      <p:sp>
        <p:nvSpPr>
          <p:cNvPr id="22" name="device thumb cut"/>
          <p:cNvSpPr/>
          <p:nvPr/>
        </p:nvSpPr>
        <p:spPr>
          <a:xfrm>
            <a:off x="7936382" y="5170344"/>
            <a:ext cx="921715" cy="68580"/>
          </a:xfrm>
          <a:prstGeom prst="round2SameRect">
            <a:avLst>
              <a:gd name="adj1" fmla="val 0"/>
              <a:gd name="adj2" fmla="val 50000"/>
            </a:avLst>
          </a:prstGeom>
          <a:gradFill rotWithShape="1">
            <a:gsLst>
              <a:gs pos="0">
                <a:srgbClr val="B4B4B9"/>
              </a:gs>
              <a:gs pos="100000">
                <a:srgbClr val="CDCDD2"/>
              </a:gs>
            </a:gsLst>
            <a:lin ang="5400000" scaled="0"/>
          </a:gradFill>
          <a:ln>
            <a:noFill/>
          </a:ln>
        </p:spPr>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Object graph from NotchPanel.swift and NotchWindowController.swift. Red outline: the panel every feature lives in.</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05</a:t>
            </a:r>
            <a:endParaRPr sz="840"/>
          </a:p>
        </p:txBody>
      </p:sp>
      <p:sp>
        <p:nvSpPr>
          <p:cNvPr id="4" name="headline"/>
          <p:cNvSpPr txBox="1"/>
          <p:nvPr/>
        </p:nvSpPr>
        <p:spPr>
          <a:xfrm>
            <a:off x="914400" y="731520"/>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One panel, thirty-one feature objects</a:t>
            </a:r>
            <a:endParaRPr sz="3360"/>
          </a:p>
        </p:txBody>
      </p:sp>
      <p:sp>
        <p:nvSpPr>
          <p:cNvPr id="5" name="node panel"/>
          <p:cNvSpPr/>
          <p:nvPr/>
        </p:nvSpPr>
        <p:spPr>
          <a:xfrm>
            <a:off x="914400" y="1529944"/>
            <a:ext cx="4175760" cy="1066190"/>
          </a:xfrm>
          <a:prstGeom prst="roundRect">
            <a:avLst>
              <a:gd name="adj" fmla="val 8576"/>
            </a:avLst>
          </a:prstGeom>
          <a:solidFill>
            <a:srgbClr val="FFFFFF"/>
          </a:solidFill>
          <a:ln w="15240">
            <a:solidFill>
              <a:srgbClr val="F01822"/>
            </a:solidFill>
          </a:ln>
        </p:spPr>
        <p:txBody>
          <a:bodyPr rtlCol="0" anchor="ctr"/>
          <a:lstStyle/>
          <a:p>
            <a:pPr algn="ctr"/>
          </a:p>
        </p:txBody>
      </p:sp>
      <p:sp>
        <p:nvSpPr>
          <p:cNvPr id="6" name="node label"/>
          <p:cNvSpPr txBox="1"/>
          <p:nvPr/>
        </p:nvSpPr>
        <p:spPr>
          <a:xfrm>
            <a:off x="1005840" y="1621384"/>
            <a:ext cx="3992880" cy="219913"/>
          </a:xfrm>
          <a:prstGeom prst="rect">
            <a:avLst/>
          </a:prstGeom>
          <a:noFill/>
        </p:spPr>
        <p:txBody>
          <a:bodyPr wrap="square" lIns="0" tIns="0" rIns="0" bIns="0" anchor="t">
            <a:noAutofit/>
          </a:bodyPr>
          <a:lstStyle/>
          <a:p>
            <a:pPr algn="l">
              <a:lnSpc>
                <a:spcPts val="1728"/>
              </a:lnSpc>
              <a:spcBef>
                <a:spcPts val="0"/>
              </a:spcBef>
              <a:spcAft>
                <a:spcPts val="0"/>
              </a:spcAft>
            </a:pPr>
            <a:r>
              <a:rPr sz="1440" b="0" i="0">
                <a:solidFill>
                  <a:srgbClr val="1D1D1F"/>
                </a:solidFill>
                <a:latin typeface="Helvetica Neue Medium"/>
              </a:rPr>
              <a:t>NotchPanel</a:t>
            </a:r>
            <a:endParaRPr sz="1440"/>
          </a:p>
        </p:txBody>
      </p:sp>
      <p:sp>
        <p:nvSpPr>
          <p:cNvPr id="7" name="node detail"/>
          <p:cNvSpPr txBox="1"/>
          <p:nvPr/>
        </p:nvSpPr>
        <p:spPr>
          <a:xfrm>
            <a:off x="1005840" y="1887017"/>
            <a:ext cx="3992880" cy="617677"/>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6E6E73"/>
                </a:solidFill>
                <a:latin typeface="Helvetica Neue"/>
              </a:rPr>
              <a:t>NSPanel · .borderless + .nonactivatingPanel · level .statusBar · canJoinAllSpaces + fullScreenAuxiliary · ignoresMouseEvents at rest</a:t>
            </a:r>
            <a:endParaRPr sz="1200"/>
          </a:p>
        </p:txBody>
      </p:sp>
      <p:sp>
        <p:nvSpPr>
          <p:cNvPr id="8" name="node host"/>
          <p:cNvSpPr/>
          <p:nvPr/>
        </p:nvSpPr>
        <p:spPr>
          <a:xfrm>
            <a:off x="914400" y="2961894"/>
            <a:ext cx="4175760" cy="654710"/>
          </a:xfrm>
          <a:prstGeom prst="roundRect">
            <a:avLst>
              <a:gd name="adj" fmla="val 13966"/>
            </a:avLst>
          </a:prstGeom>
          <a:solidFill>
            <a:srgbClr val="FFFFFF"/>
          </a:solidFill>
          <a:ln w="9525">
            <a:solidFill>
              <a:srgbClr val="D2D2D7"/>
            </a:solidFill>
          </a:ln>
        </p:spPr>
        <p:txBody>
          <a:bodyPr rtlCol="0" anchor="ctr"/>
          <a:lstStyle/>
          <a:p>
            <a:pPr algn="ctr"/>
          </a:p>
        </p:txBody>
      </p:sp>
      <p:sp>
        <p:nvSpPr>
          <p:cNvPr id="9" name="node label"/>
          <p:cNvSpPr txBox="1"/>
          <p:nvPr/>
        </p:nvSpPr>
        <p:spPr>
          <a:xfrm>
            <a:off x="1005840" y="3053334"/>
            <a:ext cx="3992880" cy="219913"/>
          </a:xfrm>
          <a:prstGeom prst="rect">
            <a:avLst/>
          </a:prstGeom>
          <a:noFill/>
        </p:spPr>
        <p:txBody>
          <a:bodyPr wrap="square" lIns="0" tIns="0" rIns="0" bIns="0" anchor="t">
            <a:noAutofit/>
          </a:bodyPr>
          <a:lstStyle/>
          <a:p>
            <a:pPr algn="l">
              <a:lnSpc>
                <a:spcPts val="1728"/>
              </a:lnSpc>
              <a:spcBef>
                <a:spcPts val="0"/>
              </a:spcBef>
              <a:spcAft>
                <a:spcPts val="0"/>
              </a:spcAft>
            </a:pPr>
            <a:r>
              <a:rPr sz="1440" b="0" i="0">
                <a:solidFill>
                  <a:srgbClr val="1D1D1F"/>
                </a:solidFill>
                <a:latin typeface="Helvetica Neue Medium"/>
              </a:rPr>
              <a:t>NotchHostingView</a:t>
            </a:r>
            <a:endParaRPr sz="1440"/>
          </a:p>
        </p:txBody>
      </p:sp>
      <p:sp>
        <p:nvSpPr>
          <p:cNvPr id="10" name="node detail"/>
          <p:cNvSpPr txBox="1"/>
          <p:nvPr/>
        </p:nvSpPr>
        <p:spPr>
          <a:xfrm>
            <a:off x="1005840" y="3318967"/>
            <a:ext cx="3992880" cy="206197"/>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6E6E73"/>
                </a:solidFill>
                <a:latin typeface="Helvetica Neue"/>
              </a:rPr>
              <a:t>acceptsFirstMouse</a:t>
            </a:r>
            <a:endParaRPr sz="1200"/>
          </a:p>
        </p:txBody>
      </p:sp>
      <p:sp>
        <p:nvSpPr>
          <p:cNvPr id="11" name="node layout"/>
          <p:cNvSpPr/>
          <p:nvPr/>
        </p:nvSpPr>
        <p:spPr>
          <a:xfrm>
            <a:off x="914400" y="3982364"/>
            <a:ext cx="4175760" cy="654710"/>
          </a:xfrm>
          <a:prstGeom prst="roundRect">
            <a:avLst>
              <a:gd name="adj" fmla="val 13966"/>
            </a:avLst>
          </a:prstGeom>
          <a:solidFill>
            <a:srgbClr val="FFFFFF"/>
          </a:solidFill>
          <a:ln w="9525">
            <a:solidFill>
              <a:srgbClr val="D2D2D7"/>
            </a:solidFill>
          </a:ln>
        </p:spPr>
        <p:txBody>
          <a:bodyPr rtlCol="0" anchor="ctr"/>
          <a:lstStyle/>
          <a:p>
            <a:pPr algn="ctr"/>
          </a:p>
        </p:txBody>
      </p:sp>
      <p:sp>
        <p:nvSpPr>
          <p:cNvPr id="12" name="node label"/>
          <p:cNvSpPr txBox="1"/>
          <p:nvPr/>
        </p:nvSpPr>
        <p:spPr>
          <a:xfrm>
            <a:off x="1005840" y="4073804"/>
            <a:ext cx="3992880" cy="219913"/>
          </a:xfrm>
          <a:prstGeom prst="rect">
            <a:avLst/>
          </a:prstGeom>
          <a:noFill/>
        </p:spPr>
        <p:txBody>
          <a:bodyPr wrap="square" lIns="0" tIns="0" rIns="0" bIns="0" anchor="t">
            <a:noAutofit/>
          </a:bodyPr>
          <a:lstStyle/>
          <a:p>
            <a:pPr algn="l">
              <a:lnSpc>
                <a:spcPts val="1728"/>
              </a:lnSpc>
              <a:spcBef>
                <a:spcPts val="0"/>
              </a:spcBef>
              <a:spcAft>
                <a:spcPts val="0"/>
              </a:spcAft>
            </a:pPr>
            <a:r>
              <a:rPr sz="1440" b="0" i="0">
                <a:solidFill>
                  <a:srgbClr val="1D1D1F"/>
                </a:solidFill>
                <a:latin typeface="Helvetica Neue Medium"/>
              </a:rPr>
              <a:t>NotchNookLayoutView</a:t>
            </a:r>
            <a:endParaRPr sz="1440"/>
          </a:p>
        </p:txBody>
      </p:sp>
      <p:sp>
        <p:nvSpPr>
          <p:cNvPr id="13" name="node detail"/>
          <p:cNvSpPr txBox="1"/>
          <p:nvPr/>
        </p:nvSpPr>
        <p:spPr>
          <a:xfrm>
            <a:off x="1005840" y="4339438"/>
            <a:ext cx="3992880" cy="206197"/>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6E6E73"/>
                </a:solidFill>
                <a:latin typeface="Helvetica Neue"/>
              </a:rPr>
              <a:t>header icons · 21 drawer pages (NotchState.Tab)</a:t>
            </a:r>
            <a:endParaRPr sz="1200"/>
          </a:p>
        </p:txBody>
      </p:sp>
      <p:sp>
        <p:nvSpPr>
          <p:cNvPr id="14" name="node hub"/>
          <p:cNvSpPr/>
          <p:nvPr/>
        </p:nvSpPr>
        <p:spPr>
          <a:xfrm>
            <a:off x="914400" y="5002835"/>
            <a:ext cx="4175760" cy="654710"/>
          </a:xfrm>
          <a:prstGeom prst="roundRect">
            <a:avLst>
              <a:gd name="adj" fmla="val 13966"/>
            </a:avLst>
          </a:prstGeom>
          <a:solidFill>
            <a:srgbClr val="FFFFFF"/>
          </a:solidFill>
          <a:ln w="9525">
            <a:solidFill>
              <a:srgbClr val="D2D2D7"/>
            </a:solidFill>
          </a:ln>
        </p:spPr>
        <p:txBody>
          <a:bodyPr rtlCol="0" anchor="ctr"/>
          <a:lstStyle/>
          <a:p>
            <a:pPr algn="ctr"/>
          </a:p>
        </p:txBody>
      </p:sp>
      <p:sp>
        <p:nvSpPr>
          <p:cNvPr id="15" name="node label"/>
          <p:cNvSpPr txBox="1"/>
          <p:nvPr/>
        </p:nvSpPr>
        <p:spPr>
          <a:xfrm>
            <a:off x="1005840" y="5094275"/>
            <a:ext cx="3992880" cy="219913"/>
          </a:xfrm>
          <a:prstGeom prst="rect">
            <a:avLst/>
          </a:prstGeom>
          <a:noFill/>
        </p:spPr>
        <p:txBody>
          <a:bodyPr wrap="square" lIns="0" tIns="0" rIns="0" bIns="0" anchor="t">
            <a:noAutofit/>
          </a:bodyPr>
          <a:lstStyle/>
          <a:p>
            <a:pPr algn="l">
              <a:lnSpc>
                <a:spcPts val="1728"/>
              </a:lnSpc>
              <a:spcBef>
                <a:spcPts val="0"/>
              </a:spcBef>
              <a:spcAft>
                <a:spcPts val="0"/>
              </a:spcAft>
            </a:pPr>
            <a:r>
              <a:rPr sz="1440" b="0" i="0">
                <a:solidFill>
                  <a:srgbClr val="1D1D1F"/>
                </a:solidFill>
                <a:latin typeface="Helvetica Neue Medium"/>
              </a:rPr>
              <a:t>AgentsHubView</a:t>
            </a:r>
            <a:endParaRPr sz="1440"/>
          </a:p>
        </p:txBody>
      </p:sp>
      <p:sp>
        <p:nvSpPr>
          <p:cNvPr id="16" name="node detail"/>
          <p:cNvSpPr txBox="1"/>
          <p:nvPr/>
        </p:nvSpPr>
        <p:spPr>
          <a:xfrm>
            <a:off x="1005840" y="5359908"/>
            <a:ext cx="3992880" cy="206197"/>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6E6E73"/>
                </a:solidFill>
                <a:latin typeface="Helvetica Neue"/>
              </a:rPr>
              <a:t>22 tiles, 8x3</a:t>
            </a:r>
            <a:endParaRPr sz="1200"/>
          </a:p>
        </p:txBody>
      </p:sp>
      <p:cxnSp>
        <p:nvCxnSpPr>
          <p:cNvPr id="17" name="arrow"/>
          <p:cNvCxnSpPr/>
          <p:nvPr/>
        </p:nvCxnSpPr>
        <p:spPr>
          <a:xfrm>
            <a:off x="1325880" y="2623566"/>
            <a:ext cx="0" cy="310896"/>
          </a:xfrm>
          <a:prstGeom prst="line">
            <a:avLst/>
          </a:prstGeom>
          <a:ln w="15875">
            <a:solidFill>
              <a:srgbClr val="86868B"/>
            </a:solidFill>
            <a:tailEnd type="triangle" w="med" len="med"/>
          </a:ln>
        </p:spPr>
      </p:cxnSp>
      <p:cxnSp>
        <p:nvCxnSpPr>
          <p:cNvPr id="18" name="arrow"/>
          <p:cNvCxnSpPr/>
          <p:nvPr/>
        </p:nvCxnSpPr>
        <p:spPr>
          <a:xfrm>
            <a:off x="1325880" y="3644036"/>
            <a:ext cx="0" cy="310896"/>
          </a:xfrm>
          <a:prstGeom prst="line">
            <a:avLst/>
          </a:prstGeom>
          <a:ln w="15875">
            <a:solidFill>
              <a:srgbClr val="86868B"/>
            </a:solidFill>
            <a:tailEnd type="triangle" w="med" len="med"/>
          </a:ln>
        </p:spPr>
      </p:cxnSp>
      <p:cxnSp>
        <p:nvCxnSpPr>
          <p:cNvPr id="19" name="arrow"/>
          <p:cNvCxnSpPr/>
          <p:nvPr/>
        </p:nvCxnSpPr>
        <p:spPr>
          <a:xfrm>
            <a:off x="1325880" y="4664507"/>
            <a:ext cx="0" cy="310896"/>
          </a:xfrm>
          <a:prstGeom prst="line">
            <a:avLst/>
          </a:prstGeom>
          <a:ln w="15875">
            <a:solidFill>
              <a:srgbClr val="86868B"/>
            </a:solidFill>
            <a:tailEnd type="triangle" w="med" len="med"/>
          </a:ln>
        </p:spPr>
      </p:cxnSp>
      <p:sp>
        <p:nvSpPr>
          <p:cNvPr id="20" name="node wc"/>
          <p:cNvSpPr/>
          <p:nvPr/>
        </p:nvSpPr>
        <p:spPr>
          <a:xfrm>
            <a:off x="6217920" y="1529944"/>
            <a:ext cx="5059680" cy="654710"/>
          </a:xfrm>
          <a:prstGeom prst="roundRect">
            <a:avLst>
              <a:gd name="adj" fmla="val 13966"/>
            </a:avLst>
          </a:prstGeom>
          <a:solidFill>
            <a:srgbClr val="FFFFFF"/>
          </a:solidFill>
          <a:ln w="9525">
            <a:solidFill>
              <a:srgbClr val="D2D2D7"/>
            </a:solidFill>
          </a:ln>
        </p:spPr>
        <p:txBody>
          <a:bodyPr rtlCol="0" anchor="ctr"/>
          <a:lstStyle/>
          <a:p>
            <a:pPr algn="ctr"/>
          </a:p>
        </p:txBody>
      </p:sp>
      <p:sp>
        <p:nvSpPr>
          <p:cNvPr id="21" name="node label"/>
          <p:cNvSpPr txBox="1"/>
          <p:nvPr/>
        </p:nvSpPr>
        <p:spPr>
          <a:xfrm>
            <a:off x="6309360" y="1621384"/>
            <a:ext cx="4876800" cy="219913"/>
          </a:xfrm>
          <a:prstGeom prst="rect">
            <a:avLst/>
          </a:prstGeom>
          <a:noFill/>
        </p:spPr>
        <p:txBody>
          <a:bodyPr wrap="square" lIns="0" tIns="0" rIns="0" bIns="0" anchor="t">
            <a:noAutofit/>
          </a:bodyPr>
          <a:lstStyle/>
          <a:p>
            <a:pPr algn="l">
              <a:lnSpc>
                <a:spcPts val="1728"/>
              </a:lnSpc>
              <a:spcBef>
                <a:spcPts val="0"/>
              </a:spcBef>
              <a:spcAft>
                <a:spcPts val="0"/>
              </a:spcAft>
            </a:pPr>
            <a:r>
              <a:rPr sz="1440" b="0" i="0">
                <a:solidFill>
                  <a:srgbClr val="1D1D1F"/>
                </a:solidFill>
                <a:latin typeface="Helvetica Neue Medium"/>
              </a:rPr>
              <a:t>NotchWindowController</a:t>
            </a:r>
            <a:endParaRPr sz="1440"/>
          </a:p>
        </p:txBody>
      </p:sp>
      <p:sp>
        <p:nvSpPr>
          <p:cNvPr id="22" name="node detail"/>
          <p:cNvSpPr txBox="1"/>
          <p:nvPr/>
        </p:nvSpPr>
        <p:spPr>
          <a:xfrm>
            <a:off x="6309360" y="1887017"/>
            <a:ext cx="4876800" cy="206197"/>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6E6E73"/>
                </a:solidFill>
                <a:latin typeface="Helvetica Neue"/>
              </a:rPr>
              <a:t>owns 31 feature objects</a:t>
            </a:r>
            <a:endParaRPr sz="1200"/>
          </a:p>
        </p:txBody>
      </p:sp>
      <p:sp>
        <p:nvSpPr>
          <p:cNvPr id="23" name="node ac"/>
          <p:cNvSpPr/>
          <p:nvPr/>
        </p:nvSpPr>
        <p:spPr>
          <a:xfrm>
            <a:off x="6675120" y="2340140"/>
            <a:ext cx="4602480" cy="654710"/>
          </a:xfrm>
          <a:prstGeom prst="roundRect">
            <a:avLst>
              <a:gd name="adj" fmla="val 13966"/>
            </a:avLst>
          </a:prstGeom>
          <a:solidFill>
            <a:srgbClr val="FFFFFF"/>
          </a:solidFill>
          <a:ln w="9525">
            <a:solidFill>
              <a:srgbClr val="D2D2D7"/>
            </a:solidFill>
          </a:ln>
        </p:spPr>
        <p:txBody>
          <a:bodyPr rtlCol="0" anchor="ctr"/>
          <a:lstStyle/>
          <a:p>
            <a:pPr algn="ctr"/>
          </a:p>
        </p:txBody>
      </p:sp>
      <p:sp>
        <p:nvSpPr>
          <p:cNvPr id="24" name="node label"/>
          <p:cNvSpPr txBox="1"/>
          <p:nvPr/>
        </p:nvSpPr>
        <p:spPr>
          <a:xfrm>
            <a:off x="6766560" y="2431580"/>
            <a:ext cx="4419600" cy="219913"/>
          </a:xfrm>
          <a:prstGeom prst="rect">
            <a:avLst/>
          </a:prstGeom>
          <a:noFill/>
        </p:spPr>
        <p:txBody>
          <a:bodyPr wrap="square" lIns="0" tIns="0" rIns="0" bIns="0" anchor="t">
            <a:noAutofit/>
          </a:bodyPr>
          <a:lstStyle/>
          <a:p>
            <a:pPr algn="l">
              <a:lnSpc>
                <a:spcPts val="1728"/>
              </a:lnSpc>
              <a:spcBef>
                <a:spcPts val="0"/>
              </a:spcBef>
              <a:spcAft>
                <a:spcPts val="0"/>
              </a:spcAft>
            </a:pPr>
            <a:r>
              <a:rPr sz="1440" b="0" i="0">
                <a:solidFill>
                  <a:srgbClr val="1D1D1F"/>
                </a:solidFill>
                <a:latin typeface="Helvetica Neue Medium"/>
              </a:rPr>
              <a:t>ActivityCenter</a:t>
            </a:r>
            <a:endParaRPr sz="1440"/>
          </a:p>
        </p:txBody>
      </p:sp>
      <p:sp>
        <p:nvSpPr>
          <p:cNvPr id="25" name="node detail"/>
          <p:cNvSpPr txBox="1"/>
          <p:nvPr/>
        </p:nvSpPr>
        <p:spPr>
          <a:xfrm>
            <a:off x="6766560" y="2697213"/>
            <a:ext cx="4419600" cy="206197"/>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6E6E73"/>
                </a:solidFill>
                <a:latin typeface="Helvetica Neue"/>
              </a:rPr>
              <a:t>shared live-activity queue</a:t>
            </a:r>
            <a:endParaRPr sz="1200"/>
          </a:p>
        </p:txBody>
      </p:sp>
      <p:sp>
        <p:nvSpPr>
          <p:cNvPr id="26" name="node core"/>
          <p:cNvSpPr/>
          <p:nvPr/>
        </p:nvSpPr>
        <p:spPr>
          <a:xfrm>
            <a:off x="6675120" y="3150337"/>
            <a:ext cx="4602480" cy="1066190"/>
          </a:xfrm>
          <a:prstGeom prst="roundRect">
            <a:avLst>
              <a:gd name="adj" fmla="val 8576"/>
            </a:avLst>
          </a:prstGeom>
          <a:solidFill>
            <a:srgbClr val="FFFFFF"/>
          </a:solidFill>
          <a:ln w="9525">
            <a:solidFill>
              <a:srgbClr val="D2D2D7"/>
            </a:solidFill>
          </a:ln>
        </p:spPr>
        <p:txBody>
          <a:bodyPr rtlCol="0" anchor="ctr"/>
          <a:lstStyle/>
          <a:p>
            <a:pPr algn="ctr"/>
          </a:p>
        </p:txBody>
      </p:sp>
      <p:sp>
        <p:nvSpPr>
          <p:cNvPr id="27" name="node label"/>
          <p:cNvSpPr txBox="1"/>
          <p:nvPr/>
        </p:nvSpPr>
        <p:spPr>
          <a:xfrm>
            <a:off x="6766560" y="3241777"/>
            <a:ext cx="4419600" cy="219913"/>
          </a:xfrm>
          <a:prstGeom prst="rect">
            <a:avLst/>
          </a:prstGeom>
          <a:noFill/>
        </p:spPr>
        <p:txBody>
          <a:bodyPr wrap="square" lIns="0" tIns="0" rIns="0" bIns="0" anchor="t">
            <a:noAutofit/>
          </a:bodyPr>
          <a:lstStyle/>
          <a:p>
            <a:pPr algn="l">
              <a:lnSpc>
                <a:spcPts val="1728"/>
              </a:lnSpc>
              <a:spcBef>
                <a:spcPts val="0"/>
              </a:spcBef>
              <a:spcAft>
                <a:spcPts val="0"/>
              </a:spcAft>
            </a:pPr>
            <a:r>
              <a:rPr sz="1440" b="0" i="0">
                <a:solidFill>
                  <a:srgbClr val="1D1D1F"/>
                </a:solidFill>
                <a:latin typeface="Helvetica Neue Medium"/>
              </a:rPr>
              <a:t>Core controllers</a:t>
            </a:r>
            <a:endParaRPr sz="1440"/>
          </a:p>
        </p:txBody>
      </p:sp>
      <p:sp>
        <p:nvSpPr>
          <p:cNvPr id="28" name="node detail"/>
          <p:cNvSpPr txBox="1"/>
          <p:nvPr/>
        </p:nvSpPr>
        <p:spPr>
          <a:xfrm>
            <a:off x="6766560" y="3507410"/>
            <a:ext cx="4419600" cy="617677"/>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6E6E73"/>
                </a:solidFill>
                <a:latin typeface="Helvetica Neue"/>
              </a:rPr>
              <a:t>MediaEngine, DictationController, ClickyController, HUDController, TimerController, MeetingsController, MeetingAssistant</a:t>
            </a:r>
            <a:endParaRPr sz="1200"/>
          </a:p>
        </p:txBody>
      </p:sp>
      <p:sp>
        <p:nvSpPr>
          <p:cNvPr id="29" name="node labs"/>
          <p:cNvSpPr/>
          <p:nvPr/>
        </p:nvSpPr>
        <p:spPr>
          <a:xfrm>
            <a:off x="6675120" y="4372013"/>
            <a:ext cx="4602480" cy="860450"/>
          </a:xfrm>
          <a:prstGeom prst="roundRect">
            <a:avLst>
              <a:gd name="adj" fmla="val 10626"/>
            </a:avLst>
          </a:prstGeom>
          <a:solidFill>
            <a:srgbClr val="FFFFFF"/>
          </a:solidFill>
          <a:ln w="9525">
            <a:solidFill>
              <a:srgbClr val="D2D2D7"/>
            </a:solidFill>
          </a:ln>
        </p:spPr>
        <p:txBody>
          <a:bodyPr rtlCol="0" anchor="ctr"/>
          <a:lstStyle/>
          <a:p>
            <a:pPr algn="ctr"/>
          </a:p>
        </p:txBody>
      </p:sp>
      <p:sp>
        <p:nvSpPr>
          <p:cNvPr id="30" name="node label"/>
          <p:cNvSpPr txBox="1"/>
          <p:nvPr/>
        </p:nvSpPr>
        <p:spPr>
          <a:xfrm>
            <a:off x="6766560" y="4463453"/>
            <a:ext cx="4419600" cy="219913"/>
          </a:xfrm>
          <a:prstGeom prst="rect">
            <a:avLst/>
          </a:prstGeom>
          <a:noFill/>
        </p:spPr>
        <p:txBody>
          <a:bodyPr wrap="square" lIns="0" tIns="0" rIns="0" bIns="0" anchor="t">
            <a:noAutofit/>
          </a:bodyPr>
          <a:lstStyle/>
          <a:p>
            <a:pPr algn="l">
              <a:lnSpc>
                <a:spcPts val="1728"/>
              </a:lnSpc>
              <a:spcBef>
                <a:spcPts val="0"/>
              </a:spcBef>
              <a:spcAft>
                <a:spcPts val="0"/>
              </a:spcAft>
            </a:pPr>
            <a:r>
              <a:rPr sz="1440" b="0" i="0">
                <a:solidFill>
                  <a:srgbClr val="1D1D1F"/>
                </a:solidFill>
                <a:latin typeface="Helvetica Neue Medium"/>
              </a:rPr>
              <a:t>Labs modules (22)</a:t>
            </a:r>
            <a:endParaRPr sz="1440"/>
          </a:p>
        </p:txBody>
      </p:sp>
      <p:sp>
        <p:nvSpPr>
          <p:cNvPr id="31" name="node detail"/>
          <p:cNvSpPr txBox="1"/>
          <p:nvPr/>
        </p:nvSpPr>
        <p:spPr>
          <a:xfrm>
            <a:off x="6766560" y="4729086"/>
            <a:ext cx="4419600" cy="411937"/>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6E6E73"/>
                </a:solidFill>
                <a:latin typeface="Helvetica Neue"/>
              </a:rPr>
              <a:t>Converter, Spaces, UIAudit, BrowserRecorder, FlowCanvas, Clipboard, ...</a:t>
            </a:r>
            <a:endParaRPr sz="1200"/>
          </a:p>
        </p:txBody>
      </p:sp>
      <p:sp>
        <p:nvSpPr>
          <p:cNvPr id="32" name="node contract"/>
          <p:cNvSpPr/>
          <p:nvPr/>
        </p:nvSpPr>
        <p:spPr>
          <a:xfrm>
            <a:off x="7132320" y="5387950"/>
            <a:ext cx="4145280" cy="860450"/>
          </a:xfrm>
          <a:prstGeom prst="roundRect">
            <a:avLst>
              <a:gd name="adj" fmla="val 10626"/>
            </a:avLst>
          </a:prstGeom>
          <a:solidFill>
            <a:srgbClr val="FFFFFF"/>
          </a:solidFill>
          <a:ln w="9525">
            <a:solidFill>
              <a:srgbClr val="D2D2D7"/>
            </a:solidFill>
          </a:ln>
        </p:spPr>
        <p:txBody>
          <a:bodyPr rtlCol="0" anchor="ctr"/>
          <a:lstStyle/>
          <a:p>
            <a:pPr algn="ctr"/>
          </a:p>
        </p:txBody>
      </p:sp>
      <p:sp>
        <p:nvSpPr>
          <p:cNvPr id="33" name="node label"/>
          <p:cNvSpPr txBox="1"/>
          <p:nvPr/>
        </p:nvSpPr>
        <p:spPr>
          <a:xfrm>
            <a:off x="7223760" y="5479390"/>
            <a:ext cx="3962400" cy="219913"/>
          </a:xfrm>
          <a:prstGeom prst="rect">
            <a:avLst/>
          </a:prstGeom>
          <a:noFill/>
        </p:spPr>
        <p:txBody>
          <a:bodyPr wrap="square" lIns="0" tIns="0" rIns="0" bIns="0" anchor="t">
            <a:noAutofit/>
          </a:bodyPr>
          <a:lstStyle/>
          <a:p>
            <a:pPr algn="l">
              <a:lnSpc>
                <a:spcPts val="1728"/>
              </a:lnSpc>
              <a:spcBef>
                <a:spcPts val="0"/>
              </a:spcBef>
              <a:spcAft>
                <a:spcPts val="0"/>
              </a:spcAft>
            </a:pPr>
            <a:r>
              <a:rPr sz="1440" b="0" i="0">
                <a:solidFill>
                  <a:srgbClr val="1D1D1F"/>
                </a:solidFill>
                <a:latin typeface="Helvetica Neue Medium"/>
              </a:rPr>
              <a:t>Labs contract</a:t>
            </a:r>
            <a:endParaRPr sz="1440"/>
          </a:p>
        </p:txBody>
      </p:sp>
      <p:sp>
        <p:nvSpPr>
          <p:cNvPr id="34" name="node detail"/>
          <p:cNvSpPr txBox="1"/>
          <p:nvPr/>
        </p:nvSpPr>
        <p:spPr>
          <a:xfrm>
            <a:off x="7223760" y="5745023"/>
            <a:ext cx="3962400" cy="411937"/>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6E6E73"/>
                </a:solidFill>
                <a:latin typeface="Helvetica Neue"/>
              </a:rPr>
              <a:t>DESIGN.md → INTEGRATION.md → cp line in build.sh → lead wires shared files</a:t>
            </a:r>
            <a:endParaRPr sz="1200"/>
          </a:p>
        </p:txBody>
      </p:sp>
      <p:cxnSp>
        <p:nvCxnSpPr>
          <p:cNvPr id="35" name="bus"/>
          <p:cNvCxnSpPr/>
          <p:nvPr/>
        </p:nvCxnSpPr>
        <p:spPr>
          <a:xfrm>
            <a:off x="6464808" y="2184654"/>
            <a:ext cx="0" cy="2461679"/>
          </a:xfrm>
          <a:prstGeom prst="line">
            <a:avLst/>
          </a:prstGeom>
          <a:ln w="15875">
            <a:solidFill>
              <a:srgbClr val="86868B"/>
            </a:solidFill>
          </a:ln>
        </p:spPr>
      </p:cxnSp>
      <p:cxnSp>
        <p:nvCxnSpPr>
          <p:cNvPr id="36" name="arrow"/>
          <p:cNvCxnSpPr/>
          <p:nvPr/>
        </p:nvCxnSpPr>
        <p:spPr>
          <a:xfrm>
            <a:off x="6464808" y="2614460"/>
            <a:ext cx="182880" cy="0"/>
          </a:xfrm>
          <a:prstGeom prst="line">
            <a:avLst/>
          </a:prstGeom>
          <a:ln w="15875">
            <a:solidFill>
              <a:srgbClr val="86868B"/>
            </a:solidFill>
            <a:tailEnd type="triangle" w="med" len="med"/>
          </a:ln>
        </p:spPr>
      </p:cxnSp>
      <p:cxnSp>
        <p:nvCxnSpPr>
          <p:cNvPr id="37" name="arrow"/>
          <p:cNvCxnSpPr/>
          <p:nvPr/>
        </p:nvCxnSpPr>
        <p:spPr>
          <a:xfrm>
            <a:off x="6464808" y="3424657"/>
            <a:ext cx="182880" cy="0"/>
          </a:xfrm>
          <a:prstGeom prst="line">
            <a:avLst/>
          </a:prstGeom>
          <a:ln w="15875">
            <a:solidFill>
              <a:srgbClr val="86868B"/>
            </a:solidFill>
            <a:tailEnd type="triangle" w="med" len="med"/>
          </a:ln>
        </p:spPr>
      </p:cxnSp>
      <p:cxnSp>
        <p:nvCxnSpPr>
          <p:cNvPr id="38" name="arrow"/>
          <p:cNvCxnSpPr/>
          <p:nvPr/>
        </p:nvCxnSpPr>
        <p:spPr>
          <a:xfrm>
            <a:off x="6464808" y="4646333"/>
            <a:ext cx="182880" cy="0"/>
          </a:xfrm>
          <a:prstGeom prst="line">
            <a:avLst/>
          </a:prstGeom>
          <a:ln w="15875">
            <a:solidFill>
              <a:srgbClr val="86868B"/>
            </a:solidFill>
            <a:tailEnd type="triangle" w="med" len="med"/>
          </a:ln>
        </p:spPr>
      </p:cxnSp>
      <p:cxnSp>
        <p:nvCxnSpPr>
          <p:cNvPr id="39" name="arrow"/>
          <p:cNvCxnSpPr/>
          <p:nvPr/>
        </p:nvCxnSpPr>
        <p:spPr>
          <a:xfrm>
            <a:off x="6922008" y="5259896"/>
            <a:ext cx="0" cy="100622"/>
          </a:xfrm>
          <a:prstGeom prst="line">
            <a:avLst/>
          </a:prstGeom>
          <a:ln w="15875">
            <a:solidFill>
              <a:srgbClr val="86868B"/>
            </a:solidFill>
            <a:tailEnd type="triangle" w="med" len="med"/>
          </a:ln>
        </p:spPr>
      </p:cxnSp>
      <p:cxnSp>
        <p:nvCxnSpPr>
          <p:cNvPr id="40" name="arrow"/>
          <p:cNvCxnSpPr/>
          <p:nvPr/>
        </p:nvCxnSpPr>
        <p:spPr>
          <a:xfrm flipH="1">
            <a:off x="5117592" y="1804264"/>
            <a:ext cx="1072896" cy="0"/>
          </a:xfrm>
          <a:prstGeom prst="line">
            <a:avLst/>
          </a:prstGeom>
          <a:ln w="15875">
            <a:solidFill>
              <a:srgbClr val="86868B"/>
            </a:solidFill>
            <a:tailEnd type="triangle" w="med" len="med"/>
          </a:ln>
        </p:spPr>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offscreen renders from current source, sample data. Shown: compact wings.</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06</a:t>
            </a:r>
            <a:endParaRPr sz="840"/>
          </a:p>
        </p:txBody>
      </p:sp>
      <p:sp>
        <p:nvSpPr>
          <p:cNvPr id="4" name="eyebrow"/>
          <p:cNvSpPr txBox="1"/>
          <p:nvPr/>
        </p:nvSpPr>
        <p:spPr>
          <a:xfrm>
            <a:off x="914400" y="967130"/>
            <a:ext cx="505968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Live activities</a:t>
            </a:r>
            <a:endParaRPr sz="1320"/>
          </a:p>
        </p:txBody>
      </p:sp>
      <p:sp>
        <p:nvSpPr>
          <p:cNvPr id="5" name="headline"/>
          <p:cNvSpPr txBox="1"/>
          <p:nvPr/>
        </p:nvSpPr>
        <p:spPr>
          <a:xfrm>
            <a:off x="914400" y="1318108"/>
            <a:ext cx="5059680" cy="1024585"/>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Light"/>
              </a:rPr>
              <a:t>Live activities with Dynamic Island rules</a:t>
            </a:r>
            <a:endParaRPr sz="3600"/>
          </a:p>
        </p:txBody>
      </p:sp>
      <p:sp>
        <p:nvSpPr>
          <p:cNvPr id="6" name="lead"/>
          <p:cNvSpPr txBox="1"/>
          <p:nvPr/>
        </p:nvSpPr>
        <p:spPr>
          <a:xfrm>
            <a:off x="914400" y="2510333"/>
            <a:ext cx="505968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A priority queue that never covers your work</a:t>
            </a:r>
            <a:endParaRPr sz="1680"/>
          </a:p>
        </p:txBody>
      </p:sp>
      <p:cxnSp>
        <p:nvCxnSpPr>
          <p:cNvPr id="7" name="list rule"/>
          <p:cNvCxnSpPr/>
          <p:nvPr/>
        </p:nvCxnSpPr>
        <p:spPr>
          <a:xfrm>
            <a:off x="914400" y="3075280"/>
            <a:ext cx="5059680" cy="0"/>
          </a:xfrm>
          <a:prstGeom prst="line">
            <a:avLst/>
          </a:prstGeom>
          <a:ln w="9525">
            <a:solidFill>
              <a:srgbClr val="D2D2D7"/>
            </a:solidFill>
          </a:ln>
        </p:spPr>
      </p:cxnSp>
      <p:sp>
        <p:nvSpPr>
          <p:cNvPr id="8" name="bullet"/>
          <p:cNvSpPr txBox="1"/>
          <p:nvPr/>
        </p:nvSpPr>
        <p:spPr>
          <a:xfrm>
            <a:off x="914400" y="3166720"/>
            <a:ext cx="505968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Compact wings grow sideways inside the menu bar, 30–112 pt per side</a:t>
            </a:r>
            <a:endParaRPr sz="1440"/>
          </a:p>
        </p:txBody>
      </p:sp>
      <p:cxnSp>
        <p:nvCxnSpPr>
          <p:cNvPr id="9" name="list rule"/>
          <p:cNvCxnSpPr/>
          <p:nvPr/>
        </p:nvCxnSpPr>
        <p:spPr>
          <a:xfrm>
            <a:off x="914400" y="3770681"/>
            <a:ext cx="5059680" cy="0"/>
          </a:xfrm>
          <a:prstGeom prst="line">
            <a:avLst/>
          </a:prstGeom>
          <a:ln w="9525">
            <a:solidFill>
              <a:srgbClr val="D2D2D7"/>
            </a:solidFill>
          </a:ln>
        </p:spPr>
      </p:cxnSp>
      <p:sp>
        <p:nvSpPr>
          <p:cNvPr id="10" name="bullet"/>
          <p:cNvSpPr txBox="1"/>
          <p:nvPr/>
        </p:nvSpPr>
        <p:spPr>
          <a:xfrm>
            <a:off x="914400" y="3862121"/>
            <a:ext cx="505968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Alerts of 8 s or less queue by priority; time runs only on screen</a:t>
            </a:r>
            <a:endParaRPr sz="1440"/>
          </a:p>
        </p:txBody>
      </p:sp>
      <p:cxnSp>
        <p:nvCxnSpPr>
          <p:cNvPr id="11" name="list rule"/>
          <p:cNvCxnSpPr/>
          <p:nvPr/>
        </p:nvCxnSpPr>
        <p:spPr>
          <a:xfrm>
            <a:off x="914400" y="4466082"/>
            <a:ext cx="5059680" cy="0"/>
          </a:xfrm>
          <a:prstGeom prst="line">
            <a:avLst/>
          </a:prstGeom>
          <a:ln w="9525">
            <a:solidFill>
              <a:srgbClr val="D2D2D7"/>
            </a:solidFill>
          </a:ln>
        </p:spPr>
      </p:cxnSp>
      <p:sp>
        <p:nvSpPr>
          <p:cNvPr id="12" name="bullet"/>
          <p:cNvSpPr txBox="1"/>
          <p:nvPr/>
        </p:nvSpPr>
        <p:spPr>
          <a:xfrm>
            <a:off x="914400" y="4557522"/>
            <a:ext cx="505968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Preempted alerts resume; anything waiting 12 s is dropped</a:t>
            </a:r>
            <a:endParaRPr sz="1440"/>
          </a:p>
        </p:txBody>
      </p:sp>
      <p:cxnSp>
        <p:nvCxnSpPr>
          <p:cNvPr id="13" name="list rule"/>
          <p:cNvCxnSpPr/>
          <p:nvPr/>
        </p:nvCxnSpPr>
        <p:spPr>
          <a:xfrm>
            <a:off x="914400" y="4905451"/>
            <a:ext cx="5059680" cy="0"/>
          </a:xfrm>
          <a:prstGeom prst="line">
            <a:avLst/>
          </a:prstGeom>
          <a:ln w="9525">
            <a:solidFill>
              <a:srgbClr val="D2D2D7"/>
            </a:solidFill>
          </a:ln>
        </p:spPr>
      </p:cxnSp>
      <p:sp>
        <p:nvSpPr>
          <p:cNvPr id="14" name="bullet"/>
          <p:cNvSpPr txBox="1"/>
          <p:nvPr/>
        </p:nvSpPr>
        <p:spPr>
          <a:xfrm>
            <a:off x="914400" y="4996891"/>
            <a:ext cx="505968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Persistent activities peek for 4 s, then rest in the wings</a:t>
            </a:r>
            <a:endParaRPr sz="1440"/>
          </a:p>
        </p:txBody>
      </p:sp>
      <p:cxnSp>
        <p:nvCxnSpPr>
          <p:cNvPr id="15" name="list rule"/>
          <p:cNvCxnSpPr/>
          <p:nvPr/>
        </p:nvCxnSpPr>
        <p:spPr>
          <a:xfrm>
            <a:off x="914400" y="5344820"/>
            <a:ext cx="5059680" cy="0"/>
          </a:xfrm>
          <a:prstGeom prst="line">
            <a:avLst/>
          </a:prstGeom>
          <a:ln w="9525">
            <a:solidFill>
              <a:srgbClr val="D2D2D7"/>
            </a:solidFill>
          </a:ln>
        </p:spPr>
      </p:cxnSp>
      <p:sp>
        <p:nvSpPr>
          <p:cNvPr id="16" name="status dot"/>
          <p:cNvSpPr/>
          <p:nvPr/>
        </p:nvSpPr>
        <p:spPr>
          <a:xfrm>
            <a:off x="914400" y="5662574"/>
            <a:ext cx="82296" cy="82296"/>
          </a:xfrm>
          <a:prstGeom prst="ellipse">
            <a:avLst/>
          </a:prstGeom>
          <a:solidFill>
            <a:srgbClr val="86868B"/>
          </a:solidFill>
          <a:ln>
            <a:noFill/>
          </a:ln>
        </p:spPr>
        <p:txBody>
          <a:bodyPr rtlCol="0" anchor="ctr"/>
          <a:lstStyle/>
          <a:p>
            <a:pPr algn="ctr"/>
          </a:p>
        </p:txBody>
      </p:sp>
      <p:sp>
        <p:nvSpPr>
          <p:cNvPr id="17" name="status"/>
          <p:cNvSpPr txBox="1"/>
          <p:nvPr/>
        </p:nvSpPr>
        <p:spPr>
          <a:xfrm>
            <a:off x="1115568" y="5600852"/>
            <a:ext cx="4858512" cy="411937"/>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6E6E73"/>
                </a:solidFill>
                <a:latin typeface="Helvetica Neue"/>
              </a:rPr>
              <a:t>Bands render from source; key interception, banners and Bluetooth need a live check.</a:t>
            </a:r>
            <a:endParaRPr sz="1200"/>
          </a:p>
        </p:txBody>
      </p:sp>
      <p:sp>
        <p:nvSpPr>
          <p:cNvPr id="18" name="device lid"/>
          <p:cNvSpPr/>
          <p:nvPr/>
        </p:nvSpPr>
        <p:spPr>
          <a:xfrm>
            <a:off x="6607837" y="1904556"/>
            <a:ext cx="4462726" cy="3003169"/>
          </a:xfrm>
          <a:prstGeom prst="round2SameRect">
            <a:avLst>
              <a:gd name="adj1" fmla="val 6597"/>
              <a:gd name="adj2" fmla="val 1522"/>
            </a:avLst>
          </a:prstGeom>
          <a:solidFill>
            <a:srgbClr val="0A0A0B"/>
          </a:solidFill>
          <a:ln w="15240">
            <a:solidFill>
              <a:srgbClr val="BDBDC2"/>
            </a:solidFill>
          </a:ln>
        </p:spPr>
        <p:txBody>
          <a:bodyPr rtlCol="0" anchor="ctr"/>
          <a:lstStyle/>
          <a:p>
            <a:pPr algn="ctr"/>
          </a:p>
        </p:txBody>
      </p:sp>
      <p:sp>
        <p:nvSpPr>
          <p:cNvPr id="19" name="device screen"/>
          <p:cNvSpPr/>
          <p:nvPr/>
        </p:nvSpPr>
        <p:spPr>
          <a:xfrm>
            <a:off x="6714517" y="2011236"/>
            <a:ext cx="4249366" cy="2759329"/>
          </a:xfrm>
          <a:prstGeom prst="round2SameRect">
            <a:avLst>
              <a:gd name="adj1" fmla="val 2761"/>
              <a:gd name="adj2" fmla="val 552"/>
            </a:avLst>
          </a:prstGeom>
          <a:gradFill rotWithShape="1">
            <a:gsLst>
              <a:gs pos="0">
                <a:srgbClr val="151111"/>
              </a:gs>
              <a:gs pos="22647">
                <a:srgbClr val="1C1717"/>
              </a:gs>
              <a:gs pos="100000">
                <a:srgbClr val="0F1119"/>
              </a:gs>
            </a:gsLst>
            <a:lin ang="5400000" scaled="0"/>
          </a:gradFill>
          <a:ln>
            <a:noFill/>
          </a:ln>
        </p:spPr>
        <p:txBody>
          <a:bodyPr rtlCol="0" anchor="ctr"/>
          <a:lstStyle/>
          <a:p>
            <a:pPr algn="ctr"/>
          </a:p>
        </p:txBody>
      </p:sp>
      <p:pic>
        <p:nvPicPr>
          <p:cNvPr id="20" name="device screenshot 46-compact-wings.png" descr="46-compact-wings.png"/>
          <p:cNvPicPr>
            <a:picLocks noChangeAspect="1"/>
          </p:cNvPicPr>
          <p:nvPr/>
        </p:nvPicPr>
        <p:blipFill>
          <a:blip r:embed="rId3"/>
          <a:stretch>
            <a:fillRect/>
          </a:stretch>
        </p:blipFill>
        <p:spPr>
          <a:xfrm>
            <a:off x="6714517" y="2011236"/>
            <a:ext cx="4249366" cy="624907"/>
          </a:xfrm>
          <a:prstGeom prst="rect">
            <a:avLst/>
          </a:prstGeom>
        </p:spPr>
      </p:pic>
      <p:sp>
        <p:nvSpPr>
          <p:cNvPr id="21" name="device notch"/>
          <p:cNvSpPr/>
          <p:nvPr/>
        </p:nvSpPr>
        <p:spPr>
          <a:xfrm>
            <a:off x="8201795" y="2011236"/>
            <a:ext cx="1274810" cy="188672"/>
          </a:xfrm>
          <a:prstGeom prst="round2SameRect">
            <a:avLst>
              <a:gd name="adj1" fmla="val 0"/>
              <a:gd name="adj2" fmla="val 37843"/>
            </a:avLst>
          </a:prstGeom>
          <a:solidFill>
            <a:srgbClr val="000000"/>
          </a:solidFill>
          <a:ln>
            <a:noFill/>
          </a:ln>
        </p:spPr>
        <p:txBody>
          <a:bodyPr rtlCol="0" anchor="ctr"/>
          <a:lstStyle/>
          <a:p>
            <a:pPr algn="ctr"/>
          </a:p>
        </p:txBody>
      </p:sp>
      <p:sp>
        <p:nvSpPr>
          <p:cNvPr id="22" name="device camera"/>
          <p:cNvSpPr/>
          <p:nvPr/>
        </p:nvSpPr>
        <p:spPr>
          <a:xfrm>
            <a:off x="8801100" y="2067472"/>
            <a:ext cx="76200" cy="76200"/>
          </a:xfrm>
          <a:prstGeom prst="ellipse">
            <a:avLst/>
          </a:prstGeom>
          <a:gradFill rotWithShape="1">
            <a:gsLst>
              <a:gs pos="0">
                <a:srgbClr val="2B3448"/>
              </a:gs>
              <a:gs pos="100000">
                <a:srgbClr val="11141C"/>
              </a:gs>
            </a:gsLst>
            <a:lin ang="5400000" scaled="0"/>
          </a:gradFill>
          <a:ln>
            <a:noFill/>
          </a:ln>
        </p:spPr>
        <p:txBody>
          <a:bodyPr rtlCol="0" anchor="ctr"/>
          <a:lstStyle/>
          <a:p>
            <a:pPr algn="ctr"/>
          </a:p>
        </p:txBody>
      </p:sp>
      <p:sp>
        <p:nvSpPr>
          <p:cNvPr id="23" name="device base"/>
          <p:cNvSpPr/>
          <p:nvPr/>
        </p:nvSpPr>
        <p:spPr>
          <a:xfrm>
            <a:off x="6400800" y="4907724"/>
            <a:ext cx="4876800" cy="167640"/>
          </a:xfrm>
          <a:prstGeom prst="round2SameRect">
            <a:avLst>
              <a:gd name="adj1" fmla="val 13636"/>
              <a:gd name="adj2" fmla="val 50000"/>
            </a:avLst>
          </a:prstGeom>
          <a:gradFill rotWithShape="1">
            <a:gsLst>
              <a:gs pos="0">
                <a:srgbClr val="E3E3E7"/>
              </a:gs>
              <a:gs pos="45000">
                <a:srgbClr val="CFCFD4"/>
              </a:gs>
              <a:gs pos="100000">
                <a:srgbClr val="A8A8AD"/>
              </a:gs>
            </a:gsLst>
            <a:lin ang="5400000" scaled="0"/>
          </a:gradFill>
          <a:ln>
            <a:noFill/>
          </a:ln>
        </p:spPr>
        <p:txBody>
          <a:bodyPr rtlCol="0" anchor="ctr"/>
          <a:lstStyle/>
          <a:p>
            <a:pPr algn="ctr"/>
          </a:p>
        </p:txBody>
      </p:sp>
      <p:sp>
        <p:nvSpPr>
          <p:cNvPr id="24" name="device thumb cut"/>
          <p:cNvSpPr/>
          <p:nvPr/>
        </p:nvSpPr>
        <p:spPr>
          <a:xfrm>
            <a:off x="8449056" y="4907724"/>
            <a:ext cx="780288" cy="68580"/>
          </a:xfrm>
          <a:prstGeom prst="round2SameRect">
            <a:avLst>
              <a:gd name="adj1" fmla="val 0"/>
              <a:gd name="adj2" fmla="val 50000"/>
            </a:avLst>
          </a:prstGeom>
          <a:gradFill rotWithShape="1">
            <a:gsLst>
              <a:gs pos="0">
                <a:srgbClr val="B4B4B9"/>
              </a:gs>
              <a:gs pos="100000">
                <a:srgbClr val="CDCDD2"/>
              </a:gs>
            </a:gsLst>
            <a:lin ang="5400000" scaled="0"/>
          </a:gradFill>
          <a:ln>
            <a:noFill/>
          </a:ln>
        </p:spPr>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offscreen renders from current source, sample data. Bands cropped to the island.</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07</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Live activities · band states</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Live activities with Dynamic Island rules</a:t>
            </a:r>
            <a:endParaRPr sz="3360"/>
          </a:p>
        </p:txBody>
      </p:sp>
      <p:pic>
        <p:nvPicPr>
          <p:cNvPr id="6" name="band 46-compact-wings.png" descr="46-compact-wings.png"/>
          <p:cNvPicPr>
            <a:picLocks noChangeAspect="1"/>
          </p:cNvPicPr>
          <p:nvPr/>
        </p:nvPicPr>
        <p:blipFill>
          <a:blip r:embed="rId3"/>
          <a:srcRect l="15000" r="15000"/>
          <a:stretch>
            <a:fillRect/>
          </a:stretch>
        </p:blipFill>
        <p:spPr>
          <a:xfrm>
            <a:off x="1413134" y="1865681"/>
            <a:ext cx="4499986" cy="945375"/>
          </a:xfrm>
          <a:prstGeom prst="roundRect">
            <a:avLst>
              <a:gd name="adj" fmla="val 7737"/>
            </a:avLst>
          </a:prstGeom>
        </p:spPr>
      </p:pic>
      <p:sp>
        <p:nvSpPr>
          <p:cNvPr id="7" name="band label"/>
          <p:cNvSpPr txBox="1"/>
          <p:nvPr/>
        </p:nvSpPr>
        <p:spPr>
          <a:xfrm>
            <a:off x="1413134" y="2902496"/>
            <a:ext cx="4499986" cy="206197"/>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1D1D1F"/>
                </a:solidFill>
                <a:latin typeface="Helvetica Neue Medium"/>
              </a:rPr>
              <a:t>wings · persistent</a:t>
            </a:r>
            <a:endParaRPr sz="1200"/>
          </a:p>
        </p:txBody>
      </p:sp>
      <p:pic>
        <p:nvPicPr>
          <p:cNvPr id="8" name="band 42-volume-hud.png" descr="42-volume-hud.png"/>
          <p:cNvPicPr>
            <a:picLocks noChangeAspect="1"/>
          </p:cNvPicPr>
          <p:nvPr/>
        </p:nvPicPr>
        <p:blipFill>
          <a:blip r:embed="rId4"/>
          <a:srcRect l="15000" r="15000"/>
          <a:stretch>
            <a:fillRect/>
          </a:stretch>
        </p:blipFill>
        <p:spPr>
          <a:xfrm>
            <a:off x="6278880" y="1865681"/>
            <a:ext cx="4499986" cy="945375"/>
          </a:xfrm>
          <a:prstGeom prst="roundRect">
            <a:avLst>
              <a:gd name="adj" fmla="val 7737"/>
            </a:avLst>
          </a:prstGeom>
        </p:spPr>
      </p:pic>
      <p:sp>
        <p:nvSpPr>
          <p:cNvPr id="9" name="band label"/>
          <p:cNvSpPr txBox="1"/>
          <p:nvPr/>
        </p:nvSpPr>
        <p:spPr>
          <a:xfrm>
            <a:off x="6278880" y="2902496"/>
            <a:ext cx="4499986" cy="206197"/>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6E6E73"/>
                </a:solidFill>
                <a:latin typeface="Helvetica Neue"/>
              </a:rPr>
              <a:t>volume · live</a:t>
            </a:r>
            <a:endParaRPr sz="1200"/>
          </a:p>
        </p:txBody>
      </p:sp>
      <p:pic>
        <p:nvPicPr>
          <p:cNvPr id="10" name="band 43-battery.png" descr="43-battery.png"/>
          <p:cNvPicPr>
            <a:picLocks noChangeAspect="1"/>
          </p:cNvPicPr>
          <p:nvPr/>
        </p:nvPicPr>
        <p:blipFill>
          <a:blip r:embed="rId5"/>
          <a:srcRect l="15000" r="15000"/>
          <a:stretch>
            <a:fillRect/>
          </a:stretch>
        </p:blipFill>
        <p:spPr>
          <a:xfrm>
            <a:off x="1413134" y="3383013"/>
            <a:ext cx="4499986" cy="945375"/>
          </a:xfrm>
          <a:prstGeom prst="roundRect">
            <a:avLst>
              <a:gd name="adj" fmla="val 7737"/>
            </a:avLst>
          </a:prstGeom>
        </p:spPr>
      </p:pic>
      <p:sp>
        <p:nvSpPr>
          <p:cNvPr id="11" name="band label"/>
          <p:cNvSpPr txBox="1"/>
          <p:nvPr/>
        </p:nvSpPr>
        <p:spPr>
          <a:xfrm>
            <a:off x="1413134" y="4419829"/>
            <a:ext cx="4499986" cy="206197"/>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6E6E73"/>
                </a:solidFill>
                <a:latin typeface="Helvetica Neue"/>
              </a:rPr>
              <a:t>battery · alert</a:t>
            </a:r>
            <a:endParaRPr sz="1200"/>
          </a:p>
        </p:txBody>
      </p:sp>
      <p:pic>
        <p:nvPicPr>
          <p:cNvPr id="12" name="band 44-airpods.png" descr="44-airpods.png"/>
          <p:cNvPicPr>
            <a:picLocks noChangeAspect="1"/>
          </p:cNvPicPr>
          <p:nvPr/>
        </p:nvPicPr>
        <p:blipFill>
          <a:blip r:embed="rId6"/>
          <a:srcRect l="15000" r="15000"/>
          <a:stretch>
            <a:fillRect/>
          </a:stretch>
        </p:blipFill>
        <p:spPr>
          <a:xfrm>
            <a:off x="6278880" y="3383013"/>
            <a:ext cx="4499986" cy="945375"/>
          </a:xfrm>
          <a:prstGeom prst="roundRect">
            <a:avLst>
              <a:gd name="adj" fmla="val 7737"/>
            </a:avLst>
          </a:prstGeom>
        </p:spPr>
      </p:pic>
      <p:sp>
        <p:nvSpPr>
          <p:cNvPr id="13" name="band label"/>
          <p:cNvSpPr txBox="1"/>
          <p:nvPr/>
        </p:nvSpPr>
        <p:spPr>
          <a:xfrm>
            <a:off x="6278880" y="4419829"/>
            <a:ext cx="4499986" cy="206197"/>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6E6E73"/>
                </a:solidFill>
                <a:latin typeface="Helvetica Neue"/>
              </a:rPr>
              <a:t>AirPods · alert</a:t>
            </a:r>
            <a:endParaRPr sz="1200"/>
          </a:p>
        </p:txBody>
      </p:sp>
      <p:pic>
        <p:nvPicPr>
          <p:cNvPr id="14" name="band 45-notification.png" descr="45-notification.png"/>
          <p:cNvPicPr>
            <a:picLocks noChangeAspect="1"/>
          </p:cNvPicPr>
          <p:nvPr/>
        </p:nvPicPr>
        <p:blipFill>
          <a:blip r:embed="rId7"/>
          <a:srcRect l="15000" r="15000"/>
          <a:stretch>
            <a:fillRect/>
          </a:stretch>
        </p:blipFill>
        <p:spPr>
          <a:xfrm>
            <a:off x="1413134" y="4900346"/>
            <a:ext cx="4499986" cy="1050417"/>
          </a:xfrm>
          <a:prstGeom prst="roundRect">
            <a:avLst>
              <a:gd name="adj" fmla="val 6964"/>
            </a:avLst>
          </a:prstGeom>
        </p:spPr>
      </p:pic>
      <p:sp>
        <p:nvSpPr>
          <p:cNvPr id="15" name="band label"/>
          <p:cNvSpPr txBox="1"/>
          <p:nvPr/>
        </p:nvSpPr>
        <p:spPr>
          <a:xfrm>
            <a:off x="1413134" y="6042203"/>
            <a:ext cx="4499986" cy="206197"/>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6E6E73"/>
                </a:solidFill>
                <a:latin typeface="Helvetica Neue"/>
              </a:rPr>
              <a:t>notification · alert</a:t>
            </a:r>
            <a:endParaRPr sz="1200"/>
          </a:p>
        </p:txBody>
      </p:sp>
      <p:pic>
        <p:nvPicPr>
          <p:cNvPr id="16" name="band 47-screen-recording.png" descr="47-screen-recording.png"/>
          <p:cNvPicPr>
            <a:picLocks noChangeAspect="1"/>
          </p:cNvPicPr>
          <p:nvPr/>
        </p:nvPicPr>
        <p:blipFill>
          <a:blip r:embed="rId8"/>
          <a:srcRect l="15000" r="15000"/>
          <a:stretch>
            <a:fillRect/>
          </a:stretch>
        </p:blipFill>
        <p:spPr>
          <a:xfrm>
            <a:off x="6278880" y="4900346"/>
            <a:ext cx="4499986" cy="945375"/>
          </a:xfrm>
          <a:prstGeom prst="roundRect">
            <a:avLst>
              <a:gd name="adj" fmla="val 7737"/>
            </a:avLst>
          </a:prstGeom>
        </p:spPr>
      </p:pic>
      <p:sp>
        <p:nvSpPr>
          <p:cNvPr id="17" name="band label"/>
          <p:cNvSpPr txBox="1"/>
          <p:nvPr/>
        </p:nvSpPr>
        <p:spPr>
          <a:xfrm>
            <a:off x="6278880" y="6042203"/>
            <a:ext cx="4499986" cy="206197"/>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6E6E73"/>
                </a:solidFill>
                <a:latin typeface="Helvetica Neue"/>
              </a:rPr>
              <a:t>recording · persistent</a:t>
            </a:r>
            <a:endParaRPr sz="12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SparkV · Technical briefing</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08</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On-device AI</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The on-device AI stack</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Apple frameworks first; the network is opt-in</a:t>
            </a:r>
            <a:endParaRPr sz="1680"/>
          </a:p>
        </p:txBody>
      </p:sp>
      <p:sp>
        <p:nvSpPr>
          <p:cNvPr id="7" name="tile"/>
          <p:cNvSpPr/>
          <p:nvPr/>
        </p:nvSpPr>
        <p:spPr>
          <a:xfrm>
            <a:off x="914400" y="2354428"/>
            <a:ext cx="3332480" cy="1855546"/>
          </a:xfrm>
          <a:prstGeom prst="roundRect">
            <a:avLst>
              <a:gd name="adj" fmla="val 9034"/>
            </a:avLst>
          </a:prstGeom>
          <a:solidFill>
            <a:srgbClr val="F5F5F7"/>
          </a:solidFill>
          <a:ln>
            <a:noFill/>
          </a:ln>
        </p:spPr>
        <p:txBody>
          <a:bodyPr rtlCol="0" anchor="ctr"/>
          <a:lstStyle/>
          <a:p>
            <a:pPr algn="ctr"/>
          </a:p>
        </p:txBody>
      </p:sp>
      <p:sp>
        <p:nvSpPr>
          <p:cNvPr id="8" name="tile value"/>
          <p:cNvSpPr txBox="1"/>
          <p:nvPr/>
        </p:nvSpPr>
        <p:spPr>
          <a:xfrm>
            <a:off x="1158240" y="2552548"/>
            <a:ext cx="2844800" cy="375971"/>
          </a:xfrm>
          <a:prstGeom prst="rect">
            <a:avLst/>
          </a:prstGeom>
          <a:noFill/>
        </p:spPr>
        <p:txBody>
          <a:bodyPr wrap="square" lIns="0" tIns="0" rIns="0" bIns="0" anchor="t">
            <a:noAutofit/>
          </a:bodyPr>
          <a:lstStyle/>
          <a:p>
            <a:pPr algn="l">
              <a:lnSpc>
                <a:spcPts val="2809"/>
              </a:lnSpc>
              <a:spcBef>
                <a:spcPts val="0"/>
              </a:spcBef>
              <a:spcAft>
                <a:spcPts val="0"/>
              </a:spcAft>
            </a:pPr>
            <a:r>
              <a:rPr sz="2508" b="0" i="0" spc="-25">
                <a:solidFill>
                  <a:srgbClr val="F01822"/>
                </a:solidFill>
                <a:latin typeface="Helvetica Neue Medium"/>
              </a:rPr>
              <a:t>FoundationModels</a:t>
            </a:r>
            <a:endParaRPr sz="2508"/>
          </a:p>
        </p:txBody>
      </p:sp>
      <p:sp>
        <p:nvSpPr>
          <p:cNvPr id="9" name="tile label"/>
          <p:cNvSpPr txBox="1"/>
          <p:nvPr/>
        </p:nvSpPr>
        <p:spPr>
          <a:xfrm>
            <a:off x="1158240" y="3019958"/>
            <a:ext cx="284480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dictation cleanup, summaries, replies, prompts, plans</a:t>
            </a:r>
            <a:endParaRPr sz="1440"/>
          </a:p>
        </p:txBody>
      </p:sp>
      <p:sp>
        <p:nvSpPr>
          <p:cNvPr id="10" name="tile"/>
          <p:cNvSpPr/>
          <p:nvPr/>
        </p:nvSpPr>
        <p:spPr>
          <a:xfrm>
            <a:off x="4429760" y="2354428"/>
            <a:ext cx="3332480" cy="1855546"/>
          </a:xfrm>
          <a:prstGeom prst="roundRect">
            <a:avLst>
              <a:gd name="adj" fmla="val 9034"/>
            </a:avLst>
          </a:prstGeom>
          <a:solidFill>
            <a:srgbClr val="F5F5F7"/>
          </a:solidFill>
          <a:ln>
            <a:noFill/>
          </a:ln>
        </p:spPr>
        <p:txBody>
          <a:bodyPr rtlCol="0" anchor="ctr"/>
          <a:lstStyle/>
          <a:p>
            <a:pPr algn="ctr"/>
          </a:p>
        </p:txBody>
      </p:sp>
      <p:sp>
        <p:nvSpPr>
          <p:cNvPr id="11" name="tile value"/>
          <p:cNvSpPr txBox="1"/>
          <p:nvPr/>
        </p:nvSpPr>
        <p:spPr>
          <a:xfrm>
            <a:off x="4673600" y="2552548"/>
            <a:ext cx="2844800" cy="375971"/>
          </a:xfrm>
          <a:prstGeom prst="rect">
            <a:avLst/>
          </a:prstGeom>
          <a:noFill/>
        </p:spPr>
        <p:txBody>
          <a:bodyPr wrap="square" lIns="0" tIns="0" rIns="0" bIns="0" anchor="t">
            <a:noAutofit/>
          </a:bodyPr>
          <a:lstStyle/>
          <a:p>
            <a:pPr algn="l">
              <a:lnSpc>
                <a:spcPts val="2957"/>
              </a:lnSpc>
              <a:spcBef>
                <a:spcPts val="0"/>
              </a:spcBef>
              <a:spcAft>
                <a:spcPts val="0"/>
              </a:spcAft>
            </a:pPr>
            <a:r>
              <a:rPr sz="2640" b="0" i="0" spc="-26">
                <a:solidFill>
                  <a:srgbClr val="1D1D1F"/>
                </a:solidFill>
                <a:latin typeface="Helvetica Neue Light"/>
              </a:rPr>
              <a:t>Vision</a:t>
            </a:r>
            <a:endParaRPr sz="2640"/>
          </a:p>
        </p:txBody>
      </p:sp>
      <p:sp>
        <p:nvSpPr>
          <p:cNvPr id="12" name="tile label"/>
          <p:cNvSpPr txBox="1"/>
          <p:nvPr/>
        </p:nvSpPr>
        <p:spPr>
          <a:xfrm>
            <a:off x="4673600" y="3019958"/>
            <a:ext cx="284480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OCR everywhere, face landmarks for Screen Distance</a:t>
            </a:r>
            <a:endParaRPr sz="1440"/>
          </a:p>
        </p:txBody>
      </p:sp>
      <p:sp>
        <p:nvSpPr>
          <p:cNvPr id="13" name="tile"/>
          <p:cNvSpPr/>
          <p:nvPr/>
        </p:nvSpPr>
        <p:spPr>
          <a:xfrm>
            <a:off x="7945120" y="2354428"/>
            <a:ext cx="3332480" cy="1855546"/>
          </a:xfrm>
          <a:prstGeom prst="roundRect">
            <a:avLst>
              <a:gd name="adj" fmla="val 9034"/>
            </a:avLst>
          </a:prstGeom>
          <a:solidFill>
            <a:srgbClr val="F5F5F7"/>
          </a:solidFill>
          <a:ln>
            <a:noFill/>
          </a:ln>
        </p:spPr>
        <p:txBody>
          <a:bodyPr rtlCol="0" anchor="ctr"/>
          <a:lstStyle/>
          <a:p>
            <a:pPr algn="ctr"/>
          </a:p>
        </p:txBody>
      </p:sp>
      <p:sp>
        <p:nvSpPr>
          <p:cNvPr id="14" name="tile value"/>
          <p:cNvSpPr txBox="1"/>
          <p:nvPr/>
        </p:nvSpPr>
        <p:spPr>
          <a:xfrm>
            <a:off x="8188960" y="2552548"/>
            <a:ext cx="2844800" cy="375971"/>
          </a:xfrm>
          <a:prstGeom prst="rect">
            <a:avLst/>
          </a:prstGeom>
          <a:noFill/>
        </p:spPr>
        <p:txBody>
          <a:bodyPr wrap="square" lIns="0" tIns="0" rIns="0" bIns="0" anchor="t">
            <a:noAutofit/>
          </a:bodyPr>
          <a:lstStyle/>
          <a:p>
            <a:pPr algn="l">
              <a:lnSpc>
                <a:spcPts val="2957"/>
              </a:lnSpc>
              <a:spcBef>
                <a:spcPts val="0"/>
              </a:spcBef>
              <a:spcAft>
                <a:spcPts val="0"/>
              </a:spcAft>
            </a:pPr>
            <a:r>
              <a:rPr sz="2640" b="0" i="0" spc="-26">
                <a:solidFill>
                  <a:srgbClr val="1D1D1F"/>
                </a:solidFill>
                <a:latin typeface="Helvetica Neue Light"/>
              </a:rPr>
              <a:t>Speech</a:t>
            </a:r>
            <a:endParaRPr sz="2640"/>
          </a:p>
        </p:txBody>
      </p:sp>
      <p:sp>
        <p:nvSpPr>
          <p:cNvPr id="15" name="tile label"/>
          <p:cNvSpPr txBox="1"/>
          <p:nvPr/>
        </p:nvSpPr>
        <p:spPr>
          <a:xfrm>
            <a:off x="8188960" y="3019958"/>
            <a:ext cx="284480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SpeechAnalyzer on macOS 26+, SFSpeechRecognizer fallback</a:t>
            </a:r>
            <a:endParaRPr sz="1440"/>
          </a:p>
        </p:txBody>
      </p:sp>
      <p:sp>
        <p:nvSpPr>
          <p:cNvPr id="16" name="tile"/>
          <p:cNvSpPr/>
          <p:nvPr/>
        </p:nvSpPr>
        <p:spPr>
          <a:xfrm>
            <a:off x="914400" y="4392854"/>
            <a:ext cx="3332480" cy="1855546"/>
          </a:xfrm>
          <a:prstGeom prst="roundRect">
            <a:avLst>
              <a:gd name="adj" fmla="val 9034"/>
            </a:avLst>
          </a:prstGeom>
          <a:solidFill>
            <a:srgbClr val="F5F5F7"/>
          </a:solidFill>
          <a:ln>
            <a:noFill/>
          </a:ln>
        </p:spPr>
        <p:txBody>
          <a:bodyPr rtlCol="0" anchor="ctr"/>
          <a:lstStyle/>
          <a:p>
            <a:pPr algn="ctr"/>
          </a:p>
        </p:txBody>
      </p:sp>
      <p:sp>
        <p:nvSpPr>
          <p:cNvPr id="17" name="tile value"/>
          <p:cNvSpPr txBox="1"/>
          <p:nvPr/>
        </p:nvSpPr>
        <p:spPr>
          <a:xfrm>
            <a:off x="1158240" y="4590974"/>
            <a:ext cx="2844800" cy="375971"/>
          </a:xfrm>
          <a:prstGeom prst="rect">
            <a:avLst/>
          </a:prstGeom>
          <a:noFill/>
        </p:spPr>
        <p:txBody>
          <a:bodyPr wrap="square" lIns="0" tIns="0" rIns="0" bIns="0" anchor="t">
            <a:noAutofit/>
          </a:bodyPr>
          <a:lstStyle/>
          <a:p>
            <a:pPr algn="l">
              <a:lnSpc>
                <a:spcPts val="2957"/>
              </a:lnSpc>
              <a:spcBef>
                <a:spcPts val="0"/>
              </a:spcBef>
              <a:spcAft>
                <a:spcPts val="0"/>
              </a:spcAft>
            </a:pPr>
            <a:r>
              <a:rPr sz="2640" b="0" i="0" spc="-26">
                <a:solidFill>
                  <a:srgbClr val="1D1D1F"/>
                </a:solidFill>
                <a:latin typeface="Helvetica Neue Light"/>
              </a:rPr>
              <a:t>Translation</a:t>
            </a:r>
            <a:endParaRPr sz="2640"/>
          </a:p>
        </p:txBody>
      </p:sp>
      <p:sp>
        <p:nvSpPr>
          <p:cNvPr id="18" name="tile label"/>
          <p:cNvSpPr txBox="1"/>
          <p:nvPr/>
        </p:nvSpPr>
        <p:spPr>
          <a:xfrm>
            <a:off x="1158240" y="5058385"/>
            <a:ext cx="284480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TranslationSession cached per language pair</a:t>
            </a:r>
            <a:endParaRPr sz="1440"/>
          </a:p>
        </p:txBody>
      </p:sp>
      <p:sp>
        <p:nvSpPr>
          <p:cNvPr id="19" name="tile"/>
          <p:cNvSpPr/>
          <p:nvPr/>
        </p:nvSpPr>
        <p:spPr>
          <a:xfrm>
            <a:off x="4429760" y="4392854"/>
            <a:ext cx="3332480" cy="1855546"/>
          </a:xfrm>
          <a:prstGeom prst="roundRect">
            <a:avLst>
              <a:gd name="adj" fmla="val 9034"/>
            </a:avLst>
          </a:prstGeom>
          <a:solidFill>
            <a:srgbClr val="F5F5F7"/>
          </a:solidFill>
          <a:ln>
            <a:noFill/>
          </a:ln>
        </p:spPr>
        <p:txBody>
          <a:bodyPr rtlCol="0" anchor="ctr"/>
          <a:lstStyle/>
          <a:p>
            <a:pPr algn="ctr"/>
          </a:p>
        </p:txBody>
      </p:sp>
      <p:sp>
        <p:nvSpPr>
          <p:cNvPr id="20" name="tile value"/>
          <p:cNvSpPr txBox="1"/>
          <p:nvPr/>
        </p:nvSpPr>
        <p:spPr>
          <a:xfrm>
            <a:off x="4673600" y="4590974"/>
            <a:ext cx="2844800" cy="375971"/>
          </a:xfrm>
          <a:prstGeom prst="rect">
            <a:avLst/>
          </a:prstGeom>
          <a:noFill/>
        </p:spPr>
        <p:txBody>
          <a:bodyPr wrap="square" lIns="0" tIns="0" rIns="0" bIns="0" anchor="t">
            <a:noAutofit/>
          </a:bodyPr>
          <a:lstStyle/>
          <a:p>
            <a:pPr algn="l">
              <a:lnSpc>
                <a:spcPts val="2957"/>
              </a:lnSpc>
              <a:spcBef>
                <a:spcPts val="0"/>
              </a:spcBef>
              <a:spcAft>
                <a:spcPts val="0"/>
              </a:spcAft>
            </a:pPr>
            <a:r>
              <a:rPr sz="2640" b="0" i="0" spc="-26">
                <a:solidFill>
                  <a:srgbClr val="1D1D1F"/>
                </a:solidFill>
                <a:latin typeface="Helvetica Neue Light"/>
              </a:rPr>
              <a:t>ScreenCaptureKit</a:t>
            </a:r>
            <a:endParaRPr sz="2640"/>
          </a:p>
        </p:txBody>
      </p:sp>
      <p:sp>
        <p:nvSpPr>
          <p:cNvPr id="21" name="tile label"/>
          <p:cNvSpPr txBox="1"/>
          <p:nvPr/>
        </p:nvSpPr>
        <p:spPr>
          <a:xfrm>
            <a:off x="4673600" y="5058385"/>
            <a:ext cx="284480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stills for Ask Screen, SCStream audio for meetings</a:t>
            </a:r>
            <a:endParaRPr sz="1440"/>
          </a:p>
        </p:txBody>
      </p:sp>
      <p:sp>
        <p:nvSpPr>
          <p:cNvPr id="22" name="tile"/>
          <p:cNvSpPr/>
          <p:nvPr/>
        </p:nvSpPr>
        <p:spPr>
          <a:xfrm>
            <a:off x="7945120" y="4392854"/>
            <a:ext cx="3332480" cy="1855546"/>
          </a:xfrm>
          <a:prstGeom prst="roundRect">
            <a:avLst>
              <a:gd name="adj" fmla="val 9034"/>
            </a:avLst>
          </a:prstGeom>
          <a:solidFill>
            <a:srgbClr val="F5F5F7"/>
          </a:solidFill>
          <a:ln>
            <a:noFill/>
          </a:ln>
        </p:spPr>
        <p:txBody>
          <a:bodyPr rtlCol="0" anchor="ctr"/>
          <a:lstStyle/>
          <a:p>
            <a:pPr algn="ctr"/>
          </a:p>
        </p:txBody>
      </p:sp>
      <p:sp>
        <p:nvSpPr>
          <p:cNvPr id="23" name="tile value"/>
          <p:cNvSpPr txBox="1"/>
          <p:nvPr/>
        </p:nvSpPr>
        <p:spPr>
          <a:xfrm>
            <a:off x="8188960" y="4590974"/>
            <a:ext cx="2844800" cy="375971"/>
          </a:xfrm>
          <a:prstGeom prst="rect">
            <a:avLst/>
          </a:prstGeom>
          <a:noFill/>
        </p:spPr>
        <p:txBody>
          <a:bodyPr wrap="square" lIns="0" tIns="0" rIns="0" bIns="0" anchor="t">
            <a:noAutofit/>
          </a:bodyPr>
          <a:lstStyle/>
          <a:p>
            <a:pPr algn="l">
              <a:lnSpc>
                <a:spcPts val="2957"/>
              </a:lnSpc>
              <a:spcBef>
                <a:spcPts val="0"/>
              </a:spcBef>
              <a:spcAft>
                <a:spcPts val="0"/>
              </a:spcAft>
            </a:pPr>
            <a:r>
              <a:rPr sz="2640" b="0" i="0" spc="-26">
                <a:solidFill>
                  <a:srgbClr val="1D1D1F"/>
                </a:solidFill>
                <a:latin typeface="Helvetica Neue Light"/>
              </a:rPr>
              <a:t>NaturalLanguage</a:t>
            </a:r>
            <a:endParaRPr sz="2640"/>
          </a:p>
        </p:txBody>
      </p:sp>
      <p:sp>
        <p:nvSpPr>
          <p:cNvPr id="24" name="tile label"/>
          <p:cNvSpPr txBox="1"/>
          <p:nvPr/>
        </p:nvSpPr>
        <p:spPr>
          <a:xfrm>
            <a:off x="8188960" y="5058385"/>
            <a:ext cx="284480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language ID and entities for Spaces</a:t>
            </a:r>
            <a:endParaRPr sz="144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Red: FoundationModels. Ink: the other on-device AI frameworks. Grey: system frameworks.</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09</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On-device AI</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Source files importing each framework</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Apple frameworks first; the network is opt-in</a:t>
            </a:r>
            <a:endParaRPr sz="1680"/>
          </a:p>
        </p:txBody>
      </p:sp>
      <p:sp>
        <p:nvSpPr>
          <p:cNvPr id="7" name="chart card"/>
          <p:cNvSpPr/>
          <p:nvPr/>
        </p:nvSpPr>
        <p:spPr>
          <a:xfrm>
            <a:off x="914400" y="2308708"/>
            <a:ext cx="10363200" cy="3939692"/>
          </a:xfrm>
          <a:prstGeom prst="roundRect">
            <a:avLst>
              <a:gd name="adj" fmla="val 4255"/>
            </a:avLst>
          </a:prstGeom>
          <a:solidFill>
            <a:srgbClr val="F5F5F7"/>
          </a:solidFill>
          <a:ln>
            <a:noFill/>
          </a:ln>
        </p:spPr>
        <p:txBody>
          <a:bodyPr rtlCol="0" anchor="ctr"/>
          <a:lstStyle/>
          <a:p>
            <a:pPr algn="ctr"/>
          </a:p>
        </p:txBody>
      </p:sp>
      <p:sp>
        <p:nvSpPr>
          <p:cNvPr id="8" name="chart source"/>
          <p:cNvSpPr txBox="1"/>
          <p:nvPr/>
        </p:nvSpPr>
        <p:spPr>
          <a:xfrm>
            <a:off x="1158240" y="5915711"/>
            <a:ext cx="9875520" cy="119329"/>
          </a:xfrm>
          <a:prstGeom prst="rect">
            <a:avLst/>
          </a:prstGeom>
          <a:noFill/>
        </p:spPr>
        <p:txBody>
          <a:bodyPr wrap="square" lIns="0" tIns="0" rIns="0" bIns="0" anchor="t">
            <a:noAutofit/>
          </a:bodyPr>
          <a:lstStyle/>
          <a:p>
            <a:pPr algn="l">
              <a:lnSpc>
                <a:spcPts val="936"/>
              </a:lnSpc>
              <a:spcBef>
                <a:spcPts val="0"/>
              </a:spcBef>
              <a:spcAft>
                <a:spcPts val="0"/>
              </a:spcAft>
            </a:pPr>
            <a:r>
              <a:rPr sz="780" b="0" i="0">
                <a:solidFill>
                  <a:srgbClr val="86868B"/>
                </a:solidFill>
                <a:latin typeface="Helvetica Neue"/>
              </a:rPr>
              <a:t>Source: grep -l "^import &lt;Framework&gt;$" over Sources/, 22 Oct 2026</a:t>
            </a:r>
            <a:endParaRPr sz="780"/>
          </a:p>
        </p:txBody>
      </p:sp>
      <p:graphicFrame>
        <p:nvGraphicFramePr>
          <p:cNvPr id="9" name="chart"/>
          <p:cNvGraphicFramePr>
            <a:graphicFrameLocks noGrp="1"/>
          </p:cNvGraphicFramePr>
          <p:nvPr/>
        </p:nvGraphicFramePr>
        <p:xfrm>
          <a:off x="1158240" y="2522068"/>
          <a:ext cx="9875520" cy="3302660"/>
        </p:xfrm>
        <a:graphic>
          <a:graphicData uri="http://schemas.openxmlformats.org/drawingml/2006/chart">
            <c:chart xmlns:c="http://schemas.openxmlformats.org/drawingml/2006/chart" r:id="rId3"/>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offscreen renders from current source, sample data.</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10</a:t>
            </a:r>
            <a:endParaRPr sz="840"/>
          </a:p>
        </p:txBody>
      </p:sp>
      <p:sp>
        <p:nvSpPr>
          <p:cNvPr id="4" name="eyebrow"/>
          <p:cNvSpPr txBox="1"/>
          <p:nvPr/>
        </p:nvSpPr>
        <p:spPr>
          <a:xfrm>
            <a:off x="914400" y="1517447"/>
            <a:ext cx="417576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Dictation · Meetings</a:t>
            </a:r>
            <a:endParaRPr sz="1320"/>
          </a:p>
        </p:txBody>
      </p:sp>
      <p:sp>
        <p:nvSpPr>
          <p:cNvPr id="5" name="headline"/>
          <p:cNvSpPr txBox="1"/>
          <p:nvPr/>
        </p:nvSpPr>
        <p:spPr>
          <a:xfrm>
            <a:off x="914400" y="1868424"/>
            <a:ext cx="4175760" cy="512521"/>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Light"/>
              </a:rPr>
              <a:t>AI in the loop</a:t>
            </a:r>
            <a:endParaRPr sz="3600"/>
          </a:p>
        </p:txBody>
      </p:sp>
      <p:sp>
        <p:nvSpPr>
          <p:cNvPr id="6" name="lead"/>
          <p:cNvSpPr txBox="1"/>
          <p:nvPr/>
        </p:nvSpPr>
        <p:spPr>
          <a:xfrm>
            <a:off x="914400" y="2548585"/>
            <a:ext cx="4175760" cy="580796"/>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Speech in, structured text out, on the Mac</a:t>
            </a:r>
            <a:endParaRPr sz="1680"/>
          </a:p>
        </p:txBody>
      </p:sp>
      <p:cxnSp>
        <p:nvCxnSpPr>
          <p:cNvPr id="7" name="list rule"/>
          <p:cNvCxnSpPr/>
          <p:nvPr/>
        </p:nvCxnSpPr>
        <p:spPr>
          <a:xfrm>
            <a:off x="914400" y="3403702"/>
            <a:ext cx="4175760" cy="0"/>
          </a:xfrm>
          <a:prstGeom prst="line">
            <a:avLst/>
          </a:prstGeom>
          <a:ln w="9525">
            <a:solidFill>
              <a:srgbClr val="D2D2D7"/>
            </a:solidFill>
          </a:ln>
        </p:spPr>
      </p:cxnSp>
      <p:sp>
        <p:nvSpPr>
          <p:cNvPr id="8" name="bullet"/>
          <p:cNvSpPr txBox="1"/>
          <p:nvPr/>
        </p:nvSpPr>
        <p:spPr>
          <a:xfrm>
            <a:off x="914400" y="3495142"/>
            <a:ext cx="417576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Dictation: hold fn → on-device transcript → cleanup → typed at the cursor</a:t>
            </a:r>
            <a:endParaRPr sz="1440"/>
          </a:p>
        </p:txBody>
      </p:sp>
      <p:cxnSp>
        <p:nvCxnSpPr>
          <p:cNvPr id="9" name="list rule"/>
          <p:cNvCxnSpPr/>
          <p:nvPr/>
        </p:nvCxnSpPr>
        <p:spPr>
          <a:xfrm>
            <a:off x="914400" y="4099103"/>
            <a:ext cx="4175760" cy="0"/>
          </a:xfrm>
          <a:prstGeom prst="line">
            <a:avLst/>
          </a:prstGeom>
          <a:ln w="9525">
            <a:solidFill>
              <a:srgbClr val="D2D2D7"/>
            </a:solidFill>
          </a:ln>
        </p:spPr>
      </p:cxnSp>
      <p:sp>
        <p:nvSpPr>
          <p:cNvPr id="10" name="bullet"/>
          <p:cNvSpPr txBox="1"/>
          <p:nvPr/>
        </p:nvSpPr>
        <p:spPr>
          <a:xfrm>
            <a:off x="914400" y="4190543"/>
            <a:ext cx="417576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Meetings: mic plus system audio, no bot joins, guided JSON summaries</a:t>
            </a:r>
            <a:endParaRPr sz="1440"/>
          </a:p>
        </p:txBody>
      </p:sp>
      <p:cxnSp>
        <p:nvCxnSpPr>
          <p:cNvPr id="11" name="list rule"/>
          <p:cNvCxnSpPr/>
          <p:nvPr/>
        </p:nvCxnSpPr>
        <p:spPr>
          <a:xfrm>
            <a:off x="914400" y="4794504"/>
            <a:ext cx="4175760" cy="0"/>
          </a:xfrm>
          <a:prstGeom prst="line">
            <a:avLst/>
          </a:prstGeom>
          <a:ln w="9525">
            <a:solidFill>
              <a:srgbClr val="D2D2D7"/>
            </a:solidFill>
          </a:ln>
        </p:spPr>
      </p:cxnSp>
      <p:sp>
        <p:nvSpPr>
          <p:cNvPr id="12" name="status dot"/>
          <p:cNvSpPr/>
          <p:nvPr/>
        </p:nvSpPr>
        <p:spPr>
          <a:xfrm>
            <a:off x="914400" y="5112258"/>
            <a:ext cx="82296" cy="82296"/>
          </a:xfrm>
          <a:prstGeom prst="ellipse">
            <a:avLst/>
          </a:prstGeom>
          <a:solidFill>
            <a:srgbClr val="86868B"/>
          </a:solidFill>
          <a:ln>
            <a:noFill/>
          </a:ln>
        </p:spPr>
        <p:txBody>
          <a:bodyPr rtlCol="0" anchor="ctr"/>
          <a:lstStyle/>
          <a:p>
            <a:pPr algn="ctr"/>
          </a:p>
        </p:txBody>
      </p:sp>
      <p:sp>
        <p:nvSpPr>
          <p:cNvPr id="13" name="status"/>
          <p:cNvSpPr txBox="1"/>
          <p:nvPr/>
        </p:nvSpPr>
        <p:spPr>
          <a:xfrm>
            <a:off x="1115568" y="5050536"/>
            <a:ext cx="3974592" cy="411937"/>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6E6E73"/>
                </a:solidFill>
                <a:latin typeface="Helvetica Neue"/>
              </a:rPr>
              <a:t>Audio capture and the fn key need a live check; views render from saved data.</a:t>
            </a:r>
            <a:endParaRPr sz="1200"/>
          </a:p>
        </p:txBody>
      </p:sp>
      <p:pic>
        <p:nvPicPr>
          <p:cNvPr id="14" name="dictation band" descr="50-dictation.png"/>
          <p:cNvPicPr>
            <a:picLocks noChangeAspect="1"/>
          </p:cNvPicPr>
          <p:nvPr/>
        </p:nvPicPr>
        <p:blipFill>
          <a:blip r:embed="rId3"/>
          <a:srcRect l="15000" r="15000"/>
          <a:stretch>
            <a:fillRect/>
          </a:stretch>
        </p:blipFill>
        <p:spPr>
          <a:xfrm>
            <a:off x="5516880" y="807848"/>
            <a:ext cx="5760720" cy="1210235"/>
          </a:xfrm>
          <a:prstGeom prst="roundRect">
            <a:avLst>
              <a:gd name="adj" fmla="val 6044"/>
            </a:avLst>
          </a:prstGeom>
        </p:spPr>
      </p:pic>
      <p:pic>
        <p:nvPicPr>
          <p:cNvPr id="15" name="meeting window" descr="37-meeting-live-answers.png"/>
          <p:cNvPicPr>
            <a:picLocks noChangeAspect="1"/>
          </p:cNvPicPr>
          <p:nvPr/>
        </p:nvPicPr>
        <p:blipFill>
          <a:blip r:embed="rId4"/>
          <a:stretch>
            <a:fillRect/>
          </a:stretch>
        </p:blipFill>
        <p:spPr>
          <a:xfrm>
            <a:off x="5516880" y="2292403"/>
            <a:ext cx="5760720" cy="3879669"/>
          </a:xfrm>
          <a:prstGeom prst="roundRect">
            <a:avLst>
              <a:gd name="adj" fmla="val 1885"/>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offscreen renders from current source, sample data. Bars span the measured low–high range.</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11</a:t>
            </a:r>
            <a:endParaRPr sz="840"/>
          </a:p>
        </p:txBody>
      </p:sp>
      <p:sp>
        <p:nvSpPr>
          <p:cNvPr id="4" name="eyebrow"/>
          <p:cNvSpPr txBox="1"/>
          <p:nvPr/>
        </p:nvSpPr>
        <p:spPr>
          <a:xfrm>
            <a:off x="914400" y="731520"/>
            <a:ext cx="417576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Live Translation</a:t>
            </a:r>
            <a:endParaRPr sz="1320"/>
          </a:p>
        </p:txBody>
      </p:sp>
      <p:sp>
        <p:nvSpPr>
          <p:cNvPr id="5" name="headline"/>
          <p:cNvSpPr txBox="1"/>
          <p:nvPr/>
        </p:nvSpPr>
        <p:spPr>
          <a:xfrm>
            <a:off x="914400" y="1082497"/>
            <a:ext cx="4175760" cy="512521"/>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Light"/>
              </a:rPr>
              <a:t>AI in the loop</a:t>
            </a:r>
            <a:endParaRPr sz="3600"/>
          </a:p>
        </p:txBody>
      </p:sp>
      <p:cxnSp>
        <p:nvCxnSpPr>
          <p:cNvPr id="6" name="list rule"/>
          <p:cNvCxnSpPr/>
          <p:nvPr/>
        </p:nvCxnSpPr>
        <p:spPr>
          <a:xfrm>
            <a:off x="914400" y="1869338"/>
            <a:ext cx="4175760" cy="0"/>
          </a:xfrm>
          <a:prstGeom prst="line">
            <a:avLst/>
          </a:prstGeom>
          <a:ln w="9525">
            <a:solidFill>
              <a:srgbClr val="D2D2D7"/>
            </a:solidFill>
          </a:ln>
        </p:spPr>
      </p:cxnSp>
      <p:sp>
        <p:nvSpPr>
          <p:cNvPr id="7" name="bullet"/>
          <p:cNvSpPr txBox="1"/>
          <p:nvPr/>
        </p:nvSpPr>
        <p:spPr>
          <a:xfrm>
            <a:off x="914400" y="1960778"/>
            <a:ext cx="417576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Translation order: Apple Translation → on-device model → Groq if allowed</a:t>
            </a:r>
            <a:endParaRPr sz="1440"/>
          </a:p>
        </p:txBody>
      </p:sp>
      <p:cxnSp>
        <p:nvCxnSpPr>
          <p:cNvPr id="8" name="list rule"/>
          <p:cNvCxnSpPr/>
          <p:nvPr/>
        </p:nvCxnSpPr>
        <p:spPr>
          <a:xfrm>
            <a:off x="914400" y="2564740"/>
            <a:ext cx="4175760" cy="0"/>
          </a:xfrm>
          <a:prstGeom prst="line">
            <a:avLst/>
          </a:prstGeom>
          <a:ln w="9525">
            <a:solidFill>
              <a:srgbClr val="D2D2D7"/>
            </a:solidFill>
          </a:ln>
        </p:spPr>
      </p:cxnSp>
      <p:sp>
        <p:nvSpPr>
          <p:cNvPr id="9" name="bullet"/>
          <p:cNvSpPr txBox="1"/>
          <p:nvPr/>
        </p:nvSpPr>
        <p:spPr>
          <a:xfrm>
            <a:off x="914400" y="2656180"/>
            <a:ext cx="417576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Warm translation: 0.33–0.8 s per caption</a:t>
            </a:r>
            <a:endParaRPr sz="1440"/>
          </a:p>
        </p:txBody>
      </p:sp>
      <p:cxnSp>
        <p:nvCxnSpPr>
          <p:cNvPr id="10" name="list rule"/>
          <p:cNvCxnSpPr/>
          <p:nvPr/>
        </p:nvCxnSpPr>
        <p:spPr>
          <a:xfrm>
            <a:off x="914400" y="3004109"/>
            <a:ext cx="4175760" cy="0"/>
          </a:xfrm>
          <a:prstGeom prst="line">
            <a:avLst/>
          </a:prstGeom>
          <a:ln w="9525">
            <a:solidFill>
              <a:srgbClr val="D2D2D7"/>
            </a:solidFill>
          </a:ln>
        </p:spPr>
      </p:cxnSp>
      <p:pic>
        <p:nvPicPr>
          <p:cNvPr id="11" name="translation panel" descr="38-live-translation.png"/>
          <p:cNvPicPr>
            <a:picLocks noChangeAspect="1"/>
          </p:cNvPicPr>
          <p:nvPr/>
        </p:nvPicPr>
        <p:blipFill>
          <a:blip r:embed="rId3"/>
          <a:stretch>
            <a:fillRect/>
          </a:stretch>
        </p:blipFill>
        <p:spPr>
          <a:xfrm>
            <a:off x="5516880" y="731520"/>
            <a:ext cx="5760720" cy="1800225"/>
          </a:xfrm>
          <a:prstGeom prst="roundRect">
            <a:avLst>
              <a:gd name="adj" fmla="val 4063"/>
            </a:avLst>
          </a:prstGeom>
        </p:spPr>
      </p:pic>
      <p:sp>
        <p:nvSpPr>
          <p:cNvPr id="12" name="latency card"/>
          <p:cNvSpPr/>
          <p:nvPr/>
        </p:nvSpPr>
        <p:spPr>
          <a:xfrm>
            <a:off x="5516880" y="2806065"/>
            <a:ext cx="5760720" cy="3442335"/>
          </a:xfrm>
          <a:prstGeom prst="roundRect">
            <a:avLst>
              <a:gd name="adj" fmla="val 4869"/>
            </a:avLst>
          </a:prstGeom>
          <a:solidFill>
            <a:srgbClr val="F5F5F7"/>
          </a:solidFill>
          <a:ln>
            <a:noFill/>
          </a:ln>
        </p:spPr>
        <p:txBody>
          <a:bodyPr rtlCol="0" anchor="ctr"/>
          <a:lstStyle/>
          <a:p>
            <a:pPr algn="ctr"/>
          </a:p>
        </p:txBody>
      </p:sp>
      <p:sp>
        <p:nvSpPr>
          <p:cNvPr id="13" name="chart title"/>
          <p:cNvSpPr txBox="1"/>
          <p:nvPr/>
        </p:nvSpPr>
        <p:spPr>
          <a:xfrm>
            <a:off x="5760720" y="3019425"/>
            <a:ext cx="527304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Apple Translation latency, measured on macOS 27 (seconds)</a:t>
            </a:r>
            <a:endParaRPr sz="1020"/>
          </a:p>
        </p:txBody>
      </p:sp>
      <p:sp>
        <p:nvSpPr>
          <p:cNvPr id="14" name="chart source"/>
          <p:cNvSpPr txBox="1"/>
          <p:nvPr/>
        </p:nvSpPr>
        <p:spPr>
          <a:xfrm>
            <a:off x="5760720" y="5915711"/>
            <a:ext cx="5273040" cy="119329"/>
          </a:xfrm>
          <a:prstGeom prst="rect">
            <a:avLst/>
          </a:prstGeom>
          <a:noFill/>
        </p:spPr>
        <p:txBody>
          <a:bodyPr wrap="square" lIns="0" tIns="0" rIns="0" bIns="0" anchor="t">
            <a:noAutofit/>
          </a:bodyPr>
          <a:lstStyle/>
          <a:p>
            <a:pPr algn="l">
              <a:lnSpc>
                <a:spcPts val="936"/>
              </a:lnSpc>
              <a:spcBef>
                <a:spcPts val="0"/>
              </a:spcBef>
              <a:spcAft>
                <a:spcPts val="0"/>
              </a:spcAft>
            </a:pPr>
            <a:r>
              <a:rPr sz="780" b="0" i="0">
                <a:solidFill>
                  <a:srgbClr val="86868B"/>
                </a:solidFill>
                <a:latin typeface="Helvetica Neue"/>
              </a:rPr>
              <a:t>Sources/Labs/LiveTranslation/DESIGN.md, measured on the development Mac</a:t>
            </a:r>
            <a:endParaRPr sz="780"/>
          </a:p>
        </p:txBody>
      </p:sp>
      <p:graphicFrame>
        <p:nvGraphicFramePr>
          <p:cNvPr id="15" name="chart"/>
          <p:cNvGraphicFramePr>
            <a:graphicFrameLocks noGrp="1"/>
          </p:cNvGraphicFramePr>
          <p:nvPr/>
        </p:nvGraphicFramePr>
        <p:xfrm>
          <a:off x="5760720" y="3317443"/>
          <a:ext cx="5273040" cy="2507285"/>
        </p:xfrm>
        <a:graphic>
          <a:graphicData uri="http://schemas.openxmlformats.org/drawingml/2006/chart">
            <c:chart xmlns:c="http://schemas.openxmlformats.org/drawingml/2006/chart" r:id="rId4"/>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offscreen renders from current source, sample data.</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12</a:t>
            </a:r>
            <a:endParaRPr sz="840"/>
          </a:p>
        </p:txBody>
      </p:sp>
      <p:sp>
        <p:nvSpPr>
          <p:cNvPr id="4" name="headline"/>
          <p:cNvSpPr txBox="1"/>
          <p:nvPr/>
        </p:nvSpPr>
        <p:spPr>
          <a:xfrm>
            <a:off x="914400" y="1616583"/>
            <a:ext cx="6827520" cy="707593"/>
          </a:xfrm>
          <a:prstGeom prst="rect">
            <a:avLst/>
          </a:prstGeom>
          <a:noFill/>
        </p:spPr>
        <p:txBody>
          <a:bodyPr wrap="square" lIns="0" tIns="0" rIns="0" bIns="0" anchor="t">
            <a:noAutofit/>
          </a:bodyPr>
          <a:lstStyle/>
          <a:p>
            <a:pPr algn="l">
              <a:lnSpc>
                <a:spcPts val="5568"/>
              </a:lnSpc>
              <a:spcBef>
                <a:spcPts val="0"/>
              </a:spcBef>
              <a:spcAft>
                <a:spcPts val="0"/>
              </a:spcAft>
            </a:pPr>
            <a:r>
              <a:rPr sz="4800" b="0" i="0" spc="-72">
                <a:solidFill>
                  <a:srgbClr val="1D1D1F"/>
                </a:solidFill>
                <a:latin typeface="Helvetica Neue Light"/>
              </a:rPr>
              <a:t>Private by default</a:t>
            </a:r>
            <a:endParaRPr sz="4800"/>
          </a:p>
        </p:txBody>
      </p:sp>
      <p:sp>
        <p:nvSpPr>
          <p:cNvPr id="5" name="lead"/>
          <p:cNvSpPr txBox="1"/>
          <p:nvPr/>
        </p:nvSpPr>
        <p:spPr>
          <a:xfrm>
            <a:off x="914400" y="2491816"/>
            <a:ext cx="682752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Nothing leaves the Mac unless the user brings a key</a:t>
            </a:r>
            <a:endParaRPr sz="1680"/>
          </a:p>
        </p:txBody>
      </p:sp>
      <p:cxnSp>
        <p:nvCxnSpPr>
          <p:cNvPr id="6" name="list rule"/>
          <p:cNvCxnSpPr/>
          <p:nvPr/>
        </p:nvCxnSpPr>
        <p:spPr>
          <a:xfrm>
            <a:off x="914400" y="3166491"/>
            <a:ext cx="6827520" cy="0"/>
          </a:xfrm>
          <a:prstGeom prst="line">
            <a:avLst/>
          </a:prstGeom>
          <a:ln w="9525">
            <a:solidFill>
              <a:srgbClr val="D2D2D7"/>
            </a:solidFill>
          </a:ln>
        </p:spPr>
      </p:cxnSp>
      <p:sp>
        <p:nvSpPr>
          <p:cNvPr id="7" name="bullet"/>
          <p:cNvSpPr txBox="1"/>
          <p:nvPr/>
        </p:nvSpPr>
        <p:spPr>
          <a:xfrm>
            <a:off x="914400" y="3257931"/>
            <a:ext cx="682752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On device: speech, camera, screenshots, clipboard, Spaces, meeting audio</a:t>
            </a:r>
            <a:endParaRPr sz="1440"/>
          </a:p>
        </p:txBody>
      </p:sp>
      <p:cxnSp>
        <p:nvCxnSpPr>
          <p:cNvPr id="8" name="list rule"/>
          <p:cNvCxnSpPr/>
          <p:nvPr/>
        </p:nvCxnSpPr>
        <p:spPr>
          <a:xfrm>
            <a:off x="914400" y="3605860"/>
            <a:ext cx="6827520" cy="0"/>
          </a:xfrm>
          <a:prstGeom prst="line">
            <a:avLst/>
          </a:prstGeom>
          <a:ln w="9525">
            <a:solidFill>
              <a:srgbClr val="D2D2D7"/>
            </a:solidFill>
          </a:ln>
        </p:spPr>
      </p:cxnSp>
      <p:sp>
        <p:nvSpPr>
          <p:cNvPr id="9" name="bullet"/>
          <p:cNvSpPr txBox="1"/>
          <p:nvPr/>
        </p:nvSpPr>
        <p:spPr>
          <a:xfrm>
            <a:off x="914400" y="3697300"/>
            <a:ext cx="682752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Groq: per-feature toggle, off by default, the buyer's own key</a:t>
            </a:r>
            <a:endParaRPr sz="1440"/>
          </a:p>
        </p:txBody>
      </p:sp>
      <p:cxnSp>
        <p:nvCxnSpPr>
          <p:cNvPr id="10" name="list rule"/>
          <p:cNvCxnSpPr/>
          <p:nvPr/>
        </p:nvCxnSpPr>
        <p:spPr>
          <a:xfrm>
            <a:off x="914400" y="4045229"/>
            <a:ext cx="6827520" cy="0"/>
          </a:xfrm>
          <a:prstGeom prst="line">
            <a:avLst/>
          </a:prstGeom>
          <a:ln w="9525">
            <a:solidFill>
              <a:srgbClr val="D2D2D7"/>
            </a:solidFill>
          </a:ln>
        </p:spPr>
      </p:cxnSp>
      <p:sp>
        <p:nvSpPr>
          <p:cNvPr id="11" name="bullet"/>
          <p:cNvSpPr txBox="1"/>
          <p:nvPr/>
        </p:nvSpPr>
        <p:spPr>
          <a:xfrm>
            <a:off x="914400" y="4136669"/>
            <a:ext cx="682752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While a toggle is off, the keychain is never read</a:t>
            </a:r>
            <a:endParaRPr sz="1440"/>
          </a:p>
        </p:txBody>
      </p:sp>
      <p:cxnSp>
        <p:nvCxnSpPr>
          <p:cNvPr id="12" name="list rule"/>
          <p:cNvCxnSpPr/>
          <p:nvPr/>
        </p:nvCxnSpPr>
        <p:spPr>
          <a:xfrm>
            <a:off x="914400" y="4484599"/>
            <a:ext cx="6827520" cy="0"/>
          </a:xfrm>
          <a:prstGeom prst="line">
            <a:avLst/>
          </a:prstGeom>
          <a:ln w="9525">
            <a:solidFill>
              <a:srgbClr val="D2D2D7"/>
            </a:solidFill>
          </a:ln>
        </p:spPr>
      </p:cxnSp>
      <p:sp>
        <p:nvSpPr>
          <p:cNvPr id="13" name="bullet"/>
          <p:cNvSpPr txBox="1"/>
          <p:nvPr/>
        </p:nvSpPr>
        <p:spPr>
          <a:xfrm>
            <a:off x="914400" y="4576039"/>
            <a:ext cx="682752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Clipboard history starts off; concealed and transient copies are skipped</a:t>
            </a:r>
            <a:endParaRPr sz="1440"/>
          </a:p>
        </p:txBody>
      </p:sp>
      <p:cxnSp>
        <p:nvCxnSpPr>
          <p:cNvPr id="14" name="list rule"/>
          <p:cNvCxnSpPr/>
          <p:nvPr/>
        </p:nvCxnSpPr>
        <p:spPr>
          <a:xfrm>
            <a:off x="914400" y="4923968"/>
            <a:ext cx="6827520" cy="0"/>
          </a:xfrm>
          <a:prstGeom prst="line">
            <a:avLst/>
          </a:prstGeom>
          <a:ln w="9525">
            <a:solidFill>
              <a:srgbClr val="D2D2D7"/>
            </a:solidFill>
          </a:ln>
        </p:spPr>
      </p:cxnSp>
      <p:sp>
        <p:nvSpPr>
          <p:cNvPr id="15" name="bullet"/>
          <p:cNvSpPr txBox="1"/>
          <p:nvPr/>
        </p:nvSpPr>
        <p:spPr>
          <a:xfrm>
            <a:off x="914400" y="5015408"/>
            <a:ext cx="682752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12 permissions, each asked only when the user clicks Allow</a:t>
            </a:r>
            <a:endParaRPr sz="1440"/>
          </a:p>
        </p:txBody>
      </p:sp>
      <p:cxnSp>
        <p:nvCxnSpPr>
          <p:cNvPr id="16" name="list rule"/>
          <p:cNvCxnSpPr/>
          <p:nvPr/>
        </p:nvCxnSpPr>
        <p:spPr>
          <a:xfrm>
            <a:off x="914400" y="5363337"/>
            <a:ext cx="6827520" cy="0"/>
          </a:xfrm>
          <a:prstGeom prst="line">
            <a:avLst/>
          </a:prstGeom>
          <a:ln w="9525">
            <a:solidFill>
              <a:srgbClr val="D2D2D7"/>
            </a:solidFill>
          </a:ln>
        </p:spPr>
      </p:cxnSp>
      <p:pic>
        <p:nvPicPr>
          <p:cNvPr id="17" name="permissions window" descr="41-onboarding-permissions.png"/>
          <p:cNvPicPr>
            <a:picLocks noChangeAspect="1"/>
          </p:cNvPicPr>
          <p:nvPr/>
        </p:nvPicPr>
        <p:blipFill>
          <a:blip r:embed="rId3"/>
          <a:stretch>
            <a:fillRect/>
          </a:stretch>
        </p:blipFill>
        <p:spPr>
          <a:xfrm>
            <a:off x="8214360" y="2154702"/>
            <a:ext cx="3063240" cy="2670517"/>
          </a:xfrm>
          <a:prstGeom prst="roundRect">
            <a:avLst>
              <a:gd name="adj" fmla="val 2739"/>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offscreen renders from current source, sample data.</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13</a:t>
            </a:r>
            <a:endParaRPr sz="840"/>
          </a:p>
        </p:txBody>
      </p:sp>
      <p:sp>
        <p:nvSpPr>
          <p:cNvPr id="4" name="eyebrow"/>
          <p:cNvSpPr txBox="1"/>
          <p:nvPr/>
        </p:nvSpPr>
        <p:spPr>
          <a:xfrm>
            <a:off x="914400" y="899998"/>
            <a:ext cx="417576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Developer agent · UI Audit</a:t>
            </a:r>
            <a:endParaRPr sz="1320"/>
          </a:p>
        </p:txBody>
      </p:sp>
      <p:sp>
        <p:nvSpPr>
          <p:cNvPr id="5" name="headline"/>
          <p:cNvSpPr txBox="1"/>
          <p:nvPr/>
        </p:nvSpPr>
        <p:spPr>
          <a:xfrm>
            <a:off x="914400" y="1250975"/>
            <a:ext cx="4175760" cy="1024585"/>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Light"/>
              </a:rPr>
              <a:t>UI Audit: a QA agent for your own site</a:t>
            </a:r>
            <a:endParaRPr sz="3600"/>
          </a:p>
        </p:txBody>
      </p:sp>
      <p:sp>
        <p:nvSpPr>
          <p:cNvPr id="6" name="lead"/>
          <p:cNvSpPr txBox="1"/>
          <p:nvPr/>
        </p:nvSpPr>
        <p:spPr>
          <a:xfrm>
            <a:off x="914400" y="2443201"/>
            <a:ext cx="4175760" cy="580796"/>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Playwright and axe-core, started from the notch</a:t>
            </a:r>
            <a:endParaRPr sz="1680"/>
          </a:p>
        </p:txBody>
      </p:sp>
      <p:cxnSp>
        <p:nvCxnSpPr>
          <p:cNvPr id="7" name="list rule"/>
          <p:cNvCxnSpPr/>
          <p:nvPr/>
        </p:nvCxnSpPr>
        <p:spPr>
          <a:xfrm>
            <a:off x="914400" y="3298317"/>
            <a:ext cx="4175760" cy="0"/>
          </a:xfrm>
          <a:prstGeom prst="line">
            <a:avLst/>
          </a:prstGeom>
          <a:ln w="9525">
            <a:solidFill>
              <a:srgbClr val="D2D2D7"/>
            </a:solidFill>
          </a:ln>
        </p:spPr>
      </p:cxnSp>
      <p:sp>
        <p:nvSpPr>
          <p:cNvPr id="8" name="bullet"/>
          <p:cNvSpPr txBox="1"/>
          <p:nvPr/>
        </p:nvSpPr>
        <p:spPr>
          <a:xfrm>
            <a:off x="914400" y="3389757"/>
            <a:ext cx="417576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Swift spawns node audit.mjs: JSON lines out; pause, resume, stop in</a:t>
            </a:r>
            <a:endParaRPr sz="1440"/>
          </a:p>
        </p:txBody>
      </p:sp>
      <p:cxnSp>
        <p:nvCxnSpPr>
          <p:cNvPr id="9" name="list rule"/>
          <p:cNvCxnSpPr/>
          <p:nvPr/>
        </p:nvCxnSpPr>
        <p:spPr>
          <a:xfrm>
            <a:off x="914400" y="3993718"/>
            <a:ext cx="4175760" cy="0"/>
          </a:xfrm>
          <a:prstGeom prst="line">
            <a:avLst/>
          </a:prstGeom>
          <a:ln w="9525">
            <a:solidFill>
              <a:srgbClr val="D2D2D7"/>
            </a:solidFill>
          </a:ln>
        </p:spPr>
      </p:cxnSp>
      <p:sp>
        <p:nvSpPr>
          <p:cNvPr id="10" name="bullet"/>
          <p:cNvSpPr txBox="1"/>
          <p:nvPr/>
        </p:nvSpPr>
        <p:spPr>
          <a:xfrm>
            <a:off x="914400" y="4085158"/>
            <a:ext cx="417576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Crawl, forms, axe-core WCAG 2.2 AA, 1440/390 px layout, Tab order</a:t>
            </a:r>
            <a:endParaRPr sz="1440"/>
          </a:p>
        </p:txBody>
      </p:sp>
      <p:cxnSp>
        <p:nvCxnSpPr>
          <p:cNvPr id="11" name="list rule"/>
          <p:cNvCxnSpPr/>
          <p:nvPr/>
        </p:nvCxnSpPr>
        <p:spPr>
          <a:xfrm>
            <a:off x="914400" y="4689119"/>
            <a:ext cx="4175760" cy="0"/>
          </a:xfrm>
          <a:prstGeom prst="line">
            <a:avLst/>
          </a:prstGeom>
          <a:ln w="9525">
            <a:solidFill>
              <a:srgbClr val="D2D2D7"/>
            </a:solidFill>
          </a:ln>
        </p:spPr>
      </p:cxnSp>
      <p:sp>
        <p:nvSpPr>
          <p:cNvPr id="12" name="bullet"/>
          <p:cNvSpPr txBox="1"/>
          <p:nvPr/>
        </p:nvSpPr>
        <p:spPr>
          <a:xfrm>
            <a:off x="914400" y="4780559"/>
            <a:ext cx="417576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Origin allow-list; writes blocked off test hosts; risky clicks skipped</a:t>
            </a:r>
            <a:endParaRPr sz="1440"/>
          </a:p>
        </p:txBody>
      </p:sp>
      <p:cxnSp>
        <p:nvCxnSpPr>
          <p:cNvPr id="13" name="list rule"/>
          <p:cNvCxnSpPr/>
          <p:nvPr/>
        </p:nvCxnSpPr>
        <p:spPr>
          <a:xfrm>
            <a:off x="914400" y="5384521"/>
            <a:ext cx="4175760" cy="0"/>
          </a:xfrm>
          <a:prstGeom prst="line">
            <a:avLst/>
          </a:prstGeom>
          <a:ln w="9525">
            <a:solidFill>
              <a:srgbClr val="D2D2D7"/>
            </a:solidFill>
          </a:ln>
        </p:spPr>
      </p:cxnSp>
      <p:sp>
        <p:nvSpPr>
          <p:cNvPr id="14" name="bullet"/>
          <p:cNvSpPr txBox="1"/>
          <p:nvPr/>
        </p:nvSpPr>
        <p:spPr>
          <a:xfrm>
            <a:off x="914400" y="5475961"/>
            <a:ext cx="417576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1D1D1F"/>
                </a:solidFill>
                <a:latin typeface="Helvetica Neue Medium"/>
              </a:rPr>
              <a:t>P</a:t>
            </a:r>
            <a:r>
              <a:rPr sz="1440" b="0" i="0">
                <a:solidFill>
                  <a:srgbClr val="6E6E73"/>
                </a:solidFill>
                <a:latin typeface="Helvetica Neue"/>
              </a:rPr>
              <a:t> copies a fix prompt for Claude Code, Cursor or Copilot</a:t>
            </a:r>
            <a:endParaRPr sz="1440"/>
          </a:p>
        </p:txBody>
      </p:sp>
      <p:cxnSp>
        <p:nvCxnSpPr>
          <p:cNvPr id="15" name="list rule"/>
          <p:cNvCxnSpPr/>
          <p:nvPr/>
        </p:nvCxnSpPr>
        <p:spPr>
          <a:xfrm>
            <a:off x="914400" y="6079922"/>
            <a:ext cx="4175760" cy="0"/>
          </a:xfrm>
          <a:prstGeom prst="line">
            <a:avLst/>
          </a:prstGeom>
          <a:ln w="9525">
            <a:solidFill>
              <a:srgbClr val="D2D2D7"/>
            </a:solidFill>
          </a:ln>
        </p:spPr>
      </p:cxnSp>
      <p:pic>
        <p:nvPicPr>
          <p:cNvPr id="16" name="notch band" descr="21-ui-audit.png"/>
          <p:cNvPicPr>
            <a:picLocks noChangeAspect="1"/>
          </p:cNvPicPr>
          <p:nvPr/>
        </p:nvPicPr>
        <p:blipFill>
          <a:blip r:embed="rId3"/>
          <a:stretch>
            <a:fillRect/>
          </a:stretch>
        </p:blipFill>
        <p:spPr>
          <a:xfrm>
            <a:off x="5516880" y="1013012"/>
            <a:ext cx="3840480" cy="884816"/>
          </a:xfrm>
          <a:prstGeom prst="roundRect">
            <a:avLst>
              <a:gd name="adj" fmla="val 8267"/>
            </a:avLst>
          </a:prstGeom>
        </p:spPr>
      </p:pic>
      <p:sp>
        <p:nvSpPr>
          <p:cNvPr id="17" name="band caption"/>
          <p:cNvSpPr txBox="1"/>
          <p:nvPr/>
        </p:nvSpPr>
        <p:spPr>
          <a:xfrm>
            <a:off x="9585960" y="1691631"/>
            <a:ext cx="1691640" cy="206197"/>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6E6E73"/>
                </a:solidFill>
                <a:latin typeface="Helvetica Neue"/>
              </a:rPr>
              <a:t>Started from the notch</a:t>
            </a:r>
            <a:endParaRPr sz="1200"/>
          </a:p>
        </p:txBody>
      </p:sp>
      <p:pic>
        <p:nvPicPr>
          <p:cNvPr id="18" name="audit window" descr="22-ui-audit-window.png"/>
          <p:cNvPicPr>
            <a:picLocks noChangeAspect="1"/>
          </p:cNvPicPr>
          <p:nvPr/>
        </p:nvPicPr>
        <p:blipFill>
          <a:blip r:embed="rId4"/>
          <a:stretch>
            <a:fillRect/>
          </a:stretch>
        </p:blipFill>
        <p:spPr>
          <a:xfrm>
            <a:off x="5516880" y="2126428"/>
            <a:ext cx="5760720" cy="3840480"/>
          </a:xfrm>
          <a:prstGeom prst="roundRect">
            <a:avLst>
              <a:gd name="adj" fmla="val 1904"/>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Planted-issue test site on 127.0.0.1. Severity colours are the app's own.</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14</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Developer agent · UI Audit</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Findings by severity, planted-issue test site</a:t>
            </a:r>
            <a:endParaRPr sz="3360"/>
          </a:p>
        </p:txBody>
      </p:sp>
      <p:sp>
        <p:nvSpPr>
          <p:cNvPr id="6" name="tile"/>
          <p:cNvSpPr/>
          <p:nvPr/>
        </p:nvSpPr>
        <p:spPr>
          <a:xfrm>
            <a:off x="914400" y="1819961"/>
            <a:ext cx="2453640" cy="1234440"/>
          </a:xfrm>
          <a:prstGeom prst="roundRect">
            <a:avLst>
              <a:gd name="adj" fmla="val 13580"/>
            </a:avLst>
          </a:prstGeom>
          <a:solidFill>
            <a:srgbClr val="F5F5F7"/>
          </a:solidFill>
          <a:ln>
            <a:noFill/>
          </a:ln>
        </p:spPr>
        <p:txBody>
          <a:bodyPr rtlCol="0" anchor="ctr"/>
          <a:lstStyle/>
          <a:p>
            <a:pPr algn="ctr"/>
          </a:p>
        </p:txBody>
      </p:sp>
      <p:sp>
        <p:nvSpPr>
          <p:cNvPr id="7" name="tile value"/>
          <p:cNvSpPr txBox="1"/>
          <p:nvPr/>
        </p:nvSpPr>
        <p:spPr>
          <a:xfrm>
            <a:off x="1158240" y="2018081"/>
            <a:ext cx="1965960" cy="375971"/>
          </a:xfrm>
          <a:prstGeom prst="rect">
            <a:avLst/>
          </a:prstGeom>
          <a:noFill/>
        </p:spPr>
        <p:txBody>
          <a:bodyPr wrap="square" lIns="0" tIns="0" rIns="0" bIns="0" anchor="t">
            <a:noAutofit/>
          </a:bodyPr>
          <a:lstStyle/>
          <a:p>
            <a:pPr algn="l">
              <a:lnSpc>
                <a:spcPts val="2957"/>
              </a:lnSpc>
              <a:spcBef>
                <a:spcPts val="0"/>
              </a:spcBef>
              <a:spcAft>
                <a:spcPts val="0"/>
              </a:spcAft>
            </a:pPr>
            <a:r>
              <a:rPr sz="2640" b="0" i="0" spc="-26">
                <a:solidFill>
                  <a:srgbClr val="1D1D1F"/>
                </a:solidFill>
                <a:latin typeface="Helvetica Neue Light"/>
              </a:rPr>
              <a:t>6</a:t>
            </a:r>
            <a:endParaRPr sz="2640"/>
          </a:p>
        </p:txBody>
      </p:sp>
      <p:sp>
        <p:nvSpPr>
          <p:cNvPr id="8" name="tile label"/>
          <p:cNvSpPr txBox="1"/>
          <p:nvPr/>
        </p:nvSpPr>
        <p:spPr>
          <a:xfrm>
            <a:off x="1158240" y="2485492"/>
            <a:ext cx="196596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pages</a:t>
            </a:r>
            <a:endParaRPr sz="1440"/>
          </a:p>
        </p:txBody>
      </p:sp>
      <p:sp>
        <p:nvSpPr>
          <p:cNvPr id="9" name="tile"/>
          <p:cNvSpPr/>
          <p:nvPr/>
        </p:nvSpPr>
        <p:spPr>
          <a:xfrm>
            <a:off x="3550920" y="1819961"/>
            <a:ext cx="2453640" cy="1234440"/>
          </a:xfrm>
          <a:prstGeom prst="roundRect">
            <a:avLst>
              <a:gd name="adj" fmla="val 13580"/>
            </a:avLst>
          </a:prstGeom>
          <a:solidFill>
            <a:srgbClr val="F5F5F7"/>
          </a:solidFill>
          <a:ln>
            <a:noFill/>
          </a:ln>
        </p:spPr>
        <p:txBody>
          <a:bodyPr rtlCol="0" anchor="ctr"/>
          <a:lstStyle/>
          <a:p>
            <a:pPr algn="ctr"/>
          </a:p>
        </p:txBody>
      </p:sp>
      <p:sp>
        <p:nvSpPr>
          <p:cNvPr id="10" name="tile value"/>
          <p:cNvSpPr txBox="1"/>
          <p:nvPr/>
        </p:nvSpPr>
        <p:spPr>
          <a:xfrm>
            <a:off x="3794760" y="2018081"/>
            <a:ext cx="1965960" cy="375971"/>
          </a:xfrm>
          <a:prstGeom prst="rect">
            <a:avLst/>
          </a:prstGeom>
          <a:noFill/>
        </p:spPr>
        <p:txBody>
          <a:bodyPr wrap="square" lIns="0" tIns="0" rIns="0" bIns="0" anchor="t">
            <a:noAutofit/>
          </a:bodyPr>
          <a:lstStyle/>
          <a:p>
            <a:pPr algn="l">
              <a:lnSpc>
                <a:spcPts val="2957"/>
              </a:lnSpc>
              <a:spcBef>
                <a:spcPts val="0"/>
              </a:spcBef>
              <a:spcAft>
                <a:spcPts val="0"/>
              </a:spcAft>
            </a:pPr>
            <a:r>
              <a:rPr sz="2640" b="0" i="0" spc="-26">
                <a:solidFill>
                  <a:srgbClr val="1D1D1F"/>
                </a:solidFill>
                <a:latin typeface="Helvetica Neue Light"/>
              </a:rPr>
              <a:t>69</a:t>
            </a:r>
            <a:endParaRPr sz="2640"/>
          </a:p>
        </p:txBody>
      </p:sp>
      <p:sp>
        <p:nvSpPr>
          <p:cNvPr id="11" name="tile label"/>
          <p:cNvSpPr txBox="1"/>
          <p:nvPr/>
        </p:nvSpPr>
        <p:spPr>
          <a:xfrm>
            <a:off x="3794760" y="2485492"/>
            <a:ext cx="196596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findings</a:t>
            </a:r>
            <a:endParaRPr sz="1440"/>
          </a:p>
        </p:txBody>
      </p:sp>
      <p:sp>
        <p:nvSpPr>
          <p:cNvPr id="12" name="tile"/>
          <p:cNvSpPr/>
          <p:nvPr/>
        </p:nvSpPr>
        <p:spPr>
          <a:xfrm>
            <a:off x="6187440" y="1819961"/>
            <a:ext cx="2453640" cy="1234440"/>
          </a:xfrm>
          <a:prstGeom prst="roundRect">
            <a:avLst>
              <a:gd name="adj" fmla="val 13580"/>
            </a:avLst>
          </a:prstGeom>
          <a:solidFill>
            <a:srgbClr val="F5F5F7"/>
          </a:solidFill>
          <a:ln>
            <a:noFill/>
          </a:ln>
        </p:spPr>
        <p:txBody>
          <a:bodyPr rtlCol="0" anchor="ctr"/>
          <a:lstStyle/>
          <a:p>
            <a:pPr algn="ctr"/>
          </a:p>
        </p:txBody>
      </p:sp>
      <p:sp>
        <p:nvSpPr>
          <p:cNvPr id="13" name="tile value"/>
          <p:cNvSpPr txBox="1"/>
          <p:nvPr/>
        </p:nvSpPr>
        <p:spPr>
          <a:xfrm>
            <a:off x="6431280" y="2018081"/>
            <a:ext cx="1965960" cy="375971"/>
          </a:xfrm>
          <a:prstGeom prst="rect">
            <a:avLst/>
          </a:prstGeom>
          <a:noFill/>
        </p:spPr>
        <p:txBody>
          <a:bodyPr wrap="square" lIns="0" tIns="0" rIns="0" bIns="0" anchor="t">
            <a:noAutofit/>
          </a:bodyPr>
          <a:lstStyle/>
          <a:p>
            <a:pPr algn="l">
              <a:lnSpc>
                <a:spcPts val="2957"/>
              </a:lnSpc>
              <a:spcBef>
                <a:spcPts val="0"/>
              </a:spcBef>
              <a:spcAft>
                <a:spcPts val="0"/>
              </a:spcAft>
            </a:pPr>
            <a:r>
              <a:rPr sz="2640" b="0" i="0" spc="-26">
                <a:solidFill>
                  <a:srgbClr val="1D1D1F"/>
                </a:solidFill>
                <a:latin typeface="Helvetica Neue Light"/>
              </a:rPr>
              <a:t>51,666-char</a:t>
            </a:r>
            <a:endParaRPr sz="2640"/>
          </a:p>
        </p:txBody>
      </p:sp>
      <p:sp>
        <p:nvSpPr>
          <p:cNvPr id="14" name="tile label"/>
          <p:cNvSpPr txBox="1"/>
          <p:nvPr/>
        </p:nvSpPr>
        <p:spPr>
          <a:xfrm>
            <a:off x="6431280" y="2485492"/>
            <a:ext cx="196596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fix prompt</a:t>
            </a:r>
            <a:endParaRPr sz="1440"/>
          </a:p>
        </p:txBody>
      </p:sp>
      <p:sp>
        <p:nvSpPr>
          <p:cNvPr id="15" name="tile"/>
          <p:cNvSpPr/>
          <p:nvPr/>
        </p:nvSpPr>
        <p:spPr>
          <a:xfrm>
            <a:off x="8823960" y="1819961"/>
            <a:ext cx="2453640" cy="1234440"/>
          </a:xfrm>
          <a:prstGeom prst="roundRect">
            <a:avLst>
              <a:gd name="adj" fmla="val 13580"/>
            </a:avLst>
          </a:prstGeom>
          <a:solidFill>
            <a:srgbClr val="F5F5F7"/>
          </a:solidFill>
          <a:ln>
            <a:noFill/>
          </a:ln>
        </p:spPr>
        <p:txBody>
          <a:bodyPr rtlCol="0" anchor="ctr"/>
          <a:lstStyle/>
          <a:p>
            <a:pPr algn="ctr"/>
          </a:p>
        </p:txBody>
      </p:sp>
      <p:sp>
        <p:nvSpPr>
          <p:cNvPr id="16" name="tile value"/>
          <p:cNvSpPr txBox="1"/>
          <p:nvPr/>
        </p:nvSpPr>
        <p:spPr>
          <a:xfrm>
            <a:off x="9067800" y="2018081"/>
            <a:ext cx="1965960" cy="375971"/>
          </a:xfrm>
          <a:prstGeom prst="rect">
            <a:avLst/>
          </a:prstGeom>
          <a:noFill/>
        </p:spPr>
        <p:txBody>
          <a:bodyPr wrap="square" lIns="0" tIns="0" rIns="0" bIns="0" anchor="t">
            <a:noAutofit/>
          </a:bodyPr>
          <a:lstStyle/>
          <a:p>
            <a:pPr algn="l">
              <a:lnSpc>
                <a:spcPts val="2957"/>
              </a:lnSpc>
              <a:spcBef>
                <a:spcPts val="0"/>
              </a:spcBef>
              <a:spcAft>
                <a:spcPts val="0"/>
              </a:spcAft>
            </a:pPr>
            <a:r>
              <a:rPr sz="2640" b="0" i="0" spc="-26">
                <a:solidFill>
                  <a:srgbClr val="1D1D1F"/>
                </a:solidFill>
                <a:latin typeface="Helvetica Neue Light"/>
              </a:rPr>
              <a:t>48/48</a:t>
            </a:r>
            <a:endParaRPr sz="2640"/>
          </a:p>
        </p:txBody>
      </p:sp>
      <p:sp>
        <p:nvSpPr>
          <p:cNvPr id="17" name="tile label"/>
          <p:cNvSpPr txBox="1"/>
          <p:nvPr/>
        </p:nvSpPr>
        <p:spPr>
          <a:xfrm>
            <a:off x="9067800" y="2485492"/>
            <a:ext cx="196596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self-test</a:t>
            </a:r>
            <a:endParaRPr sz="1440"/>
          </a:p>
        </p:txBody>
      </p:sp>
      <p:sp>
        <p:nvSpPr>
          <p:cNvPr id="18" name="chart card"/>
          <p:cNvSpPr/>
          <p:nvPr/>
        </p:nvSpPr>
        <p:spPr>
          <a:xfrm>
            <a:off x="914400" y="3328721"/>
            <a:ext cx="10363200" cy="2919679"/>
          </a:xfrm>
          <a:prstGeom prst="roundRect">
            <a:avLst>
              <a:gd name="adj" fmla="val 5741"/>
            </a:avLst>
          </a:prstGeom>
          <a:solidFill>
            <a:srgbClr val="F5F5F7"/>
          </a:solidFill>
          <a:ln>
            <a:noFill/>
          </a:ln>
        </p:spPr>
        <p:txBody>
          <a:bodyPr rtlCol="0" anchor="ctr"/>
          <a:lstStyle/>
          <a:p>
            <a:pPr algn="ctr"/>
          </a:p>
        </p:txBody>
      </p:sp>
      <p:sp>
        <p:nvSpPr>
          <p:cNvPr id="19" name="chart source"/>
          <p:cNvSpPr txBox="1"/>
          <p:nvPr/>
        </p:nvSpPr>
        <p:spPr>
          <a:xfrm>
            <a:off x="1158240" y="5915711"/>
            <a:ext cx="9875520" cy="119329"/>
          </a:xfrm>
          <a:prstGeom prst="rect">
            <a:avLst/>
          </a:prstGeom>
          <a:noFill/>
        </p:spPr>
        <p:txBody>
          <a:bodyPr wrap="square" lIns="0" tIns="0" rIns="0" bIns="0" anchor="t">
            <a:noAutofit/>
          </a:bodyPr>
          <a:lstStyle/>
          <a:p>
            <a:pPr algn="l">
              <a:lnSpc>
                <a:spcPts val="936"/>
              </a:lnSpc>
              <a:spcBef>
                <a:spcPts val="0"/>
              </a:spcBef>
              <a:spcAft>
                <a:spcPts val="0"/>
              </a:spcAft>
            </a:pPr>
            <a:r>
              <a:rPr sz="780" b="0" i="0">
                <a:solidFill>
                  <a:srgbClr val="86868B"/>
                </a:solidFill>
                <a:latin typeface="Helvetica Neue"/>
              </a:rPr>
              <a:t>Source: Feature Guide §25 end-to-end run (6 pages, 69 findings); medium/low split from the run's status badges in 22-ui-audit-window.png</a:t>
            </a:r>
            <a:endParaRPr sz="780"/>
          </a:p>
        </p:txBody>
      </p:sp>
      <p:graphicFrame>
        <p:nvGraphicFramePr>
          <p:cNvPr id="20" name="chart"/>
          <p:cNvGraphicFramePr>
            <a:graphicFrameLocks noGrp="1"/>
          </p:cNvGraphicFramePr>
          <p:nvPr/>
        </p:nvGraphicFramePr>
        <p:xfrm>
          <a:off x="1158240" y="3542081"/>
          <a:ext cx="9875520" cy="2282647"/>
        </p:xfrm>
        <a:graphic>
          <a:graphicData uri="http://schemas.openxmlformats.org/drawingml/2006/chart">
            <c:chart xmlns:c="http://schemas.openxmlformats.org/drawingml/2006/chart" r:id="rId3"/>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offscreen renders from current source, sample data.</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15</a:t>
            </a:r>
            <a:endParaRPr sz="840"/>
          </a:p>
        </p:txBody>
      </p:sp>
      <p:sp>
        <p:nvSpPr>
          <p:cNvPr id="4" name="eyebrow"/>
          <p:cNvSpPr txBox="1"/>
          <p:nvPr/>
        </p:nvSpPr>
        <p:spPr>
          <a:xfrm>
            <a:off x="6217920" y="839114"/>
            <a:ext cx="505968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Developer agent · Browser Flows</a:t>
            </a:r>
            <a:endParaRPr sz="1320"/>
          </a:p>
        </p:txBody>
      </p:sp>
      <p:sp>
        <p:nvSpPr>
          <p:cNvPr id="5" name="headline"/>
          <p:cNvSpPr txBox="1"/>
          <p:nvPr/>
        </p:nvSpPr>
        <p:spPr>
          <a:xfrm>
            <a:off x="6217920" y="1190092"/>
            <a:ext cx="5059680" cy="1024585"/>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Light"/>
              </a:rPr>
              <a:t>Browser Flows: record once, replay with data</a:t>
            </a:r>
            <a:endParaRPr sz="3600"/>
          </a:p>
        </p:txBody>
      </p:sp>
      <p:sp>
        <p:nvSpPr>
          <p:cNvPr id="6" name="lead"/>
          <p:cNvSpPr txBox="1"/>
          <p:nvPr/>
        </p:nvSpPr>
        <p:spPr>
          <a:xfrm>
            <a:off x="6217920" y="2382317"/>
            <a:ext cx="505968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Self-healing selectors; secrets are never stored</a:t>
            </a:r>
            <a:endParaRPr sz="1680"/>
          </a:p>
        </p:txBody>
      </p:sp>
      <p:cxnSp>
        <p:nvCxnSpPr>
          <p:cNvPr id="7" name="list rule"/>
          <p:cNvCxnSpPr/>
          <p:nvPr/>
        </p:nvCxnSpPr>
        <p:spPr>
          <a:xfrm>
            <a:off x="6217920" y="2947264"/>
            <a:ext cx="5059680" cy="0"/>
          </a:xfrm>
          <a:prstGeom prst="line">
            <a:avLst/>
          </a:prstGeom>
          <a:ln w="9525">
            <a:solidFill>
              <a:srgbClr val="D2D2D7"/>
            </a:solidFill>
          </a:ln>
        </p:spPr>
      </p:cxnSp>
      <p:sp>
        <p:nvSpPr>
          <p:cNvPr id="8" name="bullet"/>
          <p:cNvSpPr txBox="1"/>
          <p:nvPr/>
        </p:nvSpPr>
        <p:spPr>
          <a:xfrm>
            <a:off x="6217920" y="3038704"/>
            <a:ext cx="505968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Each step stores ranked selectors and an element fingerprint</a:t>
            </a:r>
            <a:endParaRPr sz="1440"/>
          </a:p>
        </p:txBody>
      </p:sp>
      <p:cxnSp>
        <p:nvCxnSpPr>
          <p:cNvPr id="9" name="list rule"/>
          <p:cNvCxnSpPr/>
          <p:nvPr/>
        </p:nvCxnSpPr>
        <p:spPr>
          <a:xfrm>
            <a:off x="6217920" y="3642665"/>
            <a:ext cx="5059680" cy="0"/>
          </a:xfrm>
          <a:prstGeom prst="line">
            <a:avLst/>
          </a:prstGeom>
          <a:ln w="9525">
            <a:solidFill>
              <a:srgbClr val="D2D2D7"/>
            </a:solidFill>
          </a:ln>
        </p:spPr>
      </p:cxnSp>
      <p:sp>
        <p:nvSpPr>
          <p:cNvPr id="10" name="bullet"/>
          <p:cNvSpPr txBox="1"/>
          <p:nvPr/>
        </p:nvSpPr>
        <p:spPr>
          <a:xfrm>
            <a:off x="6217920" y="3734105"/>
            <a:ext cx="505968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Healing accepts a match of 0.6 or more that clearly beats the runner-up</a:t>
            </a:r>
            <a:endParaRPr sz="1440"/>
          </a:p>
        </p:txBody>
      </p:sp>
      <p:cxnSp>
        <p:nvCxnSpPr>
          <p:cNvPr id="11" name="list rule"/>
          <p:cNvCxnSpPr/>
          <p:nvPr/>
        </p:nvCxnSpPr>
        <p:spPr>
          <a:xfrm>
            <a:off x="6217920" y="4338066"/>
            <a:ext cx="5059680" cy="0"/>
          </a:xfrm>
          <a:prstGeom prst="line">
            <a:avLst/>
          </a:prstGeom>
          <a:ln w="9525">
            <a:solidFill>
              <a:srgbClr val="D2D2D7"/>
            </a:solidFill>
          </a:ln>
        </p:spPr>
      </p:cxnSp>
      <p:sp>
        <p:nvSpPr>
          <p:cNvPr id="12" name="bullet"/>
          <p:cNvSpPr txBox="1"/>
          <p:nvPr/>
        </p:nvSpPr>
        <p:spPr>
          <a:xfrm>
            <a:off x="6217920" y="4429506"/>
            <a:ext cx="505968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Passwords become </a:t>
            </a:r>
            <a:r>
              <a:rPr sz="1440" b="0" i="0">
                <a:solidFill>
                  <a:srgbClr val="1D1D1F"/>
                </a:solidFill>
                <a:latin typeface="Helvetica Neue Medium"/>
              </a:rPr>
              <a:t>{{password}}</a:t>
            </a:r>
            <a:r>
              <a:rPr sz="1440" b="0" i="0">
                <a:solidFill>
                  <a:srgbClr val="6E6E73"/>
                </a:solidFill>
                <a:latin typeface="Helvetica Neue"/>
              </a:rPr>
              <a:t>, asked at replay, sent over stdin</a:t>
            </a:r>
            <a:endParaRPr sz="1440"/>
          </a:p>
        </p:txBody>
      </p:sp>
      <p:cxnSp>
        <p:nvCxnSpPr>
          <p:cNvPr id="13" name="list rule"/>
          <p:cNvCxnSpPr/>
          <p:nvPr/>
        </p:nvCxnSpPr>
        <p:spPr>
          <a:xfrm>
            <a:off x="6217920" y="5033467"/>
            <a:ext cx="5059680" cy="0"/>
          </a:xfrm>
          <a:prstGeom prst="line">
            <a:avLst/>
          </a:prstGeom>
          <a:ln w="9525">
            <a:solidFill>
              <a:srgbClr val="D2D2D7"/>
            </a:solidFill>
          </a:ln>
        </p:spPr>
      </p:cxnSp>
      <p:sp>
        <p:nvSpPr>
          <p:cNvPr id="14" name="bullet"/>
          <p:cNvSpPr txBox="1"/>
          <p:nvPr/>
        </p:nvSpPr>
        <p:spPr>
          <a:xfrm>
            <a:off x="6217920" y="5124907"/>
            <a:ext cx="505968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CSV loop: one replay per row, up to 500 rows</a:t>
            </a:r>
            <a:endParaRPr sz="1440"/>
          </a:p>
        </p:txBody>
      </p:sp>
      <p:cxnSp>
        <p:nvCxnSpPr>
          <p:cNvPr id="15" name="list rule"/>
          <p:cNvCxnSpPr/>
          <p:nvPr/>
        </p:nvCxnSpPr>
        <p:spPr>
          <a:xfrm>
            <a:off x="6217920" y="5472836"/>
            <a:ext cx="5059680" cy="0"/>
          </a:xfrm>
          <a:prstGeom prst="line">
            <a:avLst/>
          </a:prstGeom>
          <a:ln w="9525">
            <a:solidFill>
              <a:srgbClr val="D2D2D7"/>
            </a:solidFill>
          </a:ln>
        </p:spPr>
      </p:cxnSp>
      <p:sp>
        <p:nvSpPr>
          <p:cNvPr id="16" name="status dot"/>
          <p:cNvSpPr/>
          <p:nvPr/>
        </p:nvSpPr>
        <p:spPr>
          <a:xfrm>
            <a:off x="6217920" y="5790590"/>
            <a:ext cx="82296" cy="82296"/>
          </a:xfrm>
          <a:prstGeom prst="ellipse">
            <a:avLst/>
          </a:prstGeom>
          <a:solidFill>
            <a:srgbClr val="86868B"/>
          </a:solidFill>
          <a:ln>
            <a:noFill/>
          </a:ln>
        </p:spPr>
        <p:txBody>
          <a:bodyPr rtlCol="0" anchor="ctr"/>
          <a:lstStyle/>
          <a:p>
            <a:pPr algn="ctr"/>
          </a:p>
        </p:txBody>
      </p:sp>
      <p:sp>
        <p:nvSpPr>
          <p:cNvPr id="17" name="status"/>
          <p:cNvSpPr txBox="1"/>
          <p:nvPr/>
        </p:nvSpPr>
        <p:spPr>
          <a:xfrm>
            <a:off x="6419088" y="5728868"/>
            <a:ext cx="4858512" cy="411937"/>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6E6E73"/>
                </a:solidFill>
                <a:latin typeface="Helvetica Neue"/>
              </a:rPr>
              <a:t>Self-test not yet clean under load: one replay timed out, one CSV loop hung. Fix before launch.</a:t>
            </a:r>
            <a:endParaRPr sz="1200"/>
          </a:p>
        </p:txBody>
      </p:sp>
      <p:pic>
        <p:nvPicPr>
          <p:cNvPr id="18" name="notch band" descr="25-browser-flows.png"/>
          <p:cNvPicPr>
            <a:picLocks noChangeAspect="1"/>
          </p:cNvPicPr>
          <p:nvPr/>
        </p:nvPicPr>
        <p:blipFill>
          <a:blip r:embed="rId3"/>
          <a:stretch>
            <a:fillRect/>
          </a:stretch>
        </p:blipFill>
        <p:spPr>
          <a:xfrm>
            <a:off x="914400" y="1338913"/>
            <a:ext cx="3840480" cy="884816"/>
          </a:xfrm>
          <a:prstGeom prst="roundRect">
            <a:avLst>
              <a:gd name="adj" fmla="val 8267"/>
            </a:avLst>
          </a:prstGeom>
        </p:spPr>
      </p:pic>
      <p:pic>
        <p:nvPicPr>
          <p:cNvPr id="19" name="flows window" descr="26-browser-flows-window.png"/>
          <p:cNvPicPr>
            <a:picLocks noChangeAspect="1"/>
          </p:cNvPicPr>
          <p:nvPr/>
        </p:nvPicPr>
        <p:blipFill>
          <a:blip r:embed="rId4"/>
          <a:stretch>
            <a:fillRect/>
          </a:stretch>
        </p:blipFill>
        <p:spPr>
          <a:xfrm>
            <a:off x="914400" y="2452330"/>
            <a:ext cx="4876800" cy="3188677"/>
          </a:xfrm>
          <a:prstGeom prst="roundRect">
            <a:avLst>
              <a:gd name="adj" fmla="val 2294"/>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offscreen renders from current source, sample data.</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16</a:t>
            </a:r>
            <a:endParaRPr sz="840"/>
          </a:p>
        </p:txBody>
      </p:sp>
      <p:sp>
        <p:nvSpPr>
          <p:cNvPr id="4" name="eyebrow"/>
          <p:cNvSpPr txBox="1"/>
          <p:nvPr/>
        </p:nvSpPr>
        <p:spPr>
          <a:xfrm>
            <a:off x="914400" y="1429131"/>
            <a:ext cx="505968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Developer agent · Flow Canvas</a:t>
            </a:r>
            <a:endParaRPr sz="1320"/>
          </a:p>
        </p:txBody>
      </p:sp>
      <p:sp>
        <p:nvSpPr>
          <p:cNvPr id="5" name="headline"/>
          <p:cNvSpPr txBox="1"/>
          <p:nvPr/>
        </p:nvSpPr>
        <p:spPr>
          <a:xfrm>
            <a:off x="914400" y="1780108"/>
            <a:ext cx="5059680" cy="1024585"/>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Light"/>
              </a:rPr>
              <a:t>Flow Canvas: workflows as a graph</a:t>
            </a:r>
            <a:endParaRPr sz="3600"/>
          </a:p>
        </p:txBody>
      </p:sp>
      <p:sp>
        <p:nvSpPr>
          <p:cNvPr id="6" name="lead"/>
          <p:cNvSpPr txBox="1"/>
          <p:nvPr/>
        </p:nvSpPr>
        <p:spPr>
          <a:xfrm>
            <a:off x="914400" y="2972333"/>
            <a:ext cx="505968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Sources in, actions chained, run on this Mac</a:t>
            </a:r>
            <a:endParaRPr sz="1680"/>
          </a:p>
        </p:txBody>
      </p:sp>
      <p:cxnSp>
        <p:nvCxnSpPr>
          <p:cNvPr id="7" name="list rule"/>
          <p:cNvCxnSpPr/>
          <p:nvPr/>
        </p:nvCxnSpPr>
        <p:spPr>
          <a:xfrm>
            <a:off x="914400" y="3537280"/>
            <a:ext cx="5059680" cy="0"/>
          </a:xfrm>
          <a:prstGeom prst="line">
            <a:avLst/>
          </a:prstGeom>
          <a:ln w="9525">
            <a:solidFill>
              <a:srgbClr val="D2D2D7"/>
            </a:solidFill>
          </a:ln>
        </p:spPr>
      </p:cxnSp>
      <p:sp>
        <p:nvSpPr>
          <p:cNvPr id="8" name="bullet"/>
          <p:cNvSpPr txBox="1"/>
          <p:nvPr/>
        </p:nvSpPr>
        <p:spPr>
          <a:xfrm>
            <a:off x="914400" y="3628720"/>
            <a:ext cx="505968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Drop links, PDFs, screenshots and notes as source cards</a:t>
            </a:r>
            <a:endParaRPr sz="1440"/>
          </a:p>
        </p:txBody>
      </p:sp>
      <p:cxnSp>
        <p:nvCxnSpPr>
          <p:cNvPr id="9" name="list rule"/>
          <p:cNvCxnSpPr/>
          <p:nvPr/>
        </p:nvCxnSpPr>
        <p:spPr>
          <a:xfrm>
            <a:off x="914400" y="3976649"/>
            <a:ext cx="5059680" cy="0"/>
          </a:xfrm>
          <a:prstGeom prst="line">
            <a:avLst/>
          </a:prstGeom>
          <a:ln w="9525">
            <a:solidFill>
              <a:srgbClr val="D2D2D7"/>
            </a:solidFill>
          </a:ln>
        </p:spPr>
      </p:cxnSp>
      <p:sp>
        <p:nvSpPr>
          <p:cNvPr id="10" name="bullet"/>
          <p:cNvSpPr txBox="1"/>
          <p:nvPr/>
        </p:nvSpPr>
        <p:spPr>
          <a:xfrm>
            <a:off x="914400" y="4068089"/>
            <a:ext cx="505968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Chain extract, compare, summarize, report and chat-with-sources</a:t>
            </a:r>
            <a:endParaRPr sz="1440"/>
          </a:p>
        </p:txBody>
      </p:sp>
      <p:cxnSp>
        <p:nvCxnSpPr>
          <p:cNvPr id="11" name="list rule"/>
          <p:cNvCxnSpPr/>
          <p:nvPr/>
        </p:nvCxnSpPr>
        <p:spPr>
          <a:xfrm>
            <a:off x="914400" y="4672051"/>
            <a:ext cx="5059680" cy="0"/>
          </a:xfrm>
          <a:prstGeom prst="line">
            <a:avLst/>
          </a:prstGeom>
          <a:ln w="9525">
            <a:solidFill>
              <a:srgbClr val="D2D2D7"/>
            </a:solidFill>
          </a:ln>
        </p:spPr>
      </p:cxnSp>
      <p:sp>
        <p:nvSpPr>
          <p:cNvPr id="12" name="bullet"/>
          <p:cNvSpPr txBox="1"/>
          <p:nvPr/>
        </p:nvSpPr>
        <p:spPr>
          <a:xfrm>
            <a:off x="914400" y="4763491"/>
            <a:ext cx="505968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"Suggest steps" plans the chain from one sentence</a:t>
            </a:r>
            <a:endParaRPr sz="1440"/>
          </a:p>
        </p:txBody>
      </p:sp>
      <p:cxnSp>
        <p:nvCxnSpPr>
          <p:cNvPr id="13" name="list rule"/>
          <p:cNvCxnSpPr/>
          <p:nvPr/>
        </p:nvCxnSpPr>
        <p:spPr>
          <a:xfrm>
            <a:off x="914400" y="5111420"/>
            <a:ext cx="5059680" cy="0"/>
          </a:xfrm>
          <a:prstGeom prst="line">
            <a:avLst/>
          </a:prstGeom>
          <a:ln w="9525">
            <a:solidFill>
              <a:srgbClr val="D2D2D7"/>
            </a:solidFill>
          </a:ln>
        </p:spPr>
      </p:cxnSp>
      <p:sp>
        <p:nvSpPr>
          <p:cNvPr id="14" name="bullet"/>
          <p:cNvSpPr txBox="1"/>
          <p:nvPr/>
        </p:nvSpPr>
        <p:spPr>
          <a:xfrm>
            <a:off x="914400" y="5202860"/>
            <a:ext cx="505968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Export to Markdown, PDF, CSV, Tray, Notes or a Space</a:t>
            </a:r>
            <a:endParaRPr sz="1440"/>
          </a:p>
        </p:txBody>
      </p:sp>
      <p:cxnSp>
        <p:nvCxnSpPr>
          <p:cNvPr id="15" name="list rule"/>
          <p:cNvCxnSpPr/>
          <p:nvPr/>
        </p:nvCxnSpPr>
        <p:spPr>
          <a:xfrm>
            <a:off x="914400" y="5550789"/>
            <a:ext cx="5059680" cy="0"/>
          </a:xfrm>
          <a:prstGeom prst="line">
            <a:avLst/>
          </a:prstGeom>
          <a:ln w="9525">
            <a:solidFill>
              <a:srgbClr val="D2D2D7"/>
            </a:solidFill>
          </a:ln>
        </p:spPr>
      </p:cxnSp>
      <p:pic>
        <p:nvPicPr>
          <p:cNvPr id="16" name="canvas window" descr="35-flow-canvas.png"/>
          <p:cNvPicPr>
            <a:picLocks noChangeAspect="1"/>
          </p:cNvPicPr>
          <p:nvPr/>
        </p:nvPicPr>
        <p:blipFill>
          <a:blip r:embed="rId3"/>
          <a:stretch>
            <a:fillRect/>
          </a:stretch>
        </p:blipFill>
        <p:spPr>
          <a:xfrm>
            <a:off x="6400800" y="1938251"/>
            <a:ext cx="4876800" cy="3103418"/>
          </a:xfrm>
          <a:prstGeom prst="roundRect">
            <a:avLst>
              <a:gd name="adj" fmla="val 2357"/>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Build details: build.sh and NotchIsland.entitlements.</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17</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Engineering</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Engineering practices</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A small toolchain and strict habits</a:t>
            </a:r>
            <a:endParaRPr sz="1680"/>
          </a:p>
        </p:txBody>
      </p:sp>
      <p:sp>
        <p:nvSpPr>
          <p:cNvPr id="7" name="tile"/>
          <p:cNvSpPr/>
          <p:nvPr/>
        </p:nvSpPr>
        <p:spPr>
          <a:xfrm>
            <a:off x="914400" y="2354428"/>
            <a:ext cx="3332480" cy="1855546"/>
          </a:xfrm>
          <a:prstGeom prst="roundRect">
            <a:avLst>
              <a:gd name="adj" fmla="val 9034"/>
            </a:avLst>
          </a:prstGeom>
          <a:solidFill>
            <a:srgbClr val="F5F5F7"/>
          </a:solidFill>
          <a:ln>
            <a:noFill/>
          </a:ln>
        </p:spPr>
        <p:txBody>
          <a:bodyPr rtlCol="0" anchor="ctr"/>
          <a:lstStyle/>
          <a:p>
            <a:pPr algn="ctr"/>
          </a:p>
        </p:txBody>
      </p:sp>
      <p:sp>
        <p:nvSpPr>
          <p:cNvPr id="8" name="tile value"/>
          <p:cNvSpPr txBox="1"/>
          <p:nvPr/>
        </p:nvSpPr>
        <p:spPr>
          <a:xfrm>
            <a:off x="1158240" y="2552548"/>
            <a:ext cx="2844800" cy="375971"/>
          </a:xfrm>
          <a:prstGeom prst="rect">
            <a:avLst/>
          </a:prstGeom>
          <a:noFill/>
        </p:spPr>
        <p:txBody>
          <a:bodyPr wrap="square" lIns="0" tIns="0" rIns="0" bIns="0" anchor="t">
            <a:noAutofit/>
          </a:bodyPr>
          <a:lstStyle/>
          <a:p>
            <a:pPr algn="l">
              <a:lnSpc>
                <a:spcPts val="2957"/>
              </a:lnSpc>
              <a:spcBef>
                <a:spcPts val="0"/>
              </a:spcBef>
              <a:spcAft>
                <a:spcPts val="0"/>
              </a:spcAft>
            </a:pPr>
            <a:r>
              <a:rPr sz="2640" b="0" i="0" spc="-26">
                <a:solidFill>
                  <a:srgbClr val="1D1D1F"/>
                </a:solidFill>
                <a:latin typeface="Helvetica Neue Light"/>
              </a:rPr>
              <a:t>CLT-only</a:t>
            </a:r>
            <a:endParaRPr sz="2640"/>
          </a:p>
        </p:txBody>
      </p:sp>
      <p:sp>
        <p:nvSpPr>
          <p:cNvPr id="9" name="tile label"/>
          <p:cNvSpPr txBox="1"/>
          <p:nvPr/>
        </p:nvSpPr>
        <p:spPr>
          <a:xfrm>
            <a:off x="1158240" y="3019958"/>
            <a:ext cx="284480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one zsh build script, no Xcode project required</a:t>
            </a:r>
            <a:endParaRPr sz="1440"/>
          </a:p>
        </p:txBody>
      </p:sp>
      <p:sp>
        <p:nvSpPr>
          <p:cNvPr id="10" name="tile"/>
          <p:cNvSpPr/>
          <p:nvPr/>
        </p:nvSpPr>
        <p:spPr>
          <a:xfrm>
            <a:off x="4429760" y="2354428"/>
            <a:ext cx="3332480" cy="1855546"/>
          </a:xfrm>
          <a:prstGeom prst="roundRect">
            <a:avLst>
              <a:gd name="adj" fmla="val 9034"/>
            </a:avLst>
          </a:prstGeom>
          <a:solidFill>
            <a:srgbClr val="F5F5F7"/>
          </a:solidFill>
          <a:ln>
            <a:noFill/>
          </a:ln>
        </p:spPr>
        <p:txBody>
          <a:bodyPr rtlCol="0" anchor="ctr"/>
          <a:lstStyle/>
          <a:p>
            <a:pPr algn="ctr"/>
          </a:p>
        </p:txBody>
      </p:sp>
      <p:sp>
        <p:nvSpPr>
          <p:cNvPr id="11" name="tile value"/>
          <p:cNvSpPr txBox="1"/>
          <p:nvPr/>
        </p:nvSpPr>
        <p:spPr>
          <a:xfrm>
            <a:off x="4673600" y="2552548"/>
            <a:ext cx="2844800" cy="375971"/>
          </a:xfrm>
          <a:prstGeom prst="rect">
            <a:avLst/>
          </a:prstGeom>
          <a:noFill/>
        </p:spPr>
        <p:txBody>
          <a:bodyPr wrap="square" lIns="0" tIns="0" rIns="0" bIns="0" anchor="t">
            <a:noAutofit/>
          </a:bodyPr>
          <a:lstStyle/>
          <a:p>
            <a:pPr algn="l">
              <a:lnSpc>
                <a:spcPts val="2957"/>
              </a:lnSpc>
              <a:spcBef>
                <a:spcPts val="0"/>
              </a:spcBef>
              <a:spcAft>
                <a:spcPts val="0"/>
              </a:spcAft>
            </a:pPr>
            <a:r>
              <a:rPr sz="2640" b="0" i="0" spc="-26">
                <a:solidFill>
                  <a:srgbClr val="1D1D1F"/>
                </a:solidFill>
                <a:latin typeface="Helvetica Neue Light"/>
              </a:rPr>
              <a:t>No macro plugins</a:t>
            </a:r>
            <a:endParaRPr sz="2640"/>
          </a:p>
        </p:txBody>
      </p:sp>
      <p:sp>
        <p:nvSpPr>
          <p:cNvPr id="12" name="tile label"/>
          <p:cNvSpPr txBox="1"/>
          <p:nvPr/>
        </p:nvSpPr>
        <p:spPr>
          <a:xfrm>
            <a:off x="4673600" y="3019958"/>
            <a:ext cx="284480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no @State, #Preview, @Entry, @Generable</a:t>
            </a:r>
            <a:endParaRPr sz="1440"/>
          </a:p>
        </p:txBody>
      </p:sp>
      <p:sp>
        <p:nvSpPr>
          <p:cNvPr id="13" name="tile"/>
          <p:cNvSpPr/>
          <p:nvPr/>
        </p:nvSpPr>
        <p:spPr>
          <a:xfrm>
            <a:off x="7945120" y="2354428"/>
            <a:ext cx="3332480" cy="1855546"/>
          </a:xfrm>
          <a:prstGeom prst="roundRect">
            <a:avLst>
              <a:gd name="adj" fmla="val 9034"/>
            </a:avLst>
          </a:prstGeom>
          <a:solidFill>
            <a:srgbClr val="F5F5F7"/>
          </a:solidFill>
          <a:ln>
            <a:noFill/>
          </a:ln>
        </p:spPr>
        <p:txBody>
          <a:bodyPr rtlCol="0" anchor="ctr"/>
          <a:lstStyle/>
          <a:p>
            <a:pPr algn="ctr"/>
          </a:p>
        </p:txBody>
      </p:sp>
      <p:sp>
        <p:nvSpPr>
          <p:cNvPr id="14" name="tile value"/>
          <p:cNvSpPr txBox="1"/>
          <p:nvPr/>
        </p:nvSpPr>
        <p:spPr>
          <a:xfrm>
            <a:off x="8188960" y="2552548"/>
            <a:ext cx="2844800" cy="375971"/>
          </a:xfrm>
          <a:prstGeom prst="rect">
            <a:avLst/>
          </a:prstGeom>
          <a:noFill/>
        </p:spPr>
        <p:txBody>
          <a:bodyPr wrap="square" lIns="0" tIns="0" rIns="0" bIns="0" anchor="t">
            <a:noAutofit/>
          </a:bodyPr>
          <a:lstStyle/>
          <a:p>
            <a:pPr algn="l">
              <a:lnSpc>
                <a:spcPts val="2957"/>
              </a:lnSpc>
              <a:spcBef>
                <a:spcPts val="0"/>
              </a:spcBef>
              <a:spcAft>
                <a:spcPts val="0"/>
              </a:spcAft>
            </a:pPr>
            <a:r>
              <a:rPr sz="2640" b="0" i="0" spc="-26">
                <a:solidFill>
                  <a:srgbClr val="1D1D1F"/>
                </a:solidFill>
                <a:latin typeface="Helvetica Neue Light"/>
              </a:rPr>
              <a:t>Temp-dir builds</a:t>
            </a:r>
            <a:endParaRPr sz="2640"/>
          </a:p>
        </p:txBody>
      </p:sp>
      <p:sp>
        <p:nvSpPr>
          <p:cNvPr id="15" name="tile label"/>
          <p:cNvSpPr txBox="1"/>
          <p:nvPr/>
        </p:nvSpPr>
        <p:spPr>
          <a:xfrm>
            <a:off x="8188960" y="3019958"/>
            <a:ext cx="284480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iCloud can't modify files mid-compile</a:t>
            </a:r>
            <a:endParaRPr sz="1440"/>
          </a:p>
        </p:txBody>
      </p:sp>
      <p:sp>
        <p:nvSpPr>
          <p:cNvPr id="16" name="tile"/>
          <p:cNvSpPr/>
          <p:nvPr/>
        </p:nvSpPr>
        <p:spPr>
          <a:xfrm>
            <a:off x="914400" y="4392854"/>
            <a:ext cx="3332480" cy="1855546"/>
          </a:xfrm>
          <a:prstGeom prst="roundRect">
            <a:avLst>
              <a:gd name="adj" fmla="val 9034"/>
            </a:avLst>
          </a:prstGeom>
          <a:solidFill>
            <a:srgbClr val="F5F5F7"/>
          </a:solidFill>
          <a:ln>
            <a:noFill/>
          </a:ln>
        </p:spPr>
        <p:txBody>
          <a:bodyPr rtlCol="0" anchor="ctr"/>
          <a:lstStyle/>
          <a:p>
            <a:pPr algn="ctr"/>
          </a:p>
        </p:txBody>
      </p:sp>
      <p:sp>
        <p:nvSpPr>
          <p:cNvPr id="17" name="tile value"/>
          <p:cNvSpPr txBox="1"/>
          <p:nvPr/>
        </p:nvSpPr>
        <p:spPr>
          <a:xfrm>
            <a:off x="1158240" y="4590974"/>
            <a:ext cx="2844800" cy="375971"/>
          </a:xfrm>
          <a:prstGeom prst="rect">
            <a:avLst/>
          </a:prstGeom>
          <a:noFill/>
        </p:spPr>
        <p:txBody>
          <a:bodyPr wrap="square" lIns="0" tIns="0" rIns="0" bIns="0" anchor="t">
            <a:noAutofit/>
          </a:bodyPr>
          <a:lstStyle/>
          <a:p>
            <a:pPr algn="l">
              <a:lnSpc>
                <a:spcPts val="2957"/>
              </a:lnSpc>
              <a:spcBef>
                <a:spcPts val="0"/>
              </a:spcBef>
              <a:spcAft>
                <a:spcPts val="0"/>
              </a:spcAft>
            </a:pPr>
            <a:r>
              <a:rPr sz="2640" b="0" i="0" spc="-26">
                <a:solidFill>
                  <a:srgbClr val="F01822"/>
                </a:solidFill>
                <a:latin typeface="Helvetica Neue Medium"/>
              </a:rPr>
              <a:t>Stable signing</a:t>
            </a:r>
            <a:endParaRPr sz="2640"/>
          </a:p>
        </p:txBody>
      </p:sp>
      <p:sp>
        <p:nvSpPr>
          <p:cNvPr id="18" name="tile label"/>
          <p:cNvSpPr txBox="1"/>
          <p:nvPr/>
        </p:nvSpPr>
        <p:spPr>
          <a:xfrm>
            <a:off x="1158240" y="5058385"/>
            <a:ext cx="284480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permission grants survive every rebuild</a:t>
            </a:r>
            <a:endParaRPr sz="1440"/>
          </a:p>
        </p:txBody>
      </p:sp>
      <p:sp>
        <p:nvSpPr>
          <p:cNvPr id="19" name="tile"/>
          <p:cNvSpPr/>
          <p:nvPr/>
        </p:nvSpPr>
        <p:spPr>
          <a:xfrm>
            <a:off x="4429760" y="4392854"/>
            <a:ext cx="3332480" cy="1855546"/>
          </a:xfrm>
          <a:prstGeom prst="roundRect">
            <a:avLst>
              <a:gd name="adj" fmla="val 9034"/>
            </a:avLst>
          </a:prstGeom>
          <a:solidFill>
            <a:srgbClr val="F5F5F7"/>
          </a:solidFill>
          <a:ln>
            <a:noFill/>
          </a:ln>
        </p:spPr>
        <p:txBody>
          <a:bodyPr rtlCol="0" anchor="ctr"/>
          <a:lstStyle/>
          <a:p>
            <a:pPr algn="ctr"/>
          </a:p>
        </p:txBody>
      </p:sp>
      <p:sp>
        <p:nvSpPr>
          <p:cNvPr id="20" name="tile value"/>
          <p:cNvSpPr txBox="1"/>
          <p:nvPr/>
        </p:nvSpPr>
        <p:spPr>
          <a:xfrm>
            <a:off x="4673600" y="4590974"/>
            <a:ext cx="2844800" cy="375971"/>
          </a:xfrm>
          <a:prstGeom prst="rect">
            <a:avLst/>
          </a:prstGeom>
          <a:noFill/>
        </p:spPr>
        <p:txBody>
          <a:bodyPr wrap="square" lIns="0" tIns="0" rIns="0" bIns="0" anchor="t">
            <a:noAutofit/>
          </a:bodyPr>
          <a:lstStyle/>
          <a:p>
            <a:pPr algn="l">
              <a:lnSpc>
                <a:spcPts val="2957"/>
              </a:lnSpc>
              <a:spcBef>
                <a:spcPts val="0"/>
              </a:spcBef>
              <a:spcAft>
                <a:spcPts val="0"/>
              </a:spcAft>
            </a:pPr>
            <a:r>
              <a:rPr sz="2640" b="0" i="0" spc="-26">
                <a:solidFill>
                  <a:srgbClr val="1D1D1F"/>
                </a:solidFill>
                <a:latin typeface="Helvetica Neue Light"/>
              </a:rPr>
              <a:t>Hardened Runtime</a:t>
            </a:r>
            <a:endParaRPr sz="2640"/>
          </a:p>
        </p:txBody>
      </p:sp>
      <p:sp>
        <p:nvSpPr>
          <p:cNvPr id="21" name="tile label"/>
          <p:cNvSpPr txBox="1"/>
          <p:nvPr/>
        </p:nvSpPr>
        <p:spPr>
          <a:xfrm>
            <a:off x="4673600" y="5058385"/>
            <a:ext cx="284480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explicit camera, mic, calendar, Apple Events entitlements</a:t>
            </a:r>
            <a:endParaRPr sz="1440"/>
          </a:p>
        </p:txBody>
      </p:sp>
      <p:sp>
        <p:nvSpPr>
          <p:cNvPr id="22" name="tile"/>
          <p:cNvSpPr/>
          <p:nvPr/>
        </p:nvSpPr>
        <p:spPr>
          <a:xfrm>
            <a:off x="7945120" y="4392854"/>
            <a:ext cx="3332480" cy="1855546"/>
          </a:xfrm>
          <a:prstGeom prst="roundRect">
            <a:avLst>
              <a:gd name="adj" fmla="val 9034"/>
            </a:avLst>
          </a:prstGeom>
          <a:solidFill>
            <a:srgbClr val="F5F5F7"/>
          </a:solidFill>
          <a:ln>
            <a:noFill/>
          </a:ln>
        </p:spPr>
        <p:txBody>
          <a:bodyPr rtlCol="0" anchor="ctr"/>
          <a:lstStyle/>
          <a:p>
            <a:pPr algn="ctr"/>
          </a:p>
        </p:txBody>
      </p:sp>
      <p:sp>
        <p:nvSpPr>
          <p:cNvPr id="23" name="tile value"/>
          <p:cNvSpPr txBox="1"/>
          <p:nvPr/>
        </p:nvSpPr>
        <p:spPr>
          <a:xfrm>
            <a:off x="8188960" y="4590974"/>
            <a:ext cx="2844800" cy="751484"/>
          </a:xfrm>
          <a:prstGeom prst="rect">
            <a:avLst/>
          </a:prstGeom>
          <a:noFill/>
        </p:spPr>
        <p:txBody>
          <a:bodyPr wrap="square" lIns="0" tIns="0" rIns="0" bIns="0" anchor="t">
            <a:noAutofit/>
          </a:bodyPr>
          <a:lstStyle/>
          <a:p>
            <a:pPr algn="l">
              <a:lnSpc>
                <a:spcPts val="2957"/>
              </a:lnSpc>
              <a:spcBef>
                <a:spcPts val="0"/>
              </a:spcBef>
              <a:spcAft>
                <a:spcPts val="0"/>
              </a:spcAft>
            </a:pPr>
            <a:r>
              <a:rPr sz="2640" b="0" i="0" spc="-26">
                <a:solidFill>
                  <a:srgbClr val="1D1D1F"/>
                </a:solidFill>
                <a:latin typeface="Helvetica Neue Light"/>
              </a:rPr>
              <a:t>Real-source harnesses</a:t>
            </a:r>
            <a:endParaRPr sz="2640"/>
          </a:p>
        </p:txBody>
      </p:sp>
      <p:sp>
        <p:nvSpPr>
          <p:cNvPr id="24" name="tile label"/>
          <p:cNvSpPr txBox="1"/>
          <p:nvPr/>
        </p:nvSpPr>
        <p:spPr>
          <a:xfrm>
            <a:off x="8188960" y="5433898"/>
            <a:ext cx="284480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Swift 5 and 6, private pasteboards</a:t>
            </a:r>
            <a:endParaRPr sz="144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SparkV · Technical briefing</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18</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Engineering</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Harness checks passing on 22 Oct 2026</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A small toolchain and strict habits</a:t>
            </a:r>
            <a:endParaRPr sz="1680"/>
          </a:p>
        </p:txBody>
      </p:sp>
      <p:sp>
        <p:nvSpPr>
          <p:cNvPr id="7" name="chart card"/>
          <p:cNvSpPr/>
          <p:nvPr/>
        </p:nvSpPr>
        <p:spPr>
          <a:xfrm>
            <a:off x="914400" y="2308708"/>
            <a:ext cx="6827520" cy="3939692"/>
          </a:xfrm>
          <a:prstGeom prst="roundRect">
            <a:avLst>
              <a:gd name="adj" fmla="val 4255"/>
            </a:avLst>
          </a:prstGeom>
          <a:solidFill>
            <a:srgbClr val="F5F5F7"/>
          </a:solidFill>
          <a:ln>
            <a:noFill/>
          </a:ln>
        </p:spPr>
        <p:txBody>
          <a:bodyPr rtlCol="0" anchor="ctr"/>
          <a:lstStyle/>
          <a:p>
            <a:pPr algn="ctr"/>
          </a:p>
        </p:txBody>
      </p:sp>
      <p:sp>
        <p:nvSpPr>
          <p:cNvPr id="8" name="chart source"/>
          <p:cNvSpPr txBox="1"/>
          <p:nvPr/>
        </p:nvSpPr>
        <p:spPr>
          <a:xfrm>
            <a:off x="1158240" y="5915711"/>
            <a:ext cx="6339840" cy="119329"/>
          </a:xfrm>
          <a:prstGeom prst="rect">
            <a:avLst/>
          </a:prstGeom>
          <a:noFill/>
        </p:spPr>
        <p:txBody>
          <a:bodyPr wrap="square" lIns="0" tIns="0" rIns="0" bIns="0" anchor="t">
            <a:noAutofit/>
          </a:bodyPr>
          <a:lstStyle/>
          <a:p>
            <a:pPr algn="l">
              <a:lnSpc>
                <a:spcPts val="936"/>
              </a:lnSpc>
              <a:spcBef>
                <a:spcPts val="0"/>
              </a:spcBef>
              <a:spcAft>
                <a:spcPts val="0"/>
              </a:spcAft>
            </a:pPr>
            <a:r>
              <a:rPr sz="780" b="0" i="0">
                <a:solidFill>
                  <a:srgbClr val="86868B"/>
                </a:solidFill>
                <a:latin typeface="Helvetica Neue"/>
              </a:rPr>
              <a:t>Source: Feature Guide, Verification summary</a:t>
            </a:r>
            <a:endParaRPr sz="780"/>
          </a:p>
        </p:txBody>
      </p:sp>
      <p:graphicFrame>
        <p:nvGraphicFramePr>
          <p:cNvPr id="9" name="chart"/>
          <p:cNvGraphicFramePr>
            <a:graphicFrameLocks noGrp="1"/>
          </p:cNvGraphicFramePr>
          <p:nvPr/>
        </p:nvGraphicFramePr>
        <p:xfrm>
          <a:off x="1158240" y="2522068"/>
          <a:ext cx="6339840" cy="3302660"/>
        </p:xfrm>
        <a:graphic>
          <a:graphicData uri="http://schemas.openxmlformats.org/drawingml/2006/chart">
            <c:chart xmlns:c="http://schemas.openxmlformats.org/drawingml/2006/chart" r:id="rId3"/>
          </a:graphicData>
        </a:graphic>
      </p:graphicFrame>
      <p:cxnSp>
        <p:nvCxnSpPr>
          <p:cNvPr id="10" name="list rule"/>
          <p:cNvCxnSpPr/>
          <p:nvPr/>
        </p:nvCxnSpPr>
        <p:spPr>
          <a:xfrm>
            <a:off x="7985760" y="2308708"/>
            <a:ext cx="3291840" cy="0"/>
          </a:xfrm>
          <a:prstGeom prst="line">
            <a:avLst/>
          </a:prstGeom>
          <a:ln w="9525">
            <a:solidFill>
              <a:srgbClr val="D2D2D7"/>
            </a:solidFill>
          </a:ln>
        </p:spPr>
      </p:cxnSp>
      <p:sp>
        <p:nvSpPr>
          <p:cNvPr id="11" name="tb"/>
          <p:cNvSpPr txBox="1"/>
          <p:nvPr/>
        </p:nvSpPr>
        <p:spPr>
          <a:xfrm>
            <a:off x="7985760" y="2445868"/>
            <a:ext cx="3291840" cy="1024585"/>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1D1D1F"/>
                </a:solidFill>
                <a:latin typeface="Helvetica Neue Medium"/>
              </a:rPr>
              <a:t>Log scale.</a:t>
            </a:r>
            <a:r>
              <a:rPr sz="1440" b="0" i="0">
                <a:solidFill>
                  <a:srgbClr val="6E6E73"/>
                </a:solidFill>
                <a:latin typeface="Helvetica Neue"/>
              </a:rPr>
              <a:t> The widget harness sweeps time zones and has far more checks than the others; don't read it as a coverage ranking.</a:t>
            </a:r>
            <a:endParaRPr sz="1440"/>
          </a:p>
        </p:txBody>
      </p:sp>
      <p:cxnSp>
        <p:nvCxnSpPr>
          <p:cNvPr id="12" name="list rule"/>
          <p:cNvCxnSpPr/>
          <p:nvPr/>
        </p:nvCxnSpPr>
        <p:spPr>
          <a:xfrm>
            <a:off x="7985760" y="3653333"/>
            <a:ext cx="3291840" cy="0"/>
          </a:xfrm>
          <a:prstGeom prst="line">
            <a:avLst/>
          </a:prstGeom>
          <a:ln w="9525">
            <a:solidFill>
              <a:srgbClr val="D2D2D7"/>
            </a:solidFill>
          </a:ln>
        </p:spPr>
      </p:cxnSp>
      <p:sp>
        <p:nvSpPr>
          <p:cNvPr id="13" name="tb"/>
          <p:cNvSpPr txBox="1"/>
          <p:nvPr/>
        </p:nvSpPr>
        <p:spPr>
          <a:xfrm>
            <a:off x="7985760" y="3790493"/>
            <a:ext cx="329184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1D1D1F"/>
                </a:solidFill>
                <a:latin typeface="Helvetica Neue Medium"/>
              </a:rPr>
              <a:t>Browser Flows recorder self-test:</a:t>
            </a:r>
            <a:r>
              <a:rPr sz="1440" b="0" i="0">
                <a:solidFill>
                  <a:srgbClr val="6E6E73"/>
                </a:solidFill>
                <a:latin typeface="Helvetica Neue"/>
              </a:rPr>
              <a:t> not clean, so no bar is drawn.</a:t>
            </a:r>
            <a:endParaRPr sz="144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Sandbox constraints: Business Plan §5.</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19</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Distribution</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Light"/>
              </a:rPr>
              <a:t>Shipping outside the Mac App Store</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What the sandbox blocks, and the release pipeline we're adding</a:t>
            </a:r>
            <a:endParaRPr sz="1680"/>
          </a:p>
        </p:txBody>
      </p:sp>
      <p:sp>
        <p:nvSpPr>
          <p:cNvPr id="7" name="column head"/>
          <p:cNvSpPr txBox="1"/>
          <p:nvPr/>
        </p:nvSpPr>
        <p:spPr>
          <a:xfrm>
            <a:off x="914400" y="2514143"/>
            <a:ext cx="505968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WHY NOT THE APP STORE</a:t>
            </a:r>
            <a:endParaRPr sz="900"/>
          </a:p>
        </p:txBody>
      </p:sp>
      <p:cxnSp>
        <p:nvCxnSpPr>
          <p:cNvPr id="8" name="column head rule"/>
          <p:cNvCxnSpPr/>
          <p:nvPr/>
        </p:nvCxnSpPr>
        <p:spPr>
          <a:xfrm>
            <a:off x="914400" y="2761488"/>
            <a:ext cx="5059680" cy="0"/>
          </a:xfrm>
          <a:prstGeom prst="line">
            <a:avLst/>
          </a:prstGeom>
          <a:ln w="9525">
            <a:solidFill>
              <a:srgbClr val="1D1D1F"/>
            </a:solidFill>
          </a:ln>
        </p:spPr>
      </p:cxnSp>
      <p:grpSp>
        <p:nvGrpSpPr>
          <p:cNvPr id="9" name="cross mark"/>
          <p:cNvGrpSpPr/>
          <p:nvPr/>
        </p:nvGrpSpPr>
        <p:grpSpPr>
          <a:xfrm>
            <a:off x="965241" y="2954061"/>
            <a:ext cx="90342" cy="90342"/>
            <a:chOff x="965241" y="2954061"/>
            <a:chExt cx="90342" cy="90342"/>
          </a:xfrm>
        </p:grpSpPr>
        <p:cxnSp>
          <p:nvCxnSpPr>
            <p:cNvPr id="10" name="Connector 9"/>
            <p:cNvCxnSpPr/>
            <p:nvPr/>
          </p:nvCxnSpPr>
          <p:spPr>
            <a:xfrm>
              <a:off x="965241" y="2954061"/>
              <a:ext cx="90342" cy="90342"/>
            </a:xfrm>
            <a:prstGeom prst="line">
              <a:avLst/>
            </a:prstGeom>
            <a:ln w="19050">
              <a:solidFill>
                <a:srgbClr val="86868B"/>
              </a:solidFill>
            </a:ln>
          </p:spPr>
        </p:cxnSp>
        <p:cxnSp>
          <p:nvCxnSpPr>
            <p:cNvPr id="11" name="Connector 10"/>
            <p:cNvCxnSpPr/>
            <p:nvPr/>
          </p:nvCxnSpPr>
          <p:spPr>
            <a:xfrm flipH="1">
              <a:off x="965241" y="2954061"/>
              <a:ext cx="90342" cy="90342"/>
            </a:xfrm>
            <a:prstGeom prst="line">
              <a:avLst/>
            </a:prstGeom>
            <a:ln w="19050">
              <a:solidFill>
                <a:srgbClr val="86868B"/>
              </a:solidFill>
            </a:ln>
          </p:spPr>
        </p:cxnSp>
      </p:grpSp>
      <p:sp>
        <p:nvSpPr>
          <p:cNvPr id="12" name="item"/>
          <p:cNvSpPr txBox="1"/>
          <p:nvPr/>
        </p:nvSpPr>
        <p:spPr>
          <a:xfrm>
            <a:off x="1371600" y="2871216"/>
            <a:ext cx="460248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Accessibility APIs don't work in the App Sandbox</a:t>
            </a:r>
            <a:endParaRPr sz="1440"/>
          </a:p>
        </p:txBody>
      </p:sp>
      <p:cxnSp>
        <p:nvCxnSpPr>
          <p:cNvPr id="13" name="row rule"/>
          <p:cNvCxnSpPr/>
          <p:nvPr/>
        </p:nvCxnSpPr>
        <p:spPr>
          <a:xfrm>
            <a:off x="914400" y="3237433"/>
            <a:ext cx="5059680" cy="0"/>
          </a:xfrm>
          <a:prstGeom prst="line">
            <a:avLst/>
          </a:prstGeom>
          <a:ln w="9525">
            <a:solidFill>
              <a:srgbClr val="D2D2D7"/>
            </a:solidFill>
          </a:ln>
        </p:spPr>
      </p:cxnSp>
      <p:grpSp>
        <p:nvGrpSpPr>
          <p:cNvPr id="14" name="cross mark"/>
          <p:cNvGrpSpPr/>
          <p:nvPr/>
        </p:nvGrpSpPr>
        <p:grpSpPr>
          <a:xfrm>
            <a:off x="965241" y="3430006"/>
            <a:ext cx="90342" cy="90343"/>
            <a:chOff x="965241" y="3430006"/>
            <a:chExt cx="90342" cy="90343"/>
          </a:xfrm>
        </p:grpSpPr>
        <p:cxnSp>
          <p:nvCxnSpPr>
            <p:cNvPr id="15" name="Connector 14"/>
            <p:cNvCxnSpPr/>
            <p:nvPr/>
          </p:nvCxnSpPr>
          <p:spPr>
            <a:xfrm>
              <a:off x="965241" y="3430006"/>
              <a:ext cx="90342" cy="90343"/>
            </a:xfrm>
            <a:prstGeom prst="line">
              <a:avLst/>
            </a:prstGeom>
            <a:ln w="19050">
              <a:solidFill>
                <a:srgbClr val="86868B"/>
              </a:solidFill>
            </a:ln>
          </p:spPr>
        </p:cxnSp>
        <p:cxnSp>
          <p:nvCxnSpPr>
            <p:cNvPr id="16" name="Connector 15"/>
            <p:cNvCxnSpPr/>
            <p:nvPr/>
          </p:nvCxnSpPr>
          <p:spPr>
            <a:xfrm flipH="1">
              <a:off x="965241" y="3430006"/>
              <a:ext cx="90342" cy="90343"/>
            </a:xfrm>
            <a:prstGeom prst="line">
              <a:avLst/>
            </a:prstGeom>
            <a:ln w="19050">
              <a:solidFill>
                <a:srgbClr val="86868B"/>
              </a:solidFill>
            </a:ln>
          </p:spPr>
        </p:cxnSp>
      </p:grpSp>
      <p:sp>
        <p:nvSpPr>
          <p:cNvPr id="17" name="item"/>
          <p:cNvSpPr txBox="1"/>
          <p:nvPr/>
        </p:nvSpPr>
        <p:spPr>
          <a:xfrm>
            <a:off x="1371600" y="3347161"/>
            <a:ext cx="460248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Event taps and CGEvent.post for fn, media keys and paste</a:t>
            </a:r>
            <a:endParaRPr sz="1440"/>
          </a:p>
        </p:txBody>
      </p:sp>
      <p:cxnSp>
        <p:nvCxnSpPr>
          <p:cNvPr id="18" name="row rule"/>
          <p:cNvCxnSpPr/>
          <p:nvPr/>
        </p:nvCxnSpPr>
        <p:spPr>
          <a:xfrm>
            <a:off x="914400" y="3969410"/>
            <a:ext cx="5059680" cy="0"/>
          </a:xfrm>
          <a:prstGeom prst="line">
            <a:avLst/>
          </a:prstGeom>
          <a:ln w="9525">
            <a:solidFill>
              <a:srgbClr val="D2D2D7"/>
            </a:solidFill>
          </a:ln>
        </p:spPr>
      </p:cxnSp>
      <p:grpSp>
        <p:nvGrpSpPr>
          <p:cNvPr id="19" name="cross mark"/>
          <p:cNvGrpSpPr/>
          <p:nvPr/>
        </p:nvGrpSpPr>
        <p:grpSpPr>
          <a:xfrm>
            <a:off x="965241" y="4161983"/>
            <a:ext cx="90342" cy="90343"/>
            <a:chOff x="965241" y="4161983"/>
            <a:chExt cx="90342" cy="90343"/>
          </a:xfrm>
        </p:grpSpPr>
        <p:cxnSp>
          <p:nvCxnSpPr>
            <p:cNvPr id="20" name="Connector 19"/>
            <p:cNvCxnSpPr/>
            <p:nvPr/>
          </p:nvCxnSpPr>
          <p:spPr>
            <a:xfrm>
              <a:off x="965241" y="4161983"/>
              <a:ext cx="90342" cy="90343"/>
            </a:xfrm>
            <a:prstGeom prst="line">
              <a:avLst/>
            </a:prstGeom>
            <a:ln w="19050">
              <a:solidFill>
                <a:srgbClr val="86868B"/>
              </a:solidFill>
            </a:ln>
          </p:spPr>
        </p:cxnSp>
        <p:cxnSp>
          <p:nvCxnSpPr>
            <p:cNvPr id="21" name="Connector 20"/>
            <p:cNvCxnSpPr/>
            <p:nvPr/>
          </p:nvCxnSpPr>
          <p:spPr>
            <a:xfrm flipH="1">
              <a:off x="965241" y="4161983"/>
              <a:ext cx="90342" cy="90343"/>
            </a:xfrm>
            <a:prstGeom prst="line">
              <a:avLst/>
            </a:prstGeom>
            <a:ln w="19050">
              <a:solidFill>
                <a:srgbClr val="86868B"/>
              </a:solidFill>
            </a:ln>
          </p:spPr>
        </p:cxnSp>
      </p:grpSp>
      <p:sp>
        <p:nvSpPr>
          <p:cNvPr id="22" name="item"/>
          <p:cNvSpPr txBox="1"/>
          <p:nvPr/>
        </p:nvSpPr>
        <p:spPr>
          <a:xfrm>
            <a:off x="1371600" y="4079138"/>
            <a:ext cx="460248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Private DisplayServices and MediaRemote (via /usr/bin/perl)</a:t>
            </a:r>
            <a:endParaRPr sz="1440"/>
          </a:p>
        </p:txBody>
      </p:sp>
      <p:cxnSp>
        <p:nvCxnSpPr>
          <p:cNvPr id="23" name="row rule"/>
          <p:cNvCxnSpPr/>
          <p:nvPr/>
        </p:nvCxnSpPr>
        <p:spPr>
          <a:xfrm>
            <a:off x="914400" y="4701388"/>
            <a:ext cx="5059680" cy="0"/>
          </a:xfrm>
          <a:prstGeom prst="line">
            <a:avLst/>
          </a:prstGeom>
          <a:ln w="9525">
            <a:solidFill>
              <a:srgbClr val="D2D2D7"/>
            </a:solidFill>
          </a:ln>
        </p:spPr>
      </p:cxnSp>
      <p:grpSp>
        <p:nvGrpSpPr>
          <p:cNvPr id="24" name="cross mark"/>
          <p:cNvGrpSpPr/>
          <p:nvPr/>
        </p:nvGrpSpPr>
        <p:grpSpPr>
          <a:xfrm>
            <a:off x="965241" y="4893960"/>
            <a:ext cx="90342" cy="90343"/>
            <a:chOff x="965241" y="4893960"/>
            <a:chExt cx="90342" cy="90343"/>
          </a:xfrm>
        </p:grpSpPr>
        <p:cxnSp>
          <p:nvCxnSpPr>
            <p:cNvPr id="25" name="Connector 24"/>
            <p:cNvCxnSpPr/>
            <p:nvPr/>
          </p:nvCxnSpPr>
          <p:spPr>
            <a:xfrm>
              <a:off x="965241" y="4893960"/>
              <a:ext cx="90342" cy="90343"/>
            </a:xfrm>
            <a:prstGeom prst="line">
              <a:avLst/>
            </a:prstGeom>
            <a:ln w="19050">
              <a:solidFill>
                <a:srgbClr val="86868B"/>
              </a:solidFill>
            </a:ln>
          </p:spPr>
        </p:cxnSp>
        <p:cxnSp>
          <p:nvCxnSpPr>
            <p:cNvPr id="26" name="Connector 25"/>
            <p:cNvCxnSpPr/>
            <p:nvPr/>
          </p:nvCxnSpPr>
          <p:spPr>
            <a:xfrm flipH="1">
              <a:off x="965241" y="4893960"/>
              <a:ext cx="90342" cy="90343"/>
            </a:xfrm>
            <a:prstGeom prst="line">
              <a:avLst/>
            </a:prstGeom>
            <a:ln w="19050">
              <a:solidFill>
                <a:srgbClr val="86868B"/>
              </a:solidFill>
            </a:ln>
          </p:spPr>
        </p:cxnSp>
      </p:grpSp>
      <p:sp>
        <p:nvSpPr>
          <p:cNvPr id="27" name="item"/>
          <p:cNvSpPr txBox="1"/>
          <p:nvPr/>
        </p:nvSpPr>
        <p:spPr>
          <a:xfrm>
            <a:off x="1371600" y="4811116"/>
            <a:ext cx="460248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Spawning Node, Playwright and /usr/bin/shortcuts</a:t>
            </a:r>
            <a:endParaRPr sz="1440"/>
          </a:p>
        </p:txBody>
      </p:sp>
      <p:cxnSp>
        <p:nvCxnSpPr>
          <p:cNvPr id="28" name="row rule"/>
          <p:cNvCxnSpPr/>
          <p:nvPr/>
        </p:nvCxnSpPr>
        <p:spPr>
          <a:xfrm>
            <a:off x="914400" y="5177333"/>
            <a:ext cx="5059680" cy="0"/>
          </a:xfrm>
          <a:prstGeom prst="line">
            <a:avLst/>
          </a:prstGeom>
          <a:ln w="9525">
            <a:solidFill>
              <a:srgbClr val="D2D2D7"/>
            </a:solidFill>
          </a:ln>
        </p:spPr>
      </p:cxnSp>
      <p:sp>
        <p:nvSpPr>
          <p:cNvPr id="29" name="column head"/>
          <p:cNvSpPr txBox="1"/>
          <p:nvPr/>
        </p:nvSpPr>
        <p:spPr>
          <a:xfrm>
            <a:off x="6217920" y="2514143"/>
            <a:ext cx="505968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1D1D1F"/>
                </a:solidFill>
                <a:latin typeface="Helvetica Neue Medium"/>
              </a:rPr>
              <a:t>DEVELOPER ID PIPELINE (PLANNED)</a:t>
            </a:r>
            <a:endParaRPr sz="900"/>
          </a:p>
        </p:txBody>
      </p:sp>
      <p:cxnSp>
        <p:nvCxnSpPr>
          <p:cNvPr id="30" name="column head rule"/>
          <p:cNvCxnSpPr/>
          <p:nvPr/>
        </p:nvCxnSpPr>
        <p:spPr>
          <a:xfrm>
            <a:off x="6217920" y="2761488"/>
            <a:ext cx="5059680" cy="0"/>
          </a:xfrm>
          <a:prstGeom prst="line">
            <a:avLst/>
          </a:prstGeom>
          <a:ln w="9525">
            <a:solidFill>
              <a:srgbClr val="1D1D1F"/>
            </a:solidFill>
          </a:ln>
        </p:spPr>
      </p:cxnSp>
      <p:sp>
        <p:nvSpPr>
          <p:cNvPr id="31" name="step number"/>
          <p:cNvSpPr txBox="1"/>
          <p:nvPr/>
        </p:nvSpPr>
        <p:spPr>
          <a:xfrm>
            <a:off x="6217920" y="2871216"/>
            <a:ext cx="411480" cy="238201"/>
          </a:xfrm>
          <a:prstGeom prst="rect">
            <a:avLst/>
          </a:prstGeom>
          <a:noFill/>
        </p:spPr>
        <p:txBody>
          <a:bodyPr wrap="square" lIns="0" tIns="0" rIns="0" bIns="0" anchor="t">
            <a:noAutofit/>
          </a:bodyPr>
          <a:lstStyle/>
          <a:p>
            <a:pPr algn="l">
              <a:lnSpc>
                <a:spcPts val="1872"/>
              </a:lnSpc>
              <a:spcBef>
                <a:spcPts val="0"/>
              </a:spcBef>
              <a:spcAft>
                <a:spcPts val="0"/>
              </a:spcAft>
            </a:pPr>
            <a:r>
              <a:rPr sz="1440" b="0" i="0">
                <a:solidFill>
                  <a:srgbClr val="1D1D1F"/>
                </a:solidFill>
                <a:latin typeface="Helvetica Neue Medium"/>
              </a:rPr>
              <a:t>01</a:t>
            </a:r>
            <a:endParaRPr sz="1440"/>
          </a:p>
        </p:txBody>
      </p:sp>
      <p:sp>
        <p:nvSpPr>
          <p:cNvPr id="32" name="item"/>
          <p:cNvSpPr txBox="1"/>
          <p:nvPr/>
        </p:nvSpPr>
        <p:spPr>
          <a:xfrm>
            <a:off x="6675120" y="2871216"/>
            <a:ext cx="460248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Developer ID Application cert replaces the local identity</a:t>
            </a:r>
            <a:endParaRPr sz="1440"/>
          </a:p>
        </p:txBody>
      </p:sp>
      <p:cxnSp>
        <p:nvCxnSpPr>
          <p:cNvPr id="33" name="row rule"/>
          <p:cNvCxnSpPr/>
          <p:nvPr/>
        </p:nvCxnSpPr>
        <p:spPr>
          <a:xfrm>
            <a:off x="6217920" y="3493465"/>
            <a:ext cx="5059680" cy="0"/>
          </a:xfrm>
          <a:prstGeom prst="line">
            <a:avLst/>
          </a:prstGeom>
          <a:ln w="9525">
            <a:solidFill>
              <a:srgbClr val="D2D2D7"/>
            </a:solidFill>
          </a:ln>
        </p:spPr>
      </p:cxnSp>
      <p:sp>
        <p:nvSpPr>
          <p:cNvPr id="34" name="step number"/>
          <p:cNvSpPr txBox="1"/>
          <p:nvPr/>
        </p:nvSpPr>
        <p:spPr>
          <a:xfrm>
            <a:off x="6217920" y="3603193"/>
            <a:ext cx="411480" cy="238201"/>
          </a:xfrm>
          <a:prstGeom prst="rect">
            <a:avLst/>
          </a:prstGeom>
          <a:noFill/>
        </p:spPr>
        <p:txBody>
          <a:bodyPr wrap="square" lIns="0" tIns="0" rIns="0" bIns="0" anchor="t">
            <a:noAutofit/>
          </a:bodyPr>
          <a:lstStyle/>
          <a:p>
            <a:pPr algn="l">
              <a:lnSpc>
                <a:spcPts val="1872"/>
              </a:lnSpc>
              <a:spcBef>
                <a:spcPts val="0"/>
              </a:spcBef>
              <a:spcAft>
                <a:spcPts val="0"/>
              </a:spcAft>
            </a:pPr>
            <a:r>
              <a:rPr sz="1440" b="0" i="0">
                <a:solidFill>
                  <a:srgbClr val="1D1D1F"/>
                </a:solidFill>
                <a:latin typeface="Helvetica Neue Medium"/>
              </a:rPr>
              <a:t>02</a:t>
            </a:r>
            <a:endParaRPr sz="1440"/>
          </a:p>
        </p:txBody>
      </p:sp>
      <p:sp>
        <p:nvSpPr>
          <p:cNvPr id="35" name="item"/>
          <p:cNvSpPr txBox="1"/>
          <p:nvPr/>
        </p:nvSpPr>
        <p:spPr>
          <a:xfrm>
            <a:off x="6675120" y="3603193"/>
            <a:ext cx="460248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Sign nested code with --options runtime --timestamp</a:t>
            </a:r>
            <a:endParaRPr sz="1440"/>
          </a:p>
        </p:txBody>
      </p:sp>
      <p:cxnSp>
        <p:nvCxnSpPr>
          <p:cNvPr id="36" name="row rule"/>
          <p:cNvCxnSpPr/>
          <p:nvPr/>
        </p:nvCxnSpPr>
        <p:spPr>
          <a:xfrm>
            <a:off x="6217920" y="3969410"/>
            <a:ext cx="5059680" cy="0"/>
          </a:xfrm>
          <a:prstGeom prst="line">
            <a:avLst/>
          </a:prstGeom>
          <a:ln w="9525">
            <a:solidFill>
              <a:srgbClr val="D2D2D7"/>
            </a:solidFill>
          </a:ln>
        </p:spPr>
      </p:cxnSp>
      <p:sp>
        <p:nvSpPr>
          <p:cNvPr id="37" name="step number"/>
          <p:cNvSpPr txBox="1"/>
          <p:nvPr/>
        </p:nvSpPr>
        <p:spPr>
          <a:xfrm>
            <a:off x="6217920" y="4079138"/>
            <a:ext cx="411480" cy="238201"/>
          </a:xfrm>
          <a:prstGeom prst="rect">
            <a:avLst/>
          </a:prstGeom>
          <a:noFill/>
        </p:spPr>
        <p:txBody>
          <a:bodyPr wrap="square" lIns="0" tIns="0" rIns="0" bIns="0" anchor="t">
            <a:noAutofit/>
          </a:bodyPr>
          <a:lstStyle/>
          <a:p>
            <a:pPr algn="l">
              <a:lnSpc>
                <a:spcPts val="1872"/>
              </a:lnSpc>
              <a:spcBef>
                <a:spcPts val="0"/>
              </a:spcBef>
              <a:spcAft>
                <a:spcPts val="0"/>
              </a:spcAft>
            </a:pPr>
            <a:r>
              <a:rPr sz="1440" b="0" i="0">
                <a:solidFill>
                  <a:srgbClr val="1D1D1F"/>
                </a:solidFill>
                <a:latin typeface="Helvetica Neue Medium"/>
              </a:rPr>
              <a:t>03</a:t>
            </a:r>
            <a:endParaRPr sz="1440"/>
          </a:p>
        </p:txBody>
      </p:sp>
      <p:sp>
        <p:nvSpPr>
          <p:cNvPr id="38" name="item"/>
          <p:cNvSpPr txBox="1"/>
          <p:nvPr/>
        </p:nvSpPr>
        <p:spPr>
          <a:xfrm>
            <a:off x="6675120" y="4079138"/>
            <a:ext cx="460248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notarytool submit --wait, then stapler staple</a:t>
            </a:r>
            <a:endParaRPr sz="1440"/>
          </a:p>
        </p:txBody>
      </p:sp>
      <p:cxnSp>
        <p:nvCxnSpPr>
          <p:cNvPr id="39" name="row rule"/>
          <p:cNvCxnSpPr/>
          <p:nvPr/>
        </p:nvCxnSpPr>
        <p:spPr>
          <a:xfrm>
            <a:off x="6217920" y="4445356"/>
            <a:ext cx="5059680" cy="0"/>
          </a:xfrm>
          <a:prstGeom prst="line">
            <a:avLst/>
          </a:prstGeom>
          <a:ln w="9525">
            <a:solidFill>
              <a:srgbClr val="D2D2D7"/>
            </a:solidFill>
          </a:ln>
        </p:spPr>
      </p:cxnSp>
      <p:sp>
        <p:nvSpPr>
          <p:cNvPr id="40" name="step number"/>
          <p:cNvSpPr txBox="1"/>
          <p:nvPr/>
        </p:nvSpPr>
        <p:spPr>
          <a:xfrm>
            <a:off x="6217920" y="4555084"/>
            <a:ext cx="411480" cy="238201"/>
          </a:xfrm>
          <a:prstGeom prst="rect">
            <a:avLst/>
          </a:prstGeom>
          <a:noFill/>
        </p:spPr>
        <p:txBody>
          <a:bodyPr wrap="square" lIns="0" tIns="0" rIns="0" bIns="0" anchor="t">
            <a:noAutofit/>
          </a:bodyPr>
          <a:lstStyle/>
          <a:p>
            <a:pPr algn="l">
              <a:lnSpc>
                <a:spcPts val="1872"/>
              </a:lnSpc>
              <a:spcBef>
                <a:spcPts val="0"/>
              </a:spcBef>
              <a:spcAft>
                <a:spcPts val="0"/>
              </a:spcAft>
            </a:pPr>
            <a:r>
              <a:rPr sz="1440" b="0" i="0">
                <a:solidFill>
                  <a:srgbClr val="1D1D1F"/>
                </a:solidFill>
                <a:latin typeface="Helvetica Neue Medium"/>
              </a:rPr>
              <a:t>04</a:t>
            </a:r>
            <a:endParaRPr sz="1440"/>
          </a:p>
        </p:txBody>
      </p:sp>
      <p:sp>
        <p:nvSpPr>
          <p:cNvPr id="41" name="item"/>
          <p:cNvSpPr txBox="1"/>
          <p:nvPr/>
        </p:nvSpPr>
        <p:spPr>
          <a:xfrm>
            <a:off x="6675120" y="4555084"/>
            <a:ext cx="460248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Sparkle 2 updates with an EdDSA-signed appcast</a:t>
            </a:r>
            <a:endParaRPr sz="1440"/>
          </a:p>
        </p:txBody>
      </p:sp>
      <p:cxnSp>
        <p:nvCxnSpPr>
          <p:cNvPr id="42" name="row rule"/>
          <p:cNvCxnSpPr/>
          <p:nvPr/>
        </p:nvCxnSpPr>
        <p:spPr>
          <a:xfrm>
            <a:off x="6217920" y="4921301"/>
            <a:ext cx="5059680" cy="0"/>
          </a:xfrm>
          <a:prstGeom prst="line">
            <a:avLst/>
          </a:prstGeom>
          <a:ln w="9525">
            <a:solidFill>
              <a:srgbClr val="D2D2D7"/>
            </a:solidFill>
          </a:ln>
        </p:spPr>
      </p:cxnSp>
      <p:sp>
        <p:nvSpPr>
          <p:cNvPr id="43" name="step number"/>
          <p:cNvSpPr txBox="1"/>
          <p:nvPr/>
        </p:nvSpPr>
        <p:spPr>
          <a:xfrm>
            <a:off x="6217920" y="5031029"/>
            <a:ext cx="411480" cy="238201"/>
          </a:xfrm>
          <a:prstGeom prst="rect">
            <a:avLst/>
          </a:prstGeom>
          <a:noFill/>
        </p:spPr>
        <p:txBody>
          <a:bodyPr wrap="square" lIns="0" tIns="0" rIns="0" bIns="0" anchor="t">
            <a:noAutofit/>
          </a:bodyPr>
          <a:lstStyle/>
          <a:p>
            <a:pPr algn="l">
              <a:lnSpc>
                <a:spcPts val="1872"/>
              </a:lnSpc>
              <a:spcBef>
                <a:spcPts val="0"/>
              </a:spcBef>
              <a:spcAft>
                <a:spcPts val="0"/>
              </a:spcAft>
            </a:pPr>
            <a:r>
              <a:rPr sz="1440" b="0" i="0">
                <a:solidFill>
                  <a:srgbClr val="1D1D1F"/>
                </a:solidFill>
                <a:latin typeface="Helvetica Neue Medium"/>
              </a:rPr>
              <a:t>05</a:t>
            </a:r>
            <a:endParaRPr sz="1440"/>
          </a:p>
        </p:txBody>
      </p:sp>
      <p:sp>
        <p:nvSpPr>
          <p:cNvPr id="44" name="item"/>
          <p:cNvSpPr txBox="1"/>
          <p:nvPr/>
        </p:nvSpPr>
        <p:spPr>
          <a:xfrm>
            <a:off x="6675120" y="5031029"/>
            <a:ext cx="460248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Lemon Squeezy License API: activate, validate, deactivate</a:t>
            </a:r>
            <a:endParaRPr sz="1440"/>
          </a:p>
        </p:txBody>
      </p:sp>
      <p:cxnSp>
        <p:nvCxnSpPr>
          <p:cNvPr id="45" name="row rule"/>
          <p:cNvCxnSpPr/>
          <p:nvPr/>
        </p:nvCxnSpPr>
        <p:spPr>
          <a:xfrm>
            <a:off x="6217920" y="5653278"/>
            <a:ext cx="5059680" cy="0"/>
          </a:xfrm>
          <a:prstGeom prst="line">
            <a:avLst/>
          </a:prstGeom>
          <a:ln w="9525">
            <a:solidFill>
              <a:srgbClr val="D2D2D7"/>
            </a:solidFill>
          </a:ln>
        </p:spPr>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Source: Business Plan §6a. Per-pack pricing ($9–$19 per pack, 'Everything' = Pro) is designed but not launched (Business Plan §6b).</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20</a:t>
            </a:r>
            <a:endParaRPr sz="840"/>
          </a:p>
        </p:txBody>
      </p:sp>
      <p:sp>
        <p:nvSpPr>
          <p:cNvPr id="4" name="headline"/>
          <p:cNvSpPr txBox="1"/>
          <p:nvPr/>
        </p:nvSpPr>
        <p:spPr>
          <a:xfrm>
            <a:off x="914400" y="731520"/>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Light"/>
              </a:rPr>
              <a:t>Pricing built on zero AI cost</a:t>
            </a:r>
            <a:endParaRPr sz="3840"/>
          </a:p>
        </p:txBody>
      </p:sp>
      <p:sp>
        <p:nvSpPr>
          <p:cNvPr id="5" name="lead"/>
          <p:cNvSpPr txBox="1"/>
          <p:nvPr/>
        </p:nvSpPr>
        <p:spPr>
          <a:xfrm>
            <a:off x="914400" y="1476299"/>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One-time Pro, because inference runs on the buyer's Mac</a:t>
            </a:r>
            <a:endParaRPr sz="1680"/>
          </a:p>
        </p:txBody>
      </p:sp>
      <p:sp>
        <p:nvSpPr>
          <p:cNvPr id="6" name="Pro band"/>
          <p:cNvSpPr/>
          <p:nvPr/>
        </p:nvSpPr>
        <p:spPr>
          <a:xfrm>
            <a:off x="4926795" y="2041246"/>
            <a:ext cx="3388730" cy="4063594"/>
          </a:xfrm>
          <a:prstGeom prst="roundRect">
            <a:avLst>
              <a:gd name="adj" fmla="val 2698"/>
            </a:avLst>
          </a:prstGeom>
          <a:solidFill>
            <a:srgbClr val="FFFFFF"/>
          </a:solidFill>
          <a:ln w="15240">
            <a:solidFill>
              <a:srgbClr val="F01822"/>
            </a:solidFill>
          </a:ln>
        </p:spPr>
        <p:txBody>
          <a:bodyPr rtlCol="0" anchor="ctr"/>
          <a:lstStyle/>
          <a:p>
            <a:pPr algn="ctr"/>
          </a:p>
        </p:txBody>
      </p:sp>
      <p:sp>
        <p:nvSpPr>
          <p:cNvPr id="7" name="column head"/>
          <p:cNvSpPr txBox="1"/>
          <p:nvPr/>
        </p:nvSpPr>
        <p:spPr>
          <a:xfrm>
            <a:off x="2632837" y="2169262"/>
            <a:ext cx="218423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FREE</a:t>
            </a:r>
            <a:endParaRPr sz="900"/>
          </a:p>
        </p:txBody>
      </p:sp>
      <p:sp>
        <p:nvSpPr>
          <p:cNvPr id="8" name="column head"/>
          <p:cNvSpPr txBox="1"/>
          <p:nvPr/>
        </p:nvSpPr>
        <p:spPr>
          <a:xfrm>
            <a:off x="5036523" y="2169262"/>
            <a:ext cx="3169274"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1D1D1F"/>
                </a:solidFill>
                <a:latin typeface="Helvetica Neue Medium"/>
              </a:rPr>
              <a:t>PRO (RECOMMENDED)</a:t>
            </a:r>
            <a:endParaRPr sz="900"/>
          </a:p>
        </p:txBody>
      </p:sp>
      <p:sp>
        <p:nvSpPr>
          <p:cNvPr id="9" name="column head"/>
          <p:cNvSpPr txBox="1"/>
          <p:nvPr/>
        </p:nvSpPr>
        <p:spPr>
          <a:xfrm>
            <a:off x="8425253" y="2169262"/>
            <a:ext cx="2852347"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TEAM</a:t>
            </a:r>
            <a:endParaRPr sz="900"/>
          </a:p>
        </p:txBody>
      </p:sp>
      <p:cxnSp>
        <p:nvCxnSpPr>
          <p:cNvPr id="10" name="row rule"/>
          <p:cNvCxnSpPr/>
          <p:nvPr/>
        </p:nvCxnSpPr>
        <p:spPr>
          <a:xfrm>
            <a:off x="914400" y="2416607"/>
            <a:ext cx="4012395" cy="0"/>
          </a:xfrm>
          <a:prstGeom prst="line">
            <a:avLst/>
          </a:prstGeom>
          <a:ln w="9525">
            <a:solidFill>
              <a:srgbClr val="1D1D1F"/>
            </a:solidFill>
          </a:ln>
        </p:spPr>
      </p:cxnSp>
      <p:cxnSp>
        <p:nvCxnSpPr>
          <p:cNvPr id="11" name="row rule"/>
          <p:cNvCxnSpPr/>
          <p:nvPr/>
        </p:nvCxnSpPr>
        <p:spPr>
          <a:xfrm>
            <a:off x="4926795" y="2416607"/>
            <a:ext cx="3388730" cy="0"/>
          </a:xfrm>
          <a:prstGeom prst="line">
            <a:avLst/>
          </a:prstGeom>
          <a:ln w="9525">
            <a:solidFill>
              <a:srgbClr val="1D1D1F"/>
            </a:solidFill>
          </a:ln>
        </p:spPr>
      </p:cxnSp>
      <p:cxnSp>
        <p:nvCxnSpPr>
          <p:cNvPr id="12" name="row rule"/>
          <p:cNvCxnSpPr/>
          <p:nvPr/>
        </p:nvCxnSpPr>
        <p:spPr>
          <a:xfrm>
            <a:off x="8315525" y="2416607"/>
            <a:ext cx="2962075" cy="0"/>
          </a:xfrm>
          <a:prstGeom prst="line">
            <a:avLst/>
          </a:prstGeom>
          <a:ln w="9525">
            <a:solidFill>
              <a:srgbClr val="1D1D1F"/>
            </a:solidFill>
          </a:ln>
        </p:spPr>
      </p:cxnSp>
      <p:sp>
        <p:nvSpPr>
          <p:cNvPr id="13" name="cell r1c1"/>
          <p:cNvSpPr txBox="1"/>
          <p:nvPr/>
        </p:nvSpPr>
        <p:spPr>
          <a:xfrm>
            <a:off x="914400" y="2480615"/>
            <a:ext cx="1498981" cy="226771"/>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1D1D1F"/>
                </a:solidFill>
                <a:latin typeface="Helvetica Neue Medium"/>
              </a:rPr>
              <a:t>Price</a:t>
            </a:r>
            <a:endParaRPr sz="1320"/>
          </a:p>
        </p:txBody>
      </p:sp>
      <p:sp>
        <p:nvSpPr>
          <p:cNvPr id="14" name="cell r1c2"/>
          <p:cNvSpPr txBox="1"/>
          <p:nvPr/>
        </p:nvSpPr>
        <p:spPr>
          <a:xfrm>
            <a:off x="2632837" y="2480615"/>
            <a:ext cx="2184230" cy="226771"/>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6E6E73"/>
                </a:solidFill>
                <a:latin typeface="Helvetica Neue"/>
              </a:rPr>
              <a:t>$0</a:t>
            </a:r>
            <a:endParaRPr sz="1320"/>
          </a:p>
        </p:txBody>
      </p:sp>
      <p:sp>
        <p:nvSpPr>
          <p:cNvPr id="15" name="cell r1c3"/>
          <p:cNvSpPr txBox="1"/>
          <p:nvPr/>
        </p:nvSpPr>
        <p:spPr>
          <a:xfrm>
            <a:off x="5036523" y="2480615"/>
            <a:ext cx="3169274" cy="226771"/>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1D1D1F"/>
                </a:solidFill>
                <a:latin typeface="Helvetica Neue Medium"/>
              </a:rPr>
              <a:t>$39 one-time</a:t>
            </a:r>
            <a:r>
              <a:rPr sz="1320" b="0" i="0">
                <a:solidFill>
                  <a:srgbClr val="6E6E73"/>
                </a:solidFill>
                <a:latin typeface="Helvetica Neue"/>
              </a:rPr>
              <a:t> · launch $29</a:t>
            </a:r>
            <a:endParaRPr sz="1320"/>
          </a:p>
        </p:txBody>
      </p:sp>
      <p:sp>
        <p:nvSpPr>
          <p:cNvPr id="16" name="cell r1c4"/>
          <p:cNvSpPr txBox="1"/>
          <p:nvPr/>
        </p:nvSpPr>
        <p:spPr>
          <a:xfrm>
            <a:off x="8425253" y="2480615"/>
            <a:ext cx="2852347" cy="226771"/>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1D1D1F"/>
                </a:solidFill>
                <a:latin typeface="Helvetica Neue Medium"/>
              </a:rPr>
              <a:t>$8 per seat per month</a:t>
            </a:r>
            <a:r>
              <a:rPr sz="1320" b="0" i="0">
                <a:solidFill>
                  <a:srgbClr val="6E6E73"/>
                </a:solidFill>
                <a:latin typeface="Helvetica Neue"/>
              </a:rPr>
              <a:t>, billed yearly</a:t>
            </a:r>
            <a:endParaRPr sz="1320"/>
          </a:p>
        </p:txBody>
      </p:sp>
      <p:cxnSp>
        <p:nvCxnSpPr>
          <p:cNvPr id="17" name="row rule"/>
          <p:cNvCxnSpPr/>
          <p:nvPr/>
        </p:nvCxnSpPr>
        <p:spPr>
          <a:xfrm>
            <a:off x="914400" y="2771394"/>
            <a:ext cx="4012395" cy="0"/>
          </a:xfrm>
          <a:prstGeom prst="line">
            <a:avLst/>
          </a:prstGeom>
          <a:ln w="9525">
            <a:solidFill>
              <a:srgbClr val="D2D2D7"/>
            </a:solidFill>
          </a:ln>
        </p:spPr>
      </p:cxnSp>
      <p:cxnSp>
        <p:nvCxnSpPr>
          <p:cNvPr id="18" name="row rule"/>
          <p:cNvCxnSpPr/>
          <p:nvPr/>
        </p:nvCxnSpPr>
        <p:spPr>
          <a:xfrm>
            <a:off x="4926795" y="2771394"/>
            <a:ext cx="3388730" cy="0"/>
          </a:xfrm>
          <a:prstGeom prst="line">
            <a:avLst/>
          </a:prstGeom>
          <a:ln w="9525">
            <a:solidFill>
              <a:srgbClr val="D2D2D7"/>
            </a:solidFill>
          </a:ln>
        </p:spPr>
      </p:cxnSp>
      <p:cxnSp>
        <p:nvCxnSpPr>
          <p:cNvPr id="19" name="row rule"/>
          <p:cNvCxnSpPr/>
          <p:nvPr/>
        </p:nvCxnSpPr>
        <p:spPr>
          <a:xfrm>
            <a:off x="8315525" y="2771394"/>
            <a:ext cx="2962075" cy="0"/>
          </a:xfrm>
          <a:prstGeom prst="line">
            <a:avLst/>
          </a:prstGeom>
          <a:ln w="9525">
            <a:solidFill>
              <a:srgbClr val="D2D2D7"/>
            </a:solidFill>
          </a:ln>
        </p:spPr>
      </p:cxnSp>
      <p:sp>
        <p:nvSpPr>
          <p:cNvPr id="20" name="cell r2c1"/>
          <p:cNvSpPr txBox="1"/>
          <p:nvPr/>
        </p:nvSpPr>
        <p:spPr>
          <a:xfrm>
            <a:off x="914400" y="2835402"/>
            <a:ext cx="1498981" cy="226771"/>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1D1D1F"/>
                </a:solidFill>
                <a:latin typeface="Helvetica Neue Medium"/>
              </a:rPr>
              <a:t>India</a:t>
            </a:r>
            <a:endParaRPr sz="1320"/>
          </a:p>
        </p:txBody>
      </p:sp>
      <p:sp>
        <p:nvSpPr>
          <p:cNvPr id="21" name="cell r2c2"/>
          <p:cNvSpPr txBox="1"/>
          <p:nvPr/>
        </p:nvSpPr>
        <p:spPr>
          <a:xfrm>
            <a:off x="2632837" y="2835402"/>
            <a:ext cx="2184230" cy="226771"/>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6E6E73"/>
                </a:solidFill>
                <a:latin typeface="Helvetica Neue"/>
              </a:rPr>
              <a:t>₹0</a:t>
            </a:r>
            <a:endParaRPr sz="1320"/>
          </a:p>
        </p:txBody>
      </p:sp>
      <p:sp>
        <p:nvSpPr>
          <p:cNvPr id="22" name="cell r2c3"/>
          <p:cNvSpPr txBox="1"/>
          <p:nvPr/>
        </p:nvSpPr>
        <p:spPr>
          <a:xfrm>
            <a:off x="5036523" y="2835402"/>
            <a:ext cx="3169274" cy="226771"/>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6E6E73"/>
                </a:solidFill>
                <a:latin typeface="Helvetica Neue"/>
              </a:rPr>
              <a:t>₹1,499 · launch ₹999</a:t>
            </a:r>
            <a:endParaRPr sz="1320"/>
          </a:p>
        </p:txBody>
      </p:sp>
      <p:sp>
        <p:nvSpPr>
          <p:cNvPr id="23" name="cell r2c4"/>
          <p:cNvSpPr txBox="1"/>
          <p:nvPr/>
        </p:nvSpPr>
        <p:spPr>
          <a:xfrm>
            <a:off x="8425253" y="2835402"/>
            <a:ext cx="2852347" cy="226771"/>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6E6E73"/>
                </a:solidFill>
                <a:latin typeface="Helvetica Neue"/>
              </a:rPr>
              <a:t>₹499 per seat per month</a:t>
            </a:r>
            <a:endParaRPr sz="1320"/>
          </a:p>
        </p:txBody>
      </p:sp>
      <p:cxnSp>
        <p:nvCxnSpPr>
          <p:cNvPr id="24" name="row rule"/>
          <p:cNvCxnSpPr/>
          <p:nvPr/>
        </p:nvCxnSpPr>
        <p:spPr>
          <a:xfrm>
            <a:off x="914400" y="3126181"/>
            <a:ext cx="4012395" cy="0"/>
          </a:xfrm>
          <a:prstGeom prst="line">
            <a:avLst/>
          </a:prstGeom>
          <a:ln w="9525">
            <a:solidFill>
              <a:srgbClr val="D2D2D7"/>
            </a:solidFill>
          </a:ln>
        </p:spPr>
      </p:cxnSp>
      <p:cxnSp>
        <p:nvCxnSpPr>
          <p:cNvPr id="25" name="row rule"/>
          <p:cNvCxnSpPr/>
          <p:nvPr/>
        </p:nvCxnSpPr>
        <p:spPr>
          <a:xfrm>
            <a:off x="4926795" y="3126181"/>
            <a:ext cx="3388730" cy="0"/>
          </a:xfrm>
          <a:prstGeom prst="line">
            <a:avLst/>
          </a:prstGeom>
          <a:ln w="9525">
            <a:solidFill>
              <a:srgbClr val="D2D2D7"/>
            </a:solidFill>
          </a:ln>
        </p:spPr>
      </p:cxnSp>
      <p:cxnSp>
        <p:nvCxnSpPr>
          <p:cNvPr id="26" name="row rule"/>
          <p:cNvCxnSpPr/>
          <p:nvPr/>
        </p:nvCxnSpPr>
        <p:spPr>
          <a:xfrm>
            <a:off x="8315525" y="3126181"/>
            <a:ext cx="2962075" cy="0"/>
          </a:xfrm>
          <a:prstGeom prst="line">
            <a:avLst/>
          </a:prstGeom>
          <a:ln w="9525">
            <a:solidFill>
              <a:srgbClr val="D2D2D7"/>
            </a:solidFill>
          </a:ln>
        </p:spPr>
      </p:cxnSp>
      <p:sp>
        <p:nvSpPr>
          <p:cNvPr id="27" name="cell r3c1"/>
          <p:cNvSpPr txBox="1"/>
          <p:nvPr/>
        </p:nvSpPr>
        <p:spPr>
          <a:xfrm>
            <a:off x="914400" y="3190189"/>
            <a:ext cx="1498981" cy="453085"/>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1D1D1F"/>
                </a:solidFill>
                <a:latin typeface="Helvetica Neue Medium"/>
              </a:rPr>
              <a:t>Updates</a:t>
            </a:r>
            <a:endParaRPr sz="1320"/>
          </a:p>
        </p:txBody>
      </p:sp>
      <p:sp>
        <p:nvSpPr>
          <p:cNvPr id="28" name="cell r3c2"/>
          <p:cNvSpPr txBox="1"/>
          <p:nvPr/>
        </p:nvSpPr>
        <p:spPr>
          <a:xfrm>
            <a:off x="2632837" y="3190189"/>
            <a:ext cx="2184230" cy="453085"/>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6E6E73"/>
                </a:solidFill>
                <a:latin typeface="Helvetica Neue"/>
              </a:rPr>
              <a:t>—</a:t>
            </a:r>
            <a:endParaRPr sz="1320"/>
          </a:p>
        </p:txBody>
      </p:sp>
      <p:sp>
        <p:nvSpPr>
          <p:cNvPr id="29" name="cell r3c3"/>
          <p:cNvSpPr txBox="1"/>
          <p:nvPr/>
        </p:nvSpPr>
        <p:spPr>
          <a:xfrm>
            <a:off x="5036523" y="3190189"/>
            <a:ext cx="3169274" cy="453085"/>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6E6E73"/>
                </a:solidFill>
                <a:latin typeface="Helvetica Neue"/>
              </a:rPr>
              <a:t>12 months included, optional $19/yr renewal</a:t>
            </a:r>
            <a:endParaRPr sz="1320"/>
          </a:p>
        </p:txBody>
      </p:sp>
      <p:sp>
        <p:nvSpPr>
          <p:cNvPr id="30" name="cell r3c4"/>
          <p:cNvSpPr txBox="1"/>
          <p:nvPr/>
        </p:nvSpPr>
        <p:spPr>
          <a:xfrm>
            <a:off x="8425253" y="3190189"/>
            <a:ext cx="2852347" cy="453085"/>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6E6E73"/>
                </a:solidFill>
                <a:latin typeface="Helvetica Neue"/>
              </a:rPr>
              <a:t>included</a:t>
            </a:r>
            <a:endParaRPr sz="1320"/>
          </a:p>
        </p:txBody>
      </p:sp>
      <p:cxnSp>
        <p:nvCxnSpPr>
          <p:cNvPr id="31" name="row rule"/>
          <p:cNvCxnSpPr/>
          <p:nvPr/>
        </p:nvCxnSpPr>
        <p:spPr>
          <a:xfrm>
            <a:off x="914400" y="3707282"/>
            <a:ext cx="4012395" cy="0"/>
          </a:xfrm>
          <a:prstGeom prst="line">
            <a:avLst/>
          </a:prstGeom>
          <a:ln w="9525">
            <a:solidFill>
              <a:srgbClr val="D2D2D7"/>
            </a:solidFill>
          </a:ln>
        </p:spPr>
      </p:cxnSp>
      <p:cxnSp>
        <p:nvCxnSpPr>
          <p:cNvPr id="32" name="row rule"/>
          <p:cNvCxnSpPr/>
          <p:nvPr/>
        </p:nvCxnSpPr>
        <p:spPr>
          <a:xfrm>
            <a:off x="4926795" y="3707282"/>
            <a:ext cx="3388730" cy="0"/>
          </a:xfrm>
          <a:prstGeom prst="line">
            <a:avLst/>
          </a:prstGeom>
          <a:ln w="9525">
            <a:solidFill>
              <a:srgbClr val="D2D2D7"/>
            </a:solidFill>
          </a:ln>
        </p:spPr>
      </p:cxnSp>
      <p:cxnSp>
        <p:nvCxnSpPr>
          <p:cNvPr id="33" name="row rule"/>
          <p:cNvCxnSpPr/>
          <p:nvPr/>
        </p:nvCxnSpPr>
        <p:spPr>
          <a:xfrm>
            <a:off x="8315525" y="3707282"/>
            <a:ext cx="2962075" cy="0"/>
          </a:xfrm>
          <a:prstGeom prst="line">
            <a:avLst/>
          </a:prstGeom>
          <a:ln w="9525">
            <a:solidFill>
              <a:srgbClr val="D2D2D7"/>
            </a:solidFill>
          </a:ln>
        </p:spPr>
      </p:cxnSp>
      <p:sp>
        <p:nvSpPr>
          <p:cNvPr id="34" name="cell r4c1"/>
          <p:cNvSpPr txBox="1"/>
          <p:nvPr/>
        </p:nvSpPr>
        <p:spPr>
          <a:xfrm>
            <a:off x="914400" y="3771290"/>
            <a:ext cx="1498981" cy="453085"/>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1D1D1F"/>
                </a:solidFill>
                <a:latin typeface="Helvetica Neue Medium"/>
              </a:rPr>
              <a:t>Notch core</a:t>
            </a:r>
            <a:endParaRPr sz="1320"/>
          </a:p>
        </p:txBody>
      </p:sp>
      <p:sp>
        <p:nvSpPr>
          <p:cNvPr id="35" name="cell r4c2"/>
          <p:cNvSpPr txBox="1"/>
          <p:nvPr/>
        </p:nvSpPr>
        <p:spPr>
          <a:xfrm>
            <a:off x="2632837" y="3771290"/>
            <a:ext cx="2184230" cy="453085"/>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6E6E73"/>
                </a:solidFill>
                <a:latin typeface="Helvetica Neue"/>
              </a:rPr>
              <a:t>Media, HUD, battery, tray, timer, Today</a:t>
            </a:r>
            <a:endParaRPr sz="1320"/>
          </a:p>
        </p:txBody>
      </p:sp>
      <p:sp>
        <p:nvSpPr>
          <p:cNvPr id="36" name="cell r4c3"/>
          <p:cNvSpPr txBox="1"/>
          <p:nvPr/>
        </p:nvSpPr>
        <p:spPr>
          <a:xfrm>
            <a:off x="5036523" y="3771290"/>
            <a:ext cx="3169274" cy="453085"/>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6E6E73"/>
                </a:solidFill>
                <a:latin typeface="Helvetica Neue"/>
              </a:rPr>
              <a:t>Everything</a:t>
            </a:r>
            <a:endParaRPr sz="1320"/>
          </a:p>
        </p:txBody>
      </p:sp>
      <p:sp>
        <p:nvSpPr>
          <p:cNvPr id="37" name="cell r4c4"/>
          <p:cNvSpPr txBox="1"/>
          <p:nvPr/>
        </p:nvSpPr>
        <p:spPr>
          <a:xfrm>
            <a:off x="8425253" y="3771290"/>
            <a:ext cx="2852347" cy="453085"/>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6E6E73"/>
                </a:solidFill>
                <a:latin typeface="Helvetica Neue"/>
              </a:rPr>
              <a:t>Everything</a:t>
            </a:r>
            <a:endParaRPr sz="1320"/>
          </a:p>
        </p:txBody>
      </p:sp>
      <p:cxnSp>
        <p:nvCxnSpPr>
          <p:cNvPr id="38" name="row rule"/>
          <p:cNvCxnSpPr/>
          <p:nvPr/>
        </p:nvCxnSpPr>
        <p:spPr>
          <a:xfrm>
            <a:off x="914400" y="4288384"/>
            <a:ext cx="4012395" cy="0"/>
          </a:xfrm>
          <a:prstGeom prst="line">
            <a:avLst/>
          </a:prstGeom>
          <a:ln w="9525">
            <a:solidFill>
              <a:srgbClr val="D2D2D7"/>
            </a:solidFill>
          </a:ln>
        </p:spPr>
      </p:cxnSp>
      <p:cxnSp>
        <p:nvCxnSpPr>
          <p:cNvPr id="39" name="row rule"/>
          <p:cNvCxnSpPr/>
          <p:nvPr/>
        </p:nvCxnSpPr>
        <p:spPr>
          <a:xfrm>
            <a:off x="4926795" y="4288384"/>
            <a:ext cx="3388730" cy="0"/>
          </a:xfrm>
          <a:prstGeom prst="line">
            <a:avLst/>
          </a:prstGeom>
          <a:ln w="9525">
            <a:solidFill>
              <a:srgbClr val="D2D2D7"/>
            </a:solidFill>
          </a:ln>
        </p:spPr>
      </p:cxnSp>
      <p:cxnSp>
        <p:nvCxnSpPr>
          <p:cNvPr id="40" name="row rule"/>
          <p:cNvCxnSpPr/>
          <p:nvPr/>
        </p:nvCxnSpPr>
        <p:spPr>
          <a:xfrm>
            <a:off x="8315525" y="4288384"/>
            <a:ext cx="2962075" cy="0"/>
          </a:xfrm>
          <a:prstGeom prst="line">
            <a:avLst/>
          </a:prstGeom>
          <a:ln w="9525">
            <a:solidFill>
              <a:srgbClr val="D2D2D7"/>
            </a:solidFill>
          </a:ln>
        </p:spPr>
      </p:cxnSp>
      <p:sp>
        <p:nvSpPr>
          <p:cNvPr id="41" name="cell r5c1"/>
          <p:cNvSpPr txBox="1"/>
          <p:nvPr/>
        </p:nvSpPr>
        <p:spPr>
          <a:xfrm>
            <a:off x="914400" y="4352392"/>
            <a:ext cx="1498981" cy="679399"/>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1D1D1F"/>
                </a:solidFill>
                <a:latin typeface="Helvetica Neue Medium"/>
              </a:rPr>
              <a:t>AI assistants</a:t>
            </a:r>
            <a:endParaRPr sz="1320"/>
          </a:p>
        </p:txBody>
      </p:sp>
      <p:sp>
        <p:nvSpPr>
          <p:cNvPr id="42" name="cell r5c2"/>
          <p:cNvSpPr txBox="1"/>
          <p:nvPr/>
        </p:nvSpPr>
        <p:spPr>
          <a:xfrm>
            <a:off x="2632837" y="4352392"/>
            <a:ext cx="2184230" cy="679399"/>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6E6E73"/>
                </a:solidFill>
                <a:latin typeface="Helvetica Neue"/>
              </a:rPr>
              <a:t>Dictation without AI formatting</a:t>
            </a:r>
            <a:endParaRPr sz="1320"/>
          </a:p>
        </p:txBody>
      </p:sp>
      <p:sp>
        <p:nvSpPr>
          <p:cNvPr id="43" name="cell r5c3"/>
          <p:cNvSpPr txBox="1"/>
          <p:nvPr/>
        </p:nvSpPr>
        <p:spPr>
          <a:xfrm>
            <a:off x="5036523" y="4352392"/>
            <a:ext cx="3169274" cy="679399"/>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6E6E73"/>
                </a:solidFill>
                <a:latin typeface="Helvetica Neue"/>
              </a:rPr>
              <a:t>Dictation with AI, Clicky, Ask Screen, Reply Drafter, Prompt Refiner, Tray AI, Job Agent</a:t>
            </a:r>
            <a:endParaRPr sz="1320"/>
          </a:p>
        </p:txBody>
      </p:sp>
      <p:sp>
        <p:nvSpPr>
          <p:cNvPr id="44" name="cell r5c4"/>
          <p:cNvSpPr txBox="1"/>
          <p:nvPr/>
        </p:nvSpPr>
        <p:spPr>
          <a:xfrm>
            <a:off x="8425253" y="4352392"/>
            <a:ext cx="2852347" cy="679399"/>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6E6E73"/>
                </a:solidFill>
                <a:latin typeface="Helvetica Neue"/>
              </a:rPr>
              <a:t>Everything</a:t>
            </a:r>
            <a:endParaRPr sz="1320"/>
          </a:p>
        </p:txBody>
      </p:sp>
      <p:cxnSp>
        <p:nvCxnSpPr>
          <p:cNvPr id="45" name="row rule"/>
          <p:cNvCxnSpPr/>
          <p:nvPr/>
        </p:nvCxnSpPr>
        <p:spPr>
          <a:xfrm>
            <a:off x="914400" y="5095799"/>
            <a:ext cx="4012395" cy="0"/>
          </a:xfrm>
          <a:prstGeom prst="line">
            <a:avLst/>
          </a:prstGeom>
          <a:ln w="9525">
            <a:solidFill>
              <a:srgbClr val="D2D2D7"/>
            </a:solidFill>
          </a:ln>
        </p:spPr>
      </p:cxnSp>
      <p:cxnSp>
        <p:nvCxnSpPr>
          <p:cNvPr id="46" name="row rule"/>
          <p:cNvCxnSpPr/>
          <p:nvPr/>
        </p:nvCxnSpPr>
        <p:spPr>
          <a:xfrm>
            <a:off x="4926795" y="5095799"/>
            <a:ext cx="3388730" cy="0"/>
          </a:xfrm>
          <a:prstGeom prst="line">
            <a:avLst/>
          </a:prstGeom>
          <a:ln w="9525">
            <a:solidFill>
              <a:srgbClr val="D2D2D7"/>
            </a:solidFill>
          </a:ln>
        </p:spPr>
      </p:cxnSp>
      <p:cxnSp>
        <p:nvCxnSpPr>
          <p:cNvPr id="47" name="row rule"/>
          <p:cNvCxnSpPr/>
          <p:nvPr/>
        </p:nvCxnSpPr>
        <p:spPr>
          <a:xfrm>
            <a:off x="8315525" y="5095799"/>
            <a:ext cx="2962075" cy="0"/>
          </a:xfrm>
          <a:prstGeom prst="line">
            <a:avLst/>
          </a:prstGeom>
          <a:ln w="9525">
            <a:solidFill>
              <a:srgbClr val="D2D2D7"/>
            </a:solidFill>
          </a:ln>
        </p:spPr>
      </p:cxnSp>
      <p:sp>
        <p:nvSpPr>
          <p:cNvPr id="48" name="cell r6c1"/>
          <p:cNvSpPr txBox="1"/>
          <p:nvPr/>
        </p:nvSpPr>
        <p:spPr>
          <a:xfrm>
            <a:off x="914400" y="5159807"/>
            <a:ext cx="1498981" cy="226771"/>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1D1D1F"/>
                </a:solidFill>
                <a:latin typeface="Helvetica Neue Medium"/>
              </a:rPr>
              <a:t>Developer tools</a:t>
            </a:r>
            <a:endParaRPr sz="1320"/>
          </a:p>
        </p:txBody>
      </p:sp>
      <p:sp>
        <p:nvSpPr>
          <p:cNvPr id="49" name="cell r6c2"/>
          <p:cNvSpPr txBox="1"/>
          <p:nvPr/>
        </p:nvSpPr>
        <p:spPr>
          <a:xfrm>
            <a:off x="2632837" y="5159807"/>
            <a:ext cx="2184230" cy="226771"/>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6E6E73"/>
                </a:solidFill>
                <a:latin typeface="Helvetica Neue"/>
              </a:rPr>
              <a:t>—</a:t>
            </a:r>
            <a:endParaRPr sz="1320"/>
          </a:p>
        </p:txBody>
      </p:sp>
      <p:sp>
        <p:nvSpPr>
          <p:cNvPr id="50" name="cell r6c3"/>
          <p:cNvSpPr txBox="1"/>
          <p:nvPr/>
        </p:nvSpPr>
        <p:spPr>
          <a:xfrm>
            <a:off x="5036523" y="5159807"/>
            <a:ext cx="3169274" cy="226771"/>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6E6E73"/>
                </a:solidFill>
                <a:latin typeface="Helvetica Neue"/>
              </a:rPr>
              <a:t>UI Audit, Browser Flows, Flow Canvas</a:t>
            </a:r>
            <a:endParaRPr sz="1320"/>
          </a:p>
        </p:txBody>
      </p:sp>
      <p:sp>
        <p:nvSpPr>
          <p:cNvPr id="51" name="cell r6c4"/>
          <p:cNvSpPr txBox="1"/>
          <p:nvPr/>
        </p:nvSpPr>
        <p:spPr>
          <a:xfrm>
            <a:off x="8425253" y="5159807"/>
            <a:ext cx="2852347" cy="226771"/>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6E6E73"/>
                </a:solidFill>
                <a:latin typeface="Helvetica Neue"/>
              </a:rPr>
              <a:t>Everything</a:t>
            </a:r>
            <a:endParaRPr sz="1320"/>
          </a:p>
        </p:txBody>
      </p:sp>
      <p:cxnSp>
        <p:nvCxnSpPr>
          <p:cNvPr id="52" name="row rule"/>
          <p:cNvCxnSpPr/>
          <p:nvPr/>
        </p:nvCxnSpPr>
        <p:spPr>
          <a:xfrm>
            <a:off x="914400" y="5450586"/>
            <a:ext cx="4012395" cy="0"/>
          </a:xfrm>
          <a:prstGeom prst="line">
            <a:avLst/>
          </a:prstGeom>
          <a:ln w="9525">
            <a:solidFill>
              <a:srgbClr val="D2D2D7"/>
            </a:solidFill>
          </a:ln>
        </p:spPr>
      </p:cxnSp>
      <p:cxnSp>
        <p:nvCxnSpPr>
          <p:cNvPr id="53" name="row rule"/>
          <p:cNvCxnSpPr/>
          <p:nvPr/>
        </p:nvCxnSpPr>
        <p:spPr>
          <a:xfrm>
            <a:off x="4926795" y="5450586"/>
            <a:ext cx="3388730" cy="0"/>
          </a:xfrm>
          <a:prstGeom prst="line">
            <a:avLst/>
          </a:prstGeom>
          <a:ln w="9525">
            <a:solidFill>
              <a:srgbClr val="D2D2D7"/>
            </a:solidFill>
          </a:ln>
        </p:spPr>
      </p:cxnSp>
      <p:cxnSp>
        <p:nvCxnSpPr>
          <p:cNvPr id="54" name="row rule"/>
          <p:cNvCxnSpPr/>
          <p:nvPr/>
        </p:nvCxnSpPr>
        <p:spPr>
          <a:xfrm>
            <a:off x="8315525" y="5450586"/>
            <a:ext cx="2962075" cy="0"/>
          </a:xfrm>
          <a:prstGeom prst="line">
            <a:avLst/>
          </a:prstGeom>
          <a:ln w="9525">
            <a:solidFill>
              <a:srgbClr val="D2D2D7"/>
            </a:solidFill>
          </a:ln>
        </p:spPr>
      </p:cxnSp>
      <p:sp>
        <p:nvSpPr>
          <p:cNvPr id="55" name="cell r7c1"/>
          <p:cNvSpPr txBox="1"/>
          <p:nvPr/>
        </p:nvSpPr>
        <p:spPr>
          <a:xfrm>
            <a:off x="914400" y="5514594"/>
            <a:ext cx="1498981" cy="453085"/>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1D1D1F"/>
                </a:solidFill>
                <a:latin typeface="Helvetica Neue Medium"/>
              </a:rPr>
              <a:t>Extras</a:t>
            </a:r>
            <a:endParaRPr sz="1320"/>
          </a:p>
        </p:txBody>
      </p:sp>
      <p:sp>
        <p:nvSpPr>
          <p:cNvPr id="56" name="cell r7c2"/>
          <p:cNvSpPr txBox="1"/>
          <p:nvPr/>
        </p:nvSpPr>
        <p:spPr>
          <a:xfrm>
            <a:off x="2632837" y="5514594"/>
            <a:ext cx="2184230" cy="453085"/>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6E6E73"/>
                </a:solidFill>
                <a:latin typeface="Helvetica Neue"/>
              </a:rPr>
              <a:t>—</a:t>
            </a:r>
            <a:endParaRPr sz="1320"/>
          </a:p>
        </p:txBody>
      </p:sp>
      <p:sp>
        <p:nvSpPr>
          <p:cNvPr id="57" name="cell r7c3"/>
          <p:cNvSpPr txBox="1"/>
          <p:nvPr/>
        </p:nvSpPr>
        <p:spPr>
          <a:xfrm>
            <a:off x="5036523" y="5514594"/>
            <a:ext cx="3169274" cy="453085"/>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6E6E73"/>
                </a:solidFill>
                <a:latin typeface="Helvetica Neue"/>
              </a:rPr>
              <a:t>14-day trial, no card · 2 Macs</a:t>
            </a:r>
            <a:endParaRPr sz="1320"/>
          </a:p>
        </p:txBody>
      </p:sp>
      <p:sp>
        <p:nvSpPr>
          <p:cNvPr id="58" name="cell r7c4"/>
          <p:cNvSpPr txBox="1"/>
          <p:nvPr/>
        </p:nvSpPr>
        <p:spPr>
          <a:xfrm>
            <a:off x="8425253" y="5514594"/>
            <a:ext cx="2852347" cy="453085"/>
          </a:xfrm>
          <a:prstGeom prst="rect">
            <a:avLst/>
          </a:prstGeom>
          <a:noFill/>
        </p:spPr>
        <p:txBody>
          <a:bodyPr wrap="square" lIns="0" tIns="0" rIns="0" bIns="0" anchor="t">
            <a:noAutofit/>
          </a:bodyPr>
          <a:lstStyle/>
          <a:p>
            <a:pPr algn="l">
              <a:lnSpc>
                <a:spcPts val="1782"/>
              </a:lnSpc>
              <a:spcBef>
                <a:spcPts val="0"/>
              </a:spcBef>
              <a:spcAft>
                <a:spcPts val="0"/>
              </a:spcAft>
            </a:pPr>
            <a:r>
              <a:rPr sz="1320" b="0" i="0">
                <a:solidFill>
                  <a:srgbClr val="6E6E73"/>
                </a:solidFill>
                <a:latin typeface="Helvetica Neue"/>
              </a:rPr>
              <a:t>Invoice, seat management, MDM .pkg · min 3 seats</a:t>
            </a:r>
            <a:endParaRPr sz="132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Revenue scenario stays a placeholder until there are sales.</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21</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Pricing</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Net per sale after merchant-of-record fees (USD)</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One-time Pro, because inference runs on the buyer's Mac</a:t>
            </a:r>
            <a:endParaRPr sz="1680"/>
          </a:p>
        </p:txBody>
      </p:sp>
      <p:sp>
        <p:nvSpPr>
          <p:cNvPr id="7" name="net card"/>
          <p:cNvSpPr/>
          <p:nvPr/>
        </p:nvSpPr>
        <p:spPr>
          <a:xfrm>
            <a:off x="914400" y="2308708"/>
            <a:ext cx="5943600" cy="3939692"/>
          </a:xfrm>
          <a:prstGeom prst="roundRect">
            <a:avLst>
              <a:gd name="adj" fmla="val 4255"/>
            </a:avLst>
          </a:prstGeom>
          <a:solidFill>
            <a:srgbClr val="F5F5F7"/>
          </a:solidFill>
          <a:ln>
            <a:noFill/>
          </a:ln>
        </p:spPr>
        <p:txBody>
          <a:bodyPr rtlCol="0" anchor="ctr"/>
          <a:lstStyle/>
          <a:p>
            <a:pPr algn="ctr"/>
          </a:p>
        </p:txBody>
      </p:sp>
      <p:sp>
        <p:nvSpPr>
          <p:cNvPr id="8" name="chart source"/>
          <p:cNvSpPr txBox="1"/>
          <p:nvPr/>
        </p:nvSpPr>
        <p:spPr>
          <a:xfrm>
            <a:off x="1158240" y="5796839"/>
            <a:ext cx="5455920" cy="238201"/>
          </a:xfrm>
          <a:prstGeom prst="rect">
            <a:avLst/>
          </a:prstGeom>
          <a:noFill/>
        </p:spPr>
        <p:txBody>
          <a:bodyPr wrap="square" lIns="0" tIns="0" rIns="0" bIns="0" anchor="t">
            <a:noAutofit/>
          </a:bodyPr>
          <a:lstStyle/>
          <a:p>
            <a:pPr algn="l">
              <a:lnSpc>
                <a:spcPts val="936"/>
              </a:lnSpc>
              <a:spcBef>
                <a:spcPts val="0"/>
              </a:spcBef>
              <a:spcAft>
                <a:spcPts val="0"/>
              </a:spcAft>
            </a:pPr>
            <a:r>
              <a:rPr sz="780" b="0" i="0">
                <a:solidFill>
                  <a:srgbClr val="86868B"/>
                </a:solidFill>
                <a:latin typeface="Helvetica Neue"/>
              </a:rPr>
              <a:t>Source: Derived from Business Plan §4 Lemon Squeezy fees (5% + 50¢; +0.5% on subscriptions). Excludes ~1.5% non-US surcharge and payout fees.</a:t>
            </a:r>
            <a:endParaRPr sz="780"/>
          </a:p>
        </p:txBody>
      </p:sp>
      <p:graphicFrame>
        <p:nvGraphicFramePr>
          <p:cNvPr id="9" name="chart"/>
          <p:cNvGraphicFramePr>
            <a:graphicFrameLocks noGrp="1"/>
          </p:cNvGraphicFramePr>
          <p:nvPr/>
        </p:nvGraphicFramePr>
        <p:xfrm>
          <a:off x="1158240" y="2522068"/>
          <a:ext cx="5455920" cy="3183788"/>
        </p:xfrm>
        <a:graphic>
          <a:graphicData uri="http://schemas.openxmlformats.org/drawingml/2006/chart">
            <c:chart xmlns:c="http://schemas.openxmlformats.org/drawingml/2006/chart" r:id="rId3"/>
          </a:graphicData>
        </a:graphic>
      </p:graphicFrame>
      <p:sp>
        <p:nvSpPr>
          <p:cNvPr id="10" name="scenario card"/>
          <p:cNvSpPr/>
          <p:nvPr/>
        </p:nvSpPr>
        <p:spPr>
          <a:xfrm>
            <a:off x="7101840" y="2308708"/>
            <a:ext cx="4175760" cy="3939692"/>
          </a:xfrm>
          <a:prstGeom prst="roundRect">
            <a:avLst>
              <a:gd name="adj" fmla="val 4255"/>
            </a:avLst>
          </a:prstGeom>
          <a:solidFill>
            <a:srgbClr val="FFFFFF"/>
          </a:solidFill>
          <a:ln w="9525">
            <a:solidFill>
              <a:srgbClr val="D2D2D7"/>
            </a:solidFill>
          </a:ln>
        </p:spPr>
        <p:txBody>
          <a:bodyPr rtlCol="0" anchor="ctr"/>
          <a:lstStyle/>
          <a:p>
            <a:pPr algn="ctr"/>
          </a:p>
        </p:txBody>
      </p:sp>
      <p:sp>
        <p:nvSpPr>
          <p:cNvPr id="11" name="scenario head"/>
          <p:cNvSpPr txBox="1"/>
          <p:nvPr/>
        </p:nvSpPr>
        <p:spPr>
          <a:xfrm>
            <a:off x="7348728" y="2537308"/>
            <a:ext cx="3681984"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YEAR-ONE REVENUE SCENARIO</a:t>
            </a:r>
            <a:endParaRPr sz="900"/>
          </a:p>
        </p:txBody>
      </p:sp>
      <p:sp>
        <p:nvSpPr>
          <p:cNvPr id="12" name="formula"/>
          <p:cNvSpPr txBox="1"/>
          <p:nvPr/>
        </p:nvSpPr>
        <p:spPr>
          <a:xfrm>
            <a:off x="7348728" y="2812085"/>
            <a:ext cx="3681984"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1D1D1F"/>
                </a:solidFill>
                <a:latin typeface="Helvetica Neue"/>
              </a:rPr>
              <a:t>Pro units × $36.55 + Team seats × $90.22</a:t>
            </a:r>
            <a:endParaRPr sz="1440"/>
          </a:p>
        </p:txBody>
      </p:sp>
      <p:cxnSp>
        <p:nvCxnSpPr>
          <p:cNvPr id="13" name="scenario rule"/>
          <p:cNvCxnSpPr/>
          <p:nvPr/>
        </p:nvCxnSpPr>
        <p:spPr>
          <a:xfrm>
            <a:off x="7348728" y="3251454"/>
            <a:ext cx="3681984" cy="0"/>
          </a:xfrm>
          <a:prstGeom prst="line">
            <a:avLst/>
          </a:prstGeom>
          <a:ln w="9525">
            <a:solidFill>
              <a:srgbClr val="D2D2D7"/>
            </a:solidFill>
          </a:ln>
        </p:spPr>
      </p:cxnSp>
      <p:sp>
        <p:nvSpPr>
          <p:cNvPr id="14" name="scenario label"/>
          <p:cNvSpPr txBox="1"/>
          <p:nvPr/>
        </p:nvSpPr>
        <p:spPr>
          <a:xfrm>
            <a:off x="7348728" y="3361182"/>
            <a:ext cx="220919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Pro units</a:t>
            </a:r>
            <a:endParaRPr sz="1440"/>
          </a:p>
        </p:txBody>
      </p:sp>
      <p:sp>
        <p:nvSpPr>
          <p:cNvPr id="15" name="scenario value"/>
          <p:cNvSpPr txBox="1"/>
          <p:nvPr/>
        </p:nvSpPr>
        <p:spPr>
          <a:xfrm>
            <a:off x="9557918" y="3361182"/>
            <a:ext cx="1472794" cy="256489"/>
          </a:xfrm>
          <a:prstGeom prst="rect">
            <a:avLst/>
          </a:prstGeom>
          <a:noFill/>
        </p:spPr>
        <p:txBody>
          <a:bodyPr wrap="square" lIns="0" tIns="0" rIns="0" bIns="0" anchor="t">
            <a:noAutofit/>
          </a:bodyPr>
          <a:lstStyle/>
          <a:p>
            <a:pPr algn="r">
              <a:lnSpc>
                <a:spcPts val="2016"/>
              </a:lnSpc>
              <a:spcBef>
                <a:spcPts val="0"/>
              </a:spcBef>
              <a:spcAft>
                <a:spcPts val="0"/>
              </a:spcAft>
            </a:pPr>
            <a:r>
              <a:rPr sz="1440" b="0" i="1">
                <a:solidFill>
                  <a:srgbClr val="86868B"/>
                </a:solidFill>
                <a:latin typeface="Helvetica Neue"/>
              </a:rPr>
              <a:t>[TBD]</a:t>
            </a:r>
            <a:endParaRPr sz="1440"/>
          </a:p>
        </p:txBody>
      </p:sp>
      <p:cxnSp>
        <p:nvCxnSpPr>
          <p:cNvPr id="16" name="scenario rule"/>
          <p:cNvCxnSpPr/>
          <p:nvPr/>
        </p:nvCxnSpPr>
        <p:spPr>
          <a:xfrm>
            <a:off x="7348728" y="3727399"/>
            <a:ext cx="3681984" cy="0"/>
          </a:xfrm>
          <a:prstGeom prst="line">
            <a:avLst/>
          </a:prstGeom>
          <a:ln w="9525">
            <a:solidFill>
              <a:srgbClr val="D2D2D7"/>
            </a:solidFill>
          </a:ln>
        </p:spPr>
      </p:cxnSp>
      <p:sp>
        <p:nvSpPr>
          <p:cNvPr id="17" name="scenario label"/>
          <p:cNvSpPr txBox="1"/>
          <p:nvPr/>
        </p:nvSpPr>
        <p:spPr>
          <a:xfrm>
            <a:off x="7348728" y="3837127"/>
            <a:ext cx="220919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Team seats</a:t>
            </a:r>
            <a:endParaRPr sz="1440"/>
          </a:p>
        </p:txBody>
      </p:sp>
      <p:sp>
        <p:nvSpPr>
          <p:cNvPr id="18" name="scenario value"/>
          <p:cNvSpPr txBox="1"/>
          <p:nvPr/>
        </p:nvSpPr>
        <p:spPr>
          <a:xfrm>
            <a:off x="9557918" y="3837127"/>
            <a:ext cx="1472794" cy="256489"/>
          </a:xfrm>
          <a:prstGeom prst="rect">
            <a:avLst/>
          </a:prstGeom>
          <a:noFill/>
        </p:spPr>
        <p:txBody>
          <a:bodyPr wrap="square" lIns="0" tIns="0" rIns="0" bIns="0" anchor="t">
            <a:noAutofit/>
          </a:bodyPr>
          <a:lstStyle/>
          <a:p>
            <a:pPr algn="r">
              <a:lnSpc>
                <a:spcPts val="2016"/>
              </a:lnSpc>
              <a:spcBef>
                <a:spcPts val="0"/>
              </a:spcBef>
              <a:spcAft>
                <a:spcPts val="0"/>
              </a:spcAft>
            </a:pPr>
            <a:r>
              <a:rPr sz="1440" b="0" i="1">
                <a:solidFill>
                  <a:srgbClr val="86868B"/>
                </a:solidFill>
                <a:latin typeface="Helvetica Neue"/>
              </a:rPr>
              <a:t>[TBD]</a:t>
            </a:r>
            <a:endParaRPr sz="1440"/>
          </a:p>
        </p:txBody>
      </p:sp>
      <p:cxnSp>
        <p:nvCxnSpPr>
          <p:cNvPr id="19" name="scenario rule"/>
          <p:cNvCxnSpPr/>
          <p:nvPr/>
        </p:nvCxnSpPr>
        <p:spPr>
          <a:xfrm>
            <a:off x="7348728" y="4203344"/>
            <a:ext cx="3681984" cy="0"/>
          </a:xfrm>
          <a:prstGeom prst="line">
            <a:avLst/>
          </a:prstGeom>
          <a:ln w="9525">
            <a:solidFill>
              <a:srgbClr val="D2D2D7"/>
            </a:solidFill>
          </a:ln>
        </p:spPr>
      </p:cxnSp>
      <p:sp>
        <p:nvSpPr>
          <p:cNvPr id="20" name="scenario label"/>
          <p:cNvSpPr txBox="1"/>
          <p:nvPr/>
        </p:nvSpPr>
        <p:spPr>
          <a:xfrm>
            <a:off x="7348728" y="4313072"/>
            <a:ext cx="220919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Year-one revenue</a:t>
            </a:r>
            <a:endParaRPr sz="1440"/>
          </a:p>
        </p:txBody>
      </p:sp>
      <p:sp>
        <p:nvSpPr>
          <p:cNvPr id="21" name="scenario value"/>
          <p:cNvSpPr txBox="1"/>
          <p:nvPr/>
        </p:nvSpPr>
        <p:spPr>
          <a:xfrm>
            <a:off x="9557918" y="4313072"/>
            <a:ext cx="1472794" cy="256489"/>
          </a:xfrm>
          <a:prstGeom prst="rect">
            <a:avLst/>
          </a:prstGeom>
          <a:noFill/>
        </p:spPr>
        <p:txBody>
          <a:bodyPr wrap="square" lIns="0" tIns="0" rIns="0" bIns="0" anchor="t">
            <a:noAutofit/>
          </a:bodyPr>
          <a:lstStyle/>
          <a:p>
            <a:pPr algn="r">
              <a:lnSpc>
                <a:spcPts val="2016"/>
              </a:lnSpc>
              <a:spcBef>
                <a:spcPts val="0"/>
              </a:spcBef>
              <a:spcAft>
                <a:spcPts val="0"/>
              </a:spcAft>
            </a:pPr>
            <a:r>
              <a:rPr sz="1440" b="0" i="1">
                <a:solidFill>
                  <a:srgbClr val="86868B"/>
                </a:solidFill>
                <a:latin typeface="Helvetica Neue"/>
              </a:rPr>
              <a:t>[TBD]</a:t>
            </a:r>
            <a:endParaRPr sz="1440"/>
          </a:p>
        </p:txBody>
      </p:sp>
      <p:cxnSp>
        <p:nvCxnSpPr>
          <p:cNvPr id="22" name="scenario rule"/>
          <p:cNvCxnSpPr/>
          <p:nvPr/>
        </p:nvCxnSpPr>
        <p:spPr>
          <a:xfrm>
            <a:off x="7348728" y="4679290"/>
            <a:ext cx="3681984" cy="0"/>
          </a:xfrm>
          <a:prstGeom prst="line">
            <a:avLst/>
          </a:prstGeom>
          <a:ln w="9525">
            <a:solidFill>
              <a:srgbClr val="D2D2D7"/>
            </a:solidFill>
          </a:ln>
        </p:spPr>
      </p:cxnSp>
      <p:sp>
        <p:nvSpPr>
          <p:cNvPr id="23" name="scenario note"/>
          <p:cNvSpPr txBox="1"/>
          <p:nvPr/>
        </p:nvSpPr>
        <p:spPr>
          <a:xfrm>
            <a:off x="7348728" y="5607863"/>
            <a:ext cx="3681984" cy="411937"/>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6E6E73"/>
                </a:solidFill>
                <a:latin typeface="Helvetica Neue"/>
              </a:rPr>
              <a:t>Do not draw this chart with invented values: it stays a table until real sales exist.</a:t>
            </a:r>
            <a:endParaRPr sz="120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Overlap is by category, not feature parity. Prices are third-party listings (Business Plan §3); check vendor pages before quoting publicly.</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22</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Value</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Light"/>
              </a:rPr>
              <a:t>One app, not a six-app stack</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Comparable tools, and the platform SparkV runs on</a:t>
            </a:r>
            <a:endParaRPr sz="1680"/>
          </a:p>
        </p:txBody>
      </p:sp>
      <p:sp>
        <p:nvSpPr>
          <p:cNvPr id="7" name="chart card"/>
          <p:cNvSpPr/>
          <p:nvPr/>
        </p:nvSpPr>
        <p:spPr>
          <a:xfrm>
            <a:off x="914400" y="2422703"/>
            <a:ext cx="6827520" cy="3825697"/>
          </a:xfrm>
          <a:prstGeom prst="roundRect">
            <a:avLst>
              <a:gd name="adj" fmla="val 4381"/>
            </a:avLst>
          </a:prstGeom>
          <a:solidFill>
            <a:srgbClr val="F5F5F7"/>
          </a:solidFill>
          <a:ln>
            <a:noFill/>
          </a:ln>
        </p:spPr>
        <p:txBody>
          <a:bodyPr rtlCol="0" anchor="ctr"/>
          <a:lstStyle/>
          <a:p>
            <a:pPr algn="ctr"/>
          </a:p>
        </p:txBody>
      </p:sp>
      <p:sp>
        <p:nvSpPr>
          <p:cNvPr id="8" name="chart title"/>
          <p:cNvSpPr txBox="1"/>
          <p:nvPr/>
        </p:nvSpPr>
        <p:spPr>
          <a:xfrm>
            <a:off x="1158240" y="2636063"/>
            <a:ext cx="633984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First-year cost of comparable tools (USD)</a:t>
            </a:r>
            <a:endParaRPr sz="1020"/>
          </a:p>
        </p:txBody>
      </p:sp>
      <p:sp>
        <p:nvSpPr>
          <p:cNvPr id="9" name="chart source"/>
          <p:cNvSpPr txBox="1"/>
          <p:nvPr/>
        </p:nvSpPr>
        <p:spPr>
          <a:xfrm>
            <a:off x="1158240" y="5915711"/>
            <a:ext cx="6339840" cy="119329"/>
          </a:xfrm>
          <a:prstGeom prst="rect">
            <a:avLst/>
          </a:prstGeom>
          <a:noFill/>
        </p:spPr>
        <p:txBody>
          <a:bodyPr wrap="square" lIns="0" tIns="0" rIns="0" bIns="0" anchor="t">
            <a:noAutofit/>
          </a:bodyPr>
          <a:lstStyle/>
          <a:p>
            <a:pPr algn="l">
              <a:lnSpc>
                <a:spcPts val="936"/>
              </a:lnSpc>
              <a:spcBef>
                <a:spcPts val="0"/>
              </a:spcBef>
              <a:spcAft>
                <a:spcPts val="0"/>
              </a:spcAft>
            </a:pPr>
            <a:r>
              <a:rPr sz="780" b="0" i="0">
                <a:solidFill>
                  <a:srgbClr val="86868B"/>
                </a:solidFill>
                <a:latin typeface="Helvetica Neue"/>
              </a:rPr>
              <a:t>Source: Business Plan §3 and §6a</a:t>
            </a:r>
            <a:endParaRPr sz="780"/>
          </a:p>
        </p:txBody>
      </p:sp>
      <p:graphicFrame>
        <p:nvGraphicFramePr>
          <p:cNvPr id="10" name="chart"/>
          <p:cNvGraphicFramePr>
            <a:graphicFrameLocks noGrp="1"/>
          </p:cNvGraphicFramePr>
          <p:nvPr/>
        </p:nvGraphicFramePr>
        <p:xfrm>
          <a:off x="1158240" y="2934081"/>
          <a:ext cx="6339840" cy="2890647"/>
        </p:xfrm>
        <a:graphic>
          <a:graphicData uri="http://schemas.openxmlformats.org/drawingml/2006/chart">
            <c:chart xmlns:c="http://schemas.openxmlformats.org/drawingml/2006/chart" r:id="rId3"/>
          </a:graphicData>
        </a:graphic>
      </p:graphicFrame>
      <p:sp>
        <p:nvSpPr>
          <p:cNvPr id="11" name="tile"/>
          <p:cNvSpPr/>
          <p:nvPr/>
        </p:nvSpPr>
        <p:spPr>
          <a:xfrm>
            <a:off x="7985760" y="2422703"/>
            <a:ext cx="3291840" cy="1821409"/>
          </a:xfrm>
          <a:prstGeom prst="roundRect">
            <a:avLst>
              <a:gd name="adj" fmla="val 9203"/>
            </a:avLst>
          </a:prstGeom>
          <a:solidFill>
            <a:srgbClr val="F5F5F7"/>
          </a:solidFill>
          <a:ln>
            <a:noFill/>
          </a:ln>
        </p:spPr>
        <p:txBody>
          <a:bodyPr rtlCol="0" anchor="ctr"/>
          <a:lstStyle/>
          <a:p>
            <a:pPr algn="ctr"/>
          </a:p>
        </p:txBody>
      </p:sp>
      <p:sp>
        <p:nvSpPr>
          <p:cNvPr id="12" name="tile value"/>
          <p:cNvSpPr txBox="1"/>
          <p:nvPr/>
        </p:nvSpPr>
        <p:spPr>
          <a:xfrm>
            <a:off x="8229600" y="2620823"/>
            <a:ext cx="280416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$491.99</a:t>
            </a:r>
            <a:endParaRPr sz="4800"/>
          </a:p>
        </p:txBody>
      </p:sp>
      <p:sp>
        <p:nvSpPr>
          <p:cNvPr id="13" name="tile label"/>
          <p:cNvSpPr txBox="1"/>
          <p:nvPr/>
        </p:nvSpPr>
        <p:spPr>
          <a:xfrm>
            <a:off x="8229600" y="3383280"/>
            <a:ext cx="280416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Comparable-tool stack, year one</a:t>
            </a:r>
            <a:endParaRPr sz="1440"/>
          </a:p>
        </p:txBody>
      </p:sp>
      <p:sp>
        <p:nvSpPr>
          <p:cNvPr id="14" name="tile"/>
          <p:cNvSpPr/>
          <p:nvPr/>
        </p:nvSpPr>
        <p:spPr>
          <a:xfrm>
            <a:off x="7985760" y="4426991"/>
            <a:ext cx="3291840" cy="1821409"/>
          </a:xfrm>
          <a:prstGeom prst="roundRect">
            <a:avLst>
              <a:gd name="adj" fmla="val 9203"/>
            </a:avLst>
          </a:prstGeom>
          <a:solidFill>
            <a:srgbClr val="F5F5F7"/>
          </a:solidFill>
          <a:ln>
            <a:noFill/>
          </a:ln>
        </p:spPr>
        <p:txBody>
          <a:bodyPr rtlCol="0" anchor="ctr"/>
          <a:lstStyle/>
          <a:p>
            <a:pPr algn="ctr"/>
          </a:p>
        </p:txBody>
      </p:sp>
      <p:sp>
        <p:nvSpPr>
          <p:cNvPr id="15" name="tile value"/>
          <p:cNvSpPr txBox="1"/>
          <p:nvPr/>
        </p:nvSpPr>
        <p:spPr>
          <a:xfrm>
            <a:off x="8229600" y="4625111"/>
            <a:ext cx="280416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F01822"/>
                </a:solidFill>
                <a:latin typeface="Helvetica Neue Medium"/>
              </a:rPr>
              <a:t>$39</a:t>
            </a:r>
            <a:endParaRPr sz="4800"/>
          </a:p>
        </p:txBody>
      </p:sp>
      <p:sp>
        <p:nvSpPr>
          <p:cNvPr id="16" name="tile label"/>
          <p:cNvSpPr txBox="1"/>
          <p:nvPr/>
        </p:nvSpPr>
        <p:spPr>
          <a:xfrm>
            <a:off x="8229600" y="5387569"/>
            <a:ext cx="280416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SparkV Pro, one-time</a:t>
            </a:r>
            <a:endParaRPr sz="144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Apple has not published a Mac-only active base since 2018.</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23</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Platform</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Apple's active installed base</a:t>
            </a:r>
            <a:endParaRPr sz="3360"/>
          </a:p>
        </p:txBody>
      </p:sp>
      <p:sp>
        <p:nvSpPr>
          <p:cNvPr id="6" name="chart card"/>
          <p:cNvSpPr/>
          <p:nvPr/>
        </p:nvSpPr>
        <p:spPr>
          <a:xfrm>
            <a:off x="914400" y="1819961"/>
            <a:ext cx="5943600" cy="4428439"/>
          </a:xfrm>
          <a:prstGeom prst="roundRect">
            <a:avLst>
              <a:gd name="adj" fmla="val 3785"/>
            </a:avLst>
          </a:prstGeom>
          <a:solidFill>
            <a:srgbClr val="F5F5F7"/>
          </a:solidFill>
          <a:ln>
            <a:noFill/>
          </a:ln>
        </p:spPr>
        <p:txBody>
          <a:bodyPr rtlCol="0" anchor="ctr"/>
          <a:lstStyle/>
          <a:p>
            <a:pPr algn="ctr"/>
          </a:p>
        </p:txBody>
      </p:sp>
      <p:sp>
        <p:nvSpPr>
          <p:cNvPr id="7" name="chart title"/>
          <p:cNvSpPr txBox="1"/>
          <p:nvPr/>
        </p:nvSpPr>
        <p:spPr>
          <a:xfrm>
            <a:off x="1158240" y="2033321"/>
            <a:ext cx="545592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Active Apple devices (billions, all products)</a:t>
            </a:r>
            <a:endParaRPr sz="1020"/>
          </a:p>
        </p:txBody>
      </p:sp>
      <p:sp>
        <p:nvSpPr>
          <p:cNvPr id="8" name="chart source"/>
          <p:cNvSpPr txBox="1"/>
          <p:nvPr/>
        </p:nvSpPr>
        <p:spPr>
          <a:xfrm>
            <a:off x="1158240" y="5915711"/>
            <a:ext cx="5455920" cy="119329"/>
          </a:xfrm>
          <a:prstGeom prst="rect">
            <a:avLst/>
          </a:prstGeom>
          <a:noFill/>
        </p:spPr>
        <p:txBody>
          <a:bodyPr wrap="square" lIns="0" tIns="0" rIns="0" bIns="0" anchor="t">
            <a:noAutofit/>
          </a:bodyPr>
          <a:lstStyle/>
          <a:p>
            <a:pPr algn="l">
              <a:lnSpc>
                <a:spcPts val="936"/>
              </a:lnSpc>
              <a:spcBef>
                <a:spcPts val="0"/>
              </a:spcBef>
              <a:spcAft>
                <a:spcPts val="0"/>
              </a:spcAft>
            </a:pPr>
            <a:r>
              <a:rPr sz="780" b="0" i="0">
                <a:solidFill>
                  <a:srgbClr val="86868B"/>
                </a:solidFill>
                <a:latin typeface="Helvetica Neue"/>
              </a:rPr>
              <a:t>Source: Apple earnings calls via 9to5Mac and supportplan.com; AppleInsider</a:t>
            </a:r>
            <a:endParaRPr sz="780"/>
          </a:p>
        </p:txBody>
      </p:sp>
      <p:graphicFrame>
        <p:nvGraphicFramePr>
          <p:cNvPr id="9" name="chart"/>
          <p:cNvGraphicFramePr>
            <a:graphicFrameLocks noGrp="1"/>
          </p:cNvGraphicFramePr>
          <p:nvPr/>
        </p:nvGraphicFramePr>
        <p:xfrm>
          <a:off x="1158240" y="2331339"/>
          <a:ext cx="5455920" cy="3493389"/>
        </p:xfrm>
        <a:graphic>
          <a:graphicData uri="http://schemas.openxmlformats.org/drawingml/2006/chart">
            <c:chart xmlns:c="http://schemas.openxmlformats.org/drawingml/2006/chart" r:id="rId3"/>
          </a:graphicData>
        </a:graphic>
      </p:graphicFrame>
      <p:sp>
        <p:nvSpPr>
          <p:cNvPr id="10" name="list head"/>
          <p:cNvSpPr txBox="1"/>
          <p:nvPr/>
        </p:nvSpPr>
        <p:spPr>
          <a:xfrm>
            <a:off x="7284720" y="1819961"/>
            <a:ext cx="399288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MAC-SPECIFIC FIGURES</a:t>
            </a:r>
            <a:endParaRPr sz="900"/>
          </a:p>
        </p:txBody>
      </p:sp>
      <p:cxnSp>
        <p:nvCxnSpPr>
          <p:cNvPr id="11" name="list rule"/>
          <p:cNvCxnSpPr/>
          <p:nvPr/>
        </p:nvCxnSpPr>
        <p:spPr>
          <a:xfrm>
            <a:off x="7284720" y="2067306"/>
            <a:ext cx="3992880" cy="0"/>
          </a:xfrm>
          <a:prstGeom prst="line">
            <a:avLst/>
          </a:prstGeom>
          <a:ln w="9525">
            <a:solidFill>
              <a:srgbClr val="1D1D1F"/>
            </a:solidFill>
          </a:ln>
        </p:spPr>
      </p:cxnSp>
      <p:sp>
        <p:nvSpPr>
          <p:cNvPr id="12" name="stat line"/>
          <p:cNvSpPr txBox="1"/>
          <p:nvPr/>
        </p:nvSpPr>
        <p:spPr>
          <a:xfrm>
            <a:off x="7284720" y="2195322"/>
            <a:ext cx="3992880" cy="768553"/>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1D1D1F"/>
                </a:solidFill>
                <a:latin typeface="Helvetica Neue Medium"/>
              </a:rPr>
              <a:t>Mac active base</a:t>
            </a:r>
            <a:br/>
            <a:r>
              <a:rPr sz="1440" b="0" i="0">
                <a:solidFill>
                  <a:srgbClr val="6E6E73"/>
                </a:solidFill>
                <a:latin typeface="Helvetica Neue"/>
              </a:rPr>
              <a:t>100M+ (Apple, October 2018; latest Mac-only figure)</a:t>
            </a:r>
            <a:endParaRPr sz="1440"/>
          </a:p>
        </p:txBody>
      </p:sp>
      <p:cxnSp>
        <p:nvCxnSpPr>
          <p:cNvPr id="13" name="list rule"/>
          <p:cNvCxnSpPr/>
          <p:nvPr/>
        </p:nvCxnSpPr>
        <p:spPr>
          <a:xfrm>
            <a:off x="7284720" y="3091891"/>
            <a:ext cx="3992880" cy="0"/>
          </a:xfrm>
          <a:prstGeom prst="line">
            <a:avLst/>
          </a:prstGeom>
          <a:ln w="9525">
            <a:solidFill>
              <a:srgbClr val="D2D2D7"/>
            </a:solidFill>
          </a:ln>
        </p:spPr>
      </p:cxnSp>
      <p:sp>
        <p:nvSpPr>
          <p:cNvPr id="14" name="stat line"/>
          <p:cNvSpPr txBox="1"/>
          <p:nvPr/>
        </p:nvSpPr>
        <p:spPr>
          <a:xfrm>
            <a:off x="7284720" y="3219907"/>
            <a:ext cx="3992880" cy="768553"/>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1D1D1F"/>
                </a:solidFill>
                <a:latin typeface="Helvetica Neue Medium"/>
              </a:rPr>
              <a:t>Notched Apple-silicon MacBooks on macOS 15+</a:t>
            </a:r>
            <a:br/>
            <a:r>
              <a:rPr sz="1440" b="0" i="1">
                <a:solidFill>
                  <a:srgbClr val="86868B"/>
                </a:solidFill>
                <a:latin typeface="Helvetica Neue"/>
              </a:rPr>
              <a:t>[TBD: sourced estimate]</a:t>
            </a:r>
            <a:endParaRPr sz="1440"/>
          </a:p>
        </p:txBody>
      </p:sp>
      <p:cxnSp>
        <p:nvCxnSpPr>
          <p:cNvPr id="15" name="list rule"/>
          <p:cNvCxnSpPr/>
          <p:nvPr/>
        </p:nvCxnSpPr>
        <p:spPr>
          <a:xfrm>
            <a:off x="7284720" y="4116476"/>
            <a:ext cx="3992880" cy="0"/>
          </a:xfrm>
          <a:prstGeom prst="line">
            <a:avLst/>
          </a:prstGeom>
          <a:ln w="9525">
            <a:solidFill>
              <a:srgbClr val="D2D2D7"/>
            </a:solidFill>
          </a:ln>
        </p:spPr>
      </p:cxnSp>
      <p:sp>
        <p:nvSpPr>
          <p:cNvPr id="16" name="stat line"/>
          <p:cNvSpPr txBox="1"/>
          <p:nvPr/>
        </p:nvSpPr>
        <p:spPr>
          <a:xfrm>
            <a:off x="7284720" y="4244492"/>
            <a:ext cx="399288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1D1D1F"/>
                </a:solidFill>
                <a:latin typeface="Helvetica Neue Medium"/>
              </a:rPr>
              <a:t>SparkV waitlist / users</a:t>
            </a:r>
            <a:br/>
            <a:r>
              <a:rPr sz="1440" b="0" i="1">
                <a:solidFill>
                  <a:srgbClr val="86868B"/>
                </a:solidFill>
                <a:latin typeface="Helvetica Neue"/>
              </a:rPr>
              <a:t>[TBD: monthly active users]</a:t>
            </a:r>
            <a:endParaRPr sz="1440"/>
          </a:p>
        </p:txBody>
      </p:sp>
      <p:cxnSp>
        <p:nvCxnSpPr>
          <p:cNvPr id="17" name="list rule"/>
          <p:cNvCxnSpPr/>
          <p:nvPr/>
        </p:nvCxnSpPr>
        <p:spPr>
          <a:xfrm>
            <a:off x="7284720" y="4885030"/>
            <a:ext cx="3992880" cy="0"/>
          </a:xfrm>
          <a:prstGeom prst="line">
            <a:avLst/>
          </a:prstGeom>
          <a:ln w="9525">
            <a:solidFill>
              <a:srgbClr val="D2D2D7"/>
            </a:solidFill>
          </a:ln>
        </p:spPr>
      </p:cxn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SparkV · Technical briefing</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24</a:t>
            </a:r>
            <a:endParaRPr sz="840"/>
          </a:p>
        </p:txBody>
      </p:sp>
      <p:sp>
        <p:nvSpPr>
          <p:cNvPr id="4" name="headline"/>
          <p:cNvSpPr txBox="1"/>
          <p:nvPr/>
        </p:nvSpPr>
        <p:spPr>
          <a:xfrm>
            <a:off x="914400" y="731520"/>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Light"/>
              </a:rPr>
              <a:t>Roadmap</a:t>
            </a:r>
            <a:endParaRPr sz="3840"/>
          </a:p>
        </p:txBody>
      </p:sp>
      <p:sp>
        <p:nvSpPr>
          <p:cNvPr id="5" name="lead"/>
          <p:cNvSpPr txBox="1"/>
          <p:nvPr/>
        </p:nvSpPr>
        <p:spPr>
          <a:xfrm>
            <a:off x="914400" y="1476299"/>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From a local build to a notarized 1.0 in 30 days</a:t>
            </a:r>
            <a:endParaRPr sz="1680"/>
          </a:p>
        </p:txBody>
      </p:sp>
      <p:sp>
        <p:nvSpPr>
          <p:cNvPr id="6" name="start date"/>
          <p:cNvSpPr txBox="1"/>
          <p:nvPr/>
        </p:nvSpPr>
        <p:spPr>
          <a:xfrm>
            <a:off x="914400" y="1876654"/>
            <a:ext cx="1036320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Day 1 = </a:t>
            </a:r>
            <a:r>
              <a:rPr sz="1440" b="0" i="1">
                <a:solidFill>
                  <a:srgbClr val="86868B"/>
                </a:solidFill>
                <a:latin typeface="Helvetica Neue"/>
              </a:rPr>
              <a:t>[TBD: launch kickoff date]</a:t>
            </a:r>
            <a:endParaRPr sz="1440"/>
          </a:p>
        </p:txBody>
      </p:sp>
      <p:cxnSp>
        <p:nvCxnSpPr>
          <p:cNvPr id="7" name="roadmap rail"/>
          <p:cNvCxnSpPr/>
          <p:nvPr/>
        </p:nvCxnSpPr>
        <p:spPr>
          <a:xfrm>
            <a:off x="987552" y="2626919"/>
            <a:ext cx="0" cy="2892247"/>
          </a:xfrm>
          <a:prstGeom prst="line">
            <a:avLst/>
          </a:prstGeom>
          <a:ln w="19050">
            <a:solidFill>
              <a:srgbClr val="D2D2D7"/>
            </a:solidFill>
          </a:ln>
        </p:spPr>
      </p:cxnSp>
      <p:sp>
        <p:nvSpPr>
          <p:cNvPr id="8" name="roadmap dot"/>
          <p:cNvSpPr/>
          <p:nvPr/>
        </p:nvSpPr>
        <p:spPr>
          <a:xfrm>
            <a:off x="937260" y="2576627"/>
            <a:ext cx="100584" cy="100584"/>
          </a:xfrm>
          <a:prstGeom prst="ellipse">
            <a:avLst/>
          </a:prstGeom>
          <a:solidFill>
            <a:srgbClr val="1D1D1F"/>
          </a:solidFill>
          <a:ln>
            <a:noFill/>
          </a:ln>
        </p:spPr>
        <p:txBody>
          <a:bodyPr rtlCol="0" anchor="ctr"/>
          <a:lstStyle/>
          <a:p>
            <a:pPr algn="ctr"/>
          </a:p>
        </p:txBody>
      </p:sp>
      <p:sp>
        <p:nvSpPr>
          <p:cNvPr id="9" name="days"/>
          <p:cNvSpPr txBox="1"/>
          <p:nvPr/>
        </p:nvSpPr>
        <p:spPr>
          <a:xfrm>
            <a:off x="1280160" y="2498903"/>
            <a:ext cx="1325880" cy="238201"/>
          </a:xfrm>
          <a:prstGeom prst="rect">
            <a:avLst/>
          </a:prstGeom>
          <a:noFill/>
        </p:spPr>
        <p:txBody>
          <a:bodyPr wrap="square" lIns="0" tIns="0" rIns="0" bIns="0" anchor="t">
            <a:noAutofit/>
          </a:bodyPr>
          <a:lstStyle/>
          <a:p>
            <a:pPr algn="l">
              <a:lnSpc>
                <a:spcPts val="1872"/>
              </a:lnSpc>
              <a:spcBef>
                <a:spcPts val="0"/>
              </a:spcBef>
              <a:spcAft>
                <a:spcPts val="0"/>
              </a:spcAft>
            </a:pPr>
            <a:r>
              <a:rPr sz="1440" b="0" i="0">
                <a:solidFill>
                  <a:srgbClr val="1D1D1F"/>
                </a:solidFill>
                <a:latin typeface="Helvetica Neue Medium"/>
              </a:rPr>
              <a:t>Days 1–3</a:t>
            </a:r>
            <a:endParaRPr sz="1440"/>
          </a:p>
        </p:txBody>
      </p:sp>
      <p:sp>
        <p:nvSpPr>
          <p:cNvPr id="10" name="milestone"/>
          <p:cNvSpPr txBox="1"/>
          <p:nvPr/>
        </p:nvSpPr>
        <p:spPr>
          <a:xfrm>
            <a:off x="2834640" y="2498903"/>
            <a:ext cx="743712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Developer ID cert, Lemon Squeezy products, domain</a:t>
            </a:r>
            <a:endParaRPr sz="1440"/>
          </a:p>
        </p:txBody>
      </p:sp>
      <p:cxnSp>
        <p:nvCxnSpPr>
          <p:cNvPr id="11" name="row rule"/>
          <p:cNvCxnSpPr/>
          <p:nvPr/>
        </p:nvCxnSpPr>
        <p:spPr>
          <a:xfrm>
            <a:off x="1280160" y="2846832"/>
            <a:ext cx="9997440" cy="0"/>
          </a:xfrm>
          <a:prstGeom prst="line">
            <a:avLst/>
          </a:prstGeom>
          <a:ln w="9525">
            <a:solidFill>
              <a:srgbClr val="D2D2D7"/>
            </a:solidFill>
          </a:ln>
        </p:spPr>
      </p:cxnSp>
      <p:sp>
        <p:nvSpPr>
          <p:cNvPr id="12" name="roadmap dot"/>
          <p:cNvSpPr/>
          <p:nvPr/>
        </p:nvSpPr>
        <p:spPr>
          <a:xfrm>
            <a:off x="937260" y="3015996"/>
            <a:ext cx="100584" cy="100584"/>
          </a:xfrm>
          <a:prstGeom prst="ellipse">
            <a:avLst/>
          </a:prstGeom>
          <a:solidFill>
            <a:srgbClr val="1D1D1F"/>
          </a:solidFill>
          <a:ln>
            <a:noFill/>
          </a:ln>
        </p:spPr>
        <p:txBody>
          <a:bodyPr rtlCol="0" anchor="ctr"/>
          <a:lstStyle/>
          <a:p>
            <a:pPr algn="ctr"/>
          </a:p>
        </p:txBody>
      </p:sp>
      <p:sp>
        <p:nvSpPr>
          <p:cNvPr id="13" name="days"/>
          <p:cNvSpPr txBox="1"/>
          <p:nvPr/>
        </p:nvSpPr>
        <p:spPr>
          <a:xfrm>
            <a:off x="1280160" y="2938272"/>
            <a:ext cx="1325880" cy="238201"/>
          </a:xfrm>
          <a:prstGeom prst="rect">
            <a:avLst/>
          </a:prstGeom>
          <a:noFill/>
        </p:spPr>
        <p:txBody>
          <a:bodyPr wrap="square" lIns="0" tIns="0" rIns="0" bIns="0" anchor="t">
            <a:noAutofit/>
          </a:bodyPr>
          <a:lstStyle/>
          <a:p>
            <a:pPr algn="l">
              <a:lnSpc>
                <a:spcPts val="1872"/>
              </a:lnSpc>
              <a:spcBef>
                <a:spcPts val="0"/>
              </a:spcBef>
              <a:spcAft>
                <a:spcPts val="0"/>
              </a:spcAft>
            </a:pPr>
            <a:r>
              <a:rPr sz="1440" b="0" i="0">
                <a:solidFill>
                  <a:srgbClr val="1D1D1F"/>
                </a:solidFill>
                <a:latin typeface="Helvetica Neue Medium"/>
              </a:rPr>
              <a:t>Days 4–7</a:t>
            </a:r>
            <a:endParaRPr sz="1440"/>
          </a:p>
        </p:txBody>
      </p:sp>
      <p:sp>
        <p:nvSpPr>
          <p:cNvPr id="14" name="milestone"/>
          <p:cNvSpPr txBox="1"/>
          <p:nvPr/>
        </p:nvSpPr>
        <p:spPr>
          <a:xfrm>
            <a:off x="2834640" y="2938272"/>
            <a:ext cx="7437120" cy="512521"/>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Face Unlock out of the sold build (ArcFace is non-commercial); acknowledgements; legal pages</a:t>
            </a:r>
            <a:endParaRPr sz="1440"/>
          </a:p>
        </p:txBody>
      </p:sp>
      <p:sp>
        <p:nvSpPr>
          <p:cNvPr id="15" name="blocker tag"/>
          <p:cNvSpPr txBox="1"/>
          <p:nvPr/>
        </p:nvSpPr>
        <p:spPr>
          <a:xfrm>
            <a:off x="10454640" y="2997479"/>
            <a:ext cx="822960" cy="137617"/>
          </a:xfrm>
          <a:prstGeom prst="rect">
            <a:avLst/>
          </a:prstGeom>
          <a:noFill/>
        </p:spPr>
        <p:txBody>
          <a:bodyPr wrap="square" lIns="0" tIns="0" rIns="0" bIns="0" anchor="t">
            <a:noAutofit/>
          </a:bodyPr>
          <a:lstStyle/>
          <a:p>
            <a:pPr algn="r">
              <a:lnSpc>
                <a:spcPts val="1080"/>
              </a:lnSpc>
              <a:spcBef>
                <a:spcPts val="0"/>
              </a:spcBef>
              <a:spcAft>
                <a:spcPts val="0"/>
              </a:spcAft>
            </a:pPr>
            <a:r>
              <a:rPr sz="900" b="0" i="0" spc="36">
                <a:solidFill>
                  <a:srgbClr val="86868B"/>
                </a:solidFill>
                <a:latin typeface="Helvetica Neue Medium"/>
              </a:rPr>
              <a:t>BLOCKER</a:t>
            </a:r>
            <a:endParaRPr sz="900"/>
          </a:p>
        </p:txBody>
      </p:sp>
      <p:cxnSp>
        <p:nvCxnSpPr>
          <p:cNvPr id="16" name="row rule"/>
          <p:cNvCxnSpPr/>
          <p:nvPr/>
        </p:nvCxnSpPr>
        <p:spPr>
          <a:xfrm>
            <a:off x="1280160" y="3542233"/>
            <a:ext cx="9997440" cy="0"/>
          </a:xfrm>
          <a:prstGeom prst="line">
            <a:avLst/>
          </a:prstGeom>
          <a:ln w="9525">
            <a:solidFill>
              <a:srgbClr val="D2D2D7"/>
            </a:solidFill>
          </a:ln>
        </p:spPr>
      </p:cxnSp>
      <p:sp>
        <p:nvSpPr>
          <p:cNvPr id="17" name="roadmap dot"/>
          <p:cNvSpPr/>
          <p:nvPr/>
        </p:nvSpPr>
        <p:spPr>
          <a:xfrm>
            <a:off x="937260" y="3711397"/>
            <a:ext cx="100584" cy="100584"/>
          </a:xfrm>
          <a:prstGeom prst="ellipse">
            <a:avLst/>
          </a:prstGeom>
          <a:solidFill>
            <a:srgbClr val="1D1D1F"/>
          </a:solidFill>
          <a:ln>
            <a:noFill/>
          </a:ln>
        </p:spPr>
        <p:txBody>
          <a:bodyPr rtlCol="0" anchor="ctr"/>
          <a:lstStyle/>
          <a:p>
            <a:pPr algn="ctr"/>
          </a:p>
        </p:txBody>
      </p:sp>
      <p:sp>
        <p:nvSpPr>
          <p:cNvPr id="18" name="days"/>
          <p:cNvSpPr txBox="1"/>
          <p:nvPr/>
        </p:nvSpPr>
        <p:spPr>
          <a:xfrm>
            <a:off x="1280160" y="3633673"/>
            <a:ext cx="1325880" cy="238201"/>
          </a:xfrm>
          <a:prstGeom prst="rect">
            <a:avLst/>
          </a:prstGeom>
          <a:noFill/>
        </p:spPr>
        <p:txBody>
          <a:bodyPr wrap="square" lIns="0" tIns="0" rIns="0" bIns="0" anchor="t">
            <a:noAutofit/>
          </a:bodyPr>
          <a:lstStyle/>
          <a:p>
            <a:pPr algn="l">
              <a:lnSpc>
                <a:spcPts val="1872"/>
              </a:lnSpc>
              <a:spcBef>
                <a:spcPts val="0"/>
              </a:spcBef>
              <a:spcAft>
                <a:spcPts val="0"/>
              </a:spcAft>
            </a:pPr>
            <a:r>
              <a:rPr sz="1440" b="0" i="0">
                <a:solidFill>
                  <a:srgbClr val="1D1D1F"/>
                </a:solidFill>
                <a:latin typeface="Helvetica Neue Medium"/>
              </a:rPr>
              <a:t>Days 8–12</a:t>
            </a:r>
            <a:endParaRPr sz="1440"/>
          </a:p>
        </p:txBody>
      </p:sp>
      <p:sp>
        <p:nvSpPr>
          <p:cNvPr id="19" name="milestone"/>
          <p:cNvSpPr txBox="1"/>
          <p:nvPr/>
        </p:nvSpPr>
        <p:spPr>
          <a:xfrm>
            <a:off x="2834640" y="3633673"/>
            <a:ext cx="743712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Licensing, trial and gating in Labs/Licensing; Sparkle; notarized DMG</a:t>
            </a:r>
            <a:endParaRPr sz="1440"/>
          </a:p>
        </p:txBody>
      </p:sp>
      <p:cxnSp>
        <p:nvCxnSpPr>
          <p:cNvPr id="20" name="row rule"/>
          <p:cNvCxnSpPr/>
          <p:nvPr/>
        </p:nvCxnSpPr>
        <p:spPr>
          <a:xfrm>
            <a:off x="1280160" y="3981602"/>
            <a:ext cx="9997440" cy="0"/>
          </a:xfrm>
          <a:prstGeom prst="line">
            <a:avLst/>
          </a:prstGeom>
          <a:ln w="9525">
            <a:solidFill>
              <a:srgbClr val="D2D2D7"/>
            </a:solidFill>
          </a:ln>
        </p:spPr>
      </p:cxnSp>
      <p:sp>
        <p:nvSpPr>
          <p:cNvPr id="21" name="roadmap dot"/>
          <p:cNvSpPr/>
          <p:nvPr/>
        </p:nvSpPr>
        <p:spPr>
          <a:xfrm>
            <a:off x="937260" y="4150766"/>
            <a:ext cx="100584" cy="100584"/>
          </a:xfrm>
          <a:prstGeom prst="ellipse">
            <a:avLst/>
          </a:prstGeom>
          <a:solidFill>
            <a:srgbClr val="1D1D1F"/>
          </a:solidFill>
          <a:ln>
            <a:noFill/>
          </a:ln>
        </p:spPr>
        <p:txBody>
          <a:bodyPr rtlCol="0" anchor="ctr"/>
          <a:lstStyle/>
          <a:p>
            <a:pPr algn="ctr"/>
          </a:p>
        </p:txBody>
      </p:sp>
      <p:sp>
        <p:nvSpPr>
          <p:cNvPr id="22" name="days"/>
          <p:cNvSpPr txBox="1"/>
          <p:nvPr/>
        </p:nvSpPr>
        <p:spPr>
          <a:xfrm>
            <a:off x="1280160" y="4073042"/>
            <a:ext cx="1325880" cy="238201"/>
          </a:xfrm>
          <a:prstGeom prst="rect">
            <a:avLst/>
          </a:prstGeom>
          <a:noFill/>
        </p:spPr>
        <p:txBody>
          <a:bodyPr wrap="square" lIns="0" tIns="0" rIns="0" bIns="0" anchor="t">
            <a:noAutofit/>
          </a:bodyPr>
          <a:lstStyle/>
          <a:p>
            <a:pPr algn="l">
              <a:lnSpc>
                <a:spcPts val="1872"/>
              </a:lnSpc>
              <a:spcBef>
                <a:spcPts val="0"/>
              </a:spcBef>
              <a:spcAft>
                <a:spcPts val="0"/>
              </a:spcAft>
            </a:pPr>
            <a:r>
              <a:rPr sz="1440" b="0" i="0">
                <a:solidFill>
                  <a:srgbClr val="1D1D1F"/>
                </a:solidFill>
                <a:latin typeface="Helvetica Neue Medium"/>
              </a:rPr>
              <a:t>Days 13–15</a:t>
            </a:r>
            <a:endParaRPr sz="1440"/>
          </a:p>
        </p:txBody>
      </p:sp>
      <p:sp>
        <p:nvSpPr>
          <p:cNvPr id="23" name="milestone"/>
          <p:cNvSpPr txBox="1"/>
          <p:nvPr/>
        </p:nvSpPr>
        <p:spPr>
          <a:xfrm>
            <a:off x="2834640" y="4073042"/>
            <a:ext cx="743712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Clean-Mac test: Gatekeeper, onboarding, trial, key, 1.0 → 1.0.1 update</a:t>
            </a:r>
            <a:endParaRPr sz="1440"/>
          </a:p>
        </p:txBody>
      </p:sp>
      <p:cxnSp>
        <p:nvCxnSpPr>
          <p:cNvPr id="24" name="row rule"/>
          <p:cNvCxnSpPr/>
          <p:nvPr/>
        </p:nvCxnSpPr>
        <p:spPr>
          <a:xfrm>
            <a:off x="1280160" y="4420972"/>
            <a:ext cx="9997440" cy="0"/>
          </a:xfrm>
          <a:prstGeom prst="line">
            <a:avLst/>
          </a:prstGeom>
          <a:ln w="9525">
            <a:solidFill>
              <a:srgbClr val="D2D2D7"/>
            </a:solidFill>
          </a:ln>
        </p:spPr>
      </p:cxnSp>
      <p:sp>
        <p:nvSpPr>
          <p:cNvPr id="25" name="roadmap dot"/>
          <p:cNvSpPr/>
          <p:nvPr/>
        </p:nvSpPr>
        <p:spPr>
          <a:xfrm>
            <a:off x="937260" y="4590136"/>
            <a:ext cx="100584" cy="100584"/>
          </a:xfrm>
          <a:prstGeom prst="ellipse">
            <a:avLst/>
          </a:prstGeom>
          <a:solidFill>
            <a:srgbClr val="1D1D1F"/>
          </a:solidFill>
          <a:ln>
            <a:noFill/>
          </a:ln>
        </p:spPr>
        <p:txBody>
          <a:bodyPr rtlCol="0" anchor="ctr"/>
          <a:lstStyle/>
          <a:p>
            <a:pPr algn="ctr"/>
          </a:p>
        </p:txBody>
      </p:sp>
      <p:sp>
        <p:nvSpPr>
          <p:cNvPr id="26" name="days"/>
          <p:cNvSpPr txBox="1"/>
          <p:nvPr/>
        </p:nvSpPr>
        <p:spPr>
          <a:xfrm>
            <a:off x="1280160" y="4512412"/>
            <a:ext cx="1325880" cy="238201"/>
          </a:xfrm>
          <a:prstGeom prst="rect">
            <a:avLst/>
          </a:prstGeom>
          <a:noFill/>
        </p:spPr>
        <p:txBody>
          <a:bodyPr wrap="square" lIns="0" tIns="0" rIns="0" bIns="0" anchor="t">
            <a:noAutofit/>
          </a:bodyPr>
          <a:lstStyle/>
          <a:p>
            <a:pPr algn="l">
              <a:lnSpc>
                <a:spcPts val="1872"/>
              </a:lnSpc>
              <a:spcBef>
                <a:spcPts val="0"/>
              </a:spcBef>
              <a:spcAft>
                <a:spcPts val="0"/>
              </a:spcAft>
            </a:pPr>
            <a:r>
              <a:rPr sz="1440" b="0" i="0">
                <a:solidFill>
                  <a:srgbClr val="1D1D1F"/>
                </a:solidFill>
                <a:latin typeface="Helvetica Neue Medium"/>
              </a:rPr>
              <a:t>Days 16–25</a:t>
            </a:r>
            <a:endParaRPr sz="1440"/>
          </a:p>
        </p:txBody>
      </p:sp>
      <p:sp>
        <p:nvSpPr>
          <p:cNvPr id="27" name="milestone"/>
          <p:cNvSpPr txBox="1"/>
          <p:nvPr/>
        </p:nvSpPr>
        <p:spPr>
          <a:xfrm>
            <a:off x="2834640" y="4512412"/>
            <a:ext cx="743712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Landing page, demo video, private beta of 30–50 users</a:t>
            </a:r>
            <a:endParaRPr sz="1440"/>
          </a:p>
        </p:txBody>
      </p:sp>
      <p:cxnSp>
        <p:nvCxnSpPr>
          <p:cNvPr id="28" name="row rule"/>
          <p:cNvCxnSpPr/>
          <p:nvPr/>
        </p:nvCxnSpPr>
        <p:spPr>
          <a:xfrm>
            <a:off x="1280160" y="4860341"/>
            <a:ext cx="9997440" cy="0"/>
          </a:xfrm>
          <a:prstGeom prst="line">
            <a:avLst/>
          </a:prstGeom>
          <a:ln w="9525">
            <a:solidFill>
              <a:srgbClr val="D2D2D7"/>
            </a:solidFill>
          </a:ln>
        </p:spPr>
      </p:cxnSp>
      <p:sp>
        <p:nvSpPr>
          <p:cNvPr id="29" name="roadmap dot"/>
          <p:cNvSpPr/>
          <p:nvPr/>
        </p:nvSpPr>
        <p:spPr>
          <a:xfrm>
            <a:off x="914400" y="5006645"/>
            <a:ext cx="146304" cy="146304"/>
          </a:xfrm>
          <a:prstGeom prst="ellipse">
            <a:avLst/>
          </a:prstGeom>
          <a:solidFill>
            <a:srgbClr val="F01822"/>
          </a:solidFill>
          <a:ln>
            <a:noFill/>
          </a:ln>
        </p:spPr>
        <p:txBody>
          <a:bodyPr rtlCol="0" anchor="ctr"/>
          <a:lstStyle/>
          <a:p>
            <a:pPr algn="ctr"/>
          </a:p>
        </p:txBody>
      </p:sp>
      <p:sp>
        <p:nvSpPr>
          <p:cNvPr id="30" name="days"/>
          <p:cNvSpPr txBox="1"/>
          <p:nvPr/>
        </p:nvSpPr>
        <p:spPr>
          <a:xfrm>
            <a:off x="1280160" y="4951781"/>
            <a:ext cx="1325880" cy="238201"/>
          </a:xfrm>
          <a:prstGeom prst="rect">
            <a:avLst/>
          </a:prstGeom>
          <a:noFill/>
        </p:spPr>
        <p:txBody>
          <a:bodyPr wrap="square" lIns="0" tIns="0" rIns="0" bIns="0" anchor="t">
            <a:noAutofit/>
          </a:bodyPr>
          <a:lstStyle/>
          <a:p>
            <a:pPr algn="l">
              <a:lnSpc>
                <a:spcPts val="1872"/>
              </a:lnSpc>
              <a:spcBef>
                <a:spcPts val="0"/>
              </a:spcBef>
              <a:spcAft>
                <a:spcPts val="0"/>
              </a:spcAft>
            </a:pPr>
            <a:r>
              <a:rPr sz="1440" b="0" i="0">
                <a:solidFill>
                  <a:srgbClr val="1D1D1F"/>
                </a:solidFill>
                <a:latin typeface="Helvetica Neue Medium"/>
              </a:rPr>
              <a:t>Days 26–27</a:t>
            </a:r>
            <a:endParaRPr sz="1440"/>
          </a:p>
        </p:txBody>
      </p:sp>
      <p:sp>
        <p:nvSpPr>
          <p:cNvPr id="31" name="milestone"/>
          <p:cNvSpPr txBox="1"/>
          <p:nvPr/>
        </p:nvSpPr>
        <p:spPr>
          <a:xfrm>
            <a:off x="2834640" y="4951781"/>
            <a:ext cx="743712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1D1D1F"/>
                </a:solidFill>
                <a:latin typeface="Helvetica Neue"/>
              </a:rPr>
              <a:t>Ship 1.0, launch price on, Product Hunt</a:t>
            </a:r>
            <a:endParaRPr sz="1440"/>
          </a:p>
        </p:txBody>
      </p:sp>
      <p:cxnSp>
        <p:nvCxnSpPr>
          <p:cNvPr id="32" name="row rule"/>
          <p:cNvCxnSpPr/>
          <p:nvPr/>
        </p:nvCxnSpPr>
        <p:spPr>
          <a:xfrm>
            <a:off x="1280160" y="5299710"/>
            <a:ext cx="9997440" cy="0"/>
          </a:xfrm>
          <a:prstGeom prst="line">
            <a:avLst/>
          </a:prstGeom>
          <a:ln w="9525">
            <a:solidFill>
              <a:srgbClr val="D2D2D7"/>
            </a:solidFill>
          </a:ln>
        </p:spPr>
      </p:cxnSp>
      <p:sp>
        <p:nvSpPr>
          <p:cNvPr id="33" name="roadmap dot"/>
          <p:cNvSpPr/>
          <p:nvPr/>
        </p:nvSpPr>
        <p:spPr>
          <a:xfrm>
            <a:off x="937260" y="5468874"/>
            <a:ext cx="100584" cy="100584"/>
          </a:xfrm>
          <a:prstGeom prst="ellipse">
            <a:avLst/>
          </a:prstGeom>
          <a:solidFill>
            <a:srgbClr val="1D1D1F"/>
          </a:solidFill>
          <a:ln>
            <a:noFill/>
          </a:ln>
        </p:spPr>
        <p:txBody>
          <a:bodyPr rtlCol="0" anchor="ctr"/>
          <a:lstStyle/>
          <a:p>
            <a:pPr algn="ctr"/>
          </a:p>
        </p:txBody>
      </p:sp>
      <p:sp>
        <p:nvSpPr>
          <p:cNvPr id="34" name="days"/>
          <p:cNvSpPr txBox="1"/>
          <p:nvPr/>
        </p:nvSpPr>
        <p:spPr>
          <a:xfrm>
            <a:off x="1280160" y="5391150"/>
            <a:ext cx="1325880" cy="238201"/>
          </a:xfrm>
          <a:prstGeom prst="rect">
            <a:avLst/>
          </a:prstGeom>
          <a:noFill/>
        </p:spPr>
        <p:txBody>
          <a:bodyPr wrap="square" lIns="0" tIns="0" rIns="0" bIns="0" anchor="t">
            <a:noAutofit/>
          </a:bodyPr>
          <a:lstStyle/>
          <a:p>
            <a:pPr algn="l">
              <a:lnSpc>
                <a:spcPts val="1872"/>
              </a:lnSpc>
              <a:spcBef>
                <a:spcPts val="0"/>
              </a:spcBef>
              <a:spcAft>
                <a:spcPts val="0"/>
              </a:spcAft>
            </a:pPr>
            <a:r>
              <a:rPr sz="1440" b="0" i="0">
                <a:solidFill>
                  <a:srgbClr val="1D1D1F"/>
                </a:solidFill>
                <a:latin typeface="Helvetica Neue Medium"/>
              </a:rPr>
              <a:t>Days 28–30</a:t>
            </a:r>
            <a:endParaRPr sz="1440"/>
          </a:p>
        </p:txBody>
      </p:sp>
      <p:sp>
        <p:nvSpPr>
          <p:cNvPr id="35" name="milestone"/>
          <p:cNvSpPr txBox="1"/>
          <p:nvPr/>
        </p:nvSpPr>
        <p:spPr>
          <a:xfrm>
            <a:off x="2834640" y="5391150"/>
            <a:ext cx="743712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1.0.1 through Sparkle, Show HN, affiliates</a:t>
            </a:r>
            <a:endParaRPr sz="144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SparkV · Technical briefing</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25</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Roadmap</a:t>
            </a:r>
            <a:endParaRPr sz="1320"/>
          </a:p>
        </p:txBody>
      </p:sp>
      <p:sp>
        <p:nvSpPr>
          <p:cNvPr id="5" name="headline"/>
          <p:cNvSpPr txBox="1"/>
          <p:nvPr/>
        </p:nvSpPr>
        <p:spPr>
          <a:xfrm>
            <a:off x="914400" y="1067257"/>
            <a:ext cx="10363200" cy="707593"/>
          </a:xfrm>
          <a:prstGeom prst="rect">
            <a:avLst/>
          </a:prstGeom>
          <a:noFill/>
        </p:spPr>
        <p:txBody>
          <a:bodyPr wrap="square" lIns="0" tIns="0" rIns="0" bIns="0" anchor="t">
            <a:noAutofit/>
          </a:bodyPr>
          <a:lstStyle/>
          <a:p>
            <a:pPr algn="l">
              <a:lnSpc>
                <a:spcPts val="5568"/>
              </a:lnSpc>
              <a:spcBef>
                <a:spcPts val="0"/>
              </a:spcBef>
              <a:spcAft>
                <a:spcPts val="0"/>
              </a:spcAft>
            </a:pPr>
            <a:r>
              <a:rPr sz="4800" b="0" i="0" spc="-72">
                <a:solidFill>
                  <a:srgbClr val="1D1D1F"/>
                </a:solidFill>
                <a:latin typeface="Helvetica Neue Light"/>
              </a:rPr>
              <a:t>After 1.0</a:t>
            </a:r>
            <a:endParaRPr sz="4800"/>
          </a:p>
        </p:txBody>
      </p:sp>
      <p:cxnSp>
        <p:nvCxnSpPr>
          <p:cNvPr id="6" name="list rule"/>
          <p:cNvCxnSpPr/>
          <p:nvPr/>
        </p:nvCxnSpPr>
        <p:spPr>
          <a:xfrm>
            <a:off x="914400" y="2232050"/>
            <a:ext cx="7711440" cy="0"/>
          </a:xfrm>
          <a:prstGeom prst="line">
            <a:avLst/>
          </a:prstGeom>
          <a:ln w="9525">
            <a:solidFill>
              <a:srgbClr val="D2D2D7"/>
            </a:solidFill>
          </a:ln>
        </p:spPr>
      </p:cxnSp>
      <p:sp>
        <p:nvSpPr>
          <p:cNvPr id="7" name="item number"/>
          <p:cNvSpPr txBox="1"/>
          <p:nvPr/>
        </p:nvSpPr>
        <p:spPr>
          <a:xfrm>
            <a:off x="914400" y="2350922"/>
            <a:ext cx="502920" cy="238201"/>
          </a:xfrm>
          <a:prstGeom prst="rect">
            <a:avLst/>
          </a:prstGeom>
          <a:noFill/>
        </p:spPr>
        <p:txBody>
          <a:bodyPr wrap="square" lIns="0" tIns="0" rIns="0" bIns="0" anchor="t">
            <a:noAutofit/>
          </a:bodyPr>
          <a:lstStyle/>
          <a:p>
            <a:pPr algn="l">
              <a:lnSpc>
                <a:spcPts val="1872"/>
              </a:lnSpc>
              <a:spcBef>
                <a:spcPts val="0"/>
              </a:spcBef>
              <a:spcAft>
                <a:spcPts val="0"/>
              </a:spcAft>
            </a:pPr>
            <a:r>
              <a:rPr sz="1440" b="0" i="0">
                <a:solidFill>
                  <a:srgbClr val="1D1D1F"/>
                </a:solidFill>
                <a:latin typeface="Helvetica Neue Medium"/>
              </a:rPr>
              <a:t>01</a:t>
            </a:r>
            <a:endParaRPr sz="1440"/>
          </a:p>
        </p:txBody>
      </p:sp>
      <p:sp>
        <p:nvSpPr>
          <p:cNvPr id="8" name="item"/>
          <p:cNvSpPr txBox="1"/>
          <p:nvPr/>
        </p:nvSpPr>
        <p:spPr>
          <a:xfrm>
            <a:off x="1463040" y="2350922"/>
            <a:ext cx="716280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Fix the Browser Flows self-test</a:t>
            </a:r>
            <a:endParaRPr sz="1440"/>
          </a:p>
        </p:txBody>
      </p:sp>
      <p:cxnSp>
        <p:nvCxnSpPr>
          <p:cNvPr id="9" name="list rule"/>
          <p:cNvCxnSpPr/>
          <p:nvPr/>
        </p:nvCxnSpPr>
        <p:spPr>
          <a:xfrm>
            <a:off x="914400" y="2726284"/>
            <a:ext cx="7711440" cy="0"/>
          </a:xfrm>
          <a:prstGeom prst="line">
            <a:avLst/>
          </a:prstGeom>
          <a:ln w="9525">
            <a:solidFill>
              <a:srgbClr val="D2D2D7"/>
            </a:solidFill>
          </a:ln>
        </p:spPr>
      </p:cxnSp>
      <p:sp>
        <p:nvSpPr>
          <p:cNvPr id="10" name="item number"/>
          <p:cNvSpPr txBox="1"/>
          <p:nvPr/>
        </p:nvSpPr>
        <p:spPr>
          <a:xfrm>
            <a:off x="914400" y="2845156"/>
            <a:ext cx="502920" cy="238201"/>
          </a:xfrm>
          <a:prstGeom prst="rect">
            <a:avLst/>
          </a:prstGeom>
          <a:noFill/>
        </p:spPr>
        <p:txBody>
          <a:bodyPr wrap="square" lIns="0" tIns="0" rIns="0" bIns="0" anchor="t">
            <a:noAutofit/>
          </a:bodyPr>
          <a:lstStyle/>
          <a:p>
            <a:pPr algn="l">
              <a:lnSpc>
                <a:spcPts val="1872"/>
              </a:lnSpc>
              <a:spcBef>
                <a:spcPts val="0"/>
              </a:spcBef>
              <a:spcAft>
                <a:spcPts val="0"/>
              </a:spcAft>
            </a:pPr>
            <a:r>
              <a:rPr sz="1440" b="0" i="0">
                <a:solidFill>
                  <a:srgbClr val="1D1D1F"/>
                </a:solidFill>
                <a:latin typeface="Helvetica Neue Medium"/>
              </a:rPr>
              <a:t>02</a:t>
            </a:r>
            <a:endParaRPr sz="1440"/>
          </a:p>
        </p:txBody>
      </p:sp>
      <p:sp>
        <p:nvSpPr>
          <p:cNvPr id="11" name="item"/>
          <p:cNvSpPr txBox="1"/>
          <p:nvPr/>
        </p:nvSpPr>
        <p:spPr>
          <a:xfrm>
            <a:off x="1463040" y="2845156"/>
            <a:ext cx="716280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Decide: bundle a signed Node (+40–100 MB) or require it</a:t>
            </a:r>
            <a:endParaRPr sz="1440"/>
          </a:p>
        </p:txBody>
      </p:sp>
      <p:cxnSp>
        <p:nvCxnSpPr>
          <p:cNvPr id="12" name="list rule"/>
          <p:cNvCxnSpPr/>
          <p:nvPr/>
        </p:nvCxnSpPr>
        <p:spPr>
          <a:xfrm>
            <a:off x="914400" y="3220517"/>
            <a:ext cx="7711440" cy="0"/>
          </a:xfrm>
          <a:prstGeom prst="line">
            <a:avLst/>
          </a:prstGeom>
          <a:ln w="9525">
            <a:solidFill>
              <a:srgbClr val="D2D2D7"/>
            </a:solidFill>
          </a:ln>
        </p:spPr>
      </p:cxnSp>
      <p:sp>
        <p:nvSpPr>
          <p:cNvPr id="13" name="item number"/>
          <p:cNvSpPr txBox="1"/>
          <p:nvPr/>
        </p:nvSpPr>
        <p:spPr>
          <a:xfrm>
            <a:off x="914400" y="3339389"/>
            <a:ext cx="502920" cy="238201"/>
          </a:xfrm>
          <a:prstGeom prst="rect">
            <a:avLst/>
          </a:prstGeom>
          <a:noFill/>
        </p:spPr>
        <p:txBody>
          <a:bodyPr wrap="square" lIns="0" tIns="0" rIns="0" bIns="0" anchor="t">
            <a:noAutofit/>
          </a:bodyPr>
          <a:lstStyle/>
          <a:p>
            <a:pPr algn="l">
              <a:lnSpc>
                <a:spcPts val="1872"/>
              </a:lnSpc>
              <a:spcBef>
                <a:spcPts val="0"/>
              </a:spcBef>
              <a:spcAft>
                <a:spcPts val="0"/>
              </a:spcAft>
            </a:pPr>
            <a:r>
              <a:rPr sz="1440" b="0" i="0">
                <a:solidFill>
                  <a:srgbClr val="1D1D1F"/>
                </a:solidFill>
                <a:latin typeface="Helvetica Neue Medium"/>
              </a:rPr>
              <a:t>03</a:t>
            </a:r>
            <a:endParaRPr sz="1440"/>
          </a:p>
        </p:txBody>
      </p:sp>
      <p:sp>
        <p:nvSpPr>
          <p:cNvPr id="14" name="item"/>
          <p:cNvSpPr txBox="1"/>
          <p:nvPr/>
        </p:nvSpPr>
        <p:spPr>
          <a:xfrm>
            <a:off x="1463040" y="3339389"/>
            <a:ext cx="716280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Feature packs</a:t>
            </a:r>
            <a:endParaRPr sz="1440"/>
          </a:p>
        </p:txBody>
      </p:sp>
      <p:cxnSp>
        <p:nvCxnSpPr>
          <p:cNvPr id="15" name="list rule"/>
          <p:cNvCxnSpPr/>
          <p:nvPr/>
        </p:nvCxnSpPr>
        <p:spPr>
          <a:xfrm>
            <a:off x="914400" y="3714750"/>
            <a:ext cx="7711440" cy="0"/>
          </a:xfrm>
          <a:prstGeom prst="line">
            <a:avLst/>
          </a:prstGeom>
          <a:ln w="9525">
            <a:solidFill>
              <a:srgbClr val="D2D2D7"/>
            </a:solidFill>
          </a:ln>
        </p:spPr>
      </p:cxnSp>
      <p:sp>
        <p:nvSpPr>
          <p:cNvPr id="16" name="item number"/>
          <p:cNvSpPr txBox="1"/>
          <p:nvPr/>
        </p:nvSpPr>
        <p:spPr>
          <a:xfrm>
            <a:off x="914400" y="3833622"/>
            <a:ext cx="502920" cy="238201"/>
          </a:xfrm>
          <a:prstGeom prst="rect">
            <a:avLst/>
          </a:prstGeom>
          <a:noFill/>
        </p:spPr>
        <p:txBody>
          <a:bodyPr wrap="square" lIns="0" tIns="0" rIns="0" bIns="0" anchor="t">
            <a:noAutofit/>
          </a:bodyPr>
          <a:lstStyle/>
          <a:p>
            <a:pPr algn="l">
              <a:lnSpc>
                <a:spcPts val="1872"/>
              </a:lnSpc>
              <a:spcBef>
                <a:spcPts val="0"/>
              </a:spcBef>
              <a:spcAft>
                <a:spcPts val="0"/>
              </a:spcAft>
            </a:pPr>
            <a:r>
              <a:rPr sz="1440" b="0" i="0">
                <a:solidFill>
                  <a:srgbClr val="1D1D1F"/>
                </a:solidFill>
                <a:latin typeface="Helvetica Neue Medium"/>
              </a:rPr>
              <a:t>04</a:t>
            </a:r>
            <a:endParaRPr sz="1440"/>
          </a:p>
        </p:txBody>
      </p:sp>
      <p:sp>
        <p:nvSpPr>
          <p:cNvPr id="17" name="item"/>
          <p:cNvSpPr txBox="1"/>
          <p:nvPr/>
        </p:nvSpPr>
        <p:spPr>
          <a:xfrm>
            <a:off x="1463040" y="3833622"/>
            <a:ext cx="716280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Setapp (month 3+)</a:t>
            </a:r>
            <a:endParaRPr sz="1440"/>
          </a:p>
        </p:txBody>
      </p:sp>
      <p:cxnSp>
        <p:nvCxnSpPr>
          <p:cNvPr id="18" name="list rule"/>
          <p:cNvCxnSpPr/>
          <p:nvPr/>
        </p:nvCxnSpPr>
        <p:spPr>
          <a:xfrm>
            <a:off x="914400" y="4208983"/>
            <a:ext cx="7711440" cy="0"/>
          </a:xfrm>
          <a:prstGeom prst="line">
            <a:avLst/>
          </a:prstGeom>
          <a:ln w="9525">
            <a:solidFill>
              <a:srgbClr val="D2D2D7"/>
            </a:solidFill>
          </a:ln>
        </p:spPr>
      </p:cxnSp>
      <p:sp>
        <p:nvSpPr>
          <p:cNvPr id="19" name="item number"/>
          <p:cNvSpPr txBox="1"/>
          <p:nvPr/>
        </p:nvSpPr>
        <p:spPr>
          <a:xfrm>
            <a:off x="914400" y="4327855"/>
            <a:ext cx="502920" cy="238201"/>
          </a:xfrm>
          <a:prstGeom prst="rect">
            <a:avLst/>
          </a:prstGeom>
          <a:noFill/>
        </p:spPr>
        <p:txBody>
          <a:bodyPr wrap="square" lIns="0" tIns="0" rIns="0" bIns="0" anchor="t">
            <a:noAutofit/>
          </a:bodyPr>
          <a:lstStyle/>
          <a:p>
            <a:pPr algn="l">
              <a:lnSpc>
                <a:spcPts val="1872"/>
              </a:lnSpc>
              <a:spcBef>
                <a:spcPts val="0"/>
              </a:spcBef>
              <a:spcAft>
                <a:spcPts val="0"/>
              </a:spcAft>
            </a:pPr>
            <a:r>
              <a:rPr sz="1440" b="0" i="0">
                <a:solidFill>
                  <a:srgbClr val="1D1D1F"/>
                </a:solidFill>
                <a:latin typeface="Helvetica Neue Medium"/>
              </a:rPr>
              <a:t>05</a:t>
            </a:r>
            <a:endParaRPr sz="1440"/>
          </a:p>
        </p:txBody>
      </p:sp>
      <p:sp>
        <p:nvSpPr>
          <p:cNvPr id="20" name="item"/>
          <p:cNvSpPr txBox="1"/>
          <p:nvPr/>
        </p:nvSpPr>
        <p:spPr>
          <a:xfrm>
            <a:off x="1463040" y="4327855"/>
            <a:ext cx="7162800"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0">
                <a:solidFill>
                  <a:srgbClr val="6E6E73"/>
                </a:solidFill>
                <a:latin typeface="Helvetica Neue"/>
              </a:rPr>
              <a:t>Spaces live sync (not built; today Spaces share as .sparkvspace packages)</a:t>
            </a:r>
            <a:endParaRPr sz="1440"/>
          </a:p>
        </p:txBody>
      </p:sp>
      <p:cxnSp>
        <p:nvCxnSpPr>
          <p:cNvPr id="21" name="list rule"/>
          <p:cNvCxnSpPr/>
          <p:nvPr/>
        </p:nvCxnSpPr>
        <p:spPr>
          <a:xfrm>
            <a:off x="914400" y="4703216"/>
            <a:ext cx="7711440" cy="0"/>
          </a:xfrm>
          <a:prstGeom prst="line">
            <a:avLst/>
          </a:prstGeom>
          <a:ln w="9525">
            <a:solidFill>
              <a:srgbClr val="D2D2D7"/>
            </a:solidFill>
          </a:ln>
        </p:spPr>
      </p:cxn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device lid"/>
          <p:cNvSpPr/>
          <p:nvPr/>
        </p:nvSpPr>
        <p:spPr>
          <a:xfrm>
            <a:off x="2712720" y="0"/>
            <a:ext cx="6766560" cy="1524359"/>
          </a:xfrm>
          <a:prstGeom prst="round2SameRect">
            <a:avLst>
              <a:gd name="adj1" fmla="val 0"/>
              <a:gd name="adj2" fmla="val 12996"/>
            </a:avLst>
          </a:prstGeom>
          <a:solidFill>
            <a:srgbClr val="0A0A0B"/>
          </a:solidFill>
          <a:ln>
            <a:noFill/>
          </a:ln>
        </p:spPr>
        <p:txBody>
          <a:bodyPr rtlCol="0" anchor="ctr"/>
          <a:lstStyle/>
          <a:p>
            <a:pPr algn="ctr"/>
          </a:p>
        </p:txBody>
      </p:sp>
      <p:sp>
        <p:nvSpPr>
          <p:cNvPr id="3" name="device screen"/>
          <p:cNvSpPr/>
          <p:nvPr/>
        </p:nvSpPr>
        <p:spPr>
          <a:xfrm>
            <a:off x="2804160" y="0"/>
            <a:ext cx="6583680" cy="1432919"/>
          </a:xfrm>
          <a:prstGeom prst="round2SameRect">
            <a:avLst>
              <a:gd name="adj1" fmla="val 0"/>
              <a:gd name="adj2" fmla="val 8508"/>
            </a:avLst>
          </a:prstGeom>
          <a:gradFill rotWithShape="1">
            <a:gsLst>
              <a:gs pos="0">
                <a:srgbClr val="0E0C0B"/>
              </a:gs>
              <a:gs pos="79580">
                <a:srgbClr val="1C1717"/>
              </a:gs>
              <a:gs pos="100000">
                <a:srgbClr val="0F1119"/>
              </a:gs>
            </a:gsLst>
            <a:lin ang="5400000" scaled="0"/>
          </a:gradFill>
          <a:ln>
            <a:noFill/>
          </a:ln>
        </p:spPr>
        <p:txBody>
          <a:bodyPr rtlCol="0" anchor="ctr"/>
          <a:lstStyle/>
          <a:p>
            <a:pPr algn="ctr"/>
          </a:p>
        </p:txBody>
      </p:sp>
      <p:pic>
        <p:nvPicPr>
          <p:cNvPr id="4" name="device screenshot 51-clicky-answer.png" descr="51-clicky-answer.png"/>
          <p:cNvPicPr>
            <a:picLocks noChangeAspect="1"/>
          </p:cNvPicPr>
          <p:nvPr/>
        </p:nvPicPr>
        <p:blipFill>
          <a:blip r:embed="rId3"/>
          <a:stretch>
            <a:fillRect/>
          </a:stretch>
        </p:blipFill>
        <p:spPr>
          <a:xfrm>
            <a:off x="2804160" y="0"/>
            <a:ext cx="6583680" cy="1140311"/>
          </a:xfrm>
          <a:prstGeom prst="rect">
            <a:avLst/>
          </a:prstGeom>
        </p:spPr>
      </p:pic>
      <p:sp>
        <p:nvSpPr>
          <p:cNvPr id="5" name="device notch"/>
          <p:cNvSpPr/>
          <p:nvPr/>
        </p:nvSpPr>
        <p:spPr>
          <a:xfrm>
            <a:off x="5108448" y="0"/>
            <a:ext cx="1975104" cy="292315"/>
          </a:xfrm>
          <a:prstGeom prst="round2SameRect">
            <a:avLst>
              <a:gd name="adj1" fmla="val 0"/>
              <a:gd name="adj2" fmla="val 37843"/>
            </a:avLst>
          </a:prstGeom>
          <a:solidFill>
            <a:srgbClr val="000000"/>
          </a:solidFill>
          <a:ln>
            <a:noFill/>
          </a:ln>
        </p:spPr>
        <p:txBody>
          <a:bodyPr rtlCol="0" anchor="ctr"/>
          <a:lstStyle/>
          <a:p>
            <a:pPr algn="ctr"/>
          </a:p>
        </p:txBody>
      </p:sp>
      <p:sp>
        <p:nvSpPr>
          <p:cNvPr id="6" name="headline"/>
          <p:cNvSpPr txBox="1"/>
          <p:nvPr/>
        </p:nvSpPr>
        <p:spPr>
          <a:xfrm>
            <a:off x="914400" y="2667484"/>
            <a:ext cx="10363200" cy="707593"/>
          </a:xfrm>
          <a:prstGeom prst="rect">
            <a:avLst/>
          </a:prstGeom>
          <a:noFill/>
        </p:spPr>
        <p:txBody>
          <a:bodyPr wrap="square" lIns="0" tIns="0" rIns="0" bIns="0" anchor="t">
            <a:noAutofit/>
          </a:bodyPr>
          <a:lstStyle/>
          <a:p>
            <a:pPr algn="ctr">
              <a:lnSpc>
                <a:spcPts val="5568"/>
              </a:lnSpc>
              <a:spcBef>
                <a:spcPts val="0"/>
              </a:spcBef>
              <a:spcAft>
                <a:spcPts val="0"/>
              </a:spcAft>
            </a:pPr>
            <a:r>
              <a:rPr sz="4800" b="0" i="0" spc="-72">
                <a:solidFill>
                  <a:srgbClr val="1D1D1F"/>
                </a:solidFill>
                <a:latin typeface="Helvetica Neue Light"/>
              </a:rPr>
              <a:t>Build on the notch with us</a:t>
            </a:r>
            <a:endParaRPr sz="4800"/>
          </a:p>
        </p:txBody>
      </p:sp>
      <p:sp>
        <p:nvSpPr>
          <p:cNvPr id="7" name="lead"/>
          <p:cNvSpPr txBox="1"/>
          <p:nvPr/>
        </p:nvSpPr>
        <p:spPr>
          <a:xfrm>
            <a:off x="914400" y="3542717"/>
            <a:ext cx="10363200" cy="290627"/>
          </a:xfrm>
          <a:prstGeom prst="rect">
            <a:avLst/>
          </a:prstGeom>
          <a:noFill/>
        </p:spPr>
        <p:txBody>
          <a:bodyPr wrap="square" lIns="0" tIns="0" rIns="0" bIns="0" anchor="t">
            <a:noAutofit/>
          </a:bodyPr>
          <a:lstStyle/>
          <a:p>
            <a:pPr algn="ctr">
              <a:lnSpc>
                <a:spcPts val="2285"/>
              </a:lnSpc>
              <a:spcBef>
                <a:spcPts val="0"/>
              </a:spcBef>
              <a:spcAft>
                <a:spcPts val="0"/>
              </a:spcAft>
            </a:pPr>
            <a:r>
              <a:rPr sz="1680" b="0" i="0">
                <a:solidFill>
                  <a:srgbClr val="6E6E73"/>
                </a:solidFill>
                <a:latin typeface="Helvetica Neue"/>
              </a:rPr>
              <a:t>Early access for developers and technical partners</a:t>
            </a:r>
            <a:endParaRPr sz="1680"/>
          </a:p>
        </p:txBody>
      </p:sp>
      <p:sp>
        <p:nvSpPr>
          <p:cNvPr id="8" name="cta line"/>
          <p:cNvSpPr txBox="1"/>
          <p:nvPr/>
        </p:nvSpPr>
        <p:spPr>
          <a:xfrm>
            <a:off x="914400" y="4153384"/>
            <a:ext cx="10363200" cy="256489"/>
          </a:xfrm>
          <a:prstGeom prst="rect">
            <a:avLst/>
          </a:prstGeom>
          <a:noFill/>
        </p:spPr>
        <p:txBody>
          <a:bodyPr wrap="square" lIns="0" tIns="0" rIns="0" bIns="0" anchor="t">
            <a:noAutofit/>
          </a:bodyPr>
          <a:lstStyle/>
          <a:p>
            <a:pPr algn="ctr">
              <a:lnSpc>
                <a:spcPts val="2016"/>
              </a:lnSpc>
              <a:spcBef>
                <a:spcPts val="0"/>
              </a:spcBef>
              <a:spcAft>
                <a:spcPts val="0"/>
              </a:spcAft>
            </a:pPr>
            <a:r>
              <a:rPr sz="1440" b="0" i="0">
                <a:solidFill>
                  <a:srgbClr val="1D1D1F"/>
                </a:solidFill>
                <a:latin typeface="Helvetica Neue"/>
              </a:rPr>
              <a:t>Beta: run UI Audit and Browser Flows against your own staging sites</a:t>
            </a:r>
            <a:endParaRPr sz="1440"/>
          </a:p>
        </p:txBody>
      </p:sp>
      <p:sp>
        <p:nvSpPr>
          <p:cNvPr id="9" name="cta line"/>
          <p:cNvSpPr txBox="1"/>
          <p:nvPr/>
        </p:nvSpPr>
        <p:spPr>
          <a:xfrm>
            <a:off x="914400" y="4483025"/>
            <a:ext cx="10363200" cy="256489"/>
          </a:xfrm>
          <a:prstGeom prst="rect">
            <a:avLst/>
          </a:prstGeom>
          <a:noFill/>
        </p:spPr>
        <p:txBody>
          <a:bodyPr wrap="square" lIns="0" tIns="0" rIns="0" bIns="0" anchor="t">
            <a:noAutofit/>
          </a:bodyPr>
          <a:lstStyle/>
          <a:p>
            <a:pPr algn="ctr">
              <a:lnSpc>
                <a:spcPts val="2016"/>
              </a:lnSpc>
              <a:spcBef>
                <a:spcPts val="0"/>
              </a:spcBef>
              <a:spcAft>
                <a:spcPts val="0"/>
              </a:spcAft>
            </a:pPr>
            <a:r>
              <a:rPr sz="1440" b="0" i="0">
                <a:solidFill>
                  <a:srgbClr val="6E6E73"/>
                </a:solidFill>
                <a:latin typeface="Helvetica Neue"/>
              </a:rPr>
              <a:t>Partners: </a:t>
            </a:r>
            <a:r>
              <a:rPr sz="1440" b="0" i="1">
                <a:solidFill>
                  <a:srgbClr val="86868B"/>
                </a:solidFill>
                <a:latin typeface="Helvetica Neue"/>
              </a:rPr>
              <a:t>[TBD: partnership tracks]</a:t>
            </a:r>
            <a:endParaRPr sz="1440"/>
          </a:p>
        </p:txBody>
      </p:sp>
      <p:sp>
        <p:nvSpPr>
          <p:cNvPr id="10" name="url pill"/>
          <p:cNvSpPr/>
          <p:nvPr/>
        </p:nvSpPr>
        <p:spPr>
          <a:xfrm>
            <a:off x="4533414" y="5059554"/>
            <a:ext cx="1131488" cy="411480"/>
          </a:xfrm>
          <a:prstGeom prst="roundRect">
            <a:avLst>
              <a:gd name="adj" fmla="val 50000"/>
            </a:avLst>
          </a:prstGeom>
          <a:solidFill>
            <a:srgbClr val="F01822"/>
          </a:solidFill>
          <a:ln>
            <a:noFill/>
          </a:ln>
        </p:spPr>
        <p:txBody>
          <a:bodyPr rtlCol="0" anchor="ctr" wrap="square" lIns="228600" tIns="114300" rIns="228600" bIns="114300">
            <a:noAutofit/>
          </a:bodyPr>
          <a:lstStyle/>
          <a:p>
            <a:pPr algn="ctr">
              <a:lnSpc>
                <a:spcPts val="1440"/>
              </a:lnSpc>
              <a:spcBef>
                <a:spcPts val="0"/>
              </a:spcBef>
              <a:spcAft>
                <a:spcPts val="0"/>
              </a:spcAft>
            </a:pPr>
            <a:r>
              <a:rPr sz="1200" b="0" i="0">
                <a:solidFill>
                  <a:srgbClr val="FFFFFF"/>
                </a:solidFill>
                <a:latin typeface="Helvetica Neue Medium"/>
              </a:rPr>
              <a:t>sparkv.si</a:t>
            </a:r>
            <a:endParaRPr sz="1200"/>
          </a:p>
        </p:txBody>
      </p:sp>
      <p:sp>
        <p:nvSpPr>
          <p:cNvPr id="11" name="contact"/>
          <p:cNvSpPr txBox="1"/>
          <p:nvPr/>
        </p:nvSpPr>
        <p:spPr>
          <a:xfrm>
            <a:off x="5893502" y="5137050"/>
            <a:ext cx="1765085" cy="256489"/>
          </a:xfrm>
          <a:prstGeom prst="rect">
            <a:avLst/>
          </a:prstGeom>
          <a:noFill/>
        </p:spPr>
        <p:txBody>
          <a:bodyPr wrap="square" lIns="0" tIns="0" rIns="0" bIns="0" anchor="t">
            <a:noAutofit/>
          </a:bodyPr>
          <a:lstStyle/>
          <a:p>
            <a:pPr algn="l">
              <a:lnSpc>
                <a:spcPts val="2016"/>
              </a:lnSpc>
              <a:spcBef>
                <a:spcPts val="0"/>
              </a:spcBef>
              <a:spcAft>
                <a:spcPts val="0"/>
              </a:spcAft>
            </a:pPr>
            <a:r>
              <a:rPr sz="1440" b="0" i="1">
                <a:solidFill>
                  <a:srgbClr val="86868B"/>
                </a:solidFill>
                <a:latin typeface="Helvetica Neue"/>
              </a:rPr>
              <a:t>[TBD: contact email]</a:t>
            </a:r>
            <a:endParaRPr sz="144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Business Plan §3 and §6a. Overlap is by category, not feature parity. Prices are third-party listings (Business Plan §3); check vendor pages before quoting publicly.</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A1</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Backup</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Comparable-tool prices behind the stack chart</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Stack total of the six tools, year one: $491.99</a:t>
            </a:r>
            <a:endParaRPr sz="1680"/>
          </a:p>
        </p:txBody>
      </p:sp>
      <p:sp>
        <p:nvSpPr>
          <p:cNvPr id="7" name="column head"/>
          <p:cNvSpPr txBox="1"/>
          <p:nvPr/>
        </p:nvSpPr>
        <p:spPr>
          <a:xfrm>
            <a:off x="1005840" y="2308708"/>
            <a:ext cx="1619794"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PRODUCT</a:t>
            </a:r>
            <a:endParaRPr sz="900"/>
          </a:p>
        </p:txBody>
      </p:sp>
      <p:sp>
        <p:nvSpPr>
          <p:cNvPr id="8" name="column head"/>
          <p:cNvSpPr txBox="1"/>
          <p:nvPr/>
        </p:nvSpPr>
        <p:spPr>
          <a:xfrm>
            <a:off x="2808514" y="2308708"/>
            <a:ext cx="1979749"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CATEGORY</a:t>
            </a:r>
            <a:endParaRPr sz="900"/>
          </a:p>
        </p:txBody>
      </p:sp>
      <p:sp>
        <p:nvSpPr>
          <p:cNvPr id="9" name="column head"/>
          <p:cNvSpPr txBox="1"/>
          <p:nvPr/>
        </p:nvSpPr>
        <p:spPr>
          <a:xfrm>
            <a:off x="4971143" y="2308708"/>
            <a:ext cx="1169851"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FIRST-YEAR COST</a:t>
            </a:r>
            <a:endParaRPr sz="900"/>
          </a:p>
        </p:txBody>
      </p:sp>
      <p:sp>
        <p:nvSpPr>
          <p:cNvPr id="10" name="column head"/>
          <p:cNvSpPr txBox="1"/>
          <p:nvPr/>
        </p:nvSpPr>
        <p:spPr>
          <a:xfrm>
            <a:off x="6323874" y="2308708"/>
            <a:ext cx="1979749"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BASIS</a:t>
            </a:r>
            <a:endParaRPr sz="900"/>
          </a:p>
        </p:txBody>
      </p:sp>
      <p:sp>
        <p:nvSpPr>
          <p:cNvPr id="11" name="column head"/>
          <p:cNvSpPr txBox="1"/>
          <p:nvPr/>
        </p:nvSpPr>
        <p:spPr>
          <a:xfrm>
            <a:off x="8486503" y="2308708"/>
            <a:ext cx="2699657"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SOURCE</a:t>
            </a:r>
            <a:endParaRPr sz="900"/>
          </a:p>
        </p:txBody>
      </p:sp>
      <p:cxnSp>
        <p:nvCxnSpPr>
          <p:cNvPr id="12" name="table head rule"/>
          <p:cNvCxnSpPr/>
          <p:nvPr/>
        </p:nvCxnSpPr>
        <p:spPr>
          <a:xfrm>
            <a:off x="914400" y="2556053"/>
            <a:ext cx="10363200" cy="0"/>
          </a:xfrm>
          <a:prstGeom prst="line">
            <a:avLst/>
          </a:prstGeom>
          <a:ln w="9525">
            <a:solidFill>
              <a:srgbClr val="1D1D1F"/>
            </a:solidFill>
          </a:ln>
        </p:spPr>
      </p:cxnSp>
      <p:sp>
        <p:nvSpPr>
          <p:cNvPr id="13" name="cell r1c1"/>
          <p:cNvSpPr txBox="1"/>
          <p:nvPr/>
        </p:nvSpPr>
        <p:spPr>
          <a:xfrm>
            <a:off x="1005840" y="2638349"/>
            <a:ext cx="161979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Granola Business</a:t>
            </a:r>
            <a:endParaRPr sz="900"/>
          </a:p>
        </p:txBody>
      </p:sp>
      <p:sp>
        <p:nvSpPr>
          <p:cNvPr id="14" name="cell r1c2"/>
          <p:cNvSpPr txBox="1"/>
          <p:nvPr/>
        </p:nvSpPr>
        <p:spPr>
          <a:xfrm>
            <a:off x="2808514" y="2638349"/>
            <a:ext cx="197974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Meeting notes</a:t>
            </a:r>
            <a:endParaRPr sz="900"/>
          </a:p>
        </p:txBody>
      </p:sp>
      <p:sp>
        <p:nvSpPr>
          <p:cNvPr id="15" name="cell r1c3"/>
          <p:cNvSpPr txBox="1"/>
          <p:nvPr/>
        </p:nvSpPr>
        <p:spPr>
          <a:xfrm>
            <a:off x="4971143" y="2638349"/>
            <a:ext cx="116985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$168.00</a:t>
            </a:r>
            <a:endParaRPr sz="900"/>
          </a:p>
        </p:txBody>
      </p:sp>
      <p:sp>
        <p:nvSpPr>
          <p:cNvPr id="16" name="cell r1c4"/>
          <p:cNvSpPr txBox="1"/>
          <p:nvPr/>
        </p:nvSpPr>
        <p:spPr>
          <a:xfrm>
            <a:off x="6323874" y="2638349"/>
            <a:ext cx="197974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$14/user/mo x 12</a:t>
            </a:r>
            <a:endParaRPr sz="900"/>
          </a:p>
        </p:txBody>
      </p:sp>
      <p:sp>
        <p:nvSpPr>
          <p:cNvPr id="17" name="cell r1c5"/>
          <p:cNvSpPr txBox="1"/>
          <p:nvPr/>
        </p:nvSpPr>
        <p:spPr>
          <a:xfrm>
            <a:off x="8486503" y="2638349"/>
            <a:ext cx="2699657"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granola.ai</a:t>
            </a:r>
            <a:endParaRPr sz="900"/>
          </a:p>
        </p:txBody>
      </p:sp>
      <p:cxnSp>
        <p:nvCxnSpPr>
          <p:cNvPr id="18" name="row rule"/>
          <p:cNvCxnSpPr/>
          <p:nvPr/>
        </p:nvCxnSpPr>
        <p:spPr>
          <a:xfrm>
            <a:off x="914400" y="2874950"/>
            <a:ext cx="10363200" cy="0"/>
          </a:xfrm>
          <a:prstGeom prst="line">
            <a:avLst/>
          </a:prstGeom>
          <a:ln w="9525">
            <a:solidFill>
              <a:srgbClr val="D2D2D7"/>
            </a:solidFill>
          </a:ln>
        </p:spPr>
      </p:cxnSp>
      <p:sp>
        <p:nvSpPr>
          <p:cNvPr id="19" name="cell r2c1"/>
          <p:cNvSpPr txBox="1"/>
          <p:nvPr/>
        </p:nvSpPr>
        <p:spPr>
          <a:xfrm>
            <a:off x="1005840" y="2957246"/>
            <a:ext cx="161979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Wispr Flow Pro</a:t>
            </a:r>
            <a:endParaRPr sz="900"/>
          </a:p>
        </p:txBody>
      </p:sp>
      <p:sp>
        <p:nvSpPr>
          <p:cNvPr id="20" name="cell r2c2"/>
          <p:cNvSpPr txBox="1"/>
          <p:nvPr/>
        </p:nvSpPr>
        <p:spPr>
          <a:xfrm>
            <a:off x="2808514" y="2957246"/>
            <a:ext cx="197974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Dictation</a:t>
            </a:r>
            <a:endParaRPr sz="900"/>
          </a:p>
        </p:txBody>
      </p:sp>
      <p:sp>
        <p:nvSpPr>
          <p:cNvPr id="21" name="cell r2c3"/>
          <p:cNvSpPr txBox="1"/>
          <p:nvPr/>
        </p:nvSpPr>
        <p:spPr>
          <a:xfrm>
            <a:off x="4971143" y="2957246"/>
            <a:ext cx="116985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$144.00</a:t>
            </a:r>
            <a:endParaRPr sz="900"/>
          </a:p>
        </p:txBody>
      </p:sp>
      <p:sp>
        <p:nvSpPr>
          <p:cNvPr id="22" name="cell r2c4"/>
          <p:cNvSpPr txBox="1"/>
          <p:nvPr/>
        </p:nvSpPr>
        <p:spPr>
          <a:xfrm>
            <a:off x="6323874" y="2957246"/>
            <a:ext cx="197974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$144/yr</a:t>
            </a:r>
            <a:endParaRPr sz="900"/>
          </a:p>
        </p:txBody>
      </p:sp>
      <p:sp>
        <p:nvSpPr>
          <p:cNvPr id="23" name="cell r2c5"/>
          <p:cNvSpPr txBox="1"/>
          <p:nvPr/>
        </p:nvSpPr>
        <p:spPr>
          <a:xfrm>
            <a:off x="8486503" y="2957246"/>
            <a:ext cx="2699657"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getvoibe.com</a:t>
            </a:r>
            <a:endParaRPr sz="900"/>
          </a:p>
        </p:txBody>
      </p:sp>
      <p:cxnSp>
        <p:nvCxnSpPr>
          <p:cNvPr id="24" name="row rule"/>
          <p:cNvCxnSpPr/>
          <p:nvPr/>
        </p:nvCxnSpPr>
        <p:spPr>
          <a:xfrm>
            <a:off x="914400" y="3193847"/>
            <a:ext cx="10363200" cy="0"/>
          </a:xfrm>
          <a:prstGeom prst="line">
            <a:avLst/>
          </a:prstGeom>
          <a:ln w="9525">
            <a:solidFill>
              <a:srgbClr val="D2D2D7"/>
            </a:solidFill>
          </a:ln>
        </p:spPr>
      </p:cxnSp>
      <p:sp>
        <p:nvSpPr>
          <p:cNvPr id="25" name="cell r3c1"/>
          <p:cNvSpPr txBox="1"/>
          <p:nvPr/>
        </p:nvSpPr>
        <p:spPr>
          <a:xfrm>
            <a:off x="1005840" y="3276143"/>
            <a:ext cx="161979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Raycast Pro</a:t>
            </a:r>
            <a:endParaRPr sz="900"/>
          </a:p>
        </p:txBody>
      </p:sp>
      <p:sp>
        <p:nvSpPr>
          <p:cNvPr id="26" name="cell r3c2"/>
          <p:cNvSpPr txBox="1"/>
          <p:nvPr/>
        </p:nvSpPr>
        <p:spPr>
          <a:xfrm>
            <a:off x="2808514" y="3276143"/>
            <a:ext cx="197974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Launcher + AI</a:t>
            </a:r>
            <a:endParaRPr sz="900"/>
          </a:p>
        </p:txBody>
      </p:sp>
      <p:sp>
        <p:nvSpPr>
          <p:cNvPr id="27" name="cell r3c3"/>
          <p:cNvSpPr txBox="1"/>
          <p:nvPr/>
        </p:nvSpPr>
        <p:spPr>
          <a:xfrm>
            <a:off x="4971143" y="3276143"/>
            <a:ext cx="116985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$96.00</a:t>
            </a:r>
            <a:endParaRPr sz="900"/>
          </a:p>
        </p:txBody>
      </p:sp>
      <p:sp>
        <p:nvSpPr>
          <p:cNvPr id="28" name="cell r3c4"/>
          <p:cNvSpPr txBox="1"/>
          <p:nvPr/>
        </p:nvSpPr>
        <p:spPr>
          <a:xfrm>
            <a:off x="6323874" y="3276143"/>
            <a:ext cx="197974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$8/mo billed yearly</a:t>
            </a:r>
            <a:endParaRPr sz="900"/>
          </a:p>
        </p:txBody>
      </p:sp>
      <p:sp>
        <p:nvSpPr>
          <p:cNvPr id="29" name="cell r3c5"/>
          <p:cNvSpPr txBox="1"/>
          <p:nvPr/>
        </p:nvSpPr>
        <p:spPr>
          <a:xfrm>
            <a:off x="8486503" y="3276143"/>
            <a:ext cx="2699657"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raycast.com</a:t>
            </a:r>
            <a:endParaRPr sz="900"/>
          </a:p>
        </p:txBody>
      </p:sp>
      <p:cxnSp>
        <p:nvCxnSpPr>
          <p:cNvPr id="30" name="row rule"/>
          <p:cNvCxnSpPr/>
          <p:nvPr/>
        </p:nvCxnSpPr>
        <p:spPr>
          <a:xfrm>
            <a:off x="914400" y="3512744"/>
            <a:ext cx="10363200" cy="0"/>
          </a:xfrm>
          <a:prstGeom prst="line">
            <a:avLst/>
          </a:prstGeom>
          <a:ln w="9525">
            <a:solidFill>
              <a:srgbClr val="D2D2D7"/>
            </a:solidFill>
          </a:ln>
        </p:spPr>
      </p:cxnSp>
      <p:sp>
        <p:nvSpPr>
          <p:cNvPr id="31" name="cell r4c1"/>
          <p:cNvSpPr txBox="1"/>
          <p:nvPr/>
        </p:nvSpPr>
        <p:spPr>
          <a:xfrm>
            <a:off x="1005840" y="3595040"/>
            <a:ext cx="161979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Paste</a:t>
            </a:r>
            <a:endParaRPr sz="900"/>
          </a:p>
        </p:txBody>
      </p:sp>
      <p:sp>
        <p:nvSpPr>
          <p:cNvPr id="32" name="cell r4c2"/>
          <p:cNvSpPr txBox="1"/>
          <p:nvPr/>
        </p:nvSpPr>
        <p:spPr>
          <a:xfrm>
            <a:off x="2808514" y="3595040"/>
            <a:ext cx="197974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Clipboard</a:t>
            </a:r>
            <a:endParaRPr sz="900"/>
          </a:p>
        </p:txBody>
      </p:sp>
      <p:sp>
        <p:nvSpPr>
          <p:cNvPr id="33" name="cell r4c3"/>
          <p:cNvSpPr txBox="1"/>
          <p:nvPr/>
        </p:nvSpPr>
        <p:spPr>
          <a:xfrm>
            <a:off x="4971143" y="3595040"/>
            <a:ext cx="116985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$29.99</a:t>
            </a:r>
            <a:endParaRPr sz="900"/>
          </a:p>
        </p:txBody>
      </p:sp>
      <p:sp>
        <p:nvSpPr>
          <p:cNvPr id="34" name="cell r4c4"/>
          <p:cNvSpPr txBox="1"/>
          <p:nvPr/>
        </p:nvSpPr>
        <p:spPr>
          <a:xfrm>
            <a:off x="6323874" y="3595040"/>
            <a:ext cx="197974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$29.99/yr</a:t>
            </a:r>
            <a:endParaRPr sz="900"/>
          </a:p>
        </p:txBody>
      </p:sp>
      <p:sp>
        <p:nvSpPr>
          <p:cNvPr id="35" name="cell r4c5"/>
          <p:cNvSpPr txBox="1"/>
          <p:nvPr/>
        </p:nvSpPr>
        <p:spPr>
          <a:xfrm>
            <a:off x="8486503" y="3595040"/>
            <a:ext cx="2699657"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apps.apple.com</a:t>
            </a:r>
            <a:endParaRPr sz="900"/>
          </a:p>
        </p:txBody>
      </p:sp>
      <p:cxnSp>
        <p:nvCxnSpPr>
          <p:cNvPr id="36" name="row rule"/>
          <p:cNvCxnSpPr/>
          <p:nvPr/>
        </p:nvCxnSpPr>
        <p:spPr>
          <a:xfrm>
            <a:off x="914400" y="3831641"/>
            <a:ext cx="10363200" cy="0"/>
          </a:xfrm>
          <a:prstGeom prst="line">
            <a:avLst/>
          </a:prstGeom>
          <a:ln w="9525">
            <a:solidFill>
              <a:srgbClr val="D2D2D7"/>
            </a:solidFill>
          </a:ln>
        </p:spPr>
      </p:cxnSp>
      <p:sp>
        <p:nvSpPr>
          <p:cNvPr id="37" name="cell r5c1"/>
          <p:cNvSpPr txBox="1"/>
          <p:nvPr/>
        </p:nvSpPr>
        <p:spPr>
          <a:xfrm>
            <a:off x="1005840" y="3913937"/>
            <a:ext cx="161979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CleanShot X</a:t>
            </a:r>
            <a:endParaRPr sz="900"/>
          </a:p>
        </p:txBody>
      </p:sp>
      <p:sp>
        <p:nvSpPr>
          <p:cNvPr id="38" name="cell r5c2"/>
          <p:cNvSpPr txBox="1"/>
          <p:nvPr/>
        </p:nvSpPr>
        <p:spPr>
          <a:xfrm>
            <a:off x="2808514" y="3913937"/>
            <a:ext cx="197974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Screenshots</a:t>
            </a:r>
            <a:endParaRPr sz="900"/>
          </a:p>
        </p:txBody>
      </p:sp>
      <p:sp>
        <p:nvSpPr>
          <p:cNvPr id="39" name="cell r5c3"/>
          <p:cNvSpPr txBox="1"/>
          <p:nvPr/>
        </p:nvSpPr>
        <p:spPr>
          <a:xfrm>
            <a:off x="4971143" y="3913937"/>
            <a:ext cx="116985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$29.00</a:t>
            </a:r>
            <a:endParaRPr sz="900"/>
          </a:p>
        </p:txBody>
      </p:sp>
      <p:sp>
        <p:nvSpPr>
          <p:cNvPr id="40" name="cell r5c4"/>
          <p:cNvSpPr txBox="1"/>
          <p:nvPr/>
        </p:nvSpPr>
        <p:spPr>
          <a:xfrm>
            <a:off x="6323874" y="3913937"/>
            <a:ext cx="197974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one-time, 1 yr updates</a:t>
            </a:r>
            <a:endParaRPr sz="900"/>
          </a:p>
        </p:txBody>
      </p:sp>
      <p:sp>
        <p:nvSpPr>
          <p:cNvPr id="41" name="cell r5c5"/>
          <p:cNvSpPr txBox="1"/>
          <p:nvPr/>
        </p:nvSpPr>
        <p:spPr>
          <a:xfrm>
            <a:off x="8486503" y="3913937"/>
            <a:ext cx="2699657"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toolradar.com</a:t>
            </a:r>
            <a:endParaRPr sz="900"/>
          </a:p>
        </p:txBody>
      </p:sp>
      <p:cxnSp>
        <p:nvCxnSpPr>
          <p:cNvPr id="42" name="row rule"/>
          <p:cNvCxnSpPr/>
          <p:nvPr/>
        </p:nvCxnSpPr>
        <p:spPr>
          <a:xfrm>
            <a:off x="914400" y="4150538"/>
            <a:ext cx="10363200" cy="0"/>
          </a:xfrm>
          <a:prstGeom prst="line">
            <a:avLst/>
          </a:prstGeom>
          <a:ln w="9525">
            <a:solidFill>
              <a:srgbClr val="D2D2D7"/>
            </a:solidFill>
          </a:ln>
        </p:spPr>
      </p:cxnSp>
      <p:sp>
        <p:nvSpPr>
          <p:cNvPr id="43" name="cell r6c1"/>
          <p:cNvSpPr txBox="1"/>
          <p:nvPr/>
        </p:nvSpPr>
        <p:spPr>
          <a:xfrm>
            <a:off x="1005840" y="4232834"/>
            <a:ext cx="161979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NotchNook</a:t>
            </a:r>
            <a:endParaRPr sz="900"/>
          </a:p>
        </p:txBody>
      </p:sp>
      <p:sp>
        <p:nvSpPr>
          <p:cNvPr id="44" name="cell r6c2"/>
          <p:cNvSpPr txBox="1"/>
          <p:nvPr/>
        </p:nvSpPr>
        <p:spPr>
          <a:xfrm>
            <a:off x="2808514" y="4232834"/>
            <a:ext cx="197974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Notch hub</a:t>
            </a:r>
            <a:endParaRPr sz="900"/>
          </a:p>
        </p:txBody>
      </p:sp>
      <p:sp>
        <p:nvSpPr>
          <p:cNvPr id="45" name="cell r6c3"/>
          <p:cNvSpPr txBox="1"/>
          <p:nvPr/>
        </p:nvSpPr>
        <p:spPr>
          <a:xfrm>
            <a:off x="4971143" y="4232834"/>
            <a:ext cx="116985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$25.00</a:t>
            </a:r>
            <a:endParaRPr sz="900"/>
          </a:p>
        </p:txBody>
      </p:sp>
      <p:sp>
        <p:nvSpPr>
          <p:cNvPr id="46" name="cell r6c4"/>
          <p:cNvSpPr txBox="1"/>
          <p:nvPr/>
        </p:nvSpPr>
        <p:spPr>
          <a:xfrm>
            <a:off x="6323874" y="4232834"/>
            <a:ext cx="197974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one-time</a:t>
            </a:r>
            <a:endParaRPr sz="900"/>
          </a:p>
        </p:txBody>
      </p:sp>
      <p:sp>
        <p:nvSpPr>
          <p:cNvPr id="47" name="cell r6c5"/>
          <p:cNvSpPr txBox="1"/>
          <p:nvPr/>
        </p:nvSpPr>
        <p:spPr>
          <a:xfrm>
            <a:off x="8486503" y="4232834"/>
            <a:ext cx="2699657"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imore.com</a:t>
            </a:r>
            <a:endParaRPr sz="900"/>
          </a:p>
        </p:txBody>
      </p:sp>
      <p:cxnSp>
        <p:nvCxnSpPr>
          <p:cNvPr id="48" name="row rule"/>
          <p:cNvCxnSpPr/>
          <p:nvPr/>
        </p:nvCxnSpPr>
        <p:spPr>
          <a:xfrm>
            <a:off x="914400" y="4469435"/>
            <a:ext cx="10363200" cy="0"/>
          </a:xfrm>
          <a:prstGeom prst="line">
            <a:avLst/>
          </a:prstGeom>
          <a:ln w="9525">
            <a:solidFill>
              <a:srgbClr val="D2D2D7"/>
            </a:solidFill>
          </a:ln>
        </p:spPr>
      </p:cxnSp>
      <p:sp>
        <p:nvSpPr>
          <p:cNvPr id="49" name="highlight row"/>
          <p:cNvSpPr/>
          <p:nvPr/>
        </p:nvSpPr>
        <p:spPr>
          <a:xfrm>
            <a:off x="914400" y="4469435"/>
            <a:ext cx="10363200" cy="318897"/>
          </a:xfrm>
          <a:prstGeom prst="rect">
            <a:avLst/>
          </a:prstGeom>
          <a:solidFill>
            <a:srgbClr val="F5F5F7"/>
          </a:solidFill>
          <a:ln>
            <a:noFill/>
          </a:ln>
        </p:spPr>
        <p:txBody>
          <a:bodyPr rtlCol="0" anchor="ctr"/>
          <a:lstStyle/>
          <a:p>
            <a:pPr algn="ctr"/>
          </a:p>
        </p:txBody>
      </p:sp>
      <p:sp>
        <p:nvSpPr>
          <p:cNvPr id="50" name="highlight accent"/>
          <p:cNvSpPr/>
          <p:nvPr/>
        </p:nvSpPr>
        <p:spPr>
          <a:xfrm>
            <a:off x="914400" y="4469435"/>
            <a:ext cx="45720" cy="318897"/>
          </a:xfrm>
          <a:prstGeom prst="rect">
            <a:avLst/>
          </a:prstGeom>
          <a:solidFill>
            <a:srgbClr val="F01822"/>
          </a:solidFill>
          <a:ln>
            <a:noFill/>
          </a:ln>
        </p:spPr>
        <p:txBody>
          <a:bodyPr rtlCol="0" anchor="ctr"/>
          <a:lstStyle/>
          <a:p>
            <a:pPr algn="ctr"/>
          </a:p>
        </p:txBody>
      </p:sp>
      <p:sp>
        <p:nvSpPr>
          <p:cNvPr id="51" name="cell r7c1"/>
          <p:cNvSpPr txBox="1"/>
          <p:nvPr/>
        </p:nvSpPr>
        <p:spPr>
          <a:xfrm>
            <a:off x="1005840" y="4551731"/>
            <a:ext cx="161979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SparkV Pro</a:t>
            </a:r>
            <a:endParaRPr sz="900"/>
          </a:p>
        </p:txBody>
      </p:sp>
      <p:sp>
        <p:nvSpPr>
          <p:cNvPr id="52" name="cell r7c2"/>
          <p:cNvSpPr txBox="1"/>
          <p:nvPr/>
        </p:nvSpPr>
        <p:spPr>
          <a:xfrm>
            <a:off x="2808514" y="4551731"/>
            <a:ext cx="197974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All of the above categories</a:t>
            </a:r>
            <a:endParaRPr sz="900"/>
          </a:p>
        </p:txBody>
      </p:sp>
      <p:sp>
        <p:nvSpPr>
          <p:cNvPr id="53" name="cell r7c3"/>
          <p:cNvSpPr txBox="1"/>
          <p:nvPr/>
        </p:nvSpPr>
        <p:spPr>
          <a:xfrm>
            <a:off x="4971143" y="4551731"/>
            <a:ext cx="116985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$39.00</a:t>
            </a:r>
            <a:endParaRPr sz="900"/>
          </a:p>
        </p:txBody>
      </p:sp>
      <p:sp>
        <p:nvSpPr>
          <p:cNvPr id="54" name="cell r7c4"/>
          <p:cNvSpPr txBox="1"/>
          <p:nvPr/>
        </p:nvSpPr>
        <p:spPr>
          <a:xfrm>
            <a:off x="6323874" y="4551731"/>
            <a:ext cx="197974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one-time (launch $29)</a:t>
            </a:r>
            <a:endParaRPr sz="900"/>
          </a:p>
        </p:txBody>
      </p:sp>
      <p:sp>
        <p:nvSpPr>
          <p:cNvPr id="55" name="cell r7c5"/>
          <p:cNvSpPr txBox="1"/>
          <p:nvPr/>
        </p:nvSpPr>
        <p:spPr>
          <a:xfrm>
            <a:off x="8486503" y="4551731"/>
            <a:ext cx="2699657"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Business Plan §6a</a:t>
            </a:r>
            <a:endParaRPr sz="90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Derived from Business Plan §4 Lemon Squeezy fees (5% + 50¢; +0.5% on subscriptions). Excludes ~1.5% non-US surcharge and payout fees.</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A2</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Backup</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Net per sale after merchant-of-record fees</a:t>
            </a:r>
            <a:endParaRPr sz="3360"/>
          </a:p>
        </p:txBody>
      </p:sp>
      <p:sp>
        <p:nvSpPr>
          <p:cNvPr id="6" name="column head"/>
          <p:cNvSpPr txBox="1"/>
          <p:nvPr/>
        </p:nvSpPr>
        <p:spPr>
          <a:xfrm>
            <a:off x="1005840" y="1819961"/>
            <a:ext cx="2832847"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ITEM</a:t>
            </a:r>
            <a:endParaRPr sz="900"/>
          </a:p>
        </p:txBody>
      </p:sp>
      <p:sp>
        <p:nvSpPr>
          <p:cNvPr id="7" name="column head"/>
          <p:cNvSpPr txBox="1"/>
          <p:nvPr/>
        </p:nvSpPr>
        <p:spPr>
          <a:xfrm>
            <a:off x="4021567" y="1819961"/>
            <a:ext cx="1510852"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LIST PRICE</a:t>
            </a:r>
            <a:endParaRPr sz="900"/>
          </a:p>
        </p:txBody>
      </p:sp>
      <p:sp>
        <p:nvSpPr>
          <p:cNvPr id="8" name="column head"/>
          <p:cNvSpPr txBox="1"/>
          <p:nvPr/>
        </p:nvSpPr>
        <p:spPr>
          <a:xfrm>
            <a:off x="5715299" y="1819961"/>
            <a:ext cx="3777129"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FEE</a:t>
            </a:r>
            <a:endParaRPr sz="900"/>
          </a:p>
        </p:txBody>
      </p:sp>
      <p:sp>
        <p:nvSpPr>
          <p:cNvPr id="9" name="column head"/>
          <p:cNvSpPr txBox="1"/>
          <p:nvPr/>
        </p:nvSpPr>
        <p:spPr>
          <a:xfrm>
            <a:off x="9675308" y="1819961"/>
            <a:ext cx="1510852"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NET TO SPARKV</a:t>
            </a:r>
            <a:endParaRPr sz="900"/>
          </a:p>
        </p:txBody>
      </p:sp>
      <p:cxnSp>
        <p:nvCxnSpPr>
          <p:cNvPr id="10" name="table head rule"/>
          <p:cNvCxnSpPr/>
          <p:nvPr/>
        </p:nvCxnSpPr>
        <p:spPr>
          <a:xfrm>
            <a:off x="914400" y="2067306"/>
            <a:ext cx="10363200" cy="0"/>
          </a:xfrm>
          <a:prstGeom prst="line">
            <a:avLst/>
          </a:prstGeom>
          <a:ln w="9525">
            <a:solidFill>
              <a:srgbClr val="1D1D1F"/>
            </a:solidFill>
          </a:ln>
        </p:spPr>
      </p:cxnSp>
      <p:sp>
        <p:nvSpPr>
          <p:cNvPr id="11" name="cell r1c1"/>
          <p:cNvSpPr txBox="1"/>
          <p:nvPr/>
        </p:nvSpPr>
        <p:spPr>
          <a:xfrm>
            <a:off x="1005840" y="2149602"/>
            <a:ext cx="2832847"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Pro, student (50% off)</a:t>
            </a:r>
            <a:endParaRPr sz="900"/>
          </a:p>
        </p:txBody>
      </p:sp>
      <p:sp>
        <p:nvSpPr>
          <p:cNvPr id="12" name="cell r1c2"/>
          <p:cNvSpPr txBox="1"/>
          <p:nvPr/>
        </p:nvSpPr>
        <p:spPr>
          <a:xfrm>
            <a:off x="4021567" y="2149602"/>
            <a:ext cx="151085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$19.50</a:t>
            </a:r>
            <a:endParaRPr sz="900"/>
          </a:p>
        </p:txBody>
      </p:sp>
      <p:sp>
        <p:nvSpPr>
          <p:cNvPr id="13" name="cell r1c3"/>
          <p:cNvSpPr txBox="1"/>
          <p:nvPr/>
        </p:nvSpPr>
        <p:spPr>
          <a:xfrm>
            <a:off x="5715299" y="2149602"/>
            <a:ext cx="377712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$1.48</a:t>
            </a:r>
            <a:endParaRPr sz="900"/>
          </a:p>
        </p:txBody>
      </p:sp>
      <p:sp>
        <p:nvSpPr>
          <p:cNvPr id="14" name="cell r1c4"/>
          <p:cNvSpPr txBox="1"/>
          <p:nvPr/>
        </p:nvSpPr>
        <p:spPr>
          <a:xfrm>
            <a:off x="9675308" y="2149602"/>
            <a:ext cx="151085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$18.03</a:t>
            </a:r>
            <a:endParaRPr sz="900"/>
          </a:p>
        </p:txBody>
      </p:sp>
      <p:cxnSp>
        <p:nvCxnSpPr>
          <p:cNvPr id="15" name="row rule"/>
          <p:cNvCxnSpPr/>
          <p:nvPr/>
        </p:nvCxnSpPr>
        <p:spPr>
          <a:xfrm>
            <a:off x="914400" y="2386203"/>
            <a:ext cx="10363200" cy="0"/>
          </a:xfrm>
          <a:prstGeom prst="line">
            <a:avLst/>
          </a:prstGeom>
          <a:ln w="9525">
            <a:solidFill>
              <a:srgbClr val="D2D2D7"/>
            </a:solidFill>
          </a:ln>
        </p:spPr>
      </p:cxnSp>
      <p:sp>
        <p:nvSpPr>
          <p:cNvPr id="16" name="cell r2c1"/>
          <p:cNvSpPr txBox="1"/>
          <p:nvPr/>
        </p:nvSpPr>
        <p:spPr>
          <a:xfrm>
            <a:off x="1005840" y="2468499"/>
            <a:ext cx="2832847"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Pro, launch</a:t>
            </a:r>
            <a:endParaRPr sz="900"/>
          </a:p>
        </p:txBody>
      </p:sp>
      <p:sp>
        <p:nvSpPr>
          <p:cNvPr id="17" name="cell r2c2"/>
          <p:cNvSpPr txBox="1"/>
          <p:nvPr/>
        </p:nvSpPr>
        <p:spPr>
          <a:xfrm>
            <a:off x="4021567" y="2468499"/>
            <a:ext cx="151085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$29.00</a:t>
            </a:r>
            <a:endParaRPr sz="900"/>
          </a:p>
        </p:txBody>
      </p:sp>
      <p:sp>
        <p:nvSpPr>
          <p:cNvPr id="18" name="cell r2c3"/>
          <p:cNvSpPr txBox="1"/>
          <p:nvPr/>
        </p:nvSpPr>
        <p:spPr>
          <a:xfrm>
            <a:off x="5715299" y="2468499"/>
            <a:ext cx="377712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$1.95</a:t>
            </a:r>
            <a:endParaRPr sz="900"/>
          </a:p>
        </p:txBody>
      </p:sp>
      <p:sp>
        <p:nvSpPr>
          <p:cNvPr id="19" name="cell r2c4"/>
          <p:cNvSpPr txBox="1"/>
          <p:nvPr/>
        </p:nvSpPr>
        <p:spPr>
          <a:xfrm>
            <a:off x="9675308" y="2468499"/>
            <a:ext cx="151085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$27.05</a:t>
            </a:r>
            <a:endParaRPr sz="900"/>
          </a:p>
        </p:txBody>
      </p:sp>
      <p:cxnSp>
        <p:nvCxnSpPr>
          <p:cNvPr id="20" name="row rule"/>
          <p:cNvCxnSpPr/>
          <p:nvPr/>
        </p:nvCxnSpPr>
        <p:spPr>
          <a:xfrm>
            <a:off x="914400" y="2705100"/>
            <a:ext cx="10363200" cy="0"/>
          </a:xfrm>
          <a:prstGeom prst="line">
            <a:avLst/>
          </a:prstGeom>
          <a:ln w="9525">
            <a:solidFill>
              <a:srgbClr val="D2D2D7"/>
            </a:solidFill>
          </a:ln>
        </p:spPr>
      </p:cxnSp>
      <p:sp>
        <p:nvSpPr>
          <p:cNvPr id="21" name="highlight row"/>
          <p:cNvSpPr/>
          <p:nvPr/>
        </p:nvSpPr>
        <p:spPr>
          <a:xfrm>
            <a:off x="914400" y="2705100"/>
            <a:ext cx="10363200" cy="318897"/>
          </a:xfrm>
          <a:prstGeom prst="rect">
            <a:avLst/>
          </a:prstGeom>
          <a:solidFill>
            <a:srgbClr val="F5F5F7"/>
          </a:solidFill>
          <a:ln>
            <a:noFill/>
          </a:ln>
        </p:spPr>
        <p:txBody>
          <a:bodyPr rtlCol="0" anchor="ctr"/>
          <a:lstStyle/>
          <a:p>
            <a:pPr algn="ctr"/>
          </a:p>
        </p:txBody>
      </p:sp>
      <p:sp>
        <p:nvSpPr>
          <p:cNvPr id="22" name="highlight accent"/>
          <p:cNvSpPr/>
          <p:nvPr/>
        </p:nvSpPr>
        <p:spPr>
          <a:xfrm>
            <a:off x="914400" y="2705100"/>
            <a:ext cx="45720" cy="318897"/>
          </a:xfrm>
          <a:prstGeom prst="rect">
            <a:avLst/>
          </a:prstGeom>
          <a:solidFill>
            <a:srgbClr val="F01822"/>
          </a:solidFill>
          <a:ln>
            <a:noFill/>
          </a:ln>
        </p:spPr>
        <p:txBody>
          <a:bodyPr rtlCol="0" anchor="ctr"/>
          <a:lstStyle/>
          <a:p>
            <a:pPr algn="ctr"/>
          </a:p>
        </p:txBody>
      </p:sp>
      <p:sp>
        <p:nvSpPr>
          <p:cNvPr id="23" name="cell r3c1"/>
          <p:cNvSpPr txBox="1"/>
          <p:nvPr/>
        </p:nvSpPr>
        <p:spPr>
          <a:xfrm>
            <a:off x="1005840" y="2787396"/>
            <a:ext cx="2832847"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Pro</a:t>
            </a:r>
            <a:endParaRPr sz="900"/>
          </a:p>
        </p:txBody>
      </p:sp>
      <p:sp>
        <p:nvSpPr>
          <p:cNvPr id="24" name="cell r3c2"/>
          <p:cNvSpPr txBox="1"/>
          <p:nvPr/>
        </p:nvSpPr>
        <p:spPr>
          <a:xfrm>
            <a:off x="4021567" y="2787396"/>
            <a:ext cx="151085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$39.00</a:t>
            </a:r>
            <a:endParaRPr sz="900"/>
          </a:p>
        </p:txBody>
      </p:sp>
      <p:sp>
        <p:nvSpPr>
          <p:cNvPr id="25" name="cell r3c3"/>
          <p:cNvSpPr txBox="1"/>
          <p:nvPr/>
        </p:nvSpPr>
        <p:spPr>
          <a:xfrm>
            <a:off x="5715299" y="2787396"/>
            <a:ext cx="377712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$2.45</a:t>
            </a:r>
            <a:endParaRPr sz="900"/>
          </a:p>
        </p:txBody>
      </p:sp>
      <p:sp>
        <p:nvSpPr>
          <p:cNvPr id="26" name="cell r3c4"/>
          <p:cNvSpPr txBox="1"/>
          <p:nvPr/>
        </p:nvSpPr>
        <p:spPr>
          <a:xfrm>
            <a:off x="9675308" y="2787396"/>
            <a:ext cx="151085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$36.55</a:t>
            </a:r>
            <a:endParaRPr sz="900"/>
          </a:p>
        </p:txBody>
      </p:sp>
      <p:cxnSp>
        <p:nvCxnSpPr>
          <p:cNvPr id="27" name="row rule"/>
          <p:cNvCxnSpPr/>
          <p:nvPr/>
        </p:nvCxnSpPr>
        <p:spPr>
          <a:xfrm>
            <a:off x="914400" y="3023997"/>
            <a:ext cx="10363200" cy="0"/>
          </a:xfrm>
          <a:prstGeom prst="line">
            <a:avLst/>
          </a:prstGeom>
          <a:ln w="9525">
            <a:solidFill>
              <a:srgbClr val="D2D2D7"/>
            </a:solidFill>
          </a:ln>
        </p:spPr>
      </p:cxnSp>
      <p:sp>
        <p:nvSpPr>
          <p:cNvPr id="28" name="cell r4c1"/>
          <p:cNvSpPr txBox="1"/>
          <p:nvPr/>
        </p:nvSpPr>
        <p:spPr>
          <a:xfrm>
            <a:off x="1005840" y="3106293"/>
            <a:ext cx="2832847"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Team, per seat-year</a:t>
            </a:r>
            <a:endParaRPr sz="900"/>
          </a:p>
        </p:txBody>
      </p:sp>
      <p:sp>
        <p:nvSpPr>
          <p:cNvPr id="29" name="cell r4c2"/>
          <p:cNvSpPr txBox="1"/>
          <p:nvPr/>
        </p:nvSpPr>
        <p:spPr>
          <a:xfrm>
            <a:off x="4021567" y="3106293"/>
            <a:ext cx="151085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$96.00</a:t>
            </a:r>
            <a:endParaRPr sz="900"/>
          </a:p>
        </p:txBody>
      </p:sp>
      <p:sp>
        <p:nvSpPr>
          <p:cNvPr id="30" name="cell r4c3"/>
          <p:cNvSpPr txBox="1"/>
          <p:nvPr/>
        </p:nvSpPr>
        <p:spPr>
          <a:xfrm>
            <a:off x="5715299" y="3106293"/>
            <a:ext cx="377712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$5.78 (5% + $0.50 + 0.5% subscription surcharge)</a:t>
            </a:r>
            <a:endParaRPr sz="900"/>
          </a:p>
        </p:txBody>
      </p:sp>
      <p:sp>
        <p:nvSpPr>
          <p:cNvPr id="31" name="cell r4c4"/>
          <p:cNvSpPr txBox="1"/>
          <p:nvPr/>
        </p:nvSpPr>
        <p:spPr>
          <a:xfrm>
            <a:off x="9675308" y="3106293"/>
            <a:ext cx="1510852"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$90.22</a:t>
            </a:r>
            <a:endParaRPr sz="90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Apple earnings calls via 9to5Mac and supportplan.com; AppleInsider</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A3</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Backup</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Apple installed-base figures and sources</a:t>
            </a:r>
            <a:endParaRPr sz="3360"/>
          </a:p>
        </p:txBody>
      </p:sp>
      <p:sp>
        <p:nvSpPr>
          <p:cNvPr id="6" name="column head"/>
          <p:cNvSpPr txBox="1"/>
          <p:nvPr/>
        </p:nvSpPr>
        <p:spPr>
          <a:xfrm>
            <a:off x="1005840" y="1819961"/>
            <a:ext cx="1108069"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DATE</a:t>
            </a:r>
            <a:endParaRPr sz="900"/>
          </a:p>
        </p:txBody>
      </p:sp>
      <p:sp>
        <p:nvSpPr>
          <p:cNvPr id="7" name="column head"/>
          <p:cNvSpPr txBox="1"/>
          <p:nvPr/>
        </p:nvSpPr>
        <p:spPr>
          <a:xfrm>
            <a:off x="2296789" y="1819961"/>
            <a:ext cx="3920861"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FIGURE</a:t>
            </a:r>
            <a:endParaRPr sz="900"/>
          </a:p>
        </p:txBody>
      </p:sp>
      <p:sp>
        <p:nvSpPr>
          <p:cNvPr id="8" name="column head"/>
          <p:cNvSpPr txBox="1"/>
          <p:nvPr/>
        </p:nvSpPr>
        <p:spPr>
          <a:xfrm>
            <a:off x="6400530" y="1819961"/>
            <a:ext cx="2045667"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SOURCE</a:t>
            </a:r>
            <a:endParaRPr sz="900"/>
          </a:p>
        </p:txBody>
      </p:sp>
      <p:sp>
        <p:nvSpPr>
          <p:cNvPr id="9" name="column head"/>
          <p:cNvSpPr txBox="1"/>
          <p:nvPr/>
        </p:nvSpPr>
        <p:spPr>
          <a:xfrm>
            <a:off x="8629077" y="1819961"/>
            <a:ext cx="2557083"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NOTE</a:t>
            </a:r>
            <a:endParaRPr sz="900"/>
          </a:p>
        </p:txBody>
      </p:sp>
      <p:cxnSp>
        <p:nvCxnSpPr>
          <p:cNvPr id="10" name="table head rule"/>
          <p:cNvCxnSpPr/>
          <p:nvPr/>
        </p:nvCxnSpPr>
        <p:spPr>
          <a:xfrm>
            <a:off x="914400" y="2067306"/>
            <a:ext cx="10363200" cy="0"/>
          </a:xfrm>
          <a:prstGeom prst="line">
            <a:avLst/>
          </a:prstGeom>
          <a:ln w="9525">
            <a:solidFill>
              <a:srgbClr val="1D1D1F"/>
            </a:solidFill>
          </a:ln>
        </p:spPr>
      </p:cxnSp>
      <p:sp>
        <p:nvSpPr>
          <p:cNvPr id="11" name="cell r1c1"/>
          <p:cNvSpPr txBox="1"/>
          <p:nvPr/>
        </p:nvSpPr>
        <p:spPr>
          <a:xfrm>
            <a:off x="1005840" y="2149602"/>
            <a:ext cx="110806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Jan 2024</a:t>
            </a:r>
            <a:endParaRPr sz="900"/>
          </a:p>
        </p:txBody>
      </p:sp>
      <p:sp>
        <p:nvSpPr>
          <p:cNvPr id="12" name="cell r1c2"/>
          <p:cNvSpPr txBox="1"/>
          <p:nvPr/>
        </p:nvSpPr>
        <p:spPr>
          <a:xfrm>
            <a:off x="2296789" y="2149602"/>
            <a:ext cx="392086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2.20 B</a:t>
            </a:r>
            <a:endParaRPr sz="900"/>
          </a:p>
        </p:txBody>
      </p:sp>
      <p:sp>
        <p:nvSpPr>
          <p:cNvPr id="13" name="cell r1c3"/>
          <p:cNvSpPr txBox="1"/>
          <p:nvPr/>
        </p:nvSpPr>
        <p:spPr>
          <a:xfrm>
            <a:off x="6400530" y="2149602"/>
            <a:ext cx="2045667"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supportplan.com</a:t>
            </a:r>
            <a:endParaRPr sz="900"/>
          </a:p>
        </p:txBody>
      </p:sp>
      <p:sp>
        <p:nvSpPr>
          <p:cNvPr id="14" name="cell r1c4"/>
          <p:cNvSpPr txBox="1"/>
          <p:nvPr/>
        </p:nvSpPr>
        <p:spPr>
          <a:xfrm>
            <a:off x="8629077" y="2149602"/>
            <a:ext cx="255708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prior-year figure cited on Apple's FQ1 2025 call</a:t>
            </a:r>
            <a:endParaRPr sz="900"/>
          </a:p>
        </p:txBody>
      </p:sp>
      <p:cxnSp>
        <p:nvCxnSpPr>
          <p:cNvPr id="15" name="row rule"/>
          <p:cNvCxnSpPr/>
          <p:nvPr/>
        </p:nvCxnSpPr>
        <p:spPr>
          <a:xfrm>
            <a:off x="914400" y="2386203"/>
            <a:ext cx="10363200" cy="0"/>
          </a:xfrm>
          <a:prstGeom prst="line">
            <a:avLst/>
          </a:prstGeom>
          <a:ln w="9525">
            <a:solidFill>
              <a:srgbClr val="D2D2D7"/>
            </a:solidFill>
          </a:ln>
        </p:spPr>
      </p:cxnSp>
      <p:sp>
        <p:nvSpPr>
          <p:cNvPr id="16" name="cell r2c1"/>
          <p:cNvSpPr txBox="1"/>
          <p:nvPr/>
        </p:nvSpPr>
        <p:spPr>
          <a:xfrm>
            <a:off x="1005840" y="2468499"/>
            <a:ext cx="110806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Jan 2025</a:t>
            </a:r>
            <a:endParaRPr sz="900"/>
          </a:p>
        </p:txBody>
      </p:sp>
      <p:sp>
        <p:nvSpPr>
          <p:cNvPr id="17" name="cell r2c2"/>
          <p:cNvSpPr txBox="1"/>
          <p:nvPr/>
        </p:nvSpPr>
        <p:spPr>
          <a:xfrm>
            <a:off x="2296789" y="2468499"/>
            <a:ext cx="392086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2.35 B</a:t>
            </a:r>
            <a:endParaRPr sz="900"/>
          </a:p>
        </p:txBody>
      </p:sp>
      <p:sp>
        <p:nvSpPr>
          <p:cNvPr id="18" name="cell r2c3"/>
          <p:cNvSpPr txBox="1"/>
          <p:nvPr/>
        </p:nvSpPr>
        <p:spPr>
          <a:xfrm>
            <a:off x="6400530" y="2468499"/>
            <a:ext cx="2045667"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supportplan.com</a:t>
            </a:r>
            <a:endParaRPr sz="900"/>
          </a:p>
        </p:txBody>
      </p:sp>
      <p:sp>
        <p:nvSpPr>
          <p:cNvPr id="19" name="cell r2c4"/>
          <p:cNvSpPr txBox="1"/>
          <p:nvPr/>
        </p:nvSpPr>
        <p:spPr>
          <a:xfrm>
            <a:off x="8629077" y="2468499"/>
            <a:ext cx="2557083" cy="154305"/>
          </a:xfrm>
          <a:prstGeom prst="rect">
            <a:avLst/>
          </a:prstGeom>
          <a:noFill/>
        </p:spPr>
        <p:txBody>
          <a:bodyPr wrap="square" lIns="0" tIns="0" rIns="0" bIns="0" anchor="t">
            <a:noAutofit/>
          </a:bodyPr>
          <a:lstStyle/>
          <a:p>
            <a:pPr algn="l">
              <a:lnSpc>
                <a:spcPts val="1215"/>
              </a:lnSpc>
              <a:spcBef>
                <a:spcPts val="0"/>
              </a:spcBef>
              <a:spcAft>
                <a:spcPts val="0"/>
              </a:spcAft>
            </a:pPr>
            <a:endParaRPr sz="900"/>
          </a:p>
        </p:txBody>
      </p:sp>
      <p:cxnSp>
        <p:nvCxnSpPr>
          <p:cNvPr id="20" name="row rule"/>
          <p:cNvCxnSpPr/>
          <p:nvPr/>
        </p:nvCxnSpPr>
        <p:spPr>
          <a:xfrm>
            <a:off x="914400" y="2705100"/>
            <a:ext cx="10363200" cy="0"/>
          </a:xfrm>
          <a:prstGeom prst="line">
            <a:avLst/>
          </a:prstGeom>
          <a:ln w="9525">
            <a:solidFill>
              <a:srgbClr val="D2D2D7"/>
            </a:solidFill>
          </a:ln>
        </p:spPr>
      </p:cxnSp>
      <p:sp>
        <p:nvSpPr>
          <p:cNvPr id="21" name="cell r3c1"/>
          <p:cNvSpPr txBox="1"/>
          <p:nvPr/>
        </p:nvSpPr>
        <p:spPr>
          <a:xfrm>
            <a:off x="1005840" y="2787396"/>
            <a:ext cx="110806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Jan 2026</a:t>
            </a:r>
            <a:endParaRPr sz="900"/>
          </a:p>
        </p:txBody>
      </p:sp>
      <p:sp>
        <p:nvSpPr>
          <p:cNvPr id="22" name="cell r3c2"/>
          <p:cNvSpPr txBox="1"/>
          <p:nvPr/>
        </p:nvSpPr>
        <p:spPr>
          <a:xfrm>
            <a:off x="2296789" y="2787396"/>
            <a:ext cx="392086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2.50 B</a:t>
            </a:r>
            <a:endParaRPr sz="900"/>
          </a:p>
        </p:txBody>
      </p:sp>
      <p:sp>
        <p:nvSpPr>
          <p:cNvPr id="23" name="cell r3c3"/>
          <p:cNvSpPr txBox="1"/>
          <p:nvPr/>
        </p:nvSpPr>
        <p:spPr>
          <a:xfrm>
            <a:off x="6400530" y="2787396"/>
            <a:ext cx="2045667"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9to5mac.com</a:t>
            </a:r>
            <a:endParaRPr sz="900"/>
          </a:p>
        </p:txBody>
      </p:sp>
      <p:sp>
        <p:nvSpPr>
          <p:cNvPr id="24" name="cell r3c4"/>
          <p:cNvSpPr txBox="1"/>
          <p:nvPr/>
        </p:nvSpPr>
        <p:spPr>
          <a:xfrm>
            <a:off x="8629077" y="2787396"/>
            <a:ext cx="2557083" cy="154305"/>
          </a:xfrm>
          <a:prstGeom prst="rect">
            <a:avLst/>
          </a:prstGeom>
          <a:noFill/>
        </p:spPr>
        <p:txBody>
          <a:bodyPr wrap="square" lIns="0" tIns="0" rIns="0" bIns="0" anchor="t">
            <a:noAutofit/>
          </a:bodyPr>
          <a:lstStyle/>
          <a:p>
            <a:pPr algn="l">
              <a:lnSpc>
                <a:spcPts val="1215"/>
              </a:lnSpc>
              <a:spcBef>
                <a:spcPts val="0"/>
              </a:spcBef>
              <a:spcAft>
                <a:spcPts val="0"/>
              </a:spcAft>
            </a:pPr>
            <a:endParaRPr sz="900"/>
          </a:p>
        </p:txBody>
      </p:sp>
      <p:cxnSp>
        <p:nvCxnSpPr>
          <p:cNvPr id="25" name="row rule"/>
          <p:cNvCxnSpPr/>
          <p:nvPr/>
        </p:nvCxnSpPr>
        <p:spPr>
          <a:xfrm>
            <a:off x="914400" y="3023997"/>
            <a:ext cx="10363200" cy="0"/>
          </a:xfrm>
          <a:prstGeom prst="line">
            <a:avLst/>
          </a:prstGeom>
          <a:ln w="9525">
            <a:solidFill>
              <a:srgbClr val="D2D2D7"/>
            </a:solidFill>
          </a:ln>
        </p:spPr>
      </p:cxnSp>
      <p:sp>
        <p:nvSpPr>
          <p:cNvPr id="26" name="cell r4c1"/>
          <p:cNvSpPr txBox="1"/>
          <p:nvPr/>
        </p:nvSpPr>
        <p:spPr>
          <a:xfrm>
            <a:off x="1005840" y="3106293"/>
            <a:ext cx="110806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Oct 2018</a:t>
            </a:r>
            <a:endParaRPr sz="900"/>
          </a:p>
        </p:txBody>
      </p:sp>
      <p:sp>
        <p:nvSpPr>
          <p:cNvPr id="27" name="cell r4c2"/>
          <p:cNvSpPr txBox="1"/>
          <p:nvPr/>
        </p:nvSpPr>
        <p:spPr>
          <a:xfrm>
            <a:off x="2296789" y="3106293"/>
            <a:ext cx="392086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Mac active base: 100M+</a:t>
            </a:r>
            <a:endParaRPr sz="900"/>
          </a:p>
        </p:txBody>
      </p:sp>
      <p:sp>
        <p:nvSpPr>
          <p:cNvPr id="28" name="cell r4c3"/>
          <p:cNvSpPr txBox="1"/>
          <p:nvPr/>
        </p:nvSpPr>
        <p:spPr>
          <a:xfrm>
            <a:off x="6400530" y="3106293"/>
            <a:ext cx="2045667"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forums.appleinsider.com</a:t>
            </a:r>
            <a:endParaRPr sz="900"/>
          </a:p>
        </p:txBody>
      </p:sp>
      <p:sp>
        <p:nvSpPr>
          <p:cNvPr id="29" name="cell r4c4"/>
          <p:cNvSpPr txBox="1"/>
          <p:nvPr/>
        </p:nvSpPr>
        <p:spPr>
          <a:xfrm>
            <a:off x="8629077" y="3106293"/>
            <a:ext cx="2557083" cy="154305"/>
          </a:xfrm>
          <a:prstGeom prst="rect">
            <a:avLst/>
          </a:prstGeom>
          <a:noFill/>
        </p:spPr>
        <p:txBody>
          <a:bodyPr wrap="square" lIns="0" tIns="0" rIns="0" bIns="0" anchor="t">
            <a:noAutofit/>
          </a:bodyPr>
          <a:lstStyle/>
          <a:p>
            <a:pPr algn="l">
              <a:lnSpc>
                <a:spcPts val="1215"/>
              </a:lnSpc>
              <a:spcBef>
                <a:spcPts val="0"/>
              </a:spcBef>
              <a:spcAft>
                <a:spcPts val="0"/>
              </a:spcAft>
            </a:pPr>
            <a:endParaRPr sz="900"/>
          </a:p>
        </p:txBody>
      </p:sp>
      <p:cxnSp>
        <p:nvCxnSpPr>
          <p:cNvPr id="30" name="row rule"/>
          <p:cNvCxnSpPr/>
          <p:nvPr/>
        </p:nvCxnSpPr>
        <p:spPr>
          <a:xfrm>
            <a:off x="914400" y="3342894"/>
            <a:ext cx="10363200" cy="0"/>
          </a:xfrm>
          <a:prstGeom prst="line">
            <a:avLst/>
          </a:prstGeom>
          <a:ln w="9525">
            <a:solidFill>
              <a:srgbClr val="D2D2D7"/>
            </a:solidFill>
          </a:ln>
        </p:spPr>
      </p:cxnSp>
      <p:sp>
        <p:nvSpPr>
          <p:cNvPr id="31" name="cell r5c1"/>
          <p:cNvSpPr txBox="1"/>
          <p:nvPr/>
        </p:nvSpPr>
        <p:spPr>
          <a:xfrm>
            <a:off x="1005840" y="3425190"/>
            <a:ext cx="1108069" cy="308610"/>
          </a:xfrm>
          <a:prstGeom prst="rect">
            <a:avLst/>
          </a:prstGeom>
          <a:noFill/>
        </p:spPr>
        <p:txBody>
          <a:bodyPr wrap="square" lIns="0" tIns="0" rIns="0" bIns="0" anchor="t">
            <a:noAutofit/>
          </a:bodyPr>
          <a:lstStyle/>
          <a:p>
            <a:pPr algn="l">
              <a:lnSpc>
                <a:spcPts val="1215"/>
              </a:lnSpc>
              <a:spcBef>
                <a:spcPts val="0"/>
              </a:spcBef>
              <a:spcAft>
                <a:spcPts val="0"/>
              </a:spcAft>
            </a:pPr>
            <a:endParaRPr sz="900"/>
          </a:p>
        </p:txBody>
      </p:sp>
      <p:sp>
        <p:nvSpPr>
          <p:cNvPr id="32" name="cell r5c2"/>
          <p:cNvSpPr txBox="1"/>
          <p:nvPr/>
        </p:nvSpPr>
        <p:spPr>
          <a:xfrm>
            <a:off x="2296789" y="3425190"/>
            <a:ext cx="3920861"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Notched Apple-silicon MacBooks on macOS 15+: </a:t>
            </a:r>
            <a:r>
              <a:rPr sz="900" b="0" i="1">
                <a:solidFill>
                  <a:srgbClr val="86868B"/>
                </a:solidFill>
                <a:latin typeface="Helvetica Neue"/>
              </a:rPr>
              <a:t>[TBD: sourced estimate]</a:t>
            </a:r>
            <a:endParaRPr sz="900"/>
          </a:p>
        </p:txBody>
      </p:sp>
      <p:sp>
        <p:nvSpPr>
          <p:cNvPr id="33" name="cell r5c3"/>
          <p:cNvSpPr txBox="1"/>
          <p:nvPr/>
        </p:nvSpPr>
        <p:spPr>
          <a:xfrm>
            <a:off x="6400530" y="3425190"/>
            <a:ext cx="2045667" cy="308610"/>
          </a:xfrm>
          <a:prstGeom prst="rect">
            <a:avLst/>
          </a:prstGeom>
          <a:noFill/>
        </p:spPr>
        <p:txBody>
          <a:bodyPr wrap="square" lIns="0" tIns="0" rIns="0" bIns="0" anchor="t">
            <a:noAutofit/>
          </a:bodyPr>
          <a:lstStyle/>
          <a:p>
            <a:pPr algn="l">
              <a:lnSpc>
                <a:spcPts val="1215"/>
              </a:lnSpc>
              <a:spcBef>
                <a:spcPts val="0"/>
              </a:spcBef>
              <a:spcAft>
                <a:spcPts val="0"/>
              </a:spcAft>
            </a:pPr>
            <a:endParaRPr sz="900"/>
          </a:p>
        </p:txBody>
      </p:sp>
      <p:sp>
        <p:nvSpPr>
          <p:cNvPr id="34" name="cell r5c4"/>
          <p:cNvSpPr txBox="1"/>
          <p:nvPr/>
        </p:nvSpPr>
        <p:spPr>
          <a:xfrm>
            <a:off x="8629077" y="3425190"/>
            <a:ext cx="2557083" cy="308610"/>
          </a:xfrm>
          <a:prstGeom prst="rect">
            <a:avLst/>
          </a:prstGeom>
          <a:noFill/>
        </p:spPr>
        <p:txBody>
          <a:bodyPr wrap="square" lIns="0" tIns="0" rIns="0" bIns="0" anchor="t">
            <a:noAutofit/>
          </a:bodyPr>
          <a:lstStyle/>
          <a:p>
            <a:pPr algn="l">
              <a:lnSpc>
                <a:spcPts val="1215"/>
              </a:lnSpc>
              <a:spcBef>
                <a:spcPts val="0"/>
              </a:spcBef>
              <a:spcAft>
                <a:spcPts val="0"/>
              </a:spcAft>
            </a:pPr>
            <a:endParaRPr sz="900"/>
          </a:p>
        </p:txBody>
      </p:sp>
      <p:cxnSp>
        <p:nvCxnSpPr>
          <p:cNvPr id="35" name="row rule"/>
          <p:cNvCxnSpPr/>
          <p:nvPr/>
        </p:nvCxnSpPr>
        <p:spPr>
          <a:xfrm>
            <a:off x="914400" y="3816096"/>
            <a:ext cx="10363200" cy="0"/>
          </a:xfrm>
          <a:prstGeom prst="line">
            <a:avLst/>
          </a:prstGeom>
          <a:ln w="9525">
            <a:solidFill>
              <a:srgbClr val="D2D2D7"/>
            </a:solidFill>
          </a:ln>
        </p:spPr>
      </p:cxnSp>
      <p:sp>
        <p:nvSpPr>
          <p:cNvPr id="36" name="cell r6c1"/>
          <p:cNvSpPr txBox="1"/>
          <p:nvPr/>
        </p:nvSpPr>
        <p:spPr>
          <a:xfrm>
            <a:off x="1005840" y="3898392"/>
            <a:ext cx="1108069" cy="154305"/>
          </a:xfrm>
          <a:prstGeom prst="rect">
            <a:avLst/>
          </a:prstGeom>
          <a:noFill/>
        </p:spPr>
        <p:txBody>
          <a:bodyPr wrap="square" lIns="0" tIns="0" rIns="0" bIns="0" anchor="t">
            <a:noAutofit/>
          </a:bodyPr>
          <a:lstStyle/>
          <a:p>
            <a:pPr algn="l">
              <a:lnSpc>
                <a:spcPts val="1215"/>
              </a:lnSpc>
              <a:spcBef>
                <a:spcPts val="0"/>
              </a:spcBef>
              <a:spcAft>
                <a:spcPts val="0"/>
              </a:spcAft>
            </a:pPr>
            <a:endParaRPr sz="900"/>
          </a:p>
        </p:txBody>
      </p:sp>
      <p:sp>
        <p:nvSpPr>
          <p:cNvPr id="37" name="cell r6c2"/>
          <p:cNvSpPr txBox="1"/>
          <p:nvPr/>
        </p:nvSpPr>
        <p:spPr>
          <a:xfrm>
            <a:off x="2296789" y="3898392"/>
            <a:ext cx="392086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SparkV users: </a:t>
            </a:r>
            <a:r>
              <a:rPr sz="900" b="0" i="1">
                <a:solidFill>
                  <a:srgbClr val="86868B"/>
                </a:solidFill>
                <a:latin typeface="Helvetica Neue"/>
              </a:rPr>
              <a:t>[TBD: monthly active users]</a:t>
            </a:r>
            <a:endParaRPr sz="900"/>
          </a:p>
        </p:txBody>
      </p:sp>
      <p:sp>
        <p:nvSpPr>
          <p:cNvPr id="38" name="cell r6c3"/>
          <p:cNvSpPr txBox="1"/>
          <p:nvPr/>
        </p:nvSpPr>
        <p:spPr>
          <a:xfrm>
            <a:off x="6400530" y="3898392"/>
            <a:ext cx="2045667" cy="154305"/>
          </a:xfrm>
          <a:prstGeom prst="rect">
            <a:avLst/>
          </a:prstGeom>
          <a:noFill/>
        </p:spPr>
        <p:txBody>
          <a:bodyPr wrap="square" lIns="0" tIns="0" rIns="0" bIns="0" anchor="t">
            <a:noAutofit/>
          </a:bodyPr>
          <a:lstStyle/>
          <a:p>
            <a:pPr algn="l">
              <a:lnSpc>
                <a:spcPts val="1215"/>
              </a:lnSpc>
              <a:spcBef>
                <a:spcPts val="0"/>
              </a:spcBef>
              <a:spcAft>
                <a:spcPts val="0"/>
              </a:spcAft>
            </a:pPr>
            <a:endParaRPr sz="900"/>
          </a:p>
        </p:txBody>
      </p:sp>
      <p:sp>
        <p:nvSpPr>
          <p:cNvPr id="39" name="cell r6c4"/>
          <p:cNvSpPr txBox="1"/>
          <p:nvPr/>
        </p:nvSpPr>
        <p:spPr>
          <a:xfrm>
            <a:off x="8629077" y="3898392"/>
            <a:ext cx="2557083" cy="154305"/>
          </a:xfrm>
          <a:prstGeom prst="rect">
            <a:avLst/>
          </a:prstGeom>
          <a:noFill/>
        </p:spPr>
        <p:txBody>
          <a:bodyPr wrap="square" lIns="0" tIns="0" rIns="0" bIns="0" anchor="t">
            <a:noAutofit/>
          </a:bodyPr>
          <a:lstStyle/>
          <a:p>
            <a:pPr algn="l">
              <a:lnSpc>
                <a:spcPts val="1215"/>
              </a:lnSpc>
              <a:spcBef>
                <a:spcPts val="0"/>
              </a:spcBef>
              <a:spcAft>
                <a:spcPts val="0"/>
              </a:spcAft>
            </a:pPr>
            <a:endParaRPr sz="9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SparkV Technical Deck</dc:title>
  <dc:subject/>
  <dc:creator>SparkV</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