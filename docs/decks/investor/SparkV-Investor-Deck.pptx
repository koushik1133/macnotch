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USD, year one</c:v>
                </c:pt>
              </c:strCache>
            </c:strRef>
          </c:tx>
          <c:spPr>
            <a:solidFill>
              <a:srgbClr val="AEAEB2"/>
            </a:solidFill>
            <a:ln>
              <a:noFill/>
            </a:ln>
          </c:spPr>
          <c:invertIfNegative val="0"/>
          <c:dPt>
            <c:idx val="6"/>
            <c:spPr>
              <a:solidFill>
                <a:srgbClr val="F01822"/>
              </a:solidFill>
            </c:spPr>
          </c:dPt>
          <c:dPt>
            <c:idx val="5"/>
            <c:spPr>
              <a:solidFill>
                <a:srgbClr val="1D1D1F"/>
              </a:solidFill>
            </c:spPr>
          </c:dPt>
          <c:cat>
            <c:strRef>
              <c:f>Sheet1!$A$2:$A$8</c:f>
              <c:strCache>
                <c:ptCount val="7"/>
                <c:pt idx="0">
                  <c:v>Granola (Business)</c:v>
                </c:pt>
                <c:pt idx="1">
                  <c:v>Wispr Flow (Pro, yearly)</c:v>
                </c:pt>
                <c:pt idx="2">
                  <c:v>Paste (yearly)</c:v>
                </c:pt>
                <c:pt idx="3">
                  <c:v>CleanShot X</c:v>
                </c:pt>
                <c:pt idx="4">
                  <c:v>NotchNook</c:v>
                </c:pt>
                <c:pt idx="5">
                  <c:v>Five apps total</c:v>
                </c:pt>
                <c:pt idx="6">
                  <c:v>SparkV Pro</c:v>
                </c:pt>
              </c:strCache>
            </c:strRef>
          </c:cat>
          <c:val>
            <c:numRef>
              <c:f>Sheet1!$B$2:$B$8</c:f>
              <c:numCache>
                <c:formatCode>$0.00</c:formatCode>
                <c:ptCount val="7"/>
                <c:pt idx="0">
                  <c:v>168.0</c:v>
                </c:pt>
                <c:pt idx="1">
                  <c:v>144.0</c:v>
                </c:pt>
                <c:pt idx="2">
                  <c:v>29.99</c:v>
                </c:pt>
                <c:pt idx="3">
                  <c:v>29.0</c:v>
                </c:pt>
                <c:pt idx="4">
                  <c:v>25.0</c:v>
                </c:pt>
                <c:pt idx="5">
                  <c:v>395.99</c:v>
                </c:pt>
                <c:pt idx="6">
                  <c:v>39.0</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500.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Macs shipped (M)</c:v>
                </c:pt>
              </c:strCache>
            </c:strRef>
          </c:tx>
          <c:spPr>
            <a:solidFill>
              <a:srgbClr val="AEAEB2"/>
            </a:solidFill>
            <a:ln>
              <a:noFill/>
            </a:ln>
          </c:spPr>
          <c:invertIfNegative val="0"/>
          <c:dPt>
            <c:idx val="1"/>
            <c:spPr>
              <a:solidFill>
                <a:srgbClr val="F01822"/>
              </a:solidFill>
            </c:spPr>
          </c:dPt>
          <c:cat>
            <c:strRef>
              <c:f>Sheet1!$A$2:$A$3</c:f>
              <c:strCache>
                <c:ptCount val="2"/>
                <c:pt idx="0">
                  <c:v>2024 (derived)</c:v>
                </c:pt>
                <c:pt idx="1">
                  <c:v>2025</c:v>
                </c:pt>
              </c:strCache>
            </c:strRef>
          </c:cat>
          <c:val>
            <c:numRef>
              <c:f>Sheet1!$B$2:$B$3</c:f>
              <c:numCache>
                <c:formatCode>0.0</c:formatCode>
                <c:ptCount val="2"/>
                <c:pt idx="0">
                  <c:v>23.0</c:v>
                </c:pt>
                <c:pt idx="1">
                  <c:v>25.6</c:v>
                </c:pt>
              </c:numCache>
            </c:numRef>
          </c:val>
        </c:ser>
        <c:dLbls>
          <c:numFmt formatCode="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3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invertIfNegative val="0"/>
          <c:dLbls>
            <c:delete val="1"/>
          </c:dLbls>
          <c:cat>
            <c:strRef>
              <c:f>Sheet1!$A$2:$A$6</c:f>
              <c:strCache>
                <c:ptCount val="5"/>
                <c:pt idx="0">
                  <c:v>List price</c:v>
                </c:pt>
                <c:pt idx="1">
                  <c:v>MoR fee 5%</c:v>
                </c:pt>
                <c:pt idx="2">
                  <c:v>Per-order fee</c:v>
                </c:pt>
                <c:pt idx="3">
                  <c:v>AI inference</c:v>
                </c:pt>
                <c:pt idx="4">
                  <c:v>Net to SparkV</c:v>
                </c:pt>
              </c:strCache>
            </c:strRef>
          </c:cat>
          <c:val>
            <c:numRef>
              <c:f>Sheet1!$B$2:$B$6</c:f>
              <c:numCache>
                <c:formatCode>$0.00</c:formatCode>
                <c:ptCount val="5"/>
                <c:pt idx="0">
                  <c:v>0.0</c:v>
                </c:pt>
                <c:pt idx="1">
                  <c:v>37.05</c:v>
                </c:pt>
                <c:pt idx="2">
                  <c:v>36.55</c:v>
                </c:pt>
                <c:pt idx="3">
                  <c:v>36.55</c:v>
                </c:pt>
                <c:pt idx="4">
                  <c:v>0.0</c:v>
                </c:pt>
              </c:numCache>
            </c:numRef>
          </c:val>
        </c:ser>
        <c:ser>
          <c:idx val="1"/>
          <c:order val="1"/>
          <c:tx>
            <c:strRef>
              <c:f>Sheet1!$C$1</c:f>
              <c:strCache>
                <c:ptCount val="1"/>
                <c:pt idx="0">
                  <c:v>USD</c:v>
                </c:pt>
              </c:strCache>
            </c:strRef>
          </c:tx>
          <c:spPr>
            <a:solidFill>
              <a:srgbClr val="AEAEB2"/>
            </a:solidFill>
            <a:ln>
              <a:noFill/>
            </a:ln>
          </c:spPr>
          <c:invertIfNegative val="0"/>
          <c:dPt>
            <c:idx val="0"/>
            <c:spPr>
              <a:solidFill>
                <a:srgbClr val="1D1D1F"/>
              </a:solidFill>
            </c:spPr>
          </c:dPt>
          <c:dPt>
            <c:idx val="1"/>
            <c:spPr>
              <a:solidFill>
                <a:srgbClr val="AEAEB2"/>
              </a:solidFill>
            </c:spPr>
          </c:dPt>
          <c:dPt>
            <c:idx val="2"/>
            <c:spPr>
              <a:solidFill>
                <a:srgbClr val="AEAEB2"/>
              </a:solidFill>
            </c:spPr>
          </c:dPt>
          <c:dPt>
            <c:idx val="3"/>
            <c:spPr>
              <a:solidFill>
                <a:srgbClr val="AEAEB2"/>
              </a:solidFill>
            </c:spPr>
          </c:dPt>
          <c:dPt>
            <c:idx val="4"/>
            <c:spPr>
              <a:solidFill>
                <a:srgbClr val="F01822"/>
              </a:solidFill>
            </c:spPr>
          </c:dPt>
          <c:dLbls>
            <c:delete val="1"/>
          </c:dLbls>
          <c:cat>
            <c:strRef>
              <c:f>Sheet1!$A$2:$A$6</c:f>
              <c:strCache>
                <c:ptCount val="5"/>
                <c:pt idx="0">
                  <c:v>List price</c:v>
                </c:pt>
                <c:pt idx="1">
                  <c:v>MoR fee 5%</c:v>
                </c:pt>
                <c:pt idx="2">
                  <c:v>Per-order fee</c:v>
                </c:pt>
                <c:pt idx="3">
                  <c:v>AI inference</c:v>
                </c:pt>
                <c:pt idx="4">
                  <c:v>Net to SparkV</c:v>
                </c:pt>
              </c:strCache>
            </c:strRef>
          </c:cat>
          <c:val>
            <c:numRef>
              <c:f>Sheet1!$C$2:$C$6</c:f>
              <c:numCache>
                <c:formatCode>$0.00</c:formatCode>
                <c:ptCount val="5"/>
                <c:pt idx="0">
                  <c:v>39.0</c:v>
                </c:pt>
                <c:pt idx="1">
                  <c:v>1.95</c:v>
                </c:pt>
                <c:pt idx="2">
                  <c:v>0.5</c:v>
                </c:pt>
                <c:pt idx="3">
                  <c:v>-0.0</c:v>
                </c:pt>
                <c:pt idx="4">
                  <c:v>36.55</c:v>
                </c:pt>
              </c:numCache>
            </c:numRef>
          </c:val>
        </c:ser>
        <c:ser>
          <c:idx val="2"/>
          <c:order val="2"/>
          <c:tx>
            <c:strRef>
              <c:f>Sheet1!$D$1</c:f>
              <c:strCache>
                <c:ptCount val="1"/>
                <c:pt idx="0">
                  <c:v>label</c:v>
                </c:pt>
              </c:strCache>
            </c:strRef>
          </c:tx>
          <c:spPr>
            <a:noFill/>
            <a:ln>
              <a:noFill/>
            </a:ln>
          </c:spPr>
          <c:invertIfNegative val="0"/>
          <c:dLbls>
            <c:dLbl>
              <c:idx val="0"/>
              <c:tx>
                <c:rich>
                  <a:bodyPr/>
                  <a:lstStyle/>
                  <a:p>
                    <a:r>
                      <a:rPr sz="900">
                        <a:solidFill>
                          <a:srgbClr val="1D1D1F"/>
                        </a:solidFill>
                        <a:latin typeface="Helvetica Neue Medium"/>
                      </a:rPr>
                      <a:t>$39.00</a:t>
                    </a:r>
                  </a:p>
                </c:rich>
              </c:tx>
              <c:dLblPos val="ctr"/>
              <c:showLegendKey val="0"/>
              <c:showVal val="1"/>
              <c:showCatName val="0"/>
              <c:showSerName val="0"/>
              <c:showPercent val="0"/>
              <c:showBubbleSize val="0"/>
            </c:dLbl>
            <c:dLbl>
              <c:idx val="1"/>
              <c:tx>
                <c:rich>
                  <a:bodyPr/>
                  <a:lstStyle/>
                  <a:p>
                    <a:r>
                      <a:rPr sz="900">
                        <a:solidFill>
                          <a:srgbClr val="1D1D1F"/>
                        </a:solidFill>
                        <a:latin typeface="Helvetica Neue Medium"/>
                      </a:rPr>
                      <a:t>−$1.95</a:t>
                    </a:r>
                  </a:p>
                </c:rich>
              </c:tx>
              <c:dLblPos val="ctr"/>
              <c:showLegendKey val="0"/>
              <c:showVal val="1"/>
              <c:showCatName val="0"/>
              <c:showSerName val="0"/>
              <c:showPercent val="0"/>
              <c:showBubbleSize val="0"/>
            </c:dLbl>
            <c:dLbl>
              <c:idx val="2"/>
              <c:tx>
                <c:rich>
                  <a:bodyPr/>
                  <a:lstStyle/>
                  <a:p>
                    <a:r>
                      <a:rPr sz="900">
                        <a:solidFill>
                          <a:srgbClr val="1D1D1F"/>
                        </a:solidFill>
                        <a:latin typeface="Helvetica Neue Medium"/>
                      </a:rPr>
                      <a:t>−$0.50</a:t>
                    </a:r>
                  </a:p>
                </c:rich>
              </c:tx>
              <c:dLblPos val="ctr"/>
              <c:showLegendKey val="0"/>
              <c:showVal val="1"/>
              <c:showCatName val="0"/>
              <c:showSerName val="0"/>
              <c:showPercent val="0"/>
              <c:showBubbleSize val="0"/>
            </c:dLbl>
            <c:dLbl>
              <c:idx val="3"/>
              <c:tx>
                <c:rich>
                  <a:bodyPr/>
                  <a:lstStyle/>
                  <a:p>
                    <a:r>
                      <a:rPr sz="900">
                        <a:solidFill>
                          <a:srgbClr val="F01822"/>
                        </a:solidFill>
                        <a:latin typeface="Helvetica Neue Medium"/>
                      </a:rPr>
                      <a:t>$0.00</a:t>
                    </a:r>
                  </a:p>
                </c:rich>
              </c:tx>
              <c:dLblPos val="ctr"/>
              <c:showLegendKey val="0"/>
              <c:showVal val="1"/>
              <c:showCatName val="0"/>
              <c:showSerName val="0"/>
              <c:showPercent val="0"/>
              <c:showBubbleSize val="0"/>
            </c:dLbl>
            <c:dLbl>
              <c:idx val="4"/>
              <c:tx>
                <c:rich>
                  <a:bodyPr/>
                  <a:lstStyle/>
                  <a:p>
                    <a:r>
                      <a:rPr sz="900">
                        <a:solidFill>
                          <a:srgbClr val="F01822"/>
                        </a:solidFill>
                        <a:latin typeface="Helvetica Neue Medium"/>
                      </a:rPr>
                      <a:t>$36.55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List price</c:v>
                </c:pt>
                <c:pt idx="1">
                  <c:v>MoR fee 5%</c:v>
                </c:pt>
                <c:pt idx="2">
                  <c:v>Per-order fee</c:v>
                </c:pt>
                <c:pt idx="3">
                  <c:v>AI inference</c:v>
                </c:pt>
                <c:pt idx="4">
                  <c:v>Net to SparkV</c:v>
                </c:pt>
              </c:strCache>
            </c:strRef>
          </c:cat>
          <c:val>
            <c:numRef>
              <c:f>Sheet1!$D$2:$D$6</c:f>
              <c:numCache>
                <c:formatCode>$0.00</c:formatCode>
                <c:ptCount val="5"/>
                <c:pt idx="0">
                  <c:v>4.5</c:v>
                </c:pt>
                <c:pt idx="1">
                  <c:v>4.5</c:v>
                </c:pt>
                <c:pt idx="2">
                  <c:v>4.5</c:v>
                </c:pt>
                <c:pt idx="3">
                  <c:v>4.5</c:v>
                </c:pt>
                <c:pt idx="4">
                  <c:v>4.5</c:v>
                </c:pt>
              </c:numCache>
            </c:numRef>
          </c:val>
        </c:ser>
        <c:dLbls>
          <c:numFmt formatCode="$0.00" sourceLinked="0"/>
          <c:txPr>
            <a:bodyPr/>
            <a:lstStyle/>
            <a:p>
              <a:pPr>
                <a:defRPr sz="900">
                  <a:solidFill>
                    <a:srgbClr val="1D1D1F"/>
                  </a:solidFill>
                  <a:latin typeface="Helvetica Neue Medium"/>
                </a:defRPr>
              </a:pPr>
            </a:p>
          </c:txPr>
          <c:dLblPos val="ctr"/>
          <c:showLegendKey val="0"/>
          <c:showVal val="1"/>
          <c:showCatName val="0"/>
          <c:showSerName val="0"/>
          <c:showPercent val="0"/>
          <c:showBubbleSize val="0"/>
          <c:showLeaderLines val="1"/>
        </c:dLbls>
        <c:gapWidth val="70"/>
        <c:overlap val="10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5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Net revenue (USD)</c:v>
                </c:pt>
              </c:strCache>
            </c:strRef>
          </c:tx>
          <c:spPr>
            <a:solidFill>
              <a:srgbClr val="AEAEB2"/>
            </a:solidFill>
            <a:ln>
              <a:noFill/>
            </a:ln>
          </c:spPr>
          <c:invertIfNegative val="0"/>
          <c:cat>
            <c:strRef>
              <c:f>Sheet1!$A$2:$A$4</c:f>
              <c:strCache>
                <c:ptCount val="3"/>
                <c:pt idx="0">
                  <c:v>0.01%</c:v>
                </c:pt>
                <c:pt idx="1">
                  <c:v>0.05%</c:v>
                </c:pt>
                <c:pt idx="2">
                  <c:v>0.10%</c:v>
                </c:pt>
              </c:strCache>
            </c:strRef>
          </c:cat>
          <c:val>
            <c:numRef>
              <c:f>Sheet1!$B$2:$B$4</c:f>
              <c:numCache>
                <c:formatCode>$#,##0</c:formatCode>
                <c:ptCount val="3"/>
                <c:pt idx="0">
                  <c:v>93568</c:v>
                </c:pt>
                <c:pt idx="1">
                  <c:v>467840</c:v>
                </c:pt>
                <c:pt idx="2">
                  <c:v>935680</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120000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c:ser>
          <c:idx val="0"/>
          <c:order val="0"/>
          <c:tx>
            <c:strRef>
              <c:f>Sheet1!$B$1</c:f>
              <c:strCache>
                <c:ptCount val="1"/>
                <c:pt idx="0">
                  <c:v>% of round</c:v>
                </c:pt>
              </c:strCache>
            </c:strRef>
          </c:tx>
          <c:dPt>
            <c:idx val="0"/>
            <c:spPr>
              <a:solidFill>
                <a:srgbClr val="86868B"/>
              </a:solidFill>
              <a:ln w="19050">
                <a:solidFill>
                  <a:srgbClr val="FFFFFF"/>
                </a:solidFill>
              </a:ln>
            </c:spPr>
          </c:dPt>
          <c:dPt>
            <c:idx val="1"/>
            <c:spPr>
              <a:solidFill>
                <a:srgbClr val="AEAEB2"/>
              </a:solidFill>
              <a:ln w="19050">
                <a:solidFill>
                  <a:srgbClr val="FFFFFF"/>
                </a:solidFill>
              </a:ln>
            </c:spPr>
          </c:dPt>
          <c:dPt>
            <c:idx val="2"/>
            <c:spPr>
              <a:solidFill>
                <a:srgbClr val="D2D2D7"/>
              </a:solidFill>
              <a:ln w="19050">
                <a:solidFill>
                  <a:srgbClr val="FFFFFF"/>
                </a:solidFill>
              </a:ln>
            </c:spPr>
          </c:dPt>
          <c:dPt>
            <c:idx val="3"/>
            <c:spPr>
              <a:solidFill>
                <a:srgbClr val="E8E8ED"/>
              </a:solidFill>
              <a:ln w="19050">
                <a:solidFill>
                  <a:srgbClr val="FFFFFF"/>
                </a:solidFill>
              </a:ln>
            </c:spPr>
          </c:dPt>
          <c:cat>
            <c:strRef>
              <c:f>Sheet1!$A$2:$A$5</c:f>
              <c:strCache>
                <c:ptCount val="4"/>
                <c:pt idx="0">
                  <c:v>Product and engineering</c:v>
                </c:pt>
                <c:pt idx="1">
                  <c:v>Go to market</c:v>
                </c:pt>
                <c:pt idx="2">
                  <c:v>Legal and compliance</c:v>
                </c:pt>
                <c:pt idx="3">
                  <c:v>Support and operations</c:v>
                </c:pt>
              </c:strCache>
            </c:strRef>
          </c:cat>
          <c:val>
            <c:numRef>
              <c:f>Sheet1!$B$2:$B$5</c:f>
              <c:numCache>
                <c:formatCode>General</c:formatCode>
                <c:ptCount val="4"/>
                <c:pt idx="0">
                  <c:v>1</c:v>
                </c:pt>
                <c:pt idx="1">
                  <c:v>1</c:v>
                </c:pt>
                <c:pt idx="2">
                  <c:v>1</c:v>
                </c:pt>
                <c:pt idx="3">
                  <c:v>1</c:v>
                </c:pt>
              </c:numCache>
            </c:numRef>
          </c:val>
        </c:ser>
        <c:dLbls>
          <c:showLegendKey val="0"/>
          <c:showVal val="0"/>
          <c:showCatName val="0"/>
          <c:showSerName val="0"/>
          <c:showPercent val="0"/>
          <c:showBubbleSize val="0"/>
          <c:showLeaderLines val="1"/>
        </c:dLbls>
        <c:firstSliceAng val="0"/>
        <c:holeSize val="62"/>
      </c:doughnutChart>
      <c:spPr>
        <a:noFill/>
      </c:spPr>
    </c:plotArea>
    <c:plotVisOnly val="1"/>
    <c:dispBlanksAs val="gap"/>
    <c:showDLblsOverMax val="0"/>
  </c:chart>
  <c:spPr>
    <a:noFill/>
    <a:ln>
      <a:noFill/>
    </a:ln>
  </c:spPr>
  <c:txPr>
    <a:bodyPr/>
    <a:lstStyle/>
    <a:p>
      <a:pPr>
        <a:defRPr sz="900">
          <a:solidFill>
            <a:srgbClr val="6E6E73"/>
          </a:solidFill>
          <a:latin typeface="Helvetica Neue"/>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turns the MacBook notch into a drawer that opens when you hover it: media, a file tray, your day, a converter, knowledge Spaces and a hub of more than 20 agents. The AI runs on the Mac by default, so we pay nothing per user for AI. That is why we can sell it once instead of monthly. In two minutes I will show it working, then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stack a busy Mac user ends up with: a notch app, a clipboard manager, a dictation app, a meeting-notes app and a screenshot tool. Using public list prices, year one costs about $396, and the two AI subscriptions alone are $312 a year, every year. Cloud AI has a cost on every request, and subscriptions are the norm for these tools. We do not have that cost; it is the core of our business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lives in one place the user already looks at. Hover the notch and the drawer opens; move away and it closes. The header has six pages on the left and six actions on the right, and the agents hub launches every tool. When the drawer is closed, live activities such as volume, battery, AirPods, notifications, meetings and recordings show beside the camera. All 21 drawer pages render in the real app layout, and every tile and hotkey is wired.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live on the demo Mac; the film I03 is the backup if the room's Wi-Fi, audio or permissions fail. Order: dictation into TextEdit, the screen assistant in Preview, a short recorded meeting, then Universal Search for 'launch' and the agents hub. Say out loud that Groq is off, so everything is on-device. Do not say SparkV clicks or types through other apps on its own: the assistant points and explains; dictation types where your cursor is. The screen assistant is called Clicky in the app today and may be renamed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feature people pay Granola $14 per user per month for. In SparkV it is part of Pro at one price, because transcription and summaries run on the Mac. No bot joins the call, and audio does not leave the machine unless the user turns on their own Groq key. Status: the notes and answers views render from saved meetings; live audio capture is on our pre-launch live-check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SparkV's own UI Audit controller audited a bundled test site with planted issues on 127.0.0.1: six pages, 69 findings, three of them critical and fifteen high. Apple Intelligence wrote the summary on device, and the P button produced a 51,666-character fix prompt covering 60 issues. The runner's self-test passes 48 of 48, including never sending a form to a non-test host and never clicking logout or delete. It needs Node.js on the Mac. Its sibling, Browser Flows, is still in beta: its self-test was not clean on 22 October.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lined up. The notch arrived on the MacBook Pro in 2021. Since mid-2023 every Mac Apple sells runs Apple silicon. And at WWDC 2025 Apple opened its on-device model to developers; in Craig Federighi's words, it runs without cloud API costs and works offline. That turns AI from a per-request cost into a free capability of the hardware. Competitors built on cloud models have to charge monthly. We do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not show you a made-up market number. What is public: IDC counts 25.6 million Macs shipped in 2025, up 11 percent, and Apple last said there were 100 million active Macs, in 2018. Setapp's 2023 survey of its own audience found 83 percent had paid for Mac software in the past month and 42 percent use AI apps daily; that is a survey of Mac app buyers, not of all Mac owners.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notched-MacBook share of that base is the number we still need to source, and it is marked TBD.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matrix by column: every competitor is excellent at one job. Notch apps such as NotchNook are built around media and a file tray, and the free open-source one is not notarized. The AI tools, Wispr Flow, Granola and Raycast Pro, are sold as subscriptions. SparkV is the only one in this set that combines the notch with the AI jobs and charges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risk: any of them can add features. Our answer is breadth plus integration, because Spaces and Search tie meetings, dictation, clipboard and captures together, and the cost structure lets us stay one-time. Prices are from third-party listings; we re-check them before every send.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plans. Free is a useful notch app at zero, which competes with the free open-source option and gives reviewers something to try. Pro is $39 once, $29 in launch week, and includes every feature; buyers on r/macapps prefer one-time prices and CleanShot X shows the model works. Team is $8 per seat per month, billed yearly, minimum three seats, for companies that need invoices, seat management and an MDM package. We are not on the Mac App Store because SparkV needs Accessibility and other APIs the sandbox does not allow; Lemon Squeezy handles VAT, GST and sales tax worldwide. Shared Spaces for Team is a file package today, not live sync.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gross margin is the payment fee and nothing else. On a $39 sale Lemon Squeezy takes 5 percent plus 50 cents, so we keep $36.55; about $36 from a non-US buyer. AI runs on the Mac, and the optional Groq path uses the buyer's own key, so inference costs us nothing. Fixed costs are the $99 Apple Developer fee, a domain and static hosting for the site and update feed.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on the right is arithmetic, not a forecast: it shows what tiny shares of one year's Mac shipments would be worth. Our real revenue plan is marked TBD until the beta gives us a conversion 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is in the business plan, day by day. Days one to fifteen make the app sellable: Developer ID, notarization, licensing and a clean-Mac test. Then the landing page and waitlist, a demo video and Shorts, keys for creators, a private beta of 30 to 50 users, and launch on a Tuesday or Wednesday on Product Hunt and in the r/macapps App Pile thread.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Affiliates are paid only on sales. Setapp is a second channel from month three. The targets on the bottom row are TBD; we will set them from the waitlist and beta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pre-revenue and pre-launch, and I will not dress that up. What exists: the full app compiles with the Command Line Tools, every drawer tab, hub tile and default hotkey is wired, 50 views were rendered from the real code, and the automated harnesses pass, about 29,000 widget checks, 195 clipboard checks, 63 OCR and recorder checks and 48 of 48 UI Audit runner tests. What is still open: the Browser Flows self-test was not clean, and features that need a microphone, camera or system permission are on a live-check list before launch. The bottom row is what we will report to you monthly.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should hear the risks from us first. Four things block the first sale and all four are on the 30-day plan: proper Apple signing and notarization, licensing code, the face-recognition model's non-commercial license, which we solve by leaving Face Unlock out of 1.0, and the Node.js dependency of the developer tools. One more risk: SparkV uses private macOS paths for media and the HUD. Fallbacks already exist, and Sparkle lets us ship fixes fast.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launch, the order of Setapp, packs and Team sync is TBD and will follow what beta users ask for.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[TBD: founder to write this in their own words: who built SparkV, what they shipped before, and why they will win the Mac power-user market.] The only fact from our files is the studio: SparkV is a software studio in Telangana, India, per sparkv.si.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[TBD: amount]. The money goes to four buckets, and the percentages are TBD: engineering to clear the launch blockers and harden the beta features, go to market for the launch video, creators and Product Hunt, legal for the EULA, privacy and the India DPDP rules, and support. The milestone we commit to is [TBD]. The best next step is a 20-minute demo on your own Mac.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about breadth. Every image is a real view rendered from the current source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in the PDF version sent after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in the PDF version sent after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6.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F01822"/>
                </a:solidFill>
                <a:latin typeface="Helvetica Neue Medium"/>
              </a:rPr>
              <a:t>SparkV for macOS</a:t>
            </a:r>
            <a:endParaRPr sz="1320"/>
          </a:p>
        </p:txBody>
      </p:sp>
      <p:sp>
        <p:nvSpPr>
          <p:cNvPr id="3" name="headline"/>
          <p:cNvSpPr txBox="1"/>
          <p:nvPr/>
        </p:nvSpPr>
        <p:spPr>
          <a:xfrm>
            <a:off x="914400" y="1082497"/>
            <a:ext cx="10363200" cy="1514704"/>
          </a:xfrm>
          <a:prstGeom prst="rect">
            <a:avLst/>
          </a:prstGeom>
          <a:noFill/>
        </p:spPr>
        <p:txBody>
          <a:bodyPr wrap="square" lIns="0" tIns="0" rIns="0" bIns="0" anchor="t">
            <a:noAutofit/>
          </a:bodyPr>
          <a:lstStyle/>
          <a:p>
            <a:pPr algn="ctr">
              <a:lnSpc>
                <a:spcPts val="5962"/>
              </a:lnSpc>
              <a:spcBef>
                <a:spcPts val="0"/>
              </a:spcBef>
              <a:spcAft>
                <a:spcPts val="0"/>
              </a:spcAft>
            </a:pPr>
            <a:r>
              <a:rPr sz="5520" b="0" i="0" spc="-110">
                <a:solidFill>
                  <a:srgbClr val="1D1D1F"/>
                </a:solidFill>
                <a:latin typeface="Helvetica Neue Light"/>
              </a:rPr>
              <a:t>Your notch, now an </a:t>
            </a:r>
            <a:r>
              <a:rPr sz="5520" b="0" i="0" spc="-110">
                <a:solidFill>
                  <a:srgbClr val="1D1D1F"/>
                </a:solidFill>
                <a:latin typeface="Helvetica Neue Medium"/>
              </a:rPr>
              <a:t>AI command center.</a:t>
            </a:r>
            <a:endParaRPr sz="5520"/>
          </a:p>
        </p:txBody>
      </p:sp>
      <p:sp>
        <p:nvSpPr>
          <p:cNvPr id="4" name="lead"/>
          <p:cNvSpPr txBox="1"/>
          <p:nvPr/>
        </p:nvSpPr>
        <p:spPr>
          <a:xfrm>
            <a:off x="914400" y="2795321"/>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Dictation, meetings, screen help and 20+ tools in one Mac app. Private by default. Pay once.</a:t>
            </a:r>
            <a:endParaRPr sz="1680"/>
          </a:p>
        </p:txBody>
      </p:sp>
      <p:sp>
        <p:nvSpPr>
          <p:cNvPr id="5" name="round line"/>
          <p:cNvSpPr txBox="1"/>
          <p:nvPr/>
        </p:nvSpPr>
        <p:spPr>
          <a:xfrm>
            <a:off x="914400" y="3192628"/>
            <a:ext cx="1036320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6E6E73"/>
                </a:solidFill>
                <a:latin typeface="Helvetica Neue"/>
              </a:rPr>
              <a:t>Seed round · </a:t>
            </a:r>
            <a:r>
              <a:rPr sz="1019" b="0" i="1">
                <a:solidFill>
                  <a:srgbClr val="86868B"/>
                </a:solidFill>
                <a:latin typeface="Helvetica Neue"/>
              </a:rPr>
              <a:t>[TBD: month and year]</a:t>
            </a:r>
            <a:r>
              <a:rPr sz="1019" b="0" i="0">
                <a:solidFill>
                  <a:srgbClr val="6E6E73"/>
                </a:solidFill>
                <a:latin typeface="Helvetica Neue"/>
              </a:rPr>
              <a:t> · sparkv.si</a:t>
            </a:r>
            <a:endParaRPr sz="1020"/>
          </a:p>
        </p:txBody>
      </p:sp>
      <p:sp>
        <p:nvSpPr>
          <p:cNvPr id="6" name="hero device lid"/>
          <p:cNvSpPr/>
          <p:nvPr/>
        </p:nvSpPr>
        <p:spPr>
          <a:xfrm>
            <a:off x="1904848" y="3609518"/>
            <a:ext cx="8382305" cy="3248482"/>
          </a:xfrm>
          <a:prstGeom prst="round2SameRect">
            <a:avLst>
              <a:gd name="adj1" fmla="val 6098"/>
              <a:gd name="adj2" fmla="val 0"/>
            </a:avLst>
          </a:prstGeom>
          <a:solidFill>
            <a:srgbClr val="0A0A0B"/>
          </a:solidFill>
          <a:ln w="15240">
            <a:solidFill>
              <a:srgbClr val="BDBDC2"/>
            </a:solidFill>
          </a:ln>
        </p:spPr>
        <p:txBody>
          <a:bodyPr rtlCol="0" anchor="ctr"/>
          <a:lstStyle/>
          <a:p>
            <a:pPr algn="ctr"/>
          </a:p>
        </p:txBody>
      </p:sp>
      <p:sp>
        <p:nvSpPr>
          <p:cNvPr id="7" name="hero device screen"/>
          <p:cNvSpPr/>
          <p:nvPr/>
        </p:nvSpPr>
        <p:spPr>
          <a:xfrm>
            <a:off x="2042008" y="3746678"/>
            <a:ext cx="8107985" cy="3111322"/>
          </a:xfrm>
          <a:prstGeom prst="round2SameRect">
            <a:avLst>
              <a:gd name="adj1" fmla="val 2449"/>
              <a:gd name="adj2" fmla="val 0"/>
            </a:avLst>
          </a:prstGeom>
          <a:gradFill rotWithShape="1">
            <a:gsLst>
              <a:gs pos="0">
                <a:srgbClr val="130A0E"/>
              </a:gs>
              <a:gs pos="60039">
                <a:srgbClr val="1C1717"/>
              </a:gs>
              <a:gs pos="100000">
                <a:srgbClr val="0F1119"/>
              </a:gs>
            </a:gsLst>
            <a:lin ang="5400000" scaled="0"/>
          </a:gradFill>
          <a:ln>
            <a:noFill/>
          </a:ln>
        </p:spPr>
        <p:txBody>
          <a:bodyPr rtlCol="0" anchor="ctr"/>
          <a:lstStyle/>
          <a:p>
            <a:pPr algn="ctr"/>
          </a:p>
        </p:txBody>
      </p:sp>
      <p:pic>
        <p:nvPicPr>
          <p:cNvPr id="8" name="hero device screenshot 01-home.png" descr="01-home.png"/>
          <p:cNvPicPr>
            <a:picLocks noChangeAspect="1"/>
          </p:cNvPicPr>
          <p:nvPr/>
        </p:nvPicPr>
        <p:blipFill>
          <a:blip r:embed="rId3"/>
          <a:stretch>
            <a:fillRect/>
          </a:stretch>
        </p:blipFill>
        <p:spPr>
          <a:xfrm>
            <a:off x="2042008" y="3746678"/>
            <a:ext cx="8107985" cy="1868016"/>
          </a:xfrm>
          <a:prstGeom prst="rect">
            <a:avLst/>
          </a:prstGeom>
        </p:spPr>
      </p:pic>
      <p:sp>
        <p:nvSpPr>
          <p:cNvPr id="9" name="hero device notch"/>
          <p:cNvSpPr/>
          <p:nvPr/>
        </p:nvSpPr>
        <p:spPr>
          <a:xfrm>
            <a:off x="4879802" y="3746678"/>
            <a:ext cx="2432395" cy="359995"/>
          </a:xfrm>
          <a:prstGeom prst="round2SameRect">
            <a:avLst>
              <a:gd name="adj1" fmla="val 0"/>
              <a:gd name="adj2" fmla="val 37843"/>
            </a:avLst>
          </a:prstGeom>
          <a:solidFill>
            <a:srgbClr val="000000"/>
          </a:solidFill>
          <a:ln>
            <a:noFill/>
          </a:ln>
        </p:spPr>
        <p:txBody>
          <a:bodyPr rtlCol="0" anchor="ctr"/>
          <a:lstStyle/>
          <a:p>
            <a:pPr algn="ctr"/>
          </a:p>
        </p:txBody>
      </p:sp>
      <p:sp>
        <p:nvSpPr>
          <p:cNvPr id="10" name="hero device camera"/>
          <p:cNvSpPr/>
          <p:nvPr/>
        </p:nvSpPr>
        <p:spPr>
          <a:xfrm>
            <a:off x="6057900" y="3888575"/>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Year one: subscriptions for 12 months, one-time apps at their list price.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Problem</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Mac power users </a:t>
            </a:r>
            <a:r>
              <a:rPr sz="3360" b="0" i="0" spc="-50">
                <a:solidFill>
                  <a:srgbClr val="1D1D1F"/>
                </a:solidFill>
                <a:latin typeface="Helvetica Neue Medium"/>
              </a:rPr>
              <a:t>rent five apps</a:t>
            </a:r>
            <a:r>
              <a:rPr sz="3360" b="0" i="0" spc="-50">
                <a:solidFill>
                  <a:srgbClr val="1D1D1F"/>
                </a:solidFill>
                <a:latin typeface="Helvetica Neue Light"/>
              </a:rPr>
              <a:t> for one workflow.</a:t>
            </a:r>
            <a:endParaRPr sz="3360"/>
          </a:p>
        </p:txBody>
      </p:sp>
      <p:sp>
        <p:nvSpPr>
          <p:cNvPr id="6" name="lead"/>
          <p:cNvSpPr txBox="1"/>
          <p:nvPr/>
        </p:nvSpPr>
        <p:spPr>
          <a:xfrm>
            <a:off x="914400" y="1743761"/>
            <a:ext cx="1036320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Notch, clipboard, dictation, meeting notes and screenshots are sold separately, and the AI ones are subscriptions.</a:t>
            </a:r>
            <a:endParaRPr sz="1680"/>
          </a:p>
        </p:txBody>
      </p:sp>
      <p:cxnSp>
        <p:nvCxnSpPr>
          <p:cNvPr id="7" name="after rule"/>
          <p:cNvCxnSpPr/>
          <p:nvPr/>
        </p:nvCxnSpPr>
        <p:spPr>
          <a:xfrm>
            <a:off x="7985760" y="5868162"/>
            <a:ext cx="3291840" cy="0"/>
          </a:xfrm>
          <a:prstGeom prst="line">
            <a:avLst/>
          </a:prstGeom>
          <a:ln w="9525">
            <a:solidFill>
              <a:srgbClr val="D2D2D7"/>
            </a:solidFill>
          </a:ln>
        </p:spPr>
      </p:cxnSp>
      <p:sp>
        <p:nvSpPr>
          <p:cNvPr id="8" name="after line"/>
          <p:cNvSpPr txBox="1"/>
          <p:nvPr/>
        </p:nvSpPr>
        <p:spPr>
          <a:xfrm>
            <a:off x="7985760" y="6005322"/>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Five shortcuts, five windows, five bills</a:t>
            </a:r>
            <a:endParaRPr sz="1320"/>
          </a:p>
        </p:txBody>
      </p:sp>
      <p:sp>
        <p:nvSpPr>
          <p:cNvPr id="9" name="metric card"/>
          <p:cNvSpPr/>
          <p:nvPr/>
        </p:nvSpPr>
        <p:spPr>
          <a:xfrm>
            <a:off x="7985760" y="2598877"/>
            <a:ext cx="3291840" cy="891642"/>
          </a:xfrm>
          <a:prstGeom prst="roundRect">
            <a:avLst>
              <a:gd name="adj" fmla="val 18801"/>
            </a:avLst>
          </a:prstGeom>
          <a:solidFill>
            <a:srgbClr val="F5F5F7"/>
          </a:solidFill>
          <a:ln>
            <a:noFill/>
          </a:ln>
        </p:spPr>
        <p:txBody>
          <a:bodyPr rtlCol="0" anchor="ctr"/>
          <a:lstStyle/>
          <a:p>
            <a:pPr algn="ctr"/>
          </a:p>
        </p:txBody>
      </p:sp>
      <p:sp>
        <p:nvSpPr>
          <p:cNvPr id="10" name="metric value"/>
          <p:cNvSpPr txBox="1"/>
          <p:nvPr/>
        </p:nvSpPr>
        <p:spPr>
          <a:xfrm>
            <a:off x="8229600" y="2751277"/>
            <a:ext cx="2804160" cy="292760"/>
          </a:xfrm>
          <a:prstGeom prst="rect">
            <a:avLst/>
          </a:prstGeom>
          <a:noFill/>
        </p:spPr>
        <p:txBody>
          <a:bodyPr wrap="square" lIns="0" tIns="0" rIns="0" bIns="0" anchor="t">
            <a:noAutofit/>
          </a:bodyPr>
          <a:lstStyle/>
          <a:p>
            <a:pPr algn="l">
              <a:lnSpc>
                <a:spcPts val="2302"/>
              </a:lnSpc>
              <a:spcBef>
                <a:spcPts val="0"/>
              </a:spcBef>
              <a:spcAft>
                <a:spcPts val="0"/>
              </a:spcAft>
            </a:pPr>
            <a:r>
              <a:rPr sz="2055" b="0" i="0" spc="-21">
                <a:solidFill>
                  <a:srgbClr val="1D1D1F"/>
                </a:solidFill>
                <a:latin typeface="Helvetica Neue Light"/>
              </a:rPr>
              <a:t>$395.99</a:t>
            </a:r>
            <a:endParaRPr sz="2055"/>
          </a:p>
        </p:txBody>
      </p:sp>
      <p:sp>
        <p:nvSpPr>
          <p:cNvPr id="11" name="metric label"/>
          <p:cNvSpPr txBox="1"/>
          <p:nvPr/>
        </p:nvSpPr>
        <p:spPr>
          <a:xfrm>
            <a:off x="8229600" y="3150718"/>
            <a:ext cx="2804160" cy="187401"/>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year one, five separate apps</a:t>
            </a:r>
            <a:endParaRPr sz="994"/>
          </a:p>
        </p:txBody>
      </p:sp>
      <p:sp>
        <p:nvSpPr>
          <p:cNvPr id="12" name="metric card"/>
          <p:cNvSpPr/>
          <p:nvPr/>
        </p:nvSpPr>
        <p:spPr>
          <a:xfrm>
            <a:off x="7985760" y="3673399"/>
            <a:ext cx="3291840" cy="891642"/>
          </a:xfrm>
          <a:prstGeom prst="roundRect">
            <a:avLst>
              <a:gd name="adj" fmla="val 18801"/>
            </a:avLst>
          </a:prstGeom>
          <a:solidFill>
            <a:srgbClr val="F5F5F7"/>
          </a:solidFill>
          <a:ln>
            <a:noFill/>
          </a:ln>
        </p:spPr>
        <p:txBody>
          <a:bodyPr rtlCol="0" anchor="ctr"/>
          <a:lstStyle/>
          <a:p>
            <a:pPr algn="ctr"/>
          </a:p>
        </p:txBody>
      </p:sp>
      <p:sp>
        <p:nvSpPr>
          <p:cNvPr id="13" name="metric value"/>
          <p:cNvSpPr txBox="1"/>
          <p:nvPr/>
        </p:nvSpPr>
        <p:spPr>
          <a:xfrm>
            <a:off x="8229600" y="3825799"/>
            <a:ext cx="2804160" cy="292760"/>
          </a:xfrm>
          <a:prstGeom prst="rect">
            <a:avLst/>
          </a:prstGeom>
          <a:noFill/>
        </p:spPr>
        <p:txBody>
          <a:bodyPr wrap="square" lIns="0" tIns="0" rIns="0" bIns="0" anchor="t">
            <a:noAutofit/>
          </a:bodyPr>
          <a:lstStyle/>
          <a:p>
            <a:pPr algn="l">
              <a:lnSpc>
                <a:spcPts val="2302"/>
              </a:lnSpc>
              <a:spcBef>
                <a:spcPts val="0"/>
              </a:spcBef>
              <a:spcAft>
                <a:spcPts val="0"/>
              </a:spcAft>
            </a:pPr>
            <a:r>
              <a:rPr sz="2055" b="0" i="0" spc="-21">
                <a:solidFill>
                  <a:srgbClr val="1D1D1F"/>
                </a:solidFill>
                <a:latin typeface="Helvetica Neue Light"/>
              </a:rPr>
              <a:t>$312/yr</a:t>
            </a:r>
            <a:endParaRPr sz="2055"/>
          </a:p>
        </p:txBody>
      </p:sp>
      <p:sp>
        <p:nvSpPr>
          <p:cNvPr id="14" name="metric label"/>
          <p:cNvSpPr txBox="1"/>
          <p:nvPr/>
        </p:nvSpPr>
        <p:spPr>
          <a:xfrm>
            <a:off x="8229600" y="4225239"/>
            <a:ext cx="2804160" cy="187401"/>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Wispr Flow + Granola, recurring</a:t>
            </a:r>
            <a:endParaRPr sz="994"/>
          </a:p>
        </p:txBody>
      </p:sp>
      <p:sp>
        <p:nvSpPr>
          <p:cNvPr id="15" name="metric card"/>
          <p:cNvSpPr/>
          <p:nvPr/>
        </p:nvSpPr>
        <p:spPr>
          <a:xfrm>
            <a:off x="7985760" y="4747920"/>
            <a:ext cx="3291840" cy="891642"/>
          </a:xfrm>
          <a:prstGeom prst="roundRect">
            <a:avLst>
              <a:gd name="adj" fmla="val 18801"/>
            </a:avLst>
          </a:prstGeom>
          <a:solidFill>
            <a:srgbClr val="F5F5F7"/>
          </a:solidFill>
          <a:ln>
            <a:noFill/>
          </a:ln>
        </p:spPr>
        <p:txBody>
          <a:bodyPr rtlCol="0" anchor="ctr"/>
          <a:lstStyle/>
          <a:p>
            <a:pPr algn="ctr"/>
          </a:p>
        </p:txBody>
      </p:sp>
      <p:sp>
        <p:nvSpPr>
          <p:cNvPr id="16" name="metric value"/>
          <p:cNvSpPr txBox="1"/>
          <p:nvPr/>
        </p:nvSpPr>
        <p:spPr>
          <a:xfrm>
            <a:off x="8229600" y="4900320"/>
            <a:ext cx="2804160" cy="292760"/>
          </a:xfrm>
          <a:prstGeom prst="rect">
            <a:avLst/>
          </a:prstGeom>
          <a:noFill/>
        </p:spPr>
        <p:txBody>
          <a:bodyPr wrap="square" lIns="0" tIns="0" rIns="0" bIns="0" anchor="t">
            <a:noAutofit/>
          </a:bodyPr>
          <a:lstStyle/>
          <a:p>
            <a:pPr algn="l">
              <a:lnSpc>
                <a:spcPts val="2302"/>
              </a:lnSpc>
              <a:spcBef>
                <a:spcPts val="0"/>
              </a:spcBef>
              <a:spcAft>
                <a:spcPts val="0"/>
              </a:spcAft>
            </a:pPr>
            <a:r>
              <a:rPr sz="2055" b="0" i="0" spc="-21">
                <a:solidFill>
                  <a:srgbClr val="F01822"/>
                </a:solidFill>
                <a:latin typeface="Helvetica Neue Medium"/>
              </a:rPr>
              <a:t>$39</a:t>
            </a:r>
            <a:endParaRPr sz="2055"/>
          </a:p>
        </p:txBody>
      </p:sp>
      <p:sp>
        <p:nvSpPr>
          <p:cNvPr id="17" name="metric label"/>
          <p:cNvSpPr txBox="1"/>
          <p:nvPr/>
        </p:nvSpPr>
        <p:spPr>
          <a:xfrm>
            <a:off x="8229600" y="5299761"/>
            <a:ext cx="2804160" cy="187401"/>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SparkV Pro, once</a:t>
            </a:r>
            <a:endParaRPr sz="994"/>
          </a:p>
        </p:txBody>
      </p:sp>
      <p:sp>
        <p:nvSpPr>
          <p:cNvPr id="18" name="chart card"/>
          <p:cNvSpPr/>
          <p:nvPr/>
        </p:nvSpPr>
        <p:spPr>
          <a:xfrm>
            <a:off x="914400" y="2598877"/>
            <a:ext cx="6827520" cy="3649523"/>
          </a:xfrm>
          <a:prstGeom prst="roundRect">
            <a:avLst>
              <a:gd name="adj" fmla="val 4593"/>
            </a:avLst>
          </a:prstGeom>
          <a:solidFill>
            <a:srgbClr val="F5F5F7"/>
          </a:solidFill>
          <a:ln>
            <a:noFill/>
          </a:ln>
        </p:spPr>
        <p:txBody>
          <a:bodyPr rtlCol="0" anchor="ctr"/>
          <a:lstStyle/>
          <a:p>
            <a:pPr algn="ctr"/>
          </a:p>
        </p:txBody>
      </p:sp>
      <p:sp>
        <p:nvSpPr>
          <p:cNvPr id="19" name="chart title"/>
          <p:cNvSpPr txBox="1"/>
          <p:nvPr/>
        </p:nvSpPr>
        <p:spPr>
          <a:xfrm>
            <a:off x="1158240" y="2812237"/>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Year-one cost of five separate apps vs SparkV Pro (USD)</a:t>
            </a:r>
            <a:endParaRPr sz="1020"/>
          </a:p>
        </p:txBody>
      </p:sp>
      <p:sp>
        <p:nvSpPr>
          <p:cNvPr id="20"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Prices from third-party listings cited in the SparkV business plan (section 3), Oct 2026. Re-check vendor pages before sending.</a:t>
            </a:r>
            <a:endParaRPr sz="780"/>
          </a:p>
        </p:txBody>
      </p:sp>
      <p:graphicFrame>
        <p:nvGraphicFramePr>
          <p:cNvPr id="21" name="chart"/>
          <p:cNvGraphicFramePr>
            <a:graphicFrameLocks noGrp="1"/>
          </p:cNvGraphicFramePr>
          <p:nvPr/>
        </p:nvGraphicFramePr>
        <p:xfrm>
          <a:off x="1158240" y="3110255"/>
          <a:ext cx="6339840" cy="2714473"/>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03</a:t>
            </a:r>
            <a:endParaRPr sz="840"/>
          </a:p>
        </p:txBody>
      </p:sp>
      <p:sp>
        <p:nvSpPr>
          <p:cNvPr id="4" name="eyebrow"/>
          <p:cNvSpPr txBox="1"/>
          <p:nvPr/>
        </p:nvSpPr>
        <p:spPr>
          <a:xfrm>
            <a:off x="914400" y="889254"/>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Solution</a:t>
            </a:r>
            <a:endParaRPr sz="1320"/>
          </a:p>
        </p:txBody>
      </p:sp>
      <p:sp>
        <p:nvSpPr>
          <p:cNvPr id="5" name="h1_side"/>
          <p:cNvSpPr txBox="1"/>
          <p:nvPr/>
        </p:nvSpPr>
        <p:spPr>
          <a:xfrm>
            <a:off x="914400" y="1255471"/>
            <a:ext cx="3291840" cy="1383030"/>
          </a:xfrm>
          <a:prstGeom prst="rect">
            <a:avLst/>
          </a:prstGeom>
          <a:noFill/>
        </p:spPr>
        <p:txBody>
          <a:bodyPr wrap="square" lIns="0" tIns="0" rIns="0" bIns="0" anchor="t">
            <a:noAutofit/>
          </a:bodyPr>
          <a:lstStyle/>
          <a:p>
            <a:pPr algn="l">
              <a:lnSpc>
                <a:spcPts val="3629"/>
              </a:lnSpc>
              <a:spcBef>
                <a:spcPts val="0"/>
              </a:spcBef>
              <a:spcAft>
                <a:spcPts val="0"/>
              </a:spcAft>
            </a:pPr>
            <a:r>
              <a:rPr sz="3240" b="0" i="0" spc="-49">
                <a:solidFill>
                  <a:srgbClr val="1D1D1F"/>
                </a:solidFill>
                <a:latin typeface="Helvetica Neue Light"/>
              </a:rPr>
              <a:t>One drawer. </a:t>
            </a:r>
            <a:r>
              <a:rPr sz="3240" b="0" i="0" spc="-49">
                <a:solidFill>
                  <a:srgbClr val="1D1D1F"/>
                </a:solidFill>
                <a:latin typeface="Helvetica Neue Medium"/>
              </a:rPr>
              <a:t>Every tool.</a:t>
            </a:r>
            <a:r>
              <a:rPr sz="3240" b="0" i="0" spc="-49">
                <a:solidFill>
                  <a:srgbClr val="1D1D1F"/>
                </a:solidFill>
                <a:latin typeface="Helvetica Neue Light"/>
              </a:rPr>
              <a:t> Right under the camera.</a:t>
            </a:r>
            <a:endParaRPr sz="3240"/>
          </a:p>
        </p:txBody>
      </p:sp>
      <p:sp>
        <p:nvSpPr>
          <p:cNvPr id="6" name="body"/>
          <p:cNvSpPr txBox="1"/>
          <p:nvPr/>
        </p:nvSpPr>
        <p:spPr>
          <a:xfrm>
            <a:off x="914400" y="2821381"/>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Hover the notch: 12 header buttons, 21 drawer pages and a 22-tile agents hub.</a:t>
            </a:r>
            <a:endParaRPr sz="1320"/>
          </a:p>
        </p:txBody>
      </p:sp>
      <p:cxnSp>
        <p:nvCxnSpPr>
          <p:cNvPr id="7" name="list rule"/>
          <p:cNvCxnSpPr/>
          <p:nvPr/>
        </p:nvCxnSpPr>
        <p:spPr>
          <a:xfrm>
            <a:off x="914400" y="3582314"/>
            <a:ext cx="3291840" cy="0"/>
          </a:xfrm>
          <a:prstGeom prst="line">
            <a:avLst/>
          </a:prstGeom>
          <a:ln w="9525">
            <a:solidFill>
              <a:srgbClr val="D2D2D7"/>
            </a:solidFill>
          </a:ln>
        </p:spPr>
      </p:cxnSp>
      <p:sp>
        <p:nvSpPr>
          <p:cNvPr id="8" name="bullet"/>
          <p:cNvSpPr txBox="1"/>
          <p:nvPr/>
        </p:nvSpPr>
        <p:spPr>
          <a:xfrm>
            <a:off x="914400" y="3688994"/>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Notch core:</a:t>
            </a:r>
            <a:r>
              <a:rPr sz="1019" b="0" i="0">
                <a:solidFill>
                  <a:srgbClr val="6E6E73"/>
                </a:solidFill>
                <a:latin typeface="Helvetica Neue"/>
              </a:rPr>
              <a:t> media, volume and battery, tray, AirDrop, your day</a:t>
            </a:r>
            <a:endParaRPr sz="1020"/>
          </a:p>
        </p:txBody>
      </p:sp>
      <p:cxnSp>
        <p:nvCxnSpPr>
          <p:cNvPr id="9" name="list rule"/>
          <p:cNvCxnSpPr/>
          <p:nvPr/>
        </p:nvCxnSpPr>
        <p:spPr>
          <a:xfrm>
            <a:off x="914400" y="4171340"/>
            <a:ext cx="3291840" cy="0"/>
          </a:xfrm>
          <a:prstGeom prst="line">
            <a:avLst/>
          </a:prstGeom>
          <a:ln w="9525">
            <a:solidFill>
              <a:srgbClr val="D2D2D7"/>
            </a:solidFill>
          </a:ln>
        </p:spPr>
      </p:cxnSp>
      <p:sp>
        <p:nvSpPr>
          <p:cNvPr id="10" name="bullet"/>
          <p:cNvSpPr txBox="1"/>
          <p:nvPr/>
        </p:nvSpPr>
        <p:spPr>
          <a:xfrm>
            <a:off x="914400" y="4278020"/>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Productivity:</a:t>
            </a:r>
            <a:r>
              <a:rPr sz="1019" b="0" i="0">
                <a:solidFill>
                  <a:srgbClr val="6E6E73"/>
                </a:solidFill>
                <a:latin typeface="Helvetica Neue"/>
              </a:rPr>
              <a:t> clipboard, converter, downloads, search, Spaces</a:t>
            </a:r>
            <a:endParaRPr sz="1020"/>
          </a:p>
        </p:txBody>
      </p:sp>
      <p:cxnSp>
        <p:nvCxnSpPr>
          <p:cNvPr id="11" name="list rule"/>
          <p:cNvCxnSpPr/>
          <p:nvPr/>
        </p:nvCxnSpPr>
        <p:spPr>
          <a:xfrm>
            <a:off x="914400" y="4760366"/>
            <a:ext cx="3291840" cy="0"/>
          </a:xfrm>
          <a:prstGeom prst="line">
            <a:avLst/>
          </a:prstGeom>
          <a:ln w="9525">
            <a:solidFill>
              <a:srgbClr val="D2D2D7"/>
            </a:solidFill>
          </a:ln>
        </p:spPr>
      </p:cxnSp>
      <p:sp>
        <p:nvSpPr>
          <p:cNvPr id="12" name="bullet"/>
          <p:cNvSpPr txBox="1"/>
          <p:nvPr/>
        </p:nvSpPr>
        <p:spPr>
          <a:xfrm>
            <a:off x="914400" y="4867046"/>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AI:</a:t>
            </a:r>
            <a:r>
              <a:rPr sz="1019" b="0" i="0">
                <a:solidFill>
                  <a:srgbClr val="6E6E73"/>
                </a:solidFill>
                <a:latin typeface="Helvetica Neue"/>
              </a:rPr>
              <a:t> dictation, screen help, reply drafts, meetings, translation</a:t>
            </a:r>
            <a:endParaRPr sz="1020"/>
          </a:p>
        </p:txBody>
      </p:sp>
      <p:cxnSp>
        <p:nvCxnSpPr>
          <p:cNvPr id="13" name="list rule"/>
          <p:cNvCxnSpPr/>
          <p:nvPr/>
        </p:nvCxnSpPr>
        <p:spPr>
          <a:xfrm>
            <a:off x="914400" y="5349392"/>
            <a:ext cx="3291840" cy="0"/>
          </a:xfrm>
          <a:prstGeom prst="line">
            <a:avLst/>
          </a:prstGeom>
          <a:ln w="9525">
            <a:solidFill>
              <a:srgbClr val="D2D2D7"/>
            </a:solidFill>
          </a:ln>
        </p:spPr>
      </p:cxnSp>
      <p:sp>
        <p:nvSpPr>
          <p:cNvPr id="14" name="bullet"/>
          <p:cNvSpPr txBox="1"/>
          <p:nvPr/>
        </p:nvSpPr>
        <p:spPr>
          <a:xfrm>
            <a:off x="914400" y="5456072"/>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Developer tools:</a:t>
            </a:r>
            <a:r>
              <a:rPr sz="1019" b="0" i="0">
                <a:solidFill>
                  <a:srgbClr val="6E6E73"/>
                </a:solidFill>
                <a:latin typeface="Helvetica Neue"/>
              </a:rPr>
              <a:t> UI Audit, Browser Flows, Flow Canvas</a:t>
            </a:r>
            <a:endParaRPr sz="1020"/>
          </a:p>
        </p:txBody>
      </p:sp>
      <p:cxnSp>
        <p:nvCxnSpPr>
          <p:cNvPr id="15" name="list rule"/>
          <p:cNvCxnSpPr/>
          <p:nvPr/>
        </p:nvCxnSpPr>
        <p:spPr>
          <a:xfrm>
            <a:off x="914400" y="5938418"/>
            <a:ext cx="3291840" cy="0"/>
          </a:xfrm>
          <a:prstGeom prst="line">
            <a:avLst/>
          </a:prstGeom>
          <a:ln w="9525">
            <a:solidFill>
              <a:srgbClr val="D2D2D7"/>
            </a:solidFill>
          </a:ln>
        </p:spPr>
      </p:cxnSp>
      <p:sp>
        <p:nvSpPr>
          <p:cNvPr id="16"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7" name="device screen"/>
          <p:cNvSpPr/>
          <p:nvPr/>
        </p:nvSpPr>
        <p:spPr>
          <a:xfrm>
            <a:off x="4846472" y="1431570"/>
            <a:ext cx="6034735" cy="3918659"/>
          </a:xfrm>
          <a:prstGeom prst="round2SameRect">
            <a:avLst>
              <a:gd name="adj1" fmla="val 1944"/>
              <a:gd name="adj2" fmla="val 388"/>
            </a:avLst>
          </a:prstGeom>
          <a:gradFill rotWithShape="1">
            <a:gsLst>
              <a:gs pos="0">
                <a:srgbClr val="040403"/>
              </a:gs>
              <a:gs pos="58379">
                <a:srgbClr val="1A1616"/>
              </a:gs>
              <a:gs pos="100000">
                <a:srgbClr val="0F1119"/>
              </a:gs>
            </a:gsLst>
            <a:lin ang="5400000" scaled="0"/>
          </a:gradFill>
          <a:ln>
            <a:noFill/>
          </a:ln>
        </p:spPr>
        <p:txBody>
          <a:bodyPr rtlCol="0" anchor="ctr"/>
          <a:lstStyle/>
          <a:p>
            <a:pPr algn="ctr"/>
          </a:p>
        </p:txBody>
      </p:sp>
      <p:pic>
        <p:nvPicPr>
          <p:cNvPr id="18" name="device screenshot 10-agents-hub.png" descr="10-agents-hub.png"/>
          <p:cNvPicPr>
            <a:picLocks noChangeAspect="1"/>
          </p:cNvPicPr>
          <p:nvPr/>
        </p:nvPicPr>
        <p:blipFill>
          <a:blip r:embed="rId3"/>
          <a:stretch>
            <a:fillRect/>
          </a:stretch>
        </p:blipFill>
        <p:spPr>
          <a:xfrm>
            <a:off x="4846472" y="1431570"/>
            <a:ext cx="6034735" cy="2287677"/>
          </a:xfrm>
          <a:prstGeom prst="rect">
            <a:avLst/>
          </a:prstGeom>
        </p:spPr>
      </p:pic>
      <p:sp>
        <p:nvSpPr>
          <p:cNvPr id="19"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20"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1"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2"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Fallback stills for the live demo. Real renders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04</a:t>
            </a:r>
            <a:endParaRPr sz="840"/>
          </a:p>
        </p:txBody>
      </p:sp>
      <p:sp>
        <p:nvSpPr>
          <p:cNvPr id="4" name="eyebrow"/>
          <p:cNvSpPr txBox="1"/>
          <p:nvPr/>
        </p:nvSpPr>
        <p:spPr>
          <a:xfrm>
            <a:off x="914400" y="1077087"/>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Live demo</a:t>
            </a:r>
            <a:endParaRPr sz="1320"/>
          </a:p>
        </p:txBody>
      </p:sp>
      <p:sp>
        <p:nvSpPr>
          <p:cNvPr id="5" name="h1_side"/>
          <p:cNvSpPr txBox="1"/>
          <p:nvPr/>
        </p:nvSpPr>
        <p:spPr>
          <a:xfrm>
            <a:off x="914400" y="1443304"/>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Live demo: 90 seconds, </a:t>
            </a:r>
            <a:r>
              <a:rPr sz="3600" b="0" i="0" spc="-54">
                <a:solidFill>
                  <a:srgbClr val="1D1D1F"/>
                </a:solidFill>
                <a:latin typeface="Helvetica Neue Medium"/>
              </a:rPr>
              <a:t>all on the Mac.</a:t>
            </a:r>
            <a:endParaRPr sz="3600"/>
          </a:p>
        </p:txBody>
      </p:sp>
      <p:sp>
        <p:nvSpPr>
          <p:cNvPr id="6" name="body"/>
          <p:cNvSpPr txBox="1"/>
          <p:nvPr/>
        </p:nvSpPr>
        <p:spPr>
          <a:xfrm>
            <a:off x="914400" y="3162833"/>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Talk, ask, record and find, with Groq switched off.</a:t>
            </a:r>
            <a:endParaRPr sz="1320"/>
          </a:p>
        </p:txBody>
      </p:sp>
      <p:cxnSp>
        <p:nvCxnSpPr>
          <p:cNvPr id="7" name="list rule"/>
          <p:cNvCxnSpPr/>
          <p:nvPr/>
        </p:nvCxnSpPr>
        <p:spPr>
          <a:xfrm>
            <a:off x="914400" y="3923767"/>
            <a:ext cx="3291840" cy="0"/>
          </a:xfrm>
          <a:prstGeom prst="line">
            <a:avLst/>
          </a:prstGeom>
          <a:ln w="9525">
            <a:solidFill>
              <a:srgbClr val="D2D2D7"/>
            </a:solidFill>
          </a:ln>
        </p:spPr>
      </p:cxnSp>
      <p:sp>
        <p:nvSpPr>
          <p:cNvPr id="8" name="bullet"/>
          <p:cNvSpPr txBox="1"/>
          <p:nvPr/>
        </p:nvSpPr>
        <p:spPr>
          <a:xfrm>
            <a:off x="914400" y="4030447"/>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Hold fn, speak, release: clean text is typed for you</a:t>
            </a:r>
            <a:endParaRPr sz="1020"/>
          </a:p>
        </p:txBody>
      </p:sp>
      <p:cxnSp>
        <p:nvCxnSpPr>
          <p:cNvPr id="9" name="list rule"/>
          <p:cNvCxnSpPr/>
          <p:nvPr/>
        </p:nvCxnSpPr>
        <p:spPr>
          <a:xfrm>
            <a:off x="914400" y="4324960"/>
            <a:ext cx="3291840" cy="0"/>
          </a:xfrm>
          <a:prstGeom prst="line">
            <a:avLst/>
          </a:prstGeom>
          <a:ln w="9525">
            <a:solidFill>
              <a:srgbClr val="D2D2D7"/>
            </a:solidFill>
          </a:ln>
        </p:spPr>
      </p:cxnSp>
      <p:sp>
        <p:nvSpPr>
          <p:cNvPr id="10" name="bullet"/>
          <p:cNvSpPr txBox="1"/>
          <p:nvPr/>
        </p:nvSpPr>
        <p:spPr>
          <a:xfrm>
            <a:off x="914400" y="4431640"/>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Hold ⌃⌥ and ask: SparkV answers and points to the spot</a:t>
            </a:r>
            <a:endParaRPr sz="1020"/>
          </a:p>
        </p:txBody>
      </p:sp>
      <p:cxnSp>
        <p:nvCxnSpPr>
          <p:cNvPr id="11" name="list rule"/>
          <p:cNvCxnSpPr/>
          <p:nvPr/>
        </p:nvCxnSpPr>
        <p:spPr>
          <a:xfrm>
            <a:off x="914400" y="4913986"/>
            <a:ext cx="3291840" cy="0"/>
          </a:xfrm>
          <a:prstGeom prst="line">
            <a:avLst/>
          </a:prstGeom>
          <a:ln w="9525">
            <a:solidFill>
              <a:srgbClr val="D2D2D7"/>
            </a:solidFill>
          </a:ln>
        </p:spPr>
      </p:cxnSp>
      <p:sp>
        <p:nvSpPr>
          <p:cNvPr id="12" name="bullet"/>
          <p:cNvSpPr txBox="1"/>
          <p:nvPr/>
        </p:nvSpPr>
        <p:spPr>
          <a:xfrm>
            <a:off x="914400" y="5020666"/>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One click records a meeting: tasks, decisions, answers</a:t>
            </a:r>
            <a:endParaRPr sz="1020"/>
          </a:p>
        </p:txBody>
      </p:sp>
      <p:cxnSp>
        <p:nvCxnSpPr>
          <p:cNvPr id="13" name="list rule"/>
          <p:cNvCxnSpPr/>
          <p:nvPr/>
        </p:nvCxnSpPr>
        <p:spPr>
          <a:xfrm>
            <a:off x="914400" y="5503012"/>
            <a:ext cx="3291840" cy="0"/>
          </a:xfrm>
          <a:prstGeom prst="line">
            <a:avLst/>
          </a:prstGeom>
          <a:ln w="9525">
            <a:solidFill>
              <a:srgbClr val="D2D2D7"/>
            </a:solidFill>
          </a:ln>
        </p:spPr>
      </p:cxnSp>
      <p:sp>
        <p:nvSpPr>
          <p:cNvPr id="14" name="bullet"/>
          <p:cNvSpPr txBox="1"/>
          <p:nvPr/>
        </p:nvSpPr>
        <p:spPr>
          <a:xfrm>
            <a:off x="914400" y="5609692"/>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⌥Space finds anything you saw, with cited answers</a:t>
            </a:r>
            <a:endParaRPr sz="1020"/>
          </a:p>
        </p:txBody>
      </p:sp>
      <p:cxnSp>
        <p:nvCxnSpPr>
          <p:cNvPr id="15" name="list rule"/>
          <p:cNvCxnSpPr/>
          <p:nvPr/>
        </p:nvCxnSpPr>
        <p:spPr>
          <a:xfrm>
            <a:off x="914400" y="5904205"/>
            <a:ext cx="3291840" cy="0"/>
          </a:xfrm>
          <a:prstGeom prst="line">
            <a:avLst/>
          </a:prstGeom>
          <a:ln w="9525">
            <a:solidFill>
              <a:srgbClr val="D2D2D7"/>
            </a:solidFill>
          </a:ln>
        </p:spPr>
      </p:cxnSp>
      <p:pic>
        <p:nvPicPr>
          <p:cNvPr id="16" name="demo band 50-dictation.png" descr="50-dictation.png"/>
          <p:cNvPicPr>
            <a:picLocks noChangeAspect="1"/>
          </p:cNvPicPr>
          <p:nvPr/>
        </p:nvPicPr>
        <p:blipFill>
          <a:blip r:embed="rId3"/>
          <a:stretch>
            <a:fillRect/>
          </a:stretch>
        </p:blipFill>
        <p:spPr>
          <a:xfrm>
            <a:off x="4450080" y="1093150"/>
            <a:ext cx="6827520" cy="1004047"/>
          </a:xfrm>
          <a:prstGeom prst="roundRect">
            <a:avLst>
              <a:gd name="adj" fmla="val 9107"/>
            </a:avLst>
          </a:prstGeom>
        </p:spPr>
      </p:pic>
      <p:pic>
        <p:nvPicPr>
          <p:cNvPr id="17" name="demo band 51-clicky-answer.png" descr="51-clicky-answer.png"/>
          <p:cNvPicPr>
            <a:picLocks noChangeAspect="1"/>
          </p:cNvPicPr>
          <p:nvPr/>
        </p:nvPicPr>
        <p:blipFill>
          <a:blip r:embed="rId4"/>
          <a:stretch>
            <a:fillRect/>
          </a:stretch>
        </p:blipFill>
        <p:spPr>
          <a:xfrm>
            <a:off x="4450080" y="2280077"/>
            <a:ext cx="6827520" cy="1182544"/>
          </a:xfrm>
          <a:prstGeom prst="roundRect">
            <a:avLst>
              <a:gd name="adj" fmla="val 7732"/>
            </a:avLst>
          </a:prstGeom>
        </p:spPr>
      </p:pic>
      <p:pic>
        <p:nvPicPr>
          <p:cNvPr id="18" name="demo window 37-meeting-live-answers.png 37-meeting-live-answ" descr="37-meeting-live-answers.png"/>
          <p:cNvPicPr>
            <a:picLocks noChangeAspect="1"/>
          </p:cNvPicPr>
          <p:nvPr/>
        </p:nvPicPr>
        <p:blipFill>
          <a:blip r:embed="rId5"/>
          <a:stretch>
            <a:fillRect/>
          </a:stretch>
        </p:blipFill>
        <p:spPr>
          <a:xfrm>
            <a:off x="4450080" y="3647395"/>
            <a:ext cx="3322320" cy="2237481"/>
          </a:xfrm>
          <a:prstGeom prst="roundRect">
            <a:avLst>
              <a:gd name="adj" fmla="val 4086"/>
            </a:avLst>
          </a:prstGeom>
        </p:spPr>
      </p:pic>
      <p:sp>
        <p:nvSpPr>
          <p:cNvPr id="19" name="demo device 15-universal-search.png lid"/>
          <p:cNvSpPr/>
          <p:nvPr/>
        </p:nvSpPr>
        <p:spPr>
          <a:xfrm>
            <a:off x="7955280" y="3645501"/>
            <a:ext cx="3322320" cy="2241270"/>
          </a:xfrm>
          <a:prstGeom prst="round2SameRect">
            <a:avLst>
              <a:gd name="adj1" fmla="val 8839"/>
              <a:gd name="adj2" fmla="val 2039"/>
            </a:avLst>
          </a:prstGeom>
          <a:solidFill>
            <a:srgbClr val="0A0A0B"/>
          </a:solidFill>
          <a:ln w="15240">
            <a:solidFill>
              <a:srgbClr val="BDBDC2"/>
            </a:solidFill>
          </a:ln>
        </p:spPr>
        <p:txBody>
          <a:bodyPr rtlCol="0" anchor="ctr"/>
          <a:lstStyle/>
          <a:p>
            <a:pPr algn="ctr"/>
          </a:p>
        </p:txBody>
      </p:sp>
      <p:sp>
        <p:nvSpPr>
          <p:cNvPr id="20" name="demo device 15-universal-search.png screen"/>
          <p:cNvSpPr/>
          <p:nvPr/>
        </p:nvSpPr>
        <p:spPr>
          <a:xfrm>
            <a:off x="8031480" y="3721701"/>
            <a:ext cx="3169920" cy="2058390"/>
          </a:xfrm>
          <a:prstGeom prst="round2SameRect">
            <a:avLst>
              <a:gd name="adj1" fmla="val 3701"/>
              <a:gd name="adj2" fmla="val 740"/>
            </a:avLst>
          </a:prstGeom>
          <a:gradFill rotWithShape="1">
            <a:gsLst>
              <a:gs pos="0">
                <a:srgbClr val="040303"/>
              </a:gs>
              <a:gs pos="46804">
                <a:srgbClr val="1B1716"/>
              </a:gs>
              <a:gs pos="100000">
                <a:srgbClr val="0F1119"/>
              </a:gs>
            </a:gsLst>
            <a:lin ang="5400000" scaled="0"/>
          </a:gradFill>
          <a:ln>
            <a:noFill/>
          </a:ln>
        </p:spPr>
        <p:txBody>
          <a:bodyPr rtlCol="0" anchor="ctr"/>
          <a:lstStyle/>
          <a:p>
            <a:pPr algn="ctr"/>
          </a:p>
        </p:txBody>
      </p:sp>
      <p:pic>
        <p:nvPicPr>
          <p:cNvPr id="21" name="demo device 15-universal-search.png screenshot 15-universal-" descr="15-universal-search.png"/>
          <p:cNvPicPr>
            <a:picLocks noChangeAspect="1"/>
          </p:cNvPicPr>
          <p:nvPr/>
        </p:nvPicPr>
        <p:blipFill>
          <a:blip r:embed="rId6"/>
          <a:stretch>
            <a:fillRect/>
          </a:stretch>
        </p:blipFill>
        <p:spPr>
          <a:xfrm>
            <a:off x="8031480" y="3721701"/>
            <a:ext cx="3169920" cy="963407"/>
          </a:xfrm>
          <a:prstGeom prst="rect">
            <a:avLst/>
          </a:prstGeom>
        </p:spPr>
      </p:pic>
      <p:sp>
        <p:nvSpPr>
          <p:cNvPr id="22" name="demo device 15-universal-search.png notch"/>
          <p:cNvSpPr/>
          <p:nvPr/>
        </p:nvSpPr>
        <p:spPr>
          <a:xfrm>
            <a:off x="9140952" y="3721701"/>
            <a:ext cx="950976" cy="140744"/>
          </a:xfrm>
          <a:prstGeom prst="round2SameRect">
            <a:avLst>
              <a:gd name="adj1" fmla="val 0"/>
              <a:gd name="adj2" fmla="val 37843"/>
            </a:avLst>
          </a:prstGeom>
          <a:solidFill>
            <a:srgbClr val="000000"/>
          </a:solidFill>
          <a:ln>
            <a:noFill/>
          </a:ln>
        </p:spPr>
        <p:txBody>
          <a:bodyPr rtlCol="0" anchor="ctr"/>
          <a:lstStyle/>
          <a:p>
            <a:pPr algn="ctr"/>
          </a:p>
        </p:txBody>
      </p:sp>
      <p:sp>
        <p:nvSpPr>
          <p:cNvPr id="23" name="demo device 15-universal-search.png camera"/>
          <p:cNvSpPr/>
          <p:nvPr/>
        </p:nvSpPr>
        <p:spPr>
          <a:xfrm>
            <a:off x="9584772" y="3760406"/>
            <a:ext cx="63335" cy="63335"/>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Rendered from a saved meeting with sample data. Live audio capture: pre-launch live check.</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05</a:t>
            </a:r>
            <a:endParaRPr sz="840"/>
          </a:p>
        </p:txBody>
      </p:sp>
      <p:sp>
        <p:nvSpPr>
          <p:cNvPr id="4" name="eyebrow"/>
          <p:cNvSpPr txBox="1"/>
          <p:nvPr/>
        </p:nvSpPr>
        <p:spPr>
          <a:xfrm>
            <a:off x="914400" y="955548"/>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Meetings</a:t>
            </a:r>
            <a:endParaRPr sz="1320"/>
          </a:p>
        </p:txBody>
      </p:sp>
      <p:sp>
        <p:nvSpPr>
          <p:cNvPr id="5" name="h1_side"/>
          <p:cNvSpPr txBox="1"/>
          <p:nvPr/>
        </p:nvSpPr>
        <p:spPr>
          <a:xfrm>
            <a:off x="914400" y="1321765"/>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Meeting notes </a:t>
            </a:r>
            <a:r>
              <a:rPr sz="3600" b="0" i="0" spc="-54">
                <a:solidFill>
                  <a:srgbClr val="1D1D1F"/>
                </a:solidFill>
                <a:latin typeface="Helvetica Neue Medium"/>
              </a:rPr>
              <a:t>without a bot</a:t>
            </a:r>
            <a:r>
              <a:rPr sz="3600" b="0" i="0" spc="-54">
                <a:solidFill>
                  <a:srgbClr val="1D1D1F"/>
                </a:solidFill>
                <a:latin typeface="Helvetica Neue Light"/>
              </a:rPr>
              <a:t> in the call.</a:t>
            </a:r>
            <a:endParaRPr sz="3600"/>
          </a:p>
        </p:txBody>
      </p:sp>
      <p:sp>
        <p:nvSpPr>
          <p:cNvPr id="6" name="body"/>
          <p:cNvSpPr txBox="1"/>
          <p:nvPr/>
        </p:nvSpPr>
        <p:spPr>
          <a:xfrm>
            <a:off x="914400" y="3041294"/>
            <a:ext cx="3291840"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SparkV records your mic and the call audio, transcribes on device and hands you the follow-ups.</a:t>
            </a:r>
            <a:endParaRPr sz="1320"/>
          </a:p>
        </p:txBody>
      </p:sp>
      <p:cxnSp>
        <p:nvCxnSpPr>
          <p:cNvPr id="7" name="list rule"/>
          <p:cNvCxnSpPr/>
          <p:nvPr/>
        </p:nvCxnSpPr>
        <p:spPr>
          <a:xfrm>
            <a:off x="914400" y="4045306"/>
            <a:ext cx="3291840" cy="0"/>
          </a:xfrm>
          <a:prstGeom prst="line">
            <a:avLst/>
          </a:prstGeom>
          <a:ln w="9525">
            <a:solidFill>
              <a:srgbClr val="D2D2D7"/>
            </a:solidFill>
          </a:ln>
        </p:spPr>
      </p:cxnSp>
      <p:sp>
        <p:nvSpPr>
          <p:cNvPr id="8" name="bullet"/>
          <p:cNvSpPr txBox="1"/>
          <p:nvPr/>
        </p:nvSpPr>
        <p:spPr>
          <a:xfrm>
            <a:off x="914400" y="4151986"/>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Minutes, key points, decisions and your tasks with due days</a:t>
            </a:r>
            <a:endParaRPr sz="1020"/>
          </a:p>
        </p:txBody>
      </p:sp>
      <p:cxnSp>
        <p:nvCxnSpPr>
          <p:cNvPr id="9" name="list rule"/>
          <p:cNvCxnSpPr/>
          <p:nvPr/>
        </p:nvCxnSpPr>
        <p:spPr>
          <a:xfrm>
            <a:off x="914400" y="4634332"/>
            <a:ext cx="3291840" cy="0"/>
          </a:xfrm>
          <a:prstGeom prst="line">
            <a:avLst/>
          </a:prstGeom>
          <a:ln w="9525">
            <a:solidFill>
              <a:srgbClr val="D2D2D7"/>
            </a:solidFill>
          </a:ln>
        </p:spPr>
      </p:cxnSp>
      <p:sp>
        <p:nvSpPr>
          <p:cNvPr id="10" name="bullet"/>
          <p:cNvSpPr txBox="1"/>
          <p:nvPr/>
        </p:nvSpPr>
        <p:spPr>
          <a:xfrm>
            <a:off x="914400" y="4741012"/>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Suggested answers when someone asks you a question</a:t>
            </a:r>
            <a:endParaRPr sz="1020"/>
          </a:p>
        </p:txBody>
      </p:sp>
      <p:cxnSp>
        <p:nvCxnSpPr>
          <p:cNvPr id="11" name="list rule"/>
          <p:cNvCxnSpPr/>
          <p:nvPr/>
        </p:nvCxnSpPr>
        <p:spPr>
          <a:xfrm>
            <a:off x="914400" y="5223358"/>
            <a:ext cx="3291840" cy="0"/>
          </a:xfrm>
          <a:prstGeom prst="line">
            <a:avLst/>
          </a:prstGeom>
          <a:ln w="9525">
            <a:solidFill>
              <a:srgbClr val="D2D2D7"/>
            </a:solidFill>
          </a:ln>
        </p:spPr>
      </p:cxnSp>
      <p:sp>
        <p:nvSpPr>
          <p:cNvPr id="12" name="bullet"/>
          <p:cNvSpPr txBox="1"/>
          <p:nvPr/>
        </p:nvSpPr>
        <p:spPr>
          <a:xfrm>
            <a:off x="914400" y="5330038"/>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Live translated captions, with the original underneath</a:t>
            </a:r>
            <a:endParaRPr sz="1020"/>
          </a:p>
        </p:txBody>
      </p:sp>
      <p:cxnSp>
        <p:nvCxnSpPr>
          <p:cNvPr id="13" name="list rule"/>
          <p:cNvCxnSpPr/>
          <p:nvPr/>
        </p:nvCxnSpPr>
        <p:spPr>
          <a:xfrm>
            <a:off x="914400" y="5624551"/>
            <a:ext cx="3291840" cy="0"/>
          </a:xfrm>
          <a:prstGeom prst="line">
            <a:avLst/>
          </a:prstGeom>
          <a:ln w="9525">
            <a:solidFill>
              <a:srgbClr val="D2D2D7"/>
            </a:solidFill>
          </a:ln>
        </p:spPr>
      </p:cxnSp>
      <p:sp>
        <p:nvSpPr>
          <p:cNvPr id="14" name="bullet"/>
          <p:cNvSpPr txBox="1"/>
          <p:nvPr/>
        </p:nvSpPr>
        <p:spPr>
          <a:xfrm>
            <a:off x="914400" y="5731231"/>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Filed into Spaces and searchable later</a:t>
            </a:r>
            <a:endParaRPr sz="1020"/>
          </a:p>
        </p:txBody>
      </p:sp>
      <p:cxnSp>
        <p:nvCxnSpPr>
          <p:cNvPr id="15" name="list rule"/>
          <p:cNvCxnSpPr/>
          <p:nvPr/>
        </p:nvCxnSpPr>
        <p:spPr>
          <a:xfrm>
            <a:off x="914400" y="6025744"/>
            <a:ext cx="3291840" cy="0"/>
          </a:xfrm>
          <a:prstGeom prst="line">
            <a:avLst/>
          </a:prstGeom>
          <a:ln w="9525">
            <a:solidFill>
              <a:srgbClr val="D2D2D7"/>
            </a:solidFill>
          </a:ln>
        </p:spPr>
      </p:cxnSp>
      <p:pic>
        <p:nvPicPr>
          <p:cNvPr id="16" name="window 37-meeting-live-answers.png" descr="37-meeting-live-answers.png"/>
          <p:cNvPicPr>
            <a:picLocks noChangeAspect="1"/>
          </p:cNvPicPr>
          <p:nvPr/>
        </p:nvPicPr>
        <p:blipFill>
          <a:blip r:embed="rId3"/>
          <a:stretch>
            <a:fillRect/>
          </a:stretch>
        </p:blipFill>
        <p:spPr>
          <a:xfrm>
            <a:off x="4450080" y="1190897"/>
            <a:ext cx="6827520" cy="4598126"/>
          </a:xfrm>
          <a:prstGeom prst="roundRect">
            <a:avLst>
              <a:gd name="adj" fmla="val 1988"/>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Internal test, 22 Oct 2026, planted-issue site on 127.0.0.1 (feature guide section 25).</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06</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Proof</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Proof it works: </a:t>
            </a:r>
            <a:r>
              <a:rPr sz="3360" b="0" i="0" spc="-50">
                <a:solidFill>
                  <a:srgbClr val="1D1D1F"/>
                </a:solidFill>
                <a:latin typeface="Helvetica Neue Medium"/>
              </a:rPr>
              <a:t>one real UI Audit run.</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SparkV crawled a test site, found the planted bugs and wrote the fix prompt.</a:t>
            </a:r>
            <a:endParaRPr sz="1680"/>
          </a:p>
        </p:txBody>
      </p:sp>
      <p:cxnSp>
        <p:nvCxnSpPr>
          <p:cNvPr id="7" name="line rule"/>
          <p:cNvCxnSpPr/>
          <p:nvPr/>
        </p:nvCxnSpPr>
        <p:spPr>
          <a:xfrm>
            <a:off x="914400" y="5624627"/>
            <a:ext cx="3291840" cy="0"/>
          </a:xfrm>
          <a:prstGeom prst="line">
            <a:avLst/>
          </a:prstGeom>
          <a:ln w="9525">
            <a:solidFill>
              <a:srgbClr val="D2D2D7"/>
            </a:solidFill>
          </a:ln>
        </p:spPr>
      </p:cxnSp>
      <p:sp>
        <p:nvSpPr>
          <p:cNvPr id="8" name="line"/>
          <p:cNvSpPr txBox="1"/>
          <p:nvPr/>
        </p:nvSpPr>
        <p:spPr>
          <a:xfrm>
            <a:off x="91440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Summary written on device by Apple Intelligence</a:t>
            </a:r>
            <a:endParaRPr sz="1320"/>
          </a:p>
        </p:txBody>
      </p:sp>
      <p:cxnSp>
        <p:nvCxnSpPr>
          <p:cNvPr id="9" name="line rule"/>
          <p:cNvCxnSpPr/>
          <p:nvPr/>
        </p:nvCxnSpPr>
        <p:spPr>
          <a:xfrm>
            <a:off x="4450080" y="5624627"/>
            <a:ext cx="3291840" cy="0"/>
          </a:xfrm>
          <a:prstGeom prst="line">
            <a:avLst/>
          </a:prstGeom>
          <a:ln w="9525">
            <a:solidFill>
              <a:srgbClr val="D2D2D7"/>
            </a:solidFill>
          </a:ln>
        </p:spPr>
      </p:cxnSp>
      <p:sp>
        <p:nvSpPr>
          <p:cNvPr id="10" name="line"/>
          <p:cNvSpPr txBox="1"/>
          <p:nvPr/>
        </p:nvSpPr>
        <p:spPr>
          <a:xfrm>
            <a:off x="445008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Fix prompt pastes straight into Claude Code, Cursor or Copilot</a:t>
            </a:r>
            <a:endParaRPr sz="1320"/>
          </a:p>
        </p:txBody>
      </p:sp>
      <p:cxnSp>
        <p:nvCxnSpPr>
          <p:cNvPr id="11" name="line rule"/>
          <p:cNvCxnSpPr/>
          <p:nvPr/>
        </p:nvCxnSpPr>
        <p:spPr>
          <a:xfrm>
            <a:off x="7985760" y="5624627"/>
            <a:ext cx="3291840" cy="0"/>
          </a:xfrm>
          <a:prstGeom prst="line">
            <a:avLst/>
          </a:prstGeom>
          <a:ln w="9525">
            <a:solidFill>
              <a:srgbClr val="D2D2D7"/>
            </a:solidFill>
          </a:ln>
        </p:spPr>
      </p:cxnSp>
      <p:sp>
        <p:nvSpPr>
          <p:cNvPr id="12" name="line"/>
          <p:cNvSpPr txBox="1"/>
          <p:nvPr/>
        </p:nvSpPr>
        <p:spPr>
          <a:xfrm>
            <a:off x="798576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Runs only on sites you own or may test</a:t>
            </a:r>
            <a:endParaRPr sz="1320"/>
          </a:p>
        </p:txBody>
      </p:sp>
      <p:sp>
        <p:nvSpPr>
          <p:cNvPr id="13" name="metric card"/>
          <p:cNvSpPr/>
          <p:nvPr/>
        </p:nvSpPr>
        <p:spPr>
          <a:xfrm>
            <a:off x="914400" y="2308708"/>
            <a:ext cx="2438400" cy="1429360"/>
          </a:xfrm>
          <a:prstGeom prst="roundRect">
            <a:avLst>
              <a:gd name="adj" fmla="val 11728"/>
            </a:avLst>
          </a:prstGeom>
          <a:solidFill>
            <a:srgbClr val="F5F5F7"/>
          </a:solidFill>
          <a:ln>
            <a:noFill/>
          </a:ln>
        </p:spPr>
        <p:txBody>
          <a:bodyPr rtlCol="0" anchor="ctr"/>
          <a:lstStyle/>
          <a:p>
            <a:pPr algn="ctr"/>
          </a:p>
        </p:txBody>
      </p:sp>
      <p:sp>
        <p:nvSpPr>
          <p:cNvPr id="14" name="metric value"/>
          <p:cNvSpPr txBox="1"/>
          <p:nvPr/>
        </p:nvSpPr>
        <p:spPr>
          <a:xfrm>
            <a:off x="1158240" y="2461108"/>
            <a:ext cx="1950720" cy="642658"/>
          </a:xfrm>
          <a:prstGeom prst="rect">
            <a:avLst/>
          </a:prstGeom>
          <a:noFill/>
        </p:spPr>
        <p:txBody>
          <a:bodyPr wrap="square" lIns="0" tIns="0" rIns="0" bIns="0" anchor="t">
            <a:noAutofit/>
          </a:bodyPr>
          <a:lstStyle/>
          <a:p>
            <a:pPr algn="l">
              <a:lnSpc>
                <a:spcPts val="5057"/>
              </a:lnSpc>
              <a:spcBef>
                <a:spcPts val="0"/>
              </a:spcBef>
              <a:spcAft>
                <a:spcPts val="0"/>
              </a:spcAft>
            </a:pPr>
            <a:r>
              <a:rPr sz="4597" b="0" i="0" spc="-92">
                <a:solidFill>
                  <a:srgbClr val="1D1D1F"/>
                </a:solidFill>
                <a:latin typeface="Helvetica Neue Light"/>
              </a:rPr>
              <a:t>69</a:t>
            </a:r>
            <a:endParaRPr sz="4597"/>
          </a:p>
        </p:txBody>
      </p:sp>
      <p:sp>
        <p:nvSpPr>
          <p:cNvPr id="15" name="metric label"/>
          <p:cNvSpPr txBox="1"/>
          <p:nvPr/>
        </p:nvSpPr>
        <p:spPr>
          <a:xfrm>
            <a:off x="1158240" y="3210446"/>
            <a:ext cx="1950720" cy="375221"/>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findings across 6 pages</a:t>
            </a:r>
            <a:endParaRPr sz="1020"/>
          </a:p>
        </p:txBody>
      </p:sp>
      <p:sp>
        <p:nvSpPr>
          <p:cNvPr id="16" name="metric card"/>
          <p:cNvSpPr/>
          <p:nvPr/>
        </p:nvSpPr>
        <p:spPr>
          <a:xfrm>
            <a:off x="3535680" y="2308708"/>
            <a:ext cx="2438400" cy="1429360"/>
          </a:xfrm>
          <a:prstGeom prst="roundRect">
            <a:avLst>
              <a:gd name="adj" fmla="val 11728"/>
            </a:avLst>
          </a:prstGeom>
          <a:solidFill>
            <a:srgbClr val="F5F5F7"/>
          </a:solidFill>
          <a:ln>
            <a:noFill/>
          </a:ln>
        </p:spPr>
        <p:txBody>
          <a:bodyPr rtlCol="0" anchor="ctr"/>
          <a:lstStyle/>
          <a:p>
            <a:pPr algn="ctr"/>
          </a:p>
        </p:txBody>
      </p:sp>
      <p:sp>
        <p:nvSpPr>
          <p:cNvPr id="17" name="metric value"/>
          <p:cNvSpPr txBox="1"/>
          <p:nvPr/>
        </p:nvSpPr>
        <p:spPr>
          <a:xfrm>
            <a:off x="3779520" y="2461108"/>
            <a:ext cx="1950720" cy="642658"/>
          </a:xfrm>
          <a:prstGeom prst="rect">
            <a:avLst/>
          </a:prstGeom>
          <a:noFill/>
        </p:spPr>
        <p:txBody>
          <a:bodyPr wrap="square" lIns="0" tIns="0" rIns="0" bIns="0" anchor="t">
            <a:noAutofit/>
          </a:bodyPr>
          <a:lstStyle/>
          <a:p>
            <a:pPr algn="l">
              <a:lnSpc>
                <a:spcPts val="5057"/>
              </a:lnSpc>
              <a:spcBef>
                <a:spcPts val="0"/>
              </a:spcBef>
              <a:spcAft>
                <a:spcPts val="0"/>
              </a:spcAft>
            </a:pPr>
            <a:r>
              <a:rPr sz="4597" b="0" i="0" spc="-92">
                <a:solidFill>
                  <a:srgbClr val="F01822"/>
                </a:solidFill>
                <a:latin typeface="Helvetica Neue Medium"/>
              </a:rPr>
              <a:t>3 · 15</a:t>
            </a:r>
            <a:endParaRPr sz="4597"/>
          </a:p>
        </p:txBody>
      </p:sp>
      <p:sp>
        <p:nvSpPr>
          <p:cNvPr id="18" name="metric label"/>
          <p:cNvSpPr txBox="1"/>
          <p:nvPr/>
        </p:nvSpPr>
        <p:spPr>
          <a:xfrm>
            <a:off x="3779520" y="3210446"/>
            <a:ext cx="1950720" cy="375221"/>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critical · high severity</a:t>
            </a:r>
            <a:endParaRPr sz="1020"/>
          </a:p>
        </p:txBody>
      </p:sp>
      <p:sp>
        <p:nvSpPr>
          <p:cNvPr id="19" name="metric card"/>
          <p:cNvSpPr/>
          <p:nvPr/>
        </p:nvSpPr>
        <p:spPr>
          <a:xfrm>
            <a:off x="914400" y="3920947"/>
            <a:ext cx="2438400" cy="1429360"/>
          </a:xfrm>
          <a:prstGeom prst="roundRect">
            <a:avLst>
              <a:gd name="adj" fmla="val 11728"/>
            </a:avLst>
          </a:prstGeom>
          <a:solidFill>
            <a:srgbClr val="F5F5F7"/>
          </a:solidFill>
          <a:ln>
            <a:noFill/>
          </a:ln>
        </p:spPr>
        <p:txBody>
          <a:bodyPr rtlCol="0" anchor="ctr"/>
          <a:lstStyle/>
          <a:p>
            <a:pPr algn="ctr"/>
          </a:p>
        </p:txBody>
      </p:sp>
      <p:sp>
        <p:nvSpPr>
          <p:cNvPr id="20" name="metric value"/>
          <p:cNvSpPr txBox="1"/>
          <p:nvPr/>
        </p:nvSpPr>
        <p:spPr>
          <a:xfrm>
            <a:off x="1158240" y="4073347"/>
            <a:ext cx="1950720" cy="642658"/>
          </a:xfrm>
          <a:prstGeom prst="rect">
            <a:avLst/>
          </a:prstGeom>
          <a:noFill/>
        </p:spPr>
        <p:txBody>
          <a:bodyPr wrap="square" lIns="0" tIns="0" rIns="0" bIns="0" anchor="t">
            <a:noAutofit/>
          </a:bodyPr>
          <a:lstStyle/>
          <a:p>
            <a:pPr algn="l">
              <a:lnSpc>
                <a:spcPts val="5057"/>
              </a:lnSpc>
              <a:spcBef>
                <a:spcPts val="0"/>
              </a:spcBef>
              <a:spcAft>
                <a:spcPts val="0"/>
              </a:spcAft>
            </a:pPr>
            <a:r>
              <a:rPr sz="4597" b="0" i="0" spc="-92">
                <a:solidFill>
                  <a:srgbClr val="1D1D1F"/>
                </a:solidFill>
                <a:latin typeface="Helvetica Neue Light"/>
              </a:rPr>
              <a:t>51,666</a:t>
            </a:r>
            <a:endParaRPr sz="4597"/>
          </a:p>
        </p:txBody>
      </p:sp>
      <p:sp>
        <p:nvSpPr>
          <p:cNvPr id="21" name="metric label"/>
          <p:cNvSpPr txBox="1"/>
          <p:nvPr/>
        </p:nvSpPr>
        <p:spPr>
          <a:xfrm>
            <a:off x="1158240" y="4822685"/>
            <a:ext cx="1950720" cy="375221"/>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characters in the fix prompt (60 issues)</a:t>
            </a:r>
            <a:endParaRPr sz="994"/>
          </a:p>
        </p:txBody>
      </p:sp>
      <p:sp>
        <p:nvSpPr>
          <p:cNvPr id="22" name="metric card"/>
          <p:cNvSpPr/>
          <p:nvPr/>
        </p:nvSpPr>
        <p:spPr>
          <a:xfrm>
            <a:off x="3535680" y="3920947"/>
            <a:ext cx="2438400" cy="1429360"/>
          </a:xfrm>
          <a:prstGeom prst="roundRect">
            <a:avLst>
              <a:gd name="adj" fmla="val 11728"/>
            </a:avLst>
          </a:prstGeom>
          <a:solidFill>
            <a:srgbClr val="F5F5F7"/>
          </a:solidFill>
          <a:ln>
            <a:noFill/>
          </a:ln>
        </p:spPr>
        <p:txBody>
          <a:bodyPr rtlCol="0" anchor="ctr"/>
          <a:lstStyle/>
          <a:p>
            <a:pPr algn="ctr"/>
          </a:p>
        </p:txBody>
      </p:sp>
      <p:sp>
        <p:nvSpPr>
          <p:cNvPr id="23" name="metric value"/>
          <p:cNvSpPr txBox="1"/>
          <p:nvPr/>
        </p:nvSpPr>
        <p:spPr>
          <a:xfrm>
            <a:off x="3779520" y="4073347"/>
            <a:ext cx="1950720" cy="642658"/>
          </a:xfrm>
          <a:prstGeom prst="rect">
            <a:avLst/>
          </a:prstGeom>
          <a:noFill/>
        </p:spPr>
        <p:txBody>
          <a:bodyPr wrap="square" lIns="0" tIns="0" rIns="0" bIns="0" anchor="t">
            <a:noAutofit/>
          </a:bodyPr>
          <a:lstStyle/>
          <a:p>
            <a:pPr algn="l">
              <a:lnSpc>
                <a:spcPts val="5057"/>
              </a:lnSpc>
              <a:spcBef>
                <a:spcPts val="0"/>
              </a:spcBef>
              <a:spcAft>
                <a:spcPts val="0"/>
              </a:spcAft>
            </a:pPr>
            <a:r>
              <a:rPr sz="4597" b="0" i="0" spc="-92">
                <a:solidFill>
                  <a:srgbClr val="1D1D1F"/>
                </a:solidFill>
                <a:latin typeface="Helvetica Neue Light"/>
              </a:rPr>
              <a:t>48/48</a:t>
            </a:r>
            <a:endParaRPr sz="4597"/>
          </a:p>
        </p:txBody>
      </p:sp>
      <p:sp>
        <p:nvSpPr>
          <p:cNvPr id="24" name="metric label"/>
          <p:cNvSpPr txBox="1"/>
          <p:nvPr/>
        </p:nvSpPr>
        <p:spPr>
          <a:xfrm>
            <a:off x="3779520" y="4822685"/>
            <a:ext cx="1950720" cy="375221"/>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runner self-tests pass</a:t>
            </a:r>
            <a:endParaRPr sz="1020"/>
          </a:p>
        </p:txBody>
      </p:sp>
      <p:pic>
        <p:nvPicPr>
          <p:cNvPr id="25" name="ui audit window 22-ui-audit-window.png" descr="22-ui-audit-window.png"/>
          <p:cNvPicPr>
            <a:picLocks noChangeAspect="1"/>
          </p:cNvPicPr>
          <p:nvPr/>
        </p:nvPicPr>
        <p:blipFill>
          <a:blip r:embed="rId3"/>
          <a:stretch>
            <a:fillRect/>
          </a:stretch>
        </p:blipFill>
        <p:spPr>
          <a:xfrm>
            <a:off x="6715201" y="2308708"/>
            <a:ext cx="4562399" cy="3041599"/>
          </a:xfrm>
          <a:prstGeom prst="roundRect">
            <a:avLst>
              <a:gd name="adj" fmla="val 3006"/>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Sources: Macworld (Oct 2021); MobileSyrup (Jun 2023); TechCrunch (Jun 2025); IDC preliminary via 9to5Mac (Jan 2026); SparkV business plan.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07</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Why now</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Why now: the AI </a:t>
            </a:r>
            <a:r>
              <a:rPr sz="3840" b="0" i="0" spc="-58">
                <a:solidFill>
                  <a:srgbClr val="1D1D1F"/>
                </a:solidFill>
                <a:latin typeface="Helvetica Neue Medium"/>
              </a:rPr>
              <a:t>already ships inside the Mac.</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Apple silicon and Apple's on-device models make private AI with zero cost per request possible.</a:t>
            </a:r>
            <a:endParaRPr sz="1680"/>
          </a:p>
        </p:txBody>
      </p:sp>
      <p:cxnSp>
        <p:nvCxnSpPr>
          <p:cNvPr id="7" name="rail rail"/>
          <p:cNvCxnSpPr/>
          <p:nvPr/>
        </p:nvCxnSpPr>
        <p:spPr>
          <a:xfrm>
            <a:off x="914400" y="2916936"/>
            <a:ext cx="10363200" cy="0"/>
          </a:xfrm>
          <a:prstGeom prst="line">
            <a:avLst/>
          </a:prstGeom>
          <a:ln w="9525">
            <a:solidFill>
              <a:srgbClr val="D2D2D7"/>
            </a:solidFill>
          </a:ln>
        </p:spPr>
      </p:cxnSp>
      <p:sp>
        <p:nvSpPr>
          <p:cNvPr id="8" name="rail date"/>
          <p:cNvSpPr txBox="1"/>
          <p:nvPr/>
        </p:nvSpPr>
        <p:spPr>
          <a:xfrm>
            <a:off x="914400" y="251414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Oct 2021</a:t>
            </a:r>
            <a:endParaRPr sz="1680"/>
          </a:p>
        </p:txBody>
      </p:sp>
      <p:sp>
        <p:nvSpPr>
          <p:cNvPr id="9" name="rail dot"/>
          <p:cNvSpPr/>
          <p:nvPr/>
        </p:nvSpPr>
        <p:spPr>
          <a:xfrm>
            <a:off x="914400" y="2866644"/>
            <a:ext cx="100584" cy="100584"/>
          </a:xfrm>
          <a:prstGeom prst="ellipse">
            <a:avLst/>
          </a:prstGeom>
          <a:solidFill>
            <a:srgbClr val="6E6E73"/>
          </a:solidFill>
          <a:ln>
            <a:noFill/>
          </a:ln>
        </p:spPr>
        <p:txBody>
          <a:bodyPr rtlCol="0" anchor="ctr"/>
          <a:lstStyle/>
          <a:p>
            <a:pPr algn="ctr"/>
          </a:p>
        </p:txBody>
      </p:sp>
      <p:sp>
        <p:nvSpPr>
          <p:cNvPr id="10" name="rail text"/>
          <p:cNvSpPr txBox="1"/>
          <p:nvPr/>
        </p:nvSpPr>
        <p:spPr>
          <a:xfrm>
            <a:off x="914400" y="3099816"/>
            <a:ext cx="1877568" cy="1215847"/>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14- and 16-inch MacBook Pro introduce the notch</a:t>
            </a:r>
            <a:endParaRPr sz="1320"/>
          </a:p>
        </p:txBody>
      </p:sp>
      <p:sp>
        <p:nvSpPr>
          <p:cNvPr id="11" name="rail date"/>
          <p:cNvSpPr txBox="1"/>
          <p:nvPr/>
        </p:nvSpPr>
        <p:spPr>
          <a:xfrm>
            <a:off x="3035808" y="251414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Jun 2023</a:t>
            </a:r>
            <a:endParaRPr sz="1680"/>
          </a:p>
        </p:txBody>
      </p:sp>
      <p:sp>
        <p:nvSpPr>
          <p:cNvPr id="12" name="rail dot"/>
          <p:cNvSpPr/>
          <p:nvPr/>
        </p:nvSpPr>
        <p:spPr>
          <a:xfrm>
            <a:off x="3035808" y="2866644"/>
            <a:ext cx="100584" cy="100584"/>
          </a:xfrm>
          <a:prstGeom prst="ellipse">
            <a:avLst/>
          </a:prstGeom>
          <a:solidFill>
            <a:srgbClr val="6E6E73"/>
          </a:solidFill>
          <a:ln>
            <a:noFill/>
          </a:ln>
        </p:spPr>
        <p:txBody>
          <a:bodyPr rtlCol="0" anchor="ctr"/>
          <a:lstStyle/>
          <a:p>
            <a:pPr algn="ctr"/>
          </a:p>
        </p:txBody>
      </p:sp>
      <p:sp>
        <p:nvSpPr>
          <p:cNvPr id="13" name="rail text"/>
          <p:cNvSpPr txBox="1"/>
          <p:nvPr/>
        </p:nvSpPr>
        <p:spPr>
          <a:xfrm>
            <a:off x="3035808" y="3099816"/>
            <a:ext cx="1877568" cy="1215847"/>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Mac Pro moves to M2 Ultra: every Mac is now Apple silicon</a:t>
            </a:r>
            <a:endParaRPr sz="1320"/>
          </a:p>
        </p:txBody>
      </p:sp>
      <p:sp>
        <p:nvSpPr>
          <p:cNvPr id="14" name="rail date"/>
          <p:cNvSpPr txBox="1"/>
          <p:nvPr/>
        </p:nvSpPr>
        <p:spPr>
          <a:xfrm>
            <a:off x="5157216" y="251414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Jun 2025</a:t>
            </a:r>
            <a:endParaRPr sz="1680"/>
          </a:p>
        </p:txBody>
      </p:sp>
      <p:sp>
        <p:nvSpPr>
          <p:cNvPr id="15" name="rail dot"/>
          <p:cNvSpPr/>
          <p:nvPr/>
        </p:nvSpPr>
        <p:spPr>
          <a:xfrm>
            <a:off x="5157216" y="2843784"/>
            <a:ext cx="146304" cy="146304"/>
          </a:xfrm>
          <a:prstGeom prst="ellipse">
            <a:avLst/>
          </a:prstGeom>
          <a:solidFill>
            <a:srgbClr val="F01822"/>
          </a:solidFill>
          <a:ln>
            <a:noFill/>
          </a:ln>
        </p:spPr>
        <p:txBody>
          <a:bodyPr rtlCol="0" anchor="ctr"/>
          <a:lstStyle/>
          <a:p>
            <a:pPr algn="ctr"/>
          </a:p>
        </p:txBody>
      </p:sp>
      <p:sp>
        <p:nvSpPr>
          <p:cNvPr id="16" name="rail text"/>
          <p:cNvSpPr txBox="1"/>
          <p:nvPr/>
        </p:nvSpPr>
        <p:spPr>
          <a:xfrm>
            <a:off x="5157216" y="3099816"/>
            <a:ext cx="1877568" cy="1215847"/>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Foundation Models framework opens Apple's on-device model to apps, 'without cloud API costs'</a:t>
            </a:r>
            <a:endParaRPr sz="1320"/>
          </a:p>
        </p:txBody>
      </p:sp>
      <p:sp>
        <p:nvSpPr>
          <p:cNvPr id="17" name="rail date"/>
          <p:cNvSpPr txBox="1"/>
          <p:nvPr/>
        </p:nvSpPr>
        <p:spPr>
          <a:xfrm>
            <a:off x="7278624" y="251414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2025</a:t>
            </a:r>
            <a:endParaRPr sz="1680"/>
          </a:p>
        </p:txBody>
      </p:sp>
      <p:sp>
        <p:nvSpPr>
          <p:cNvPr id="18" name="rail dot"/>
          <p:cNvSpPr/>
          <p:nvPr/>
        </p:nvSpPr>
        <p:spPr>
          <a:xfrm>
            <a:off x="7278624" y="2866644"/>
            <a:ext cx="100584" cy="100584"/>
          </a:xfrm>
          <a:prstGeom prst="ellipse">
            <a:avLst/>
          </a:prstGeom>
          <a:solidFill>
            <a:srgbClr val="6E6E73"/>
          </a:solidFill>
          <a:ln>
            <a:noFill/>
          </a:ln>
        </p:spPr>
        <p:txBody>
          <a:bodyPr rtlCol="0" anchor="ctr"/>
          <a:lstStyle/>
          <a:p>
            <a:pPr algn="ctr"/>
          </a:p>
        </p:txBody>
      </p:sp>
      <p:sp>
        <p:nvSpPr>
          <p:cNvPr id="19" name="rail text"/>
          <p:cNvSpPr txBox="1"/>
          <p:nvPr/>
        </p:nvSpPr>
        <p:spPr>
          <a:xfrm>
            <a:off x="7278624" y="3099816"/>
            <a:ext cx="1877568" cy="1215847"/>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25.6M Macs shipped, up 11.1%</a:t>
            </a:r>
            <a:endParaRPr sz="1320"/>
          </a:p>
        </p:txBody>
      </p:sp>
      <p:sp>
        <p:nvSpPr>
          <p:cNvPr id="20" name="rail date"/>
          <p:cNvSpPr txBox="1"/>
          <p:nvPr/>
        </p:nvSpPr>
        <p:spPr>
          <a:xfrm>
            <a:off x="9400032" y="251414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Next</a:t>
            </a:r>
            <a:endParaRPr sz="1680"/>
          </a:p>
        </p:txBody>
      </p:sp>
      <p:sp>
        <p:nvSpPr>
          <p:cNvPr id="21" name="rail dot"/>
          <p:cNvSpPr/>
          <p:nvPr/>
        </p:nvSpPr>
        <p:spPr>
          <a:xfrm>
            <a:off x="9400032" y="2866644"/>
            <a:ext cx="100584" cy="100584"/>
          </a:xfrm>
          <a:prstGeom prst="ellipse">
            <a:avLst/>
          </a:prstGeom>
          <a:solidFill>
            <a:srgbClr val="FFFFFF"/>
          </a:solidFill>
          <a:ln w="12700">
            <a:solidFill>
              <a:srgbClr val="86868B"/>
            </a:solidFill>
            <a:prstDash val="dash"/>
          </a:ln>
        </p:spPr>
        <p:txBody>
          <a:bodyPr rtlCol="0" anchor="ctr"/>
          <a:lstStyle/>
          <a:p>
            <a:pPr algn="ctr"/>
          </a:p>
        </p:txBody>
      </p:sp>
      <p:sp>
        <p:nvSpPr>
          <p:cNvPr id="22" name="rail text"/>
          <p:cNvSpPr txBox="1"/>
          <p:nvPr/>
        </p:nvSpPr>
        <p:spPr>
          <a:xfrm>
            <a:off x="9400032" y="3099816"/>
            <a:ext cx="1877568" cy="1215847"/>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SparkV 1.0: notarized direct download </a:t>
            </a:r>
            <a:r>
              <a:rPr sz="1320" b="0" i="1">
                <a:solidFill>
                  <a:srgbClr val="86868B"/>
                </a:solidFill>
                <a:latin typeface="Helvetica Neue"/>
              </a:rPr>
              <a:t>[TBD: launch date]</a:t>
            </a:r>
            <a:endParaRPr sz="1320"/>
          </a:p>
        </p:txBody>
      </p:sp>
      <p:sp>
        <p:nvSpPr>
          <p:cNvPr id="23" name="why card"/>
          <p:cNvSpPr/>
          <p:nvPr/>
        </p:nvSpPr>
        <p:spPr>
          <a:xfrm>
            <a:off x="914400" y="5029200"/>
            <a:ext cx="3291840" cy="1219200"/>
          </a:xfrm>
          <a:prstGeom prst="roundRect">
            <a:avLst>
              <a:gd name="adj" fmla="val 13750"/>
            </a:avLst>
          </a:prstGeom>
          <a:solidFill>
            <a:srgbClr val="F5F5F7"/>
          </a:solidFill>
          <a:ln>
            <a:noFill/>
          </a:ln>
        </p:spPr>
        <p:txBody>
          <a:bodyPr rtlCol="0" anchor="ctr"/>
          <a:lstStyle/>
          <a:p>
            <a:pPr algn="ctr"/>
          </a:p>
        </p:txBody>
      </p:sp>
      <p:sp>
        <p:nvSpPr>
          <p:cNvPr id="24" name="why card text"/>
          <p:cNvSpPr txBox="1"/>
          <p:nvPr/>
        </p:nvSpPr>
        <p:spPr>
          <a:xfrm>
            <a:off x="1127760" y="5227320"/>
            <a:ext cx="2865120" cy="823417"/>
          </a:xfrm>
          <a:prstGeom prst="rect">
            <a:avLst/>
          </a:prstGeom>
          <a:noFill/>
        </p:spPr>
        <p:txBody>
          <a:bodyPr wrap="square" lIns="0" tIns="0" rIns="0" bIns="0" anchor="t">
            <a:noAutofit/>
          </a:bodyPr>
          <a:lstStyle/>
          <a:p>
            <a:pPr algn="l">
              <a:lnSpc>
                <a:spcPts val="2160"/>
              </a:lnSpc>
              <a:spcBef>
                <a:spcPts val="0"/>
              </a:spcBef>
              <a:spcAft>
                <a:spcPts val="0"/>
              </a:spcAft>
            </a:pPr>
            <a:r>
              <a:rPr sz="1800" b="0" i="0">
                <a:solidFill>
                  <a:srgbClr val="1D1D1F"/>
                </a:solidFill>
                <a:latin typeface="Helvetica Neue"/>
              </a:rPr>
              <a:t>Cloud AI apps pay for every request. SparkV pays </a:t>
            </a:r>
            <a:r>
              <a:rPr sz="1800" b="0" i="0">
                <a:solidFill>
                  <a:srgbClr val="F01822"/>
                </a:solidFill>
                <a:latin typeface="Helvetica Neue"/>
              </a:rPr>
              <a:t>$0</a:t>
            </a:r>
            <a:r>
              <a:rPr sz="1800" b="0" i="0">
                <a:solidFill>
                  <a:srgbClr val="1D1D1F"/>
                </a:solidFill>
                <a:latin typeface="Helvetica Neue"/>
              </a:rPr>
              <a:t>.</a:t>
            </a:r>
            <a:endParaRPr sz="1800"/>
          </a:p>
        </p:txBody>
      </p:sp>
      <p:sp>
        <p:nvSpPr>
          <p:cNvPr id="25" name="why card"/>
          <p:cNvSpPr/>
          <p:nvPr/>
        </p:nvSpPr>
        <p:spPr>
          <a:xfrm>
            <a:off x="4450080" y="5029200"/>
            <a:ext cx="3291840" cy="1219200"/>
          </a:xfrm>
          <a:prstGeom prst="roundRect">
            <a:avLst>
              <a:gd name="adj" fmla="val 13750"/>
            </a:avLst>
          </a:prstGeom>
          <a:solidFill>
            <a:srgbClr val="F5F5F7"/>
          </a:solidFill>
          <a:ln>
            <a:noFill/>
          </a:ln>
        </p:spPr>
        <p:txBody>
          <a:bodyPr rtlCol="0" anchor="ctr"/>
          <a:lstStyle/>
          <a:p>
            <a:pPr algn="ctr"/>
          </a:p>
        </p:txBody>
      </p:sp>
      <p:sp>
        <p:nvSpPr>
          <p:cNvPr id="26" name="why card text"/>
          <p:cNvSpPr txBox="1"/>
          <p:nvPr/>
        </p:nvSpPr>
        <p:spPr>
          <a:xfrm>
            <a:off x="4663440" y="5227320"/>
            <a:ext cx="2865120" cy="823417"/>
          </a:xfrm>
          <a:prstGeom prst="rect">
            <a:avLst/>
          </a:prstGeom>
          <a:noFill/>
        </p:spPr>
        <p:txBody>
          <a:bodyPr wrap="square" lIns="0" tIns="0" rIns="0" bIns="0" anchor="t">
            <a:noAutofit/>
          </a:bodyPr>
          <a:lstStyle/>
          <a:p>
            <a:pPr algn="l">
              <a:lnSpc>
                <a:spcPts val="2160"/>
              </a:lnSpc>
              <a:spcBef>
                <a:spcPts val="0"/>
              </a:spcBef>
              <a:spcAft>
                <a:spcPts val="0"/>
              </a:spcAft>
            </a:pPr>
            <a:r>
              <a:rPr sz="1800" b="0" i="0">
                <a:solidFill>
                  <a:srgbClr val="1D1D1F"/>
                </a:solidFill>
                <a:latin typeface="Helvetica Neue"/>
              </a:rPr>
              <a:t>Works offline. Audio and screens stay on the Mac.</a:t>
            </a:r>
            <a:endParaRPr sz="1800"/>
          </a:p>
        </p:txBody>
      </p:sp>
      <p:sp>
        <p:nvSpPr>
          <p:cNvPr id="27" name="why card"/>
          <p:cNvSpPr/>
          <p:nvPr/>
        </p:nvSpPr>
        <p:spPr>
          <a:xfrm>
            <a:off x="7985760" y="5029200"/>
            <a:ext cx="3291840" cy="1219200"/>
          </a:xfrm>
          <a:prstGeom prst="roundRect">
            <a:avLst>
              <a:gd name="adj" fmla="val 13750"/>
            </a:avLst>
          </a:prstGeom>
          <a:solidFill>
            <a:srgbClr val="F5F5F7"/>
          </a:solidFill>
          <a:ln>
            <a:noFill/>
          </a:ln>
        </p:spPr>
        <p:txBody>
          <a:bodyPr rtlCol="0" anchor="ctr"/>
          <a:lstStyle/>
          <a:p>
            <a:pPr algn="ctr"/>
          </a:p>
        </p:txBody>
      </p:sp>
      <p:sp>
        <p:nvSpPr>
          <p:cNvPr id="28" name="why card text"/>
          <p:cNvSpPr txBox="1"/>
          <p:nvPr/>
        </p:nvSpPr>
        <p:spPr>
          <a:xfrm>
            <a:off x="8199120" y="5227320"/>
            <a:ext cx="2865120" cy="823417"/>
          </a:xfrm>
          <a:prstGeom prst="rect">
            <a:avLst/>
          </a:prstGeom>
          <a:noFill/>
        </p:spPr>
        <p:txBody>
          <a:bodyPr wrap="square" lIns="0" tIns="0" rIns="0" bIns="0" anchor="t">
            <a:noAutofit/>
          </a:bodyPr>
          <a:lstStyle/>
          <a:p>
            <a:pPr algn="l">
              <a:lnSpc>
                <a:spcPts val="2160"/>
              </a:lnSpc>
              <a:spcBef>
                <a:spcPts val="0"/>
              </a:spcBef>
              <a:spcAft>
                <a:spcPts val="0"/>
              </a:spcAft>
            </a:pPr>
            <a:r>
              <a:rPr sz="1800" b="0" i="0">
                <a:solidFill>
                  <a:srgbClr val="1D1D1F"/>
                </a:solidFill>
                <a:latin typeface="Helvetica Neue"/>
              </a:rPr>
              <a:t>Every MacBook Pro since 2021 has a notch to build on.</a:t>
            </a:r>
            <a:endParaRPr sz="1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Setapp 2023 surveyed Setapp's own audience (n=1,241, mostly US), not all Mac owners.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08</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Market</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 big, </a:t>
            </a:r>
            <a:r>
              <a:rPr sz="3360" b="0" i="0" spc="-50">
                <a:solidFill>
                  <a:srgbClr val="1D1D1F"/>
                </a:solidFill>
                <a:latin typeface="Helvetica Neue Medium"/>
              </a:rPr>
              <a:t>paying, AI-curious</a:t>
            </a:r>
            <a:r>
              <a:rPr sz="3360" b="0" i="0" spc="-50">
                <a:solidFill>
                  <a:srgbClr val="1D1D1F"/>
                </a:solidFill>
                <a:latin typeface="Helvetica Neue Light"/>
              </a:rPr>
              <a:t> audience.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Sized bottom-up from public Mac data. Our own funnel numbers are </a:t>
            </a:r>
            <a:r>
              <a:rPr sz="1680" b="0" i="1">
                <a:solidFill>
                  <a:srgbClr val="86868B"/>
                </a:solidFill>
                <a:latin typeface="Helvetica Neue"/>
              </a:rPr>
              <a:t>[TBD]</a:t>
            </a:r>
            <a:r>
              <a:rPr sz="1680" b="0" i="0">
                <a:solidFill>
                  <a:srgbClr val="6E6E73"/>
                </a:solidFill>
                <a:latin typeface="Helvetica Neue"/>
              </a:rPr>
              <a:t> until launch.</a:t>
            </a:r>
            <a:endParaRPr sz="1680"/>
          </a:p>
        </p:txBody>
      </p:sp>
      <p:sp>
        <p:nvSpPr>
          <p:cNvPr id="7" name="metric card"/>
          <p:cNvSpPr/>
          <p:nvPr/>
        </p:nvSpPr>
        <p:spPr>
          <a:xfrm>
            <a:off x="914400" y="2308708"/>
            <a:ext cx="2438400" cy="1878406"/>
          </a:xfrm>
          <a:prstGeom prst="roundRect">
            <a:avLst>
              <a:gd name="adj" fmla="val 8924"/>
            </a:avLst>
          </a:prstGeom>
          <a:solidFill>
            <a:srgbClr val="F5F5F7"/>
          </a:solidFill>
          <a:ln>
            <a:noFill/>
          </a:ln>
        </p:spPr>
        <p:txBody>
          <a:bodyPr rtlCol="0" anchor="ctr"/>
          <a:lstStyle/>
          <a:p>
            <a:pPr algn="ctr"/>
          </a:p>
        </p:txBody>
      </p:sp>
      <p:sp>
        <p:nvSpPr>
          <p:cNvPr id="8" name="metric value"/>
          <p:cNvSpPr txBox="1"/>
          <p:nvPr/>
        </p:nvSpPr>
        <p:spPr>
          <a:xfrm>
            <a:off x="1158240" y="2522068"/>
            <a:ext cx="195072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25.6M</a:t>
            </a:r>
            <a:endParaRPr sz="4800"/>
          </a:p>
        </p:txBody>
      </p:sp>
      <p:sp>
        <p:nvSpPr>
          <p:cNvPr id="9" name="metric label"/>
          <p:cNvSpPr txBox="1"/>
          <p:nvPr/>
        </p:nvSpPr>
        <p:spPr>
          <a:xfrm>
            <a:off x="1158240" y="3299765"/>
            <a:ext cx="195072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Macs shipped in 2025 (IDC, prelim.)</a:t>
            </a:r>
            <a:endParaRPr sz="1020"/>
          </a:p>
        </p:txBody>
      </p:sp>
      <p:sp>
        <p:nvSpPr>
          <p:cNvPr id="10" name="metric card"/>
          <p:cNvSpPr/>
          <p:nvPr/>
        </p:nvSpPr>
        <p:spPr>
          <a:xfrm>
            <a:off x="3535680" y="2308708"/>
            <a:ext cx="2438400" cy="1878406"/>
          </a:xfrm>
          <a:prstGeom prst="roundRect">
            <a:avLst>
              <a:gd name="adj" fmla="val 8924"/>
            </a:avLst>
          </a:prstGeom>
          <a:solidFill>
            <a:srgbClr val="F5F5F7"/>
          </a:solidFill>
          <a:ln>
            <a:noFill/>
          </a:ln>
        </p:spPr>
        <p:txBody>
          <a:bodyPr rtlCol="0" anchor="ctr"/>
          <a:lstStyle/>
          <a:p>
            <a:pPr algn="ctr"/>
          </a:p>
        </p:txBody>
      </p:sp>
      <p:sp>
        <p:nvSpPr>
          <p:cNvPr id="11" name="metric value"/>
          <p:cNvSpPr txBox="1"/>
          <p:nvPr/>
        </p:nvSpPr>
        <p:spPr>
          <a:xfrm>
            <a:off x="3779520" y="2522068"/>
            <a:ext cx="195072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100M+</a:t>
            </a:r>
            <a:endParaRPr sz="4800"/>
          </a:p>
        </p:txBody>
      </p:sp>
      <p:sp>
        <p:nvSpPr>
          <p:cNvPr id="12" name="metric label"/>
          <p:cNvSpPr txBox="1"/>
          <p:nvPr/>
        </p:nvSpPr>
        <p:spPr>
          <a:xfrm>
            <a:off x="3779520" y="3299765"/>
            <a:ext cx="195072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active Macs (Apple, Oct 2018)</a:t>
            </a:r>
            <a:endParaRPr sz="1020"/>
          </a:p>
        </p:txBody>
      </p:sp>
      <p:sp>
        <p:nvSpPr>
          <p:cNvPr id="13" name="metric card"/>
          <p:cNvSpPr/>
          <p:nvPr/>
        </p:nvSpPr>
        <p:spPr>
          <a:xfrm>
            <a:off x="914400" y="4369994"/>
            <a:ext cx="2438400" cy="1878406"/>
          </a:xfrm>
          <a:prstGeom prst="roundRect">
            <a:avLst>
              <a:gd name="adj" fmla="val 8924"/>
            </a:avLst>
          </a:prstGeom>
          <a:solidFill>
            <a:srgbClr val="F5F5F7"/>
          </a:solidFill>
          <a:ln>
            <a:noFill/>
          </a:ln>
        </p:spPr>
        <p:txBody>
          <a:bodyPr rtlCol="0" anchor="ctr"/>
          <a:lstStyle/>
          <a:p>
            <a:pPr algn="ctr"/>
          </a:p>
        </p:txBody>
      </p:sp>
      <p:sp>
        <p:nvSpPr>
          <p:cNvPr id="14" name="metric value"/>
          <p:cNvSpPr txBox="1"/>
          <p:nvPr/>
        </p:nvSpPr>
        <p:spPr>
          <a:xfrm>
            <a:off x="1158240" y="4583354"/>
            <a:ext cx="195072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83%</a:t>
            </a:r>
            <a:endParaRPr sz="4800"/>
          </a:p>
        </p:txBody>
      </p:sp>
      <p:sp>
        <p:nvSpPr>
          <p:cNvPr id="15" name="metric label"/>
          <p:cNvSpPr txBox="1"/>
          <p:nvPr/>
        </p:nvSpPr>
        <p:spPr>
          <a:xfrm>
            <a:off x="1158240" y="5361051"/>
            <a:ext cx="195072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of surveyed Mac users paid for software in the past month (Setapp 2023, n=1,241)</a:t>
            </a:r>
            <a:endParaRPr sz="1020"/>
          </a:p>
        </p:txBody>
      </p:sp>
      <p:sp>
        <p:nvSpPr>
          <p:cNvPr id="16" name="metric card"/>
          <p:cNvSpPr/>
          <p:nvPr/>
        </p:nvSpPr>
        <p:spPr>
          <a:xfrm>
            <a:off x="3535680" y="4369994"/>
            <a:ext cx="2438400" cy="1878406"/>
          </a:xfrm>
          <a:prstGeom prst="roundRect">
            <a:avLst>
              <a:gd name="adj" fmla="val 8924"/>
            </a:avLst>
          </a:prstGeom>
          <a:solidFill>
            <a:srgbClr val="F5F5F7"/>
          </a:solidFill>
          <a:ln>
            <a:noFill/>
          </a:ln>
        </p:spPr>
        <p:txBody>
          <a:bodyPr rtlCol="0" anchor="ctr"/>
          <a:lstStyle/>
          <a:p>
            <a:pPr algn="ctr"/>
          </a:p>
        </p:txBody>
      </p:sp>
      <p:sp>
        <p:nvSpPr>
          <p:cNvPr id="17" name="metric value"/>
          <p:cNvSpPr txBox="1"/>
          <p:nvPr/>
        </p:nvSpPr>
        <p:spPr>
          <a:xfrm>
            <a:off x="3779520" y="4583354"/>
            <a:ext cx="195072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42%</a:t>
            </a:r>
            <a:endParaRPr sz="4800"/>
          </a:p>
        </p:txBody>
      </p:sp>
      <p:sp>
        <p:nvSpPr>
          <p:cNvPr id="18" name="metric label"/>
          <p:cNvSpPr txBox="1"/>
          <p:nvPr/>
        </p:nvSpPr>
        <p:spPr>
          <a:xfrm>
            <a:off x="3779520" y="5361051"/>
            <a:ext cx="195072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use AI apps daily (same survey)</a:t>
            </a:r>
            <a:endParaRPr sz="1020"/>
          </a:p>
        </p:txBody>
      </p:sp>
      <p:sp>
        <p:nvSpPr>
          <p:cNvPr id="19" name="chart card"/>
          <p:cNvSpPr/>
          <p:nvPr/>
        </p:nvSpPr>
        <p:spPr>
          <a:xfrm>
            <a:off x="6217920" y="2308708"/>
            <a:ext cx="5059680" cy="3939692"/>
          </a:xfrm>
          <a:prstGeom prst="roundRect">
            <a:avLst>
              <a:gd name="adj" fmla="val 4255"/>
            </a:avLst>
          </a:prstGeom>
          <a:solidFill>
            <a:srgbClr val="F5F5F7"/>
          </a:solidFill>
          <a:ln>
            <a:noFill/>
          </a:ln>
        </p:spPr>
        <p:txBody>
          <a:bodyPr rtlCol="0" anchor="ctr"/>
          <a:lstStyle/>
          <a:p>
            <a:pPr algn="ctr"/>
          </a:p>
        </p:txBody>
      </p:sp>
      <p:sp>
        <p:nvSpPr>
          <p:cNvPr id="20" name="chart title"/>
          <p:cNvSpPr txBox="1"/>
          <p:nvPr/>
        </p:nvSpPr>
        <p:spPr>
          <a:xfrm>
            <a:off x="6461760" y="2522068"/>
            <a:ext cx="457200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Mac shipments worldwide (millions of units)</a:t>
            </a:r>
            <a:endParaRPr sz="1020"/>
          </a:p>
        </p:txBody>
      </p:sp>
      <p:sp>
        <p:nvSpPr>
          <p:cNvPr id="21" name="chart source"/>
          <p:cNvSpPr txBox="1"/>
          <p:nvPr/>
        </p:nvSpPr>
        <p:spPr>
          <a:xfrm>
            <a:off x="6461760" y="5796839"/>
            <a:ext cx="457200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IDC preliminary data via 9to5Mac (Jan 2026) and MacTrast (Jul 2025). 2024 bar derived from IDC's growth rate.</a:t>
            </a:r>
            <a:endParaRPr sz="780"/>
          </a:p>
        </p:txBody>
      </p:sp>
      <p:sp>
        <p:nvSpPr>
          <p:cNvPr id="22" name="chart annotation"/>
          <p:cNvSpPr txBox="1"/>
          <p:nvPr/>
        </p:nvSpPr>
        <p:spPr>
          <a:xfrm>
            <a:off x="6461760" y="5329733"/>
            <a:ext cx="45720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+11.1% in 2025</a:t>
            </a:r>
            <a:endParaRPr sz="1020"/>
          </a:p>
          <a:p>
            <a:pPr algn="l">
              <a:lnSpc>
                <a:spcPts val="1479"/>
              </a:lnSpc>
              <a:spcBef>
                <a:spcPts val="0"/>
              </a:spcBef>
              <a:spcAft>
                <a:spcPts val="0"/>
              </a:spcAft>
            </a:pPr>
            <a:r>
              <a:rPr sz="1019" b="0" i="0">
                <a:solidFill>
                  <a:srgbClr val="6E6E73"/>
                </a:solidFill>
                <a:latin typeface="Helvetica Neue"/>
              </a:rPr>
              <a:t>Q4 2025: 7.1M, 9.3% of PCs</a:t>
            </a:r>
            <a:endParaRPr sz="1020"/>
          </a:p>
        </p:txBody>
      </p:sp>
      <p:graphicFrame>
        <p:nvGraphicFramePr>
          <p:cNvPr id="23" name="chart"/>
          <p:cNvGraphicFramePr>
            <a:graphicFrameLocks noGrp="1"/>
          </p:cNvGraphicFramePr>
          <p:nvPr/>
        </p:nvGraphicFramePr>
        <p:xfrm>
          <a:off x="6461760" y="2820086"/>
          <a:ext cx="4572000" cy="2400376"/>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Figures and definitions from the sizing funnel; </a:t>
            </a:r>
            <a:r>
              <a:rPr sz="840" b="0" i="1">
                <a:solidFill>
                  <a:srgbClr val="86868B"/>
                </a:solidFill>
                <a:latin typeface="Helvetica Neue"/>
              </a:rPr>
              <a:t>[TBD]</a:t>
            </a:r>
            <a:r>
              <a:rPr sz="840" b="0" i="0">
                <a:solidFill>
                  <a:srgbClr val="86868B"/>
                </a:solidFill>
                <a:latin typeface="Helvetica Neue"/>
              </a:rPr>
              <a:t> fields stay open until sourced.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Market · Sizing funnel</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A big, </a:t>
            </a:r>
            <a:r>
              <a:rPr sz="3840" b="0" i="0" spc="-58">
                <a:solidFill>
                  <a:srgbClr val="1D1D1F"/>
                </a:solidFill>
                <a:latin typeface="Helvetica Neue Medium"/>
              </a:rPr>
              <a:t>paying, AI-curious</a:t>
            </a:r>
            <a:r>
              <a:rPr sz="3840" b="0" i="0" spc="-58">
                <a:solidFill>
                  <a:srgbClr val="1D1D1F"/>
                </a:solidFill>
                <a:latin typeface="Helvetica Neue Light"/>
              </a:rPr>
              <a:t> audience.</a:t>
            </a:r>
            <a:endParaRPr sz="3840"/>
          </a:p>
        </p:txBody>
      </p:sp>
      <p:sp>
        <p:nvSpPr>
          <p:cNvPr id="6" name="funnel card"/>
          <p:cNvSpPr/>
          <p:nvPr/>
        </p:nvSpPr>
        <p:spPr>
          <a:xfrm>
            <a:off x="914400" y="2025396"/>
            <a:ext cx="3291840" cy="2406548"/>
          </a:xfrm>
          <a:prstGeom prst="roundRect">
            <a:avLst>
              <a:gd name="adj" fmla="val 6965"/>
            </a:avLst>
          </a:prstGeom>
          <a:solidFill>
            <a:srgbClr val="F5F5F7"/>
          </a:solidFill>
          <a:ln>
            <a:noFill/>
          </a:ln>
        </p:spPr>
        <p:txBody>
          <a:bodyPr rtlCol="0" anchor="ctr"/>
          <a:lstStyle/>
          <a:p>
            <a:pPr algn="ctr"/>
          </a:p>
        </p:txBody>
      </p:sp>
      <p:sp>
        <p:nvSpPr>
          <p:cNvPr id="7" name="funnel layer"/>
          <p:cNvSpPr txBox="1"/>
          <p:nvPr/>
        </p:nvSpPr>
        <p:spPr>
          <a:xfrm>
            <a:off x="1158240" y="2238756"/>
            <a:ext cx="280416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TAM</a:t>
            </a:r>
            <a:endParaRPr sz="900"/>
          </a:p>
        </p:txBody>
      </p:sp>
      <p:sp>
        <p:nvSpPr>
          <p:cNvPr id="8" name="funnel figure"/>
          <p:cNvSpPr txBox="1"/>
          <p:nvPr/>
        </p:nvSpPr>
        <p:spPr>
          <a:xfrm>
            <a:off x="1158240" y="2522677"/>
            <a:ext cx="28041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100M+ (2018)</a:t>
            </a:r>
            <a:endParaRPr sz="2640"/>
          </a:p>
        </p:txBody>
      </p:sp>
      <p:sp>
        <p:nvSpPr>
          <p:cNvPr id="9" name="funnel definition"/>
          <p:cNvSpPr txBox="1"/>
          <p:nvPr/>
        </p:nvSpPr>
        <p:spPr>
          <a:xfrm>
            <a:off x="1158240" y="3081528"/>
            <a:ext cx="28041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Active Macs</a:t>
            </a:r>
            <a:endParaRPr sz="1320"/>
          </a:p>
        </p:txBody>
      </p:sp>
      <p:cxnSp>
        <p:nvCxnSpPr>
          <p:cNvPr id="10" name="funnel rule"/>
          <p:cNvCxnSpPr/>
          <p:nvPr/>
        </p:nvCxnSpPr>
        <p:spPr>
          <a:xfrm>
            <a:off x="1158240" y="3705301"/>
            <a:ext cx="2804160" cy="0"/>
          </a:xfrm>
          <a:prstGeom prst="line">
            <a:avLst/>
          </a:prstGeom>
          <a:ln w="9525">
            <a:solidFill>
              <a:srgbClr val="D2D2D7"/>
            </a:solidFill>
          </a:ln>
        </p:spPr>
      </p:cxnSp>
      <p:sp>
        <p:nvSpPr>
          <p:cNvPr id="11" name="funnel source"/>
          <p:cNvSpPr txBox="1"/>
          <p:nvPr/>
        </p:nvSpPr>
        <p:spPr>
          <a:xfrm>
            <a:off x="1158240" y="3842461"/>
            <a:ext cx="280416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Source: Apple, Oct 2018 event: 100 million active Macs, via TechCrunch (30 Oct 2018)</a:t>
            </a:r>
            <a:endParaRPr sz="1020"/>
          </a:p>
        </p:txBody>
      </p:sp>
      <p:sp>
        <p:nvSpPr>
          <p:cNvPr id="12" name="funnel card"/>
          <p:cNvSpPr/>
          <p:nvPr/>
        </p:nvSpPr>
        <p:spPr>
          <a:xfrm>
            <a:off x="4450080" y="2025396"/>
            <a:ext cx="3291840" cy="2406548"/>
          </a:xfrm>
          <a:prstGeom prst="roundRect">
            <a:avLst>
              <a:gd name="adj" fmla="val 6965"/>
            </a:avLst>
          </a:prstGeom>
          <a:solidFill>
            <a:srgbClr val="F5F5F7"/>
          </a:solidFill>
          <a:ln>
            <a:noFill/>
          </a:ln>
        </p:spPr>
        <p:txBody>
          <a:bodyPr rtlCol="0" anchor="ctr"/>
          <a:lstStyle/>
          <a:p>
            <a:pPr algn="ctr"/>
          </a:p>
        </p:txBody>
      </p:sp>
      <p:sp>
        <p:nvSpPr>
          <p:cNvPr id="13" name="funnel layer"/>
          <p:cNvSpPr txBox="1"/>
          <p:nvPr/>
        </p:nvSpPr>
        <p:spPr>
          <a:xfrm>
            <a:off x="4693920" y="2238756"/>
            <a:ext cx="280416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SAM</a:t>
            </a:r>
            <a:endParaRPr sz="900"/>
          </a:p>
        </p:txBody>
      </p:sp>
      <p:sp>
        <p:nvSpPr>
          <p:cNvPr id="14" name="funnel figure"/>
          <p:cNvSpPr txBox="1"/>
          <p:nvPr/>
        </p:nvSpPr>
        <p:spPr>
          <a:xfrm>
            <a:off x="4693920" y="2522677"/>
            <a:ext cx="28041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1" spc="-26">
                <a:solidFill>
                  <a:srgbClr val="86868B"/>
                </a:solidFill>
                <a:latin typeface="Helvetica Neue Light"/>
              </a:rPr>
              <a:t>[TBD: count]</a:t>
            </a:r>
            <a:endParaRPr sz="2640"/>
          </a:p>
        </p:txBody>
      </p:sp>
      <p:sp>
        <p:nvSpPr>
          <p:cNvPr id="15" name="funnel definition"/>
          <p:cNvSpPr txBox="1"/>
          <p:nvPr/>
        </p:nvSpPr>
        <p:spPr>
          <a:xfrm>
            <a:off x="4693920" y="3081528"/>
            <a:ext cx="28041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Apple-silicon MacBooks with a notch, macOS 15+</a:t>
            </a:r>
            <a:endParaRPr sz="1320"/>
          </a:p>
        </p:txBody>
      </p:sp>
      <p:cxnSp>
        <p:nvCxnSpPr>
          <p:cNvPr id="16" name="funnel rule"/>
          <p:cNvCxnSpPr/>
          <p:nvPr/>
        </p:nvCxnSpPr>
        <p:spPr>
          <a:xfrm>
            <a:off x="4693920" y="3705301"/>
            <a:ext cx="2804160" cy="0"/>
          </a:xfrm>
          <a:prstGeom prst="line">
            <a:avLst/>
          </a:prstGeom>
          <a:ln w="9525">
            <a:solidFill>
              <a:srgbClr val="D2D2D7"/>
            </a:solidFill>
          </a:ln>
        </p:spPr>
      </p:cxnSp>
      <p:sp>
        <p:nvSpPr>
          <p:cNvPr id="17" name="funnel source"/>
          <p:cNvSpPr txBox="1"/>
          <p:nvPr/>
        </p:nvSpPr>
        <p:spPr>
          <a:xfrm>
            <a:off x="4693920" y="3842461"/>
            <a:ext cx="280416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Source: </a:t>
            </a:r>
            <a:r>
              <a:rPr sz="1019" b="0" i="1">
                <a:solidFill>
                  <a:srgbClr val="86868B"/>
                </a:solidFill>
                <a:latin typeface="Helvetica Neue"/>
              </a:rPr>
              <a:t>[TBD: method: notched-model share of shipments 2021-2025 x survival]</a:t>
            </a:r>
            <a:endParaRPr sz="1020"/>
          </a:p>
        </p:txBody>
      </p:sp>
      <p:sp>
        <p:nvSpPr>
          <p:cNvPr id="18" name="funnel card"/>
          <p:cNvSpPr/>
          <p:nvPr/>
        </p:nvSpPr>
        <p:spPr>
          <a:xfrm>
            <a:off x="7985760" y="2025396"/>
            <a:ext cx="3291840" cy="2406548"/>
          </a:xfrm>
          <a:prstGeom prst="roundRect">
            <a:avLst>
              <a:gd name="adj" fmla="val 6965"/>
            </a:avLst>
          </a:prstGeom>
          <a:solidFill>
            <a:srgbClr val="F5F5F7"/>
          </a:solidFill>
          <a:ln>
            <a:noFill/>
          </a:ln>
        </p:spPr>
        <p:txBody>
          <a:bodyPr rtlCol="0" anchor="ctr"/>
          <a:lstStyle/>
          <a:p>
            <a:pPr algn="ctr"/>
          </a:p>
        </p:txBody>
      </p:sp>
      <p:sp>
        <p:nvSpPr>
          <p:cNvPr id="19" name="funnel layer"/>
          <p:cNvSpPr txBox="1"/>
          <p:nvPr/>
        </p:nvSpPr>
        <p:spPr>
          <a:xfrm>
            <a:off x="8229600" y="2238756"/>
            <a:ext cx="280416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SOM</a:t>
            </a:r>
            <a:endParaRPr sz="900"/>
          </a:p>
        </p:txBody>
      </p:sp>
      <p:sp>
        <p:nvSpPr>
          <p:cNvPr id="20" name="funnel figure"/>
          <p:cNvSpPr txBox="1"/>
          <p:nvPr/>
        </p:nvSpPr>
        <p:spPr>
          <a:xfrm>
            <a:off x="8229600" y="2522677"/>
            <a:ext cx="28041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1" spc="-26">
                <a:solidFill>
                  <a:srgbClr val="86868B"/>
                </a:solidFill>
                <a:latin typeface="Helvetica Neue Light"/>
              </a:rPr>
              <a:t>[TBD: target]</a:t>
            </a:r>
            <a:endParaRPr sz="2640"/>
          </a:p>
        </p:txBody>
      </p:sp>
      <p:sp>
        <p:nvSpPr>
          <p:cNvPr id="21" name="funnel definition"/>
          <p:cNvSpPr txBox="1"/>
          <p:nvPr/>
        </p:nvSpPr>
        <p:spPr>
          <a:xfrm>
            <a:off x="8229600" y="3081528"/>
            <a:ext cx="28041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Paid Pro + Team seats in 3 years</a:t>
            </a:r>
            <a:endParaRPr sz="1320"/>
          </a:p>
        </p:txBody>
      </p:sp>
      <p:cxnSp>
        <p:nvCxnSpPr>
          <p:cNvPr id="22" name="funnel rule"/>
          <p:cNvCxnSpPr/>
          <p:nvPr/>
        </p:nvCxnSpPr>
        <p:spPr>
          <a:xfrm>
            <a:off x="8229600" y="3705301"/>
            <a:ext cx="2804160" cy="0"/>
          </a:xfrm>
          <a:prstGeom prst="line">
            <a:avLst/>
          </a:prstGeom>
          <a:ln w="9525">
            <a:solidFill>
              <a:srgbClr val="D2D2D7"/>
            </a:solidFill>
          </a:ln>
        </p:spPr>
      </p:cxnSp>
      <p:sp>
        <p:nvSpPr>
          <p:cNvPr id="23" name="funnel source"/>
          <p:cNvSpPr txBox="1"/>
          <p:nvPr/>
        </p:nvSpPr>
        <p:spPr>
          <a:xfrm>
            <a:off x="8229600" y="3842461"/>
            <a:ext cx="280416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Source: </a:t>
            </a:r>
            <a:r>
              <a:rPr sz="1019" b="0" i="1">
                <a:solidFill>
                  <a:srgbClr val="86868B"/>
                </a:solidFill>
                <a:latin typeface="Helvetica Neue"/>
              </a:rPr>
              <a:t>[TBD]</a:t>
            </a:r>
            <a:endParaRPr sz="102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Prices from third-party listings cited in the SparkV business plan (section 3), Oct 2026. Re-check vendor pages before sending.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10</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Competition</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Five jobs, one app, </a:t>
            </a:r>
            <a:r>
              <a:rPr sz="3840" b="0" i="0" spc="-58">
                <a:solidFill>
                  <a:srgbClr val="1D1D1F"/>
                </a:solidFill>
                <a:latin typeface="Helvetica Neue Medium"/>
              </a:rPr>
              <a:t>one price.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Each rival owns one job. SparkV covers all five and charges once.</a:t>
            </a:r>
            <a:endParaRPr sz="1680"/>
          </a:p>
        </p:txBody>
      </p:sp>
      <p:sp>
        <p:nvSpPr>
          <p:cNvPr id="7" name="highlight bar"/>
          <p:cNvSpPr/>
          <p:nvPr/>
        </p:nvSpPr>
        <p:spPr>
          <a:xfrm>
            <a:off x="2935224" y="2422703"/>
            <a:ext cx="933027" cy="30480"/>
          </a:xfrm>
          <a:prstGeom prst="rect">
            <a:avLst/>
          </a:prstGeom>
          <a:solidFill>
            <a:srgbClr val="F01822"/>
          </a:solidFill>
          <a:ln>
            <a:noFill/>
          </a:ln>
        </p:spPr>
        <p:txBody>
          <a:bodyPr rtlCol="0" anchor="ctr"/>
          <a:lstStyle/>
          <a:p>
            <a:pPr algn="ctr"/>
          </a:p>
        </p:txBody>
      </p:sp>
      <p:sp>
        <p:nvSpPr>
          <p:cNvPr id="8" name="matrix head"/>
          <p:cNvSpPr txBox="1"/>
          <p:nvPr/>
        </p:nvSpPr>
        <p:spPr>
          <a:xfrm>
            <a:off x="2990088"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SparkV</a:t>
            </a:r>
            <a:endParaRPr sz="900"/>
          </a:p>
        </p:txBody>
      </p:sp>
      <p:sp>
        <p:nvSpPr>
          <p:cNvPr id="9" name="matrix head"/>
          <p:cNvSpPr txBox="1"/>
          <p:nvPr/>
        </p:nvSpPr>
        <p:spPr>
          <a:xfrm>
            <a:off x="3923115"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NotchNook</a:t>
            </a:r>
            <a:endParaRPr sz="900"/>
          </a:p>
        </p:txBody>
      </p:sp>
      <p:sp>
        <p:nvSpPr>
          <p:cNvPr id="10" name="matrix head"/>
          <p:cNvSpPr txBox="1"/>
          <p:nvPr/>
        </p:nvSpPr>
        <p:spPr>
          <a:xfrm>
            <a:off x="4856141"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Alcove</a:t>
            </a:r>
            <a:endParaRPr sz="900"/>
          </a:p>
        </p:txBody>
      </p:sp>
      <p:sp>
        <p:nvSpPr>
          <p:cNvPr id="11" name="matrix head"/>
          <p:cNvSpPr txBox="1"/>
          <p:nvPr/>
        </p:nvSpPr>
        <p:spPr>
          <a:xfrm>
            <a:off x="5789168"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boring.notch</a:t>
            </a:r>
            <a:endParaRPr sz="900"/>
          </a:p>
        </p:txBody>
      </p:sp>
      <p:sp>
        <p:nvSpPr>
          <p:cNvPr id="12" name="matrix head"/>
          <p:cNvSpPr txBox="1"/>
          <p:nvPr/>
        </p:nvSpPr>
        <p:spPr>
          <a:xfrm>
            <a:off x="6722195"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Paste</a:t>
            </a:r>
            <a:endParaRPr sz="900"/>
          </a:p>
        </p:txBody>
      </p:sp>
      <p:sp>
        <p:nvSpPr>
          <p:cNvPr id="13" name="matrix head"/>
          <p:cNvSpPr txBox="1"/>
          <p:nvPr/>
        </p:nvSpPr>
        <p:spPr>
          <a:xfrm>
            <a:off x="7655221"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Wispr Flow</a:t>
            </a:r>
            <a:endParaRPr sz="900"/>
          </a:p>
        </p:txBody>
      </p:sp>
      <p:sp>
        <p:nvSpPr>
          <p:cNvPr id="14" name="matrix head"/>
          <p:cNvSpPr txBox="1"/>
          <p:nvPr/>
        </p:nvSpPr>
        <p:spPr>
          <a:xfrm>
            <a:off x="8588248"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Granola</a:t>
            </a:r>
            <a:endParaRPr sz="900"/>
          </a:p>
        </p:txBody>
      </p:sp>
      <p:sp>
        <p:nvSpPr>
          <p:cNvPr id="15" name="matrix head"/>
          <p:cNvSpPr txBox="1"/>
          <p:nvPr/>
        </p:nvSpPr>
        <p:spPr>
          <a:xfrm>
            <a:off x="9521275"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CleanShot X</a:t>
            </a:r>
            <a:endParaRPr sz="900"/>
          </a:p>
        </p:txBody>
      </p:sp>
      <p:sp>
        <p:nvSpPr>
          <p:cNvPr id="16" name="matrix head"/>
          <p:cNvSpPr txBox="1"/>
          <p:nvPr/>
        </p:nvSpPr>
        <p:spPr>
          <a:xfrm>
            <a:off x="10454301" y="2544623"/>
            <a:ext cx="823299" cy="154762"/>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Medium"/>
              </a:rPr>
              <a:t>Raycast Pro</a:t>
            </a:r>
            <a:endParaRPr sz="900"/>
          </a:p>
        </p:txBody>
      </p:sp>
      <p:cxnSp>
        <p:nvCxnSpPr>
          <p:cNvPr id="17" name="matrix head rule"/>
          <p:cNvCxnSpPr/>
          <p:nvPr/>
        </p:nvCxnSpPr>
        <p:spPr>
          <a:xfrm>
            <a:off x="914400" y="2790825"/>
            <a:ext cx="10363200" cy="0"/>
          </a:xfrm>
          <a:prstGeom prst="line">
            <a:avLst/>
          </a:prstGeom>
          <a:ln w="9525">
            <a:solidFill>
              <a:srgbClr val="1D1D1F"/>
            </a:solidFill>
          </a:ln>
        </p:spPr>
      </p:cxnSp>
      <p:sp>
        <p:nvSpPr>
          <p:cNvPr id="18" name="matrix r1 job"/>
          <p:cNvSpPr txBox="1"/>
          <p:nvPr/>
        </p:nvSpPr>
        <p:spPr>
          <a:xfrm>
            <a:off x="914400" y="2863977"/>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 drawer and live activities</a:t>
            </a:r>
            <a:endParaRPr sz="1020"/>
          </a:p>
        </p:txBody>
      </p:sp>
      <p:sp>
        <p:nvSpPr>
          <p:cNvPr id="19" name="matrix r1c2"/>
          <p:cNvSpPr txBox="1"/>
          <p:nvPr/>
        </p:nvSpPr>
        <p:spPr>
          <a:xfrm>
            <a:off x="2990088" y="286108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20" name="matrix r1c3"/>
          <p:cNvSpPr txBox="1"/>
          <p:nvPr/>
        </p:nvSpPr>
        <p:spPr>
          <a:xfrm>
            <a:off x="3923115" y="286108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21" name="matrix r1c4"/>
          <p:cNvSpPr txBox="1"/>
          <p:nvPr/>
        </p:nvSpPr>
        <p:spPr>
          <a:xfrm>
            <a:off x="4856141" y="286108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22" name="matrix r1c5"/>
          <p:cNvSpPr txBox="1"/>
          <p:nvPr/>
        </p:nvSpPr>
        <p:spPr>
          <a:xfrm>
            <a:off x="5789168" y="286108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23" name="matrix rule"/>
          <p:cNvCxnSpPr/>
          <p:nvPr/>
        </p:nvCxnSpPr>
        <p:spPr>
          <a:xfrm>
            <a:off x="914400" y="3174873"/>
            <a:ext cx="10363200" cy="0"/>
          </a:xfrm>
          <a:prstGeom prst="line">
            <a:avLst/>
          </a:prstGeom>
          <a:ln w="9525">
            <a:solidFill>
              <a:srgbClr val="D2D2D7"/>
            </a:solidFill>
          </a:ln>
        </p:spPr>
      </p:cxnSp>
      <p:sp>
        <p:nvSpPr>
          <p:cNvPr id="24" name="matrix r2 job"/>
          <p:cNvSpPr txBox="1"/>
          <p:nvPr/>
        </p:nvSpPr>
        <p:spPr>
          <a:xfrm>
            <a:off x="914400" y="3248025"/>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Clipboard history</a:t>
            </a:r>
            <a:endParaRPr sz="1020"/>
          </a:p>
        </p:txBody>
      </p:sp>
      <p:sp>
        <p:nvSpPr>
          <p:cNvPr id="25" name="matrix r2c2"/>
          <p:cNvSpPr txBox="1"/>
          <p:nvPr/>
        </p:nvSpPr>
        <p:spPr>
          <a:xfrm>
            <a:off x="2990088" y="3245129"/>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26" name="matrix r2c6"/>
          <p:cNvSpPr txBox="1"/>
          <p:nvPr/>
        </p:nvSpPr>
        <p:spPr>
          <a:xfrm>
            <a:off x="6722195" y="3245129"/>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27" name="matrix rule"/>
          <p:cNvCxnSpPr/>
          <p:nvPr/>
        </p:nvCxnSpPr>
        <p:spPr>
          <a:xfrm>
            <a:off x="914400" y="3558921"/>
            <a:ext cx="10363200" cy="0"/>
          </a:xfrm>
          <a:prstGeom prst="line">
            <a:avLst/>
          </a:prstGeom>
          <a:ln w="9525">
            <a:solidFill>
              <a:srgbClr val="D2D2D7"/>
            </a:solidFill>
          </a:ln>
        </p:spPr>
      </p:cxnSp>
      <p:sp>
        <p:nvSpPr>
          <p:cNvPr id="28" name="matrix r3 job"/>
          <p:cNvSpPr txBox="1"/>
          <p:nvPr/>
        </p:nvSpPr>
        <p:spPr>
          <a:xfrm>
            <a:off x="914400" y="3632073"/>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dictation</a:t>
            </a:r>
            <a:endParaRPr sz="1020"/>
          </a:p>
        </p:txBody>
      </p:sp>
      <p:sp>
        <p:nvSpPr>
          <p:cNvPr id="29" name="matrix r3c2"/>
          <p:cNvSpPr txBox="1"/>
          <p:nvPr/>
        </p:nvSpPr>
        <p:spPr>
          <a:xfrm>
            <a:off x="2990088" y="3629177"/>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30" name="matrix r3c7"/>
          <p:cNvSpPr txBox="1"/>
          <p:nvPr/>
        </p:nvSpPr>
        <p:spPr>
          <a:xfrm>
            <a:off x="7655221" y="3629177"/>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31" name="matrix rule"/>
          <p:cNvCxnSpPr/>
          <p:nvPr/>
        </p:nvCxnSpPr>
        <p:spPr>
          <a:xfrm>
            <a:off x="914400" y="3942969"/>
            <a:ext cx="10363200" cy="0"/>
          </a:xfrm>
          <a:prstGeom prst="line">
            <a:avLst/>
          </a:prstGeom>
          <a:ln w="9525">
            <a:solidFill>
              <a:srgbClr val="D2D2D7"/>
            </a:solidFill>
          </a:ln>
        </p:spPr>
      </p:cxnSp>
      <p:sp>
        <p:nvSpPr>
          <p:cNvPr id="32" name="matrix r4 job"/>
          <p:cNvSpPr txBox="1"/>
          <p:nvPr/>
        </p:nvSpPr>
        <p:spPr>
          <a:xfrm>
            <a:off x="914400" y="4016121"/>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meeting notes</a:t>
            </a:r>
            <a:endParaRPr sz="1020"/>
          </a:p>
        </p:txBody>
      </p:sp>
      <p:sp>
        <p:nvSpPr>
          <p:cNvPr id="33" name="matrix r4c2"/>
          <p:cNvSpPr txBox="1"/>
          <p:nvPr/>
        </p:nvSpPr>
        <p:spPr>
          <a:xfrm>
            <a:off x="2990088" y="4013225"/>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34" name="matrix r4c8"/>
          <p:cNvSpPr txBox="1"/>
          <p:nvPr/>
        </p:nvSpPr>
        <p:spPr>
          <a:xfrm>
            <a:off x="8588248" y="4013225"/>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35" name="matrix rule"/>
          <p:cNvCxnSpPr/>
          <p:nvPr/>
        </p:nvCxnSpPr>
        <p:spPr>
          <a:xfrm>
            <a:off x="914400" y="4327017"/>
            <a:ext cx="10363200" cy="0"/>
          </a:xfrm>
          <a:prstGeom prst="line">
            <a:avLst/>
          </a:prstGeom>
          <a:ln w="9525">
            <a:solidFill>
              <a:srgbClr val="D2D2D7"/>
            </a:solidFill>
          </a:ln>
        </p:spPr>
      </p:cxnSp>
      <p:sp>
        <p:nvSpPr>
          <p:cNvPr id="36" name="matrix r5 job"/>
          <p:cNvSpPr txBox="1"/>
          <p:nvPr/>
        </p:nvSpPr>
        <p:spPr>
          <a:xfrm>
            <a:off x="914400" y="4400169"/>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Screenshots and recording</a:t>
            </a:r>
            <a:endParaRPr sz="1020"/>
          </a:p>
        </p:txBody>
      </p:sp>
      <p:sp>
        <p:nvSpPr>
          <p:cNvPr id="37" name="matrix r5c2"/>
          <p:cNvSpPr txBox="1"/>
          <p:nvPr/>
        </p:nvSpPr>
        <p:spPr>
          <a:xfrm>
            <a:off x="2990088" y="4397273"/>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38" name="matrix r5c9"/>
          <p:cNvSpPr txBox="1"/>
          <p:nvPr/>
        </p:nvSpPr>
        <p:spPr>
          <a:xfrm>
            <a:off x="9521275" y="4397273"/>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39" name="matrix rule"/>
          <p:cNvCxnSpPr/>
          <p:nvPr/>
        </p:nvCxnSpPr>
        <p:spPr>
          <a:xfrm>
            <a:off x="914400" y="4711065"/>
            <a:ext cx="10363200" cy="0"/>
          </a:xfrm>
          <a:prstGeom prst="line">
            <a:avLst/>
          </a:prstGeom>
          <a:ln w="9525">
            <a:solidFill>
              <a:srgbClr val="D2D2D7"/>
            </a:solidFill>
          </a:ln>
        </p:spPr>
      </p:cxnSp>
      <p:sp>
        <p:nvSpPr>
          <p:cNvPr id="40" name="matrix r6 job"/>
          <p:cNvSpPr txBox="1"/>
          <p:nvPr/>
        </p:nvSpPr>
        <p:spPr>
          <a:xfrm>
            <a:off x="914400" y="4784217"/>
            <a:ext cx="1965960" cy="237744"/>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Search and AI answers</a:t>
            </a:r>
            <a:endParaRPr sz="1020"/>
          </a:p>
        </p:txBody>
      </p:sp>
      <p:sp>
        <p:nvSpPr>
          <p:cNvPr id="41" name="matrix r6c2"/>
          <p:cNvSpPr txBox="1"/>
          <p:nvPr/>
        </p:nvSpPr>
        <p:spPr>
          <a:xfrm>
            <a:off x="2990088" y="478132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sp>
        <p:nvSpPr>
          <p:cNvPr id="42" name="matrix r6c10"/>
          <p:cNvSpPr txBox="1"/>
          <p:nvPr/>
        </p:nvSpPr>
        <p:spPr>
          <a:xfrm>
            <a:off x="10454301" y="4781321"/>
            <a:ext cx="823299"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1D1D1F"/>
                </a:solidFill>
                <a:latin typeface="Helvetica Neue"/>
              </a:rPr>
              <a:t>●</a:t>
            </a:r>
            <a:endParaRPr sz="1320"/>
          </a:p>
        </p:txBody>
      </p:sp>
      <p:cxnSp>
        <p:nvCxnSpPr>
          <p:cNvPr id="43" name="matrix rule"/>
          <p:cNvCxnSpPr/>
          <p:nvPr/>
        </p:nvCxnSpPr>
        <p:spPr>
          <a:xfrm>
            <a:off x="914400" y="5095113"/>
            <a:ext cx="10363200" cy="0"/>
          </a:xfrm>
          <a:prstGeom prst="line">
            <a:avLst/>
          </a:prstGeom>
          <a:ln w="9525">
            <a:solidFill>
              <a:srgbClr val="D2D2D7"/>
            </a:solidFill>
          </a:ln>
        </p:spPr>
      </p:cxnSp>
      <p:sp>
        <p:nvSpPr>
          <p:cNvPr id="44" name="matrix r7 job"/>
          <p:cNvSpPr txBox="1"/>
          <p:nvPr/>
        </p:nvSpPr>
        <p:spPr>
          <a:xfrm>
            <a:off x="914400" y="5223129"/>
            <a:ext cx="1965960" cy="308610"/>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Price</a:t>
            </a:r>
            <a:endParaRPr sz="1020"/>
          </a:p>
        </p:txBody>
      </p:sp>
      <p:sp>
        <p:nvSpPr>
          <p:cNvPr id="45" name="matrix r7c2"/>
          <p:cNvSpPr txBox="1"/>
          <p:nvPr/>
        </p:nvSpPr>
        <p:spPr>
          <a:xfrm>
            <a:off x="2990088"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1D1D1F"/>
                </a:solidFill>
                <a:latin typeface="Helvetica Neue"/>
              </a:rPr>
              <a:t>$39 once</a:t>
            </a:r>
            <a:endParaRPr sz="900"/>
          </a:p>
        </p:txBody>
      </p:sp>
      <p:sp>
        <p:nvSpPr>
          <p:cNvPr id="46" name="matrix r7c3"/>
          <p:cNvSpPr txBox="1"/>
          <p:nvPr/>
        </p:nvSpPr>
        <p:spPr>
          <a:xfrm>
            <a:off x="3923115"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$25 once or $3/mo</a:t>
            </a:r>
            <a:endParaRPr sz="900"/>
          </a:p>
        </p:txBody>
      </p:sp>
      <p:sp>
        <p:nvSpPr>
          <p:cNvPr id="47" name="matrix r7c4"/>
          <p:cNvSpPr txBox="1"/>
          <p:nvPr/>
        </p:nvSpPr>
        <p:spPr>
          <a:xfrm>
            <a:off x="4856141"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~$13.99 once</a:t>
            </a:r>
            <a:endParaRPr sz="900"/>
          </a:p>
        </p:txBody>
      </p:sp>
      <p:sp>
        <p:nvSpPr>
          <p:cNvPr id="48" name="matrix r7c5"/>
          <p:cNvSpPr txBox="1"/>
          <p:nvPr/>
        </p:nvSpPr>
        <p:spPr>
          <a:xfrm>
            <a:off x="5789168"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Free (GPL)</a:t>
            </a:r>
            <a:endParaRPr sz="900"/>
          </a:p>
        </p:txBody>
      </p:sp>
      <p:sp>
        <p:nvSpPr>
          <p:cNvPr id="49" name="matrix r7c6"/>
          <p:cNvSpPr txBox="1"/>
          <p:nvPr/>
        </p:nvSpPr>
        <p:spPr>
          <a:xfrm>
            <a:off x="6722195"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$29.99/yr</a:t>
            </a:r>
            <a:endParaRPr sz="900"/>
          </a:p>
        </p:txBody>
      </p:sp>
      <p:sp>
        <p:nvSpPr>
          <p:cNvPr id="50" name="matrix r7c7"/>
          <p:cNvSpPr txBox="1"/>
          <p:nvPr/>
        </p:nvSpPr>
        <p:spPr>
          <a:xfrm>
            <a:off x="7655221"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$15/mo</a:t>
            </a:r>
            <a:endParaRPr sz="900"/>
          </a:p>
        </p:txBody>
      </p:sp>
      <p:sp>
        <p:nvSpPr>
          <p:cNvPr id="51" name="matrix r7c8"/>
          <p:cNvSpPr txBox="1"/>
          <p:nvPr/>
        </p:nvSpPr>
        <p:spPr>
          <a:xfrm>
            <a:off x="8588248"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$14/user/mo</a:t>
            </a:r>
            <a:endParaRPr sz="900"/>
          </a:p>
        </p:txBody>
      </p:sp>
      <p:sp>
        <p:nvSpPr>
          <p:cNvPr id="52" name="matrix r7c9"/>
          <p:cNvSpPr txBox="1"/>
          <p:nvPr/>
        </p:nvSpPr>
        <p:spPr>
          <a:xfrm>
            <a:off x="9521275"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$29 + $19/yr opt.</a:t>
            </a:r>
            <a:endParaRPr sz="900"/>
          </a:p>
        </p:txBody>
      </p:sp>
      <p:sp>
        <p:nvSpPr>
          <p:cNvPr id="53" name="matrix r7c10"/>
          <p:cNvSpPr txBox="1"/>
          <p:nvPr/>
        </p:nvSpPr>
        <p:spPr>
          <a:xfrm>
            <a:off x="10454301" y="5223129"/>
            <a:ext cx="823299" cy="308610"/>
          </a:xfrm>
          <a:prstGeom prst="rect">
            <a:avLst/>
          </a:prstGeom>
          <a:noFill/>
        </p:spPr>
        <p:txBody>
          <a:bodyPr wrap="square" lIns="0" tIns="0" rIns="0" bIns="0" anchor="t">
            <a:noAutofit/>
          </a:bodyPr>
          <a:lstStyle/>
          <a:p>
            <a:pPr algn="ctr">
              <a:lnSpc>
                <a:spcPts val="1215"/>
              </a:lnSpc>
              <a:spcBef>
                <a:spcPts val="0"/>
              </a:spcBef>
              <a:spcAft>
                <a:spcPts val="0"/>
              </a:spcAft>
            </a:pPr>
            <a:r>
              <a:rPr sz="900" b="0" i="0">
                <a:solidFill>
                  <a:srgbClr val="6E6E73"/>
                </a:solidFill>
                <a:latin typeface="Helvetica Neue"/>
              </a:rPr>
              <a:t>$8-10/mo</a:t>
            </a:r>
            <a:endParaRPr sz="900"/>
          </a:p>
        </p:txBody>
      </p:sp>
      <p:sp>
        <p:nvSpPr>
          <p:cNvPr id="54" name="matrix legend"/>
          <p:cNvSpPr txBox="1"/>
          <p:nvPr/>
        </p:nvSpPr>
        <p:spPr>
          <a:xfrm>
            <a:off x="914400" y="5833491"/>
            <a:ext cx="1036320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 = the product's main job per the cited listing. ◐ = SparkV Universal Search with cited answers; not a full app launcher. Blank = not that product's main job; this is not a full feature audit.</a:t>
            </a:r>
            <a:endParaRPr sz="9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Qualitative map. Price models from the listings on the previous slide.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Competition · positioning</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Five jobs, one app, </a:t>
            </a:r>
            <a:r>
              <a:rPr sz="3840" b="0" i="0" spc="-58">
                <a:solidFill>
                  <a:srgbClr val="1D1D1F"/>
                </a:solidFill>
                <a:latin typeface="Helvetica Neue Medium"/>
              </a:rPr>
              <a:t>one price.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Each rival owns one job. SparkV covers all five and charges once.</a:t>
            </a:r>
            <a:endParaRPr sz="1680"/>
          </a:p>
        </p:txBody>
      </p:sp>
      <p:sp>
        <p:nvSpPr>
          <p:cNvPr id="7" name="map title"/>
          <p:cNvSpPr txBox="1"/>
          <p:nvPr/>
        </p:nvSpPr>
        <p:spPr>
          <a:xfrm>
            <a:off x="914400" y="2422703"/>
            <a:ext cx="505968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Positioning (qualitative)</a:t>
            </a:r>
            <a:endParaRPr sz="1020"/>
          </a:p>
        </p:txBody>
      </p:sp>
      <p:sp>
        <p:nvSpPr>
          <p:cNvPr id="8" name="positioning map"/>
          <p:cNvSpPr/>
          <p:nvPr/>
        </p:nvSpPr>
        <p:spPr>
          <a:xfrm>
            <a:off x="914400" y="2748153"/>
            <a:ext cx="5059680" cy="3202610"/>
          </a:xfrm>
          <a:prstGeom prst="roundRect">
            <a:avLst>
              <a:gd name="adj" fmla="val 5234"/>
            </a:avLst>
          </a:prstGeom>
          <a:solidFill>
            <a:srgbClr val="F5F5F7"/>
          </a:solidFill>
          <a:ln>
            <a:noFill/>
          </a:ln>
        </p:spPr>
        <p:txBody>
          <a:bodyPr rtlCol="0" anchor="ctr"/>
          <a:lstStyle/>
          <a:p>
            <a:pPr algn="ctr"/>
          </a:p>
        </p:txBody>
      </p:sp>
      <p:sp>
        <p:nvSpPr>
          <p:cNvPr id="9" name="map caption"/>
          <p:cNvSpPr txBox="1"/>
          <p:nvPr/>
        </p:nvSpPr>
        <p:spPr>
          <a:xfrm>
            <a:off x="914400" y="6087923"/>
            <a:ext cx="5059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Qualitative; y position from each product's price model (cited), x from its main job.</a:t>
            </a:r>
            <a:endParaRPr sz="900"/>
          </a:p>
        </p:txBody>
      </p:sp>
      <p:sp>
        <p:nvSpPr>
          <p:cNvPr id="10" name="axis label"/>
          <p:cNvSpPr txBox="1"/>
          <p:nvPr/>
        </p:nvSpPr>
        <p:spPr>
          <a:xfrm>
            <a:off x="3104670" y="2857881"/>
            <a:ext cx="679139" cy="137617"/>
          </a:xfrm>
          <a:prstGeom prst="rect">
            <a:avLst/>
          </a:prstGeom>
          <a:noFill/>
        </p:spPr>
        <p:txBody>
          <a:bodyPr wrap="square" lIns="0" tIns="0" rIns="0" bIns="0" anchor="t">
            <a:noAutofit/>
          </a:bodyPr>
          <a:lstStyle/>
          <a:p>
            <a:pPr algn="ctr">
              <a:lnSpc>
                <a:spcPts val="1080"/>
              </a:lnSpc>
              <a:spcBef>
                <a:spcPts val="0"/>
              </a:spcBef>
              <a:spcAft>
                <a:spcPts val="0"/>
              </a:spcAft>
            </a:pPr>
            <a:r>
              <a:rPr sz="900" b="0" i="0" spc="36">
                <a:solidFill>
                  <a:srgbClr val="86868B"/>
                </a:solidFill>
                <a:latin typeface="Helvetica Neue Medium"/>
              </a:rPr>
              <a:t>PAY ONCE</a:t>
            </a:r>
            <a:endParaRPr sz="900"/>
          </a:p>
        </p:txBody>
      </p:sp>
      <p:sp>
        <p:nvSpPr>
          <p:cNvPr id="11" name="axis label"/>
          <p:cNvSpPr txBox="1"/>
          <p:nvPr/>
        </p:nvSpPr>
        <p:spPr>
          <a:xfrm>
            <a:off x="2956316" y="5703418"/>
            <a:ext cx="975848" cy="137617"/>
          </a:xfrm>
          <a:prstGeom prst="rect">
            <a:avLst/>
          </a:prstGeom>
          <a:noFill/>
        </p:spPr>
        <p:txBody>
          <a:bodyPr wrap="square" lIns="0" tIns="0" rIns="0" bIns="0" anchor="t">
            <a:noAutofit/>
          </a:bodyPr>
          <a:lstStyle/>
          <a:p>
            <a:pPr algn="ctr">
              <a:lnSpc>
                <a:spcPts val="1080"/>
              </a:lnSpc>
              <a:spcBef>
                <a:spcPts val="0"/>
              </a:spcBef>
              <a:spcAft>
                <a:spcPts val="0"/>
              </a:spcAft>
            </a:pPr>
            <a:r>
              <a:rPr sz="900" b="0" i="0" spc="36">
                <a:solidFill>
                  <a:srgbClr val="86868B"/>
                </a:solidFill>
                <a:latin typeface="Helvetica Neue Medium"/>
              </a:rPr>
              <a:t>SUBSCRIPTION</a:t>
            </a:r>
            <a:endParaRPr sz="900"/>
          </a:p>
        </p:txBody>
      </p:sp>
      <p:sp>
        <p:nvSpPr>
          <p:cNvPr id="12" name="axis label"/>
          <p:cNvSpPr txBox="1"/>
          <p:nvPr/>
        </p:nvSpPr>
        <p:spPr>
          <a:xfrm>
            <a:off x="1024128" y="4280649"/>
            <a:ext cx="79315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POINT TOOL</a:t>
            </a:r>
            <a:endParaRPr sz="900"/>
          </a:p>
        </p:txBody>
      </p:sp>
      <p:sp>
        <p:nvSpPr>
          <p:cNvPr id="13" name="axis label"/>
          <p:cNvSpPr txBox="1"/>
          <p:nvPr/>
        </p:nvSpPr>
        <p:spPr>
          <a:xfrm>
            <a:off x="5463753" y="4280649"/>
            <a:ext cx="400599" cy="137617"/>
          </a:xfrm>
          <a:prstGeom prst="rect">
            <a:avLst/>
          </a:prstGeom>
          <a:noFill/>
        </p:spPr>
        <p:txBody>
          <a:bodyPr wrap="square" lIns="0" tIns="0" rIns="0" bIns="0" anchor="t">
            <a:noAutofit/>
          </a:bodyPr>
          <a:lstStyle/>
          <a:p>
            <a:pPr algn="r">
              <a:lnSpc>
                <a:spcPts val="1080"/>
              </a:lnSpc>
              <a:spcBef>
                <a:spcPts val="0"/>
              </a:spcBef>
              <a:spcAft>
                <a:spcPts val="0"/>
              </a:spcAft>
            </a:pPr>
            <a:r>
              <a:rPr sz="900" b="0" i="0" spc="36">
                <a:solidFill>
                  <a:srgbClr val="86868B"/>
                </a:solidFill>
                <a:latin typeface="Helvetica Neue Medium"/>
              </a:rPr>
              <a:t>SUITE</a:t>
            </a:r>
            <a:endParaRPr sz="900"/>
          </a:p>
        </p:txBody>
      </p:sp>
      <p:cxnSp>
        <p:nvCxnSpPr>
          <p:cNvPr id="14" name="axis y"/>
          <p:cNvCxnSpPr/>
          <p:nvPr/>
        </p:nvCxnSpPr>
        <p:spPr>
          <a:xfrm>
            <a:off x="3444240" y="3068650"/>
            <a:ext cx="0" cy="2561616"/>
          </a:xfrm>
          <a:prstGeom prst="line">
            <a:avLst/>
          </a:prstGeom>
          <a:ln w="9525">
            <a:solidFill>
              <a:srgbClr val="D2D2D7"/>
            </a:solidFill>
          </a:ln>
        </p:spPr>
      </p:cxnSp>
      <p:cxnSp>
        <p:nvCxnSpPr>
          <p:cNvPr id="15" name="axis x"/>
          <p:cNvCxnSpPr/>
          <p:nvPr/>
        </p:nvCxnSpPr>
        <p:spPr>
          <a:xfrm>
            <a:off x="1890431" y="4349458"/>
            <a:ext cx="3500170" cy="0"/>
          </a:xfrm>
          <a:prstGeom prst="line">
            <a:avLst/>
          </a:prstGeom>
          <a:ln w="9525">
            <a:solidFill>
              <a:srgbClr val="D2D2D7"/>
            </a:solidFill>
          </a:ln>
        </p:spPr>
      </p:cxnSp>
      <p:sp>
        <p:nvSpPr>
          <p:cNvPr id="16" name="map dot SparkV"/>
          <p:cNvSpPr/>
          <p:nvPr/>
        </p:nvSpPr>
        <p:spPr>
          <a:xfrm>
            <a:off x="4663440" y="3324446"/>
            <a:ext cx="146304" cy="146304"/>
          </a:xfrm>
          <a:prstGeom prst="ellipse">
            <a:avLst/>
          </a:prstGeom>
          <a:solidFill>
            <a:srgbClr val="F01822"/>
          </a:solidFill>
          <a:ln>
            <a:noFill/>
          </a:ln>
        </p:spPr>
        <p:txBody>
          <a:bodyPr rtlCol="0" anchor="ctr"/>
          <a:lstStyle/>
          <a:p>
            <a:pPr algn="ctr"/>
          </a:p>
        </p:txBody>
      </p:sp>
      <p:sp>
        <p:nvSpPr>
          <p:cNvPr id="17" name="map label SparkV"/>
          <p:cNvSpPr/>
          <p:nvPr/>
        </p:nvSpPr>
        <p:spPr>
          <a:xfrm>
            <a:off x="4494666" y="3507326"/>
            <a:ext cx="483852" cy="188290"/>
          </a:xfrm>
          <a:prstGeom prst="rect">
            <a:avLst/>
          </a:prstGeom>
          <a:solidFill>
            <a:srgbClr val="F5F5F7"/>
          </a:solidFill>
          <a:ln>
            <a:noFill/>
          </a:ln>
        </p:spPr>
        <p:txBody>
          <a:bodyPr rtlCol="0" anchor="t" wrap="square" lIns="0" tIns="0" rIns="0" bIns="0">
            <a:noAutofit/>
          </a:bodyPr>
          <a:lstStyle/>
          <a:p>
            <a:pPr algn="ctr">
              <a:lnSpc>
                <a:spcPts val="1479"/>
              </a:lnSpc>
              <a:spcBef>
                <a:spcPts val="0"/>
              </a:spcBef>
              <a:spcAft>
                <a:spcPts val="0"/>
              </a:spcAft>
            </a:pPr>
            <a:r>
              <a:rPr sz="1019" b="0" i="0">
                <a:solidFill>
                  <a:srgbClr val="1D1D1F"/>
                </a:solidFill>
                <a:latin typeface="Helvetica Neue Medium"/>
              </a:rPr>
              <a:t>SparkV</a:t>
            </a:r>
            <a:endParaRPr sz="1020"/>
          </a:p>
        </p:txBody>
      </p:sp>
      <p:sp>
        <p:nvSpPr>
          <p:cNvPr id="18" name="map dot NotchNook"/>
          <p:cNvSpPr/>
          <p:nvPr/>
        </p:nvSpPr>
        <p:spPr>
          <a:xfrm>
            <a:off x="2590800" y="3827808"/>
            <a:ext cx="91440" cy="91440"/>
          </a:xfrm>
          <a:prstGeom prst="ellipse">
            <a:avLst/>
          </a:prstGeom>
          <a:solidFill>
            <a:srgbClr val="6E6E73"/>
          </a:solidFill>
          <a:ln>
            <a:noFill/>
          </a:ln>
        </p:spPr>
        <p:txBody>
          <a:bodyPr rtlCol="0" anchor="ctr"/>
          <a:lstStyle/>
          <a:p>
            <a:pPr algn="ctr"/>
          </a:p>
        </p:txBody>
      </p:sp>
      <p:sp>
        <p:nvSpPr>
          <p:cNvPr id="19" name="map label NotchNook"/>
          <p:cNvSpPr/>
          <p:nvPr/>
        </p:nvSpPr>
        <p:spPr>
          <a:xfrm>
            <a:off x="2737104" y="3779383"/>
            <a:ext cx="722309"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NotchNook</a:t>
            </a:r>
            <a:endParaRPr sz="1020"/>
          </a:p>
        </p:txBody>
      </p:sp>
      <p:sp>
        <p:nvSpPr>
          <p:cNvPr id="20" name="map dot Alcove"/>
          <p:cNvSpPr/>
          <p:nvPr/>
        </p:nvSpPr>
        <p:spPr>
          <a:xfrm>
            <a:off x="2267712" y="3470860"/>
            <a:ext cx="91440" cy="91440"/>
          </a:xfrm>
          <a:prstGeom prst="ellipse">
            <a:avLst/>
          </a:prstGeom>
          <a:solidFill>
            <a:srgbClr val="6E6E73"/>
          </a:solidFill>
          <a:ln>
            <a:noFill/>
          </a:ln>
        </p:spPr>
        <p:txBody>
          <a:bodyPr rtlCol="0" anchor="ctr"/>
          <a:lstStyle/>
          <a:p>
            <a:pPr algn="ctr"/>
          </a:p>
        </p:txBody>
      </p:sp>
      <p:sp>
        <p:nvSpPr>
          <p:cNvPr id="21" name="map label Alcove"/>
          <p:cNvSpPr/>
          <p:nvPr/>
        </p:nvSpPr>
        <p:spPr>
          <a:xfrm>
            <a:off x="2414016" y="3422435"/>
            <a:ext cx="443435"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Alcove</a:t>
            </a:r>
            <a:endParaRPr sz="1020"/>
          </a:p>
        </p:txBody>
      </p:sp>
      <p:sp>
        <p:nvSpPr>
          <p:cNvPr id="22" name="map dot boring.notch"/>
          <p:cNvSpPr/>
          <p:nvPr/>
        </p:nvSpPr>
        <p:spPr>
          <a:xfrm>
            <a:off x="2429256" y="3232895"/>
            <a:ext cx="91440" cy="91440"/>
          </a:xfrm>
          <a:prstGeom prst="ellipse">
            <a:avLst/>
          </a:prstGeom>
          <a:solidFill>
            <a:srgbClr val="6E6E73"/>
          </a:solidFill>
          <a:ln>
            <a:noFill/>
          </a:ln>
        </p:spPr>
        <p:txBody>
          <a:bodyPr rtlCol="0" anchor="ctr"/>
          <a:lstStyle/>
          <a:p>
            <a:pPr algn="ctr"/>
          </a:p>
        </p:txBody>
      </p:sp>
      <p:sp>
        <p:nvSpPr>
          <p:cNvPr id="23" name="map label boring.notch"/>
          <p:cNvSpPr/>
          <p:nvPr/>
        </p:nvSpPr>
        <p:spPr>
          <a:xfrm>
            <a:off x="2575560" y="3184470"/>
            <a:ext cx="1138557"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boring.notch (free)</a:t>
            </a:r>
            <a:endParaRPr sz="1020"/>
          </a:p>
        </p:txBody>
      </p:sp>
      <p:sp>
        <p:nvSpPr>
          <p:cNvPr id="24" name="map dot CleanShot X"/>
          <p:cNvSpPr/>
          <p:nvPr/>
        </p:nvSpPr>
        <p:spPr>
          <a:xfrm>
            <a:off x="2752344" y="4065773"/>
            <a:ext cx="91440" cy="91440"/>
          </a:xfrm>
          <a:prstGeom prst="ellipse">
            <a:avLst/>
          </a:prstGeom>
          <a:solidFill>
            <a:srgbClr val="6E6E73"/>
          </a:solidFill>
          <a:ln>
            <a:noFill/>
          </a:ln>
        </p:spPr>
        <p:txBody>
          <a:bodyPr rtlCol="0" anchor="ctr"/>
          <a:lstStyle/>
          <a:p>
            <a:pPr algn="ctr"/>
          </a:p>
        </p:txBody>
      </p:sp>
      <p:sp>
        <p:nvSpPr>
          <p:cNvPr id="25" name="map label CleanShot X"/>
          <p:cNvSpPr/>
          <p:nvPr/>
        </p:nvSpPr>
        <p:spPr>
          <a:xfrm>
            <a:off x="2898648" y="4017348"/>
            <a:ext cx="786975"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CleanShot X</a:t>
            </a:r>
            <a:endParaRPr sz="1020"/>
          </a:p>
        </p:txBody>
      </p:sp>
      <p:sp>
        <p:nvSpPr>
          <p:cNvPr id="26" name="map dot Paste"/>
          <p:cNvSpPr/>
          <p:nvPr/>
        </p:nvSpPr>
        <p:spPr>
          <a:xfrm>
            <a:off x="2267712" y="4660685"/>
            <a:ext cx="91440" cy="91440"/>
          </a:xfrm>
          <a:prstGeom prst="ellipse">
            <a:avLst/>
          </a:prstGeom>
          <a:solidFill>
            <a:srgbClr val="6E6E73"/>
          </a:solidFill>
          <a:ln>
            <a:noFill/>
          </a:ln>
        </p:spPr>
        <p:txBody>
          <a:bodyPr rtlCol="0" anchor="ctr"/>
          <a:lstStyle/>
          <a:p>
            <a:pPr algn="ctr"/>
          </a:p>
        </p:txBody>
      </p:sp>
      <p:sp>
        <p:nvSpPr>
          <p:cNvPr id="27" name="map label Paste"/>
          <p:cNvSpPr/>
          <p:nvPr/>
        </p:nvSpPr>
        <p:spPr>
          <a:xfrm>
            <a:off x="2414016" y="4612260"/>
            <a:ext cx="380116"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Paste</a:t>
            </a:r>
            <a:endParaRPr sz="1020"/>
          </a:p>
        </p:txBody>
      </p:sp>
      <p:sp>
        <p:nvSpPr>
          <p:cNvPr id="28" name="map dot Raycast Pro"/>
          <p:cNvSpPr/>
          <p:nvPr/>
        </p:nvSpPr>
        <p:spPr>
          <a:xfrm>
            <a:off x="3721608" y="5136615"/>
            <a:ext cx="91440" cy="91440"/>
          </a:xfrm>
          <a:prstGeom prst="ellipse">
            <a:avLst/>
          </a:prstGeom>
          <a:solidFill>
            <a:srgbClr val="6E6E73"/>
          </a:solidFill>
          <a:ln>
            <a:noFill/>
          </a:ln>
        </p:spPr>
        <p:txBody>
          <a:bodyPr rtlCol="0" anchor="ctr"/>
          <a:lstStyle/>
          <a:p>
            <a:pPr algn="ctr"/>
          </a:p>
        </p:txBody>
      </p:sp>
      <p:sp>
        <p:nvSpPr>
          <p:cNvPr id="29" name="map label Raycast Pro"/>
          <p:cNvSpPr/>
          <p:nvPr/>
        </p:nvSpPr>
        <p:spPr>
          <a:xfrm>
            <a:off x="3867912" y="5088190"/>
            <a:ext cx="772114"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Raycast Pro</a:t>
            </a:r>
            <a:endParaRPr sz="1020"/>
          </a:p>
        </p:txBody>
      </p:sp>
      <p:sp>
        <p:nvSpPr>
          <p:cNvPr id="30" name="map dot Wispr Flow"/>
          <p:cNvSpPr/>
          <p:nvPr/>
        </p:nvSpPr>
        <p:spPr>
          <a:xfrm>
            <a:off x="2429256" y="5255598"/>
            <a:ext cx="91440" cy="91440"/>
          </a:xfrm>
          <a:prstGeom prst="ellipse">
            <a:avLst/>
          </a:prstGeom>
          <a:solidFill>
            <a:srgbClr val="6E6E73"/>
          </a:solidFill>
          <a:ln>
            <a:noFill/>
          </a:ln>
        </p:spPr>
        <p:txBody>
          <a:bodyPr rtlCol="0" anchor="ctr"/>
          <a:lstStyle/>
          <a:p>
            <a:pPr algn="ctr"/>
          </a:p>
        </p:txBody>
      </p:sp>
      <p:sp>
        <p:nvSpPr>
          <p:cNvPr id="31" name="map label Wispr Flow"/>
          <p:cNvSpPr/>
          <p:nvPr/>
        </p:nvSpPr>
        <p:spPr>
          <a:xfrm>
            <a:off x="1668250" y="5207173"/>
            <a:ext cx="706142" cy="188290"/>
          </a:xfrm>
          <a:prstGeom prst="rect">
            <a:avLst/>
          </a:prstGeom>
          <a:solidFill>
            <a:srgbClr val="F5F5F7"/>
          </a:solidFill>
          <a:ln>
            <a:noFill/>
          </a:ln>
        </p:spPr>
        <p:txBody>
          <a:bodyPr rtlCol="0" anchor="t" wrap="square" lIns="0" tIns="0" rIns="0" bIns="0">
            <a:noAutofit/>
          </a:bodyPr>
          <a:lstStyle/>
          <a:p>
            <a:pPr algn="r">
              <a:lnSpc>
                <a:spcPts val="1479"/>
              </a:lnSpc>
              <a:spcBef>
                <a:spcPts val="0"/>
              </a:spcBef>
              <a:spcAft>
                <a:spcPts val="0"/>
              </a:spcAft>
            </a:pPr>
            <a:r>
              <a:rPr sz="1019" b="0" i="0">
                <a:solidFill>
                  <a:srgbClr val="6E6E73"/>
                </a:solidFill>
                <a:latin typeface="Helvetica Neue"/>
              </a:rPr>
              <a:t>Wispr Flow</a:t>
            </a:r>
            <a:endParaRPr sz="1020"/>
          </a:p>
        </p:txBody>
      </p:sp>
      <p:sp>
        <p:nvSpPr>
          <p:cNvPr id="32" name="map dot Granola"/>
          <p:cNvSpPr/>
          <p:nvPr/>
        </p:nvSpPr>
        <p:spPr>
          <a:xfrm>
            <a:off x="2752344" y="5255598"/>
            <a:ext cx="91440" cy="91440"/>
          </a:xfrm>
          <a:prstGeom prst="ellipse">
            <a:avLst/>
          </a:prstGeom>
          <a:solidFill>
            <a:srgbClr val="6E6E73"/>
          </a:solidFill>
          <a:ln>
            <a:noFill/>
          </a:ln>
        </p:spPr>
        <p:txBody>
          <a:bodyPr rtlCol="0" anchor="ctr"/>
          <a:lstStyle/>
          <a:p>
            <a:pPr algn="ctr"/>
          </a:p>
        </p:txBody>
      </p:sp>
      <p:sp>
        <p:nvSpPr>
          <p:cNvPr id="33" name="map label Granola"/>
          <p:cNvSpPr/>
          <p:nvPr/>
        </p:nvSpPr>
        <p:spPr>
          <a:xfrm>
            <a:off x="2898648" y="5207173"/>
            <a:ext cx="510796" cy="188290"/>
          </a:xfrm>
          <a:prstGeom prst="rect">
            <a:avLst/>
          </a:prstGeom>
          <a:solidFill>
            <a:srgbClr val="F5F5F7"/>
          </a:solidFill>
          <a:ln>
            <a:noFill/>
          </a:ln>
        </p:spPr>
        <p:txBody>
          <a:bodyPr rtlCol="0" anchor="t" wrap="square" lIns="0" tIns="0" rIns="0" bIns="0">
            <a:noAutofit/>
          </a:bodyPr>
          <a:lstStyle/>
          <a:p>
            <a:pPr algn="l">
              <a:lnSpc>
                <a:spcPts val="1479"/>
              </a:lnSpc>
              <a:spcBef>
                <a:spcPts val="0"/>
              </a:spcBef>
              <a:spcAft>
                <a:spcPts val="0"/>
              </a:spcAft>
            </a:pPr>
            <a:r>
              <a:rPr sz="1019" b="0" i="0">
                <a:solidFill>
                  <a:srgbClr val="6E6E73"/>
                </a:solidFill>
                <a:latin typeface="Helvetica Neue"/>
              </a:rPr>
              <a:t>Granola</a:t>
            </a:r>
            <a:endParaRPr sz="1020"/>
          </a:p>
        </p:txBody>
      </p:sp>
      <p:cxnSp>
        <p:nvCxnSpPr>
          <p:cNvPr id="34" name="row rule"/>
          <p:cNvCxnSpPr/>
          <p:nvPr/>
        </p:nvCxnSpPr>
        <p:spPr>
          <a:xfrm>
            <a:off x="7101840" y="2748153"/>
            <a:ext cx="4175760" cy="0"/>
          </a:xfrm>
          <a:prstGeom prst="line">
            <a:avLst/>
          </a:prstGeom>
          <a:ln w="9525">
            <a:solidFill>
              <a:srgbClr val="D2D2D7"/>
            </a:solidFill>
          </a:ln>
        </p:spPr>
      </p:cxnSp>
      <p:sp>
        <p:nvSpPr>
          <p:cNvPr id="35" name="row"/>
          <p:cNvSpPr txBox="1"/>
          <p:nvPr/>
        </p:nvSpPr>
        <p:spPr>
          <a:xfrm>
            <a:off x="7101840" y="2885313"/>
            <a:ext cx="41757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1D1D1F"/>
                </a:solidFill>
                <a:latin typeface="Helvetica Neue Medium"/>
              </a:rPr>
              <a:t>Breadth:</a:t>
            </a:r>
            <a:r>
              <a:rPr sz="1680" b="0" i="0">
                <a:solidFill>
                  <a:srgbClr val="6E6E73"/>
                </a:solidFill>
                <a:latin typeface="Helvetica Neue"/>
              </a:rPr>
              <a:t> 20+ tools behind one hover</a:t>
            </a:r>
            <a:endParaRPr sz="1680"/>
          </a:p>
        </p:txBody>
      </p:sp>
      <p:cxnSp>
        <p:nvCxnSpPr>
          <p:cNvPr id="36" name="row rule"/>
          <p:cNvCxnSpPr/>
          <p:nvPr/>
        </p:nvCxnSpPr>
        <p:spPr>
          <a:xfrm>
            <a:off x="7101840" y="3313100"/>
            <a:ext cx="4175760" cy="0"/>
          </a:xfrm>
          <a:prstGeom prst="line">
            <a:avLst/>
          </a:prstGeom>
          <a:ln w="9525">
            <a:solidFill>
              <a:srgbClr val="D2D2D7"/>
            </a:solidFill>
          </a:ln>
        </p:spPr>
      </p:cxnSp>
      <p:sp>
        <p:nvSpPr>
          <p:cNvPr id="37" name="row"/>
          <p:cNvSpPr txBox="1"/>
          <p:nvPr/>
        </p:nvSpPr>
        <p:spPr>
          <a:xfrm>
            <a:off x="7101840" y="3450260"/>
            <a:ext cx="41757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1D1D1F"/>
                </a:solidFill>
                <a:latin typeface="Helvetica Neue Medium"/>
              </a:rPr>
              <a:t>Pay once:</a:t>
            </a:r>
            <a:r>
              <a:rPr sz="1680" b="0" i="0">
                <a:solidFill>
                  <a:srgbClr val="6E6E73"/>
                </a:solidFill>
                <a:latin typeface="Helvetica Neue"/>
              </a:rPr>
              <a:t> no AI bill to pass on</a:t>
            </a:r>
            <a:endParaRPr sz="1680"/>
          </a:p>
        </p:txBody>
      </p:sp>
      <p:cxnSp>
        <p:nvCxnSpPr>
          <p:cNvPr id="38" name="row rule"/>
          <p:cNvCxnSpPr/>
          <p:nvPr/>
        </p:nvCxnSpPr>
        <p:spPr>
          <a:xfrm>
            <a:off x="7101840" y="3878047"/>
            <a:ext cx="4175760" cy="0"/>
          </a:xfrm>
          <a:prstGeom prst="line">
            <a:avLst/>
          </a:prstGeom>
          <a:ln w="9525">
            <a:solidFill>
              <a:srgbClr val="D2D2D7"/>
            </a:solidFill>
          </a:ln>
        </p:spPr>
      </p:cxnSp>
      <p:sp>
        <p:nvSpPr>
          <p:cNvPr id="39" name="row"/>
          <p:cNvSpPr txBox="1"/>
          <p:nvPr/>
        </p:nvSpPr>
        <p:spPr>
          <a:xfrm>
            <a:off x="7101840" y="4015207"/>
            <a:ext cx="41757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1D1D1F"/>
                </a:solidFill>
                <a:latin typeface="Helvetica Neue Medium"/>
              </a:rPr>
              <a:t>Private by default:</a:t>
            </a:r>
            <a:r>
              <a:rPr sz="1680" b="0" i="0">
                <a:solidFill>
                  <a:srgbClr val="6E6E73"/>
                </a:solidFill>
                <a:latin typeface="Helvetica Neue"/>
              </a:rPr>
              <a:t> on-device models</a:t>
            </a:r>
            <a:endParaRPr sz="168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22 Oct 2026. INR prices as listed there.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6E6E73"/>
                </a:solidFill>
                <a:latin typeface="Helvetica Neue Medium"/>
              </a:rPr>
              <a:t>Business model</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ctr">
              <a:lnSpc>
                <a:spcPts val="4301"/>
              </a:lnSpc>
              <a:spcBef>
                <a:spcPts val="0"/>
              </a:spcBef>
              <a:spcAft>
                <a:spcPts val="0"/>
              </a:spcAft>
            </a:pPr>
            <a:r>
              <a:rPr sz="3840" b="0" i="0" spc="-58">
                <a:solidFill>
                  <a:srgbClr val="1D1D1F"/>
                </a:solidFill>
                <a:latin typeface="Helvetica Neue Light"/>
              </a:rPr>
              <a:t>Free to start. </a:t>
            </a:r>
            <a:r>
              <a:rPr sz="3840" b="0" i="0" spc="-58">
                <a:solidFill>
                  <a:srgbClr val="1D1D1F"/>
                </a:solidFill>
                <a:latin typeface="Helvetica Neue Medium"/>
              </a:rPr>
              <a:t>$39 once</a:t>
            </a:r>
            <a:r>
              <a:rPr sz="3840" b="0" i="0" spc="-58">
                <a:solidFill>
                  <a:srgbClr val="1D1D1F"/>
                </a:solidFill>
                <a:latin typeface="Helvetica Neue Light"/>
              </a:rPr>
              <a:t> for everything.</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Sold direct, with Lemon Squeezy as merchant of record for tax and license keys.</a:t>
            </a:r>
            <a:endParaRPr sz="1680"/>
          </a:p>
        </p:txBody>
      </p:sp>
      <p:sp>
        <p:nvSpPr>
          <p:cNvPr id="7" name="plan card Free"/>
          <p:cNvSpPr/>
          <p:nvPr/>
        </p:nvSpPr>
        <p:spPr>
          <a:xfrm>
            <a:off x="91440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8" name="plan name"/>
          <p:cNvSpPr txBox="1"/>
          <p:nvPr/>
        </p:nvSpPr>
        <p:spPr>
          <a:xfrm>
            <a:off x="117348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Free</a:t>
            </a:r>
            <a:endParaRPr sz="1680"/>
          </a:p>
        </p:txBody>
      </p:sp>
      <p:sp>
        <p:nvSpPr>
          <p:cNvPr id="9" name="plan price"/>
          <p:cNvSpPr txBox="1"/>
          <p:nvPr/>
        </p:nvSpPr>
        <p:spPr>
          <a:xfrm>
            <a:off x="117348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$0</a:t>
            </a:r>
            <a:endParaRPr sz="3840"/>
          </a:p>
        </p:txBody>
      </p:sp>
      <p:sp>
        <p:nvSpPr>
          <p:cNvPr id="10" name="plan inr"/>
          <p:cNvSpPr txBox="1"/>
          <p:nvPr/>
        </p:nvSpPr>
        <p:spPr>
          <a:xfrm>
            <a:off x="117348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₹0</a:t>
            </a:r>
            <a:endParaRPr sz="1200"/>
          </a:p>
        </p:txBody>
      </p:sp>
      <p:sp>
        <p:nvSpPr>
          <p:cNvPr id="11" name="plan note"/>
          <p:cNvSpPr txBox="1"/>
          <p:nvPr/>
        </p:nvSpPr>
        <p:spPr>
          <a:xfrm>
            <a:off x="117348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Free hooks users away from free notch apps</a:t>
            </a:r>
            <a:endParaRPr sz="900"/>
          </a:p>
        </p:txBody>
      </p:sp>
      <p:cxnSp>
        <p:nvCxnSpPr>
          <p:cNvPr id="12" name="plan rule"/>
          <p:cNvCxnSpPr/>
          <p:nvPr/>
        </p:nvCxnSpPr>
        <p:spPr>
          <a:xfrm>
            <a:off x="1173480" y="4069537"/>
            <a:ext cx="2773680" cy="0"/>
          </a:xfrm>
          <a:prstGeom prst="line">
            <a:avLst/>
          </a:prstGeom>
          <a:ln w="9525">
            <a:solidFill>
              <a:srgbClr val="D2D2D7"/>
            </a:solidFill>
          </a:ln>
        </p:spPr>
      </p:cxnSp>
      <p:sp>
        <p:nvSpPr>
          <p:cNvPr id="13" name="plan card Pro"/>
          <p:cNvSpPr/>
          <p:nvPr/>
        </p:nvSpPr>
        <p:spPr>
          <a:xfrm>
            <a:off x="4450080" y="2358695"/>
            <a:ext cx="3291840" cy="3222193"/>
          </a:xfrm>
          <a:prstGeom prst="roundRect">
            <a:avLst>
              <a:gd name="adj" fmla="val 5675"/>
            </a:avLst>
          </a:prstGeom>
          <a:solidFill>
            <a:srgbClr val="FFFFFF"/>
          </a:solidFill>
          <a:ln w="15240">
            <a:solidFill>
              <a:srgbClr val="F01822"/>
            </a:solidFill>
          </a:ln>
        </p:spPr>
        <p:txBody>
          <a:bodyPr rtlCol="0" anchor="ctr"/>
          <a:lstStyle/>
          <a:p>
            <a:pPr algn="ctr"/>
          </a:p>
        </p:txBody>
      </p:sp>
      <p:sp>
        <p:nvSpPr>
          <p:cNvPr id="14" name="plan tag"/>
          <p:cNvSpPr txBox="1"/>
          <p:nvPr/>
        </p:nvSpPr>
        <p:spPr>
          <a:xfrm>
            <a:off x="6653833" y="2620823"/>
            <a:ext cx="829007" cy="128473"/>
          </a:xfrm>
          <a:prstGeom prst="rect">
            <a:avLst/>
          </a:prstGeom>
          <a:noFill/>
        </p:spPr>
        <p:txBody>
          <a:bodyPr wrap="square" lIns="0" tIns="0" rIns="0" bIns="0" anchor="t">
            <a:noAutofit/>
          </a:bodyPr>
          <a:lstStyle/>
          <a:p>
            <a:pPr algn="r">
              <a:lnSpc>
                <a:spcPts val="1008"/>
              </a:lnSpc>
              <a:spcBef>
                <a:spcPts val="0"/>
              </a:spcBef>
              <a:spcAft>
                <a:spcPts val="0"/>
              </a:spcAft>
            </a:pPr>
            <a:r>
              <a:rPr sz="840" b="0" i="0">
                <a:solidFill>
                  <a:srgbClr val="F01822"/>
                </a:solidFill>
                <a:latin typeface="Helvetica Neue Medium"/>
              </a:rPr>
              <a:t>Recommended</a:t>
            </a:r>
            <a:endParaRPr sz="840"/>
          </a:p>
        </p:txBody>
      </p:sp>
      <p:sp>
        <p:nvSpPr>
          <p:cNvPr id="15" name="plan name"/>
          <p:cNvSpPr txBox="1"/>
          <p:nvPr/>
        </p:nvSpPr>
        <p:spPr>
          <a:xfrm>
            <a:off x="4709160" y="2556815"/>
            <a:ext cx="1853233"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Pro</a:t>
            </a:r>
            <a:endParaRPr sz="1680"/>
          </a:p>
        </p:txBody>
      </p:sp>
      <p:sp>
        <p:nvSpPr>
          <p:cNvPr id="16" name="plan price"/>
          <p:cNvSpPr txBox="1"/>
          <p:nvPr/>
        </p:nvSpPr>
        <p:spPr>
          <a:xfrm>
            <a:off x="470916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$39</a:t>
            </a:r>
            <a:r>
              <a:rPr sz="1200" b="0" i="0">
                <a:solidFill>
                  <a:srgbClr val="6E6E73"/>
                </a:solidFill>
                <a:latin typeface="Helvetica Neue"/>
              </a:rPr>
              <a:t>  once</a:t>
            </a:r>
            <a:endParaRPr sz="3840"/>
          </a:p>
        </p:txBody>
      </p:sp>
      <p:sp>
        <p:nvSpPr>
          <p:cNvPr id="17" name="plan inr"/>
          <p:cNvSpPr txBox="1"/>
          <p:nvPr/>
        </p:nvSpPr>
        <p:spPr>
          <a:xfrm>
            <a:off x="470916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₹1,499</a:t>
            </a:r>
            <a:endParaRPr sz="1200"/>
          </a:p>
        </p:txBody>
      </p:sp>
      <p:sp>
        <p:nvSpPr>
          <p:cNvPr id="18" name="plan note"/>
          <p:cNvSpPr txBox="1"/>
          <p:nvPr/>
        </p:nvSpPr>
        <p:spPr>
          <a:xfrm>
            <a:off x="470916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Pro is one price for every feature</a:t>
            </a:r>
            <a:endParaRPr sz="900"/>
          </a:p>
        </p:txBody>
      </p:sp>
      <p:cxnSp>
        <p:nvCxnSpPr>
          <p:cNvPr id="19" name="plan rule"/>
          <p:cNvCxnSpPr/>
          <p:nvPr/>
        </p:nvCxnSpPr>
        <p:spPr>
          <a:xfrm>
            <a:off x="4709160" y="4069537"/>
            <a:ext cx="2773680" cy="0"/>
          </a:xfrm>
          <a:prstGeom prst="line">
            <a:avLst/>
          </a:prstGeom>
          <a:ln w="9525">
            <a:solidFill>
              <a:srgbClr val="D2D2D7"/>
            </a:solidFill>
          </a:ln>
        </p:spPr>
      </p:cxnSp>
      <p:sp>
        <p:nvSpPr>
          <p:cNvPr id="20" name="plan card Team"/>
          <p:cNvSpPr/>
          <p:nvPr/>
        </p:nvSpPr>
        <p:spPr>
          <a:xfrm>
            <a:off x="798576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21" name="plan name"/>
          <p:cNvSpPr txBox="1"/>
          <p:nvPr/>
        </p:nvSpPr>
        <p:spPr>
          <a:xfrm>
            <a:off x="824484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Team</a:t>
            </a:r>
            <a:endParaRPr sz="1680"/>
          </a:p>
        </p:txBody>
      </p:sp>
      <p:sp>
        <p:nvSpPr>
          <p:cNvPr id="22" name="plan price"/>
          <p:cNvSpPr txBox="1"/>
          <p:nvPr/>
        </p:nvSpPr>
        <p:spPr>
          <a:xfrm>
            <a:off x="824484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$8</a:t>
            </a:r>
            <a:r>
              <a:rPr sz="1200" b="0" i="0">
                <a:solidFill>
                  <a:srgbClr val="6E6E73"/>
                </a:solidFill>
                <a:latin typeface="Helvetica Neue"/>
              </a:rPr>
              <a:t>  per seat / month</a:t>
            </a:r>
            <a:endParaRPr sz="3840"/>
          </a:p>
        </p:txBody>
      </p:sp>
      <p:sp>
        <p:nvSpPr>
          <p:cNvPr id="23" name="plan inr"/>
          <p:cNvSpPr txBox="1"/>
          <p:nvPr/>
        </p:nvSpPr>
        <p:spPr>
          <a:xfrm>
            <a:off x="824484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₹499</a:t>
            </a:r>
            <a:r>
              <a:rPr sz="1200" b="0" i="0">
                <a:solidFill>
                  <a:srgbClr val="86868B"/>
                </a:solidFill>
                <a:latin typeface="Helvetica Neue"/>
              </a:rPr>
              <a:t> · billed yearly</a:t>
            </a:r>
            <a:endParaRPr sz="1200"/>
          </a:p>
        </p:txBody>
      </p:sp>
      <p:sp>
        <p:nvSpPr>
          <p:cNvPr id="24" name="plan note"/>
          <p:cNvSpPr txBox="1"/>
          <p:nvPr/>
        </p:nvSpPr>
        <p:spPr>
          <a:xfrm>
            <a:off x="824484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Team adds recurring revenue from companies</a:t>
            </a:r>
            <a:endParaRPr sz="900"/>
          </a:p>
        </p:txBody>
      </p:sp>
      <p:cxnSp>
        <p:nvCxnSpPr>
          <p:cNvPr id="25" name="plan rule"/>
          <p:cNvCxnSpPr/>
          <p:nvPr/>
        </p:nvCxnSpPr>
        <p:spPr>
          <a:xfrm>
            <a:off x="8244840" y="4069537"/>
            <a:ext cx="2773680" cy="0"/>
          </a:xfrm>
          <a:prstGeom prst="line">
            <a:avLst/>
          </a:prstGeom>
          <a:ln w="9525">
            <a:solidFill>
              <a:srgbClr val="D2D2D7"/>
            </a:solidFill>
          </a:ln>
        </p:spPr>
      </p:cxnSp>
      <p:grpSp>
        <p:nvGrpSpPr>
          <p:cNvPr id="26" name="check mark"/>
          <p:cNvGrpSpPr/>
          <p:nvPr/>
        </p:nvGrpSpPr>
        <p:grpSpPr>
          <a:xfrm>
            <a:off x="1178052" y="4238092"/>
            <a:ext cx="82296" cy="64008"/>
            <a:chOff x="1178052" y="4238092"/>
            <a:chExt cx="82296" cy="64008"/>
          </a:xfrm>
        </p:grpSpPr>
        <p:cxnSp>
          <p:nvCxnSpPr>
            <p:cNvPr id="27" name="Connector 26"/>
            <p:cNvCxnSpPr/>
            <p:nvPr/>
          </p:nvCxnSpPr>
          <p:spPr>
            <a:xfrm>
              <a:off x="1178052" y="4273753"/>
              <a:ext cx="30175" cy="28347"/>
            </a:xfrm>
            <a:prstGeom prst="line">
              <a:avLst/>
            </a:prstGeom>
            <a:ln w="13970">
              <a:solidFill>
                <a:srgbClr val="1D1D1F"/>
              </a:solidFill>
            </a:ln>
          </p:spPr>
        </p:cxnSp>
        <p:cxnSp>
          <p:nvCxnSpPr>
            <p:cNvPr id="28" name="Connector 27"/>
            <p:cNvCxnSpPr/>
            <p:nvPr/>
          </p:nvCxnSpPr>
          <p:spPr>
            <a:xfrm flipV="1">
              <a:off x="1208227" y="4238092"/>
              <a:ext cx="52121" cy="64008"/>
            </a:xfrm>
            <a:prstGeom prst="line">
              <a:avLst/>
            </a:prstGeom>
            <a:ln w="13970">
              <a:solidFill>
                <a:srgbClr val="1D1D1F"/>
              </a:solidFill>
            </a:ln>
          </p:spPr>
        </p:cxnSp>
      </p:grpSp>
      <p:sp>
        <p:nvSpPr>
          <p:cNvPr id="29" name="plan feature"/>
          <p:cNvSpPr txBox="1"/>
          <p:nvPr/>
        </p:nvSpPr>
        <p:spPr>
          <a:xfrm>
            <a:off x="1341120" y="4191457"/>
            <a:ext cx="2606040" cy="341833"/>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Notch core: media, HUD, battery, tray, Today, timer</a:t>
            </a:r>
            <a:endParaRPr sz="960"/>
          </a:p>
        </p:txBody>
      </p:sp>
      <p:grpSp>
        <p:nvGrpSpPr>
          <p:cNvPr id="30" name="check mark"/>
          <p:cNvGrpSpPr/>
          <p:nvPr/>
        </p:nvGrpSpPr>
        <p:grpSpPr>
          <a:xfrm>
            <a:off x="1178052" y="4632808"/>
            <a:ext cx="82296" cy="64008"/>
            <a:chOff x="1178052" y="4632808"/>
            <a:chExt cx="82296" cy="64008"/>
          </a:xfrm>
        </p:grpSpPr>
        <p:cxnSp>
          <p:nvCxnSpPr>
            <p:cNvPr id="31" name="Connector 30"/>
            <p:cNvCxnSpPr/>
            <p:nvPr/>
          </p:nvCxnSpPr>
          <p:spPr>
            <a:xfrm>
              <a:off x="1178052" y="4668469"/>
              <a:ext cx="30175" cy="28347"/>
            </a:xfrm>
            <a:prstGeom prst="line">
              <a:avLst/>
            </a:prstGeom>
            <a:ln w="13970">
              <a:solidFill>
                <a:srgbClr val="1D1D1F"/>
              </a:solidFill>
            </a:ln>
          </p:spPr>
        </p:cxnSp>
        <p:cxnSp>
          <p:nvCxnSpPr>
            <p:cNvPr id="32" name="Connector 31"/>
            <p:cNvCxnSpPr/>
            <p:nvPr/>
          </p:nvCxnSpPr>
          <p:spPr>
            <a:xfrm flipV="1">
              <a:off x="1208227" y="4632808"/>
              <a:ext cx="52121" cy="64008"/>
            </a:xfrm>
            <a:prstGeom prst="line">
              <a:avLst/>
            </a:prstGeom>
            <a:ln w="13970">
              <a:solidFill>
                <a:srgbClr val="1D1D1F"/>
              </a:solidFill>
            </a:ln>
          </p:spPr>
        </p:cxnSp>
      </p:grpSp>
      <p:sp>
        <p:nvSpPr>
          <p:cNvPr id="33" name="plan feature"/>
          <p:cNvSpPr txBox="1"/>
          <p:nvPr/>
        </p:nvSpPr>
        <p:spPr>
          <a:xfrm>
            <a:off x="1341120" y="4586173"/>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World Clock and System Gauges</a:t>
            </a:r>
            <a:endParaRPr sz="960"/>
          </a:p>
        </p:txBody>
      </p:sp>
      <p:grpSp>
        <p:nvGrpSpPr>
          <p:cNvPr id="34" name="check mark"/>
          <p:cNvGrpSpPr/>
          <p:nvPr/>
        </p:nvGrpSpPr>
        <p:grpSpPr>
          <a:xfrm>
            <a:off x="1178052" y="4856836"/>
            <a:ext cx="82296" cy="64008"/>
            <a:chOff x="1178052" y="4856836"/>
            <a:chExt cx="82296" cy="64008"/>
          </a:xfrm>
        </p:grpSpPr>
        <p:cxnSp>
          <p:nvCxnSpPr>
            <p:cNvPr id="35" name="Connector 34"/>
            <p:cNvCxnSpPr/>
            <p:nvPr/>
          </p:nvCxnSpPr>
          <p:spPr>
            <a:xfrm>
              <a:off x="1178052" y="4892497"/>
              <a:ext cx="30175" cy="28347"/>
            </a:xfrm>
            <a:prstGeom prst="line">
              <a:avLst/>
            </a:prstGeom>
            <a:ln w="13970">
              <a:solidFill>
                <a:srgbClr val="1D1D1F"/>
              </a:solidFill>
            </a:ln>
          </p:spPr>
        </p:cxnSp>
        <p:cxnSp>
          <p:nvCxnSpPr>
            <p:cNvPr id="36" name="Connector 35"/>
            <p:cNvCxnSpPr/>
            <p:nvPr/>
          </p:nvCxnSpPr>
          <p:spPr>
            <a:xfrm flipV="1">
              <a:off x="1208227" y="4856836"/>
              <a:ext cx="52121" cy="64008"/>
            </a:xfrm>
            <a:prstGeom prst="line">
              <a:avLst/>
            </a:prstGeom>
            <a:ln w="13970">
              <a:solidFill>
                <a:srgbClr val="1D1D1F"/>
              </a:solidFill>
            </a:ln>
          </p:spPr>
        </p:cxnSp>
      </p:grpSp>
      <p:sp>
        <p:nvSpPr>
          <p:cNvPr id="37" name="plan feature"/>
          <p:cNvSpPr txBox="1"/>
          <p:nvPr/>
        </p:nvSpPr>
        <p:spPr>
          <a:xfrm>
            <a:off x="1341120" y="4810201"/>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Clipboard history (last 25), Copy Text</a:t>
            </a:r>
            <a:endParaRPr sz="960"/>
          </a:p>
        </p:txBody>
      </p:sp>
      <p:grpSp>
        <p:nvGrpSpPr>
          <p:cNvPr id="38" name="check mark"/>
          <p:cNvGrpSpPr/>
          <p:nvPr/>
        </p:nvGrpSpPr>
        <p:grpSpPr>
          <a:xfrm>
            <a:off x="1178052" y="5080864"/>
            <a:ext cx="82296" cy="64008"/>
            <a:chOff x="1178052" y="5080864"/>
            <a:chExt cx="82296" cy="64008"/>
          </a:xfrm>
        </p:grpSpPr>
        <p:cxnSp>
          <p:nvCxnSpPr>
            <p:cNvPr id="39" name="Connector 38"/>
            <p:cNvCxnSpPr/>
            <p:nvPr/>
          </p:nvCxnSpPr>
          <p:spPr>
            <a:xfrm>
              <a:off x="1178052" y="5116525"/>
              <a:ext cx="30175" cy="28347"/>
            </a:xfrm>
            <a:prstGeom prst="line">
              <a:avLst/>
            </a:prstGeom>
            <a:ln w="13970">
              <a:solidFill>
                <a:srgbClr val="1D1D1F"/>
              </a:solidFill>
            </a:ln>
          </p:spPr>
        </p:cxnSp>
        <p:cxnSp>
          <p:nvCxnSpPr>
            <p:cNvPr id="40" name="Connector 39"/>
            <p:cNvCxnSpPr/>
            <p:nvPr/>
          </p:nvCxnSpPr>
          <p:spPr>
            <a:xfrm flipV="1">
              <a:off x="1208227" y="5080864"/>
              <a:ext cx="52121" cy="64008"/>
            </a:xfrm>
            <a:prstGeom prst="line">
              <a:avLst/>
            </a:prstGeom>
            <a:ln w="13970">
              <a:solidFill>
                <a:srgbClr val="1D1D1F"/>
              </a:solidFill>
            </a:ln>
          </p:spPr>
        </p:cxnSp>
      </p:grpSp>
      <p:sp>
        <p:nvSpPr>
          <p:cNvPr id="41" name="plan feature"/>
          <p:cNvSpPr txBox="1"/>
          <p:nvPr/>
        </p:nvSpPr>
        <p:spPr>
          <a:xfrm>
            <a:off x="1341120" y="5034229"/>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Dictation without AI formatting</a:t>
            </a:r>
            <a:endParaRPr sz="960"/>
          </a:p>
        </p:txBody>
      </p:sp>
      <p:grpSp>
        <p:nvGrpSpPr>
          <p:cNvPr id="42" name="check mark"/>
          <p:cNvGrpSpPr/>
          <p:nvPr/>
        </p:nvGrpSpPr>
        <p:grpSpPr>
          <a:xfrm>
            <a:off x="4713732" y="4238092"/>
            <a:ext cx="82296" cy="64008"/>
            <a:chOff x="4713732" y="4238092"/>
            <a:chExt cx="82296" cy="64008"/>
          </a:xfrm>
        </p:grpSpPr>
        <p:cxnSp>
          <p:nvCxnSpPr>
            <p:cNvPr id="43" name="Connector 42"/>
            <p:cNvCxnSpPr/>
            <p:nvPr/>
          </p:nvCxnSpPr>
          <p:spPr>
            <a:xfrm>
              <a:off x="4713732" y="4273753"/>
              <a:ext cx="30175" cy="28347"/>
            </a:xfrm>
            <a:prstGeom prst="line">
              <a:avLst/>
            </a:prstGeom>
            <a:ln w="13970">
              <a:solidFill>
                <a:srgbClr val="1D1D1F"/>
              </a:solidFill>
            </a:ln>
          </p:spPr>
        </p:cxnSp>
        <p:cxnSp>
          <p:nvCxnSpPr>
            <p:cNvPr id="44" name="Connector 43"/>
            <p:cNvCxnSpPr/>
            <p:nvPr/>
          </p:nvCxnSpPr>
          <p:spPr>
            <a:xfrm flipV="1">
              <a:off x="4743907" y="4238092"/>
              <a:ext cx="52121" cy="64008"/>
            </a:xfrm>
            <a:prstGeom prst="line">
              <a:avLst/>
            </a:prstGeom>
            <a:ln w="13970">
              <a:solidFill>
                <a:srgbClr val="1D1D1F"/>
              </a:solidFill>
            </a:ln>
          </p:spPr>
        </p:cxnSp>
      </p:grpSp>
      <p:sp>
        <p:nvSpPr>
          <p:cNvPr id="45" name="plan feature"/>
          <p:cNvSpPr txBox="1"/>
          <p:nvPr/>
        </p:nvSpPr>
        <p:spPr>
          <a:xfrm>
            <a:off x="4876800" y="4191457"/>
            <a:ext cx="2606040" cy="341833"/>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Everything: all AI assistants, meetings, dev tools</a:t>
            </a:r>
            <a:endParaRPr sz="960"/>
          </a:p>
        </p:txBody>
      </p:sp>
      <p:grpSp>
        <p:nvGrpSpPr>
          <p:cNvPr id="46" name="check mark"/>
          <p:cNvGrpSpPr/>
          <p:nvPr/>
        </p:nvGrpSpPr>
        <p:grpSpPr>
          <a:xfrm>
            <a:off x="4713732" y="4632808"/>
            <a:ext cx="82296" cy="64008"/>
            <a:chOff x="4713732" y="4632808"/>
            <a:chExt cx="82296" cy="64008"/>
          </a:xfrm>
        </p:grpSpPr>
        <p:cxnSp>
          <p:nvCxnSpPr>
            <p:cNvPr id="47" name="Connector 46"/>
            <p:cNvCxnSpPr/>
            <p:nvPr/>
          </p:nvCxnSpPr>
          <p:spPr>
            <a:xfrm>
              <a:off x="4713732" y="4668469"/>
              <a:ext cx="30175" cy="28347"/>
            </a:xfrm>
            <a:prstGeom prst="line">
              <a:avLst/>
            </a:prstGeom>
            <a:ln w="13970">
              <a:solidFill>
                <a:srgbClr val="1D1D1F"/>
              </a:solidFill>
            </a:ln>
          </p:spPr>
        </p:cxnSp>
        <p:cxnSp>
          <p:nvCxnSpPr>
            <p:cNvPr id="48" name="Connector 47"/>
            <p:cNvCxnSpPr/>
            <p:nvPr/>
          </p:nvCxnSpPr>
          <p:spPr>
            <a:xfrm flipV="1">
              <a:off x="4743907" y="4632808"/>
              <a:ext cx="52121" cy="64008"/>
            </a:xfrm>
            <a:prstGeom prst="line">
              <a:avLst/>
            </a:prstGeom>
            <a:ln w="13970">
              <a:solidFill>
                <a:srgbClr val="1D1D1F"/>
              </a:solidFill>
            </a:ln>
          </p:spPr>
        </p:cxnSp>
      </p:grpSp>
      <p:sp>
        <p:nvSpPr>
          <p:cNvPr id="49" name="plan feature"/>
          <p:cNvSpPr txBox="1"/>
          <p:nvPr/>
        </p:nvSpPr>
        <p:spPr>
          <a:xfrm>
            <a:off x="4876800" y="4586173"/>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2 Macs per person, 12 months of updates</a:t>
            </a:r>
            <a:endParaRPr sz="960"/>
          </a:p>
        </p:txBody>
      </p:sp>
      <p:grpSp>
        <p:nvGrpSpPr>
          <p:cNvPr id="50" name="check mark"/>
          <p:cNvGrpSpPr/>
          <p:nvPr/>
        </p:nvGrpSpPr>
        <p:grpSpPr>
          <a:xfrm>
            <a:off x="4713732" y="4856836"/>
            <a:ext cx="82296" cy="64008"/>
            <a:chOff x="4713732" y="4856836"/>
            <a:chExt cx="82296" cy="64008"/>
          </a:xfrm>
        </p:grpSpPr>
        <p:cxnSp>
          <p:nvCxnSpPr>
            <p:cNvPr id="51" name="Connector 50"/>
            <p:cNvCxnSpPr/>
            <p:nvPr/>
          </p:nvCxnSpPr>
          <p:spPr>
            <a:xfrm>
              <a:off x="4713732" y="4892497"/>
              <a:ext cx="30175" cy="28347"/>
            </a:xfrm>
            <a:prstGeom prst="line">
              <a:avLst/>
            </a:prstGeom>
            <a:ln w="13970">
              <a:solidFill>
                <a:srgbClr val="1D1D1F"/>
              </a:solidFill>
            </a:ln>
          </p:spPr>
        </p:cxnSp>
        <p:cxnSp>
          <p:nvCxnSpPr>
            <p:cNvPr id="52" name="Connector 51"/>
            <p:cNvCxnSpPr/>
            <p:nvPr/>
          </p:nvCxnSpPr>
          <p:spPr>
            <a:xfrm flipV="1">
              <a:off x="4743907" y="4856836"/>
              <a:ext cx="52121" cy="64008"/>
            </a:xfrm>
            <a:prstGeom prst="line">
              <a:avLst/>
            </a:prstGeom>
            <a:ln w="13970">
              <a:solidFill>
                <a:srgbClr val="1D1D1F"/>
              </a:solidFill>
            </a:ln>
          </p:spPr>
        </p:cxnSp>
      </p:grpSp>
      <p:sp>
        <p:nvSpPr>
          <p:cNvPr id="53" name="plan feature"/>
          <p:cNvSpPr txBox="1"/>
          <p:nvPr/>
        </p:nvSpPr>
        <p:spPr>
          <a:xfrm>
            <a:off x="4876800" y="4810201"/>
            <a:ext cx="2606040" cy="341833"/>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Optional renewal $19/yr; the app never stops working</a:t>
            </a:r>
            <a:endParaRPr sz="960"/>
          </a:p>
        </p:txBody>
      </p:sp>
      <p:grpSp>
        <p:nvGrpSpPr>
          <p:cNvPr id="54" name="check mark"/>
          <p:cNvGrpSpPr/>
          <p:nvPr/>
        </p:nvGrpSpPr>
        <p:grpSpPr>
          <a:xfrm>
            <a:off x="4713732" y="5251552"/>
            <a:ext cx="82296" cy="64008"/>
            <a:chOff x="4713732" y="5251552"/>
            <a:chExt cx="82296" cy="64008"/>
          </a:xfrm>
        </p:grpSpPr>
        <p:cxnSp>
          <p:nvCxnSpPr>
            <p:cNvPr id="55" name="Connector 54"/>
            <p:cNvCxnSpPr/>
            <p:nvPr/>
          </p:nvCxnSpPr>
          <p:spPr>
            <a:xfrm>
              <a:off x="4713732" y="5287213"/>
              <a:ext cx="30175" cy="28347"/>
            </a:xfrm>
            <a:prstGeom prst="line">
              <a:avLst/>
            </a:prstGeom>
            <a:ln w="13970">
              <a:solidFill>
                <a:srgbClr val="1D1D1F"/>
              </a:solidFill>
            </a:ln>
          </p:spPr>
        </p:cxnSp>
        <p:cxnSp>
          <p:nvCxnSpPr>
            <p:cNvPr id="56" name="Connector 55"/>
            <p:cNvCxnSpPr/>
            <p:nvPr/>
          </p:nvCxnSpPr>
          <p:spPr>
            <a:xfrm flipV="1">
              <a:off x="4743907" y="5251552"/>
              <a:ext cx="52121" cy="64008"/>
            </a:xfrm>
            <a:prstGeom prst="line">
              <a:avLst/>
            </a:prstGeom>
            <a:ln w="13970">
              <a:solidFill>
                <a:srgbClr val="1D1D1F"/>
              </a:solidFill>
            </a:ln>
          </p:spPr>
        </p:cxnSp>
      </p:grpSp>
      <p:sp>
        <p:nvSpPr>
          <p:cNvPr id="57" name="plan feature"/>
          <p:cNvSpPr txBox="1"/>
          <p:nvPr/>
        </p:nvSpPr>
        <p:spPr>
          <a:xfrm>
            <a:off x="4876800" y="5204917"/>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Launch week: $29 (₹999)</a:t>
            </a:r>
            <a:endParaRPr sz="960"/>
          </a:p>
        </p:txBody>
      </p:sp>
      <p:grpSp>
        <p:nvGrpSpPr>
          <p:cNvPr id="58" name="check mark"/>
          <p:cNvGrpSpPr/>
          <p:nvPr/>
        </p:nvGrpSpPr>
        <p:grpSpPr>
          <a:xfrm>
            <a:off x="8249412" y="4238092"/>
            <a:ext cx="82296" cy="64008"/>
            <a:chOff x="8249412" y="4238092"/>
            <a:chExt cx="82296" cy="64008"/>
          </a:xfrm>
        </p:grpSpPr>
        <p:cxnSp>
          <p:nvCxnSpPr>
            <p:cNvPr id="59" name="Connector 58"/>
            <p:cNvCxnSpPr/>
            <p:nvPr/>
          </p:nvCxnSpPr>
          <p:spPr>
            <a:xfrm>
              <a:off x="8249412" y="4273753"/>
              <a:ext cx="30175" cy="28347"/>
            </a:xfrm>
            <a:prstGeom prst="line">
              <a:avLst/>
            </a:prstGeom>
            <a:ln w="13970">
              <a:solidFill>
                <a:srgbClr val="1D1D1F"/>
              </a:solidFill>
            </a:ln>
          </p:spPr>
        </p:cxnSp>
        <p:cxnSp>
          <p:nvCxnSpPr>
            <p:cNvPr id="60" name="Connector 59"/>
            <p:cNvCxnSpPr/>
            <p:nvPr/>
          </p:nvCxnSpPr>
          <p:spPr>
            <a:xfrm flipV="1">
              <a:off x="8279587" y="4238092"/>
              <a:ext cx="52121" cy="64008"/>
            </a:xfrm>
            <a:prstGeom prst="line">
              <a:avLst/>
            </a:prstGeom>
            <a:ln w="13970">
              <a:solidFill>
                <a:srgbClr val="1D1D1F"/>
              </a:solidFill>
            </a:ln>
          </p:spPr>
        </p:cxnSp>
      </p:grpSp>
      <p:sp>
        <p:nvSpPr>
          <p:cNvPr id="61" name="plan feature"/>
          <p:cNvSpPr txBox="1"/>
          <p:nvPr/>
        </p:nvSpPr>
        <p:spPr>
          <a:xfrm>
            <a:off x="8412480" y="4191457"/>
            <a:ext cx="2606040" cy="341833"/>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Minimum 3 seats; one invoice (PO or bank transfer)</a:t>
            </a:r>
            <a:endParaRPr sz="960"/>
          </a:p>
        </p:txBody>
      </p:sp>
      <p:grpSp>
        <p:nvGrpSpPr>
          <p:cNvPr id="62" name="check mark"/>
          <p:cNvGrpSpPr/>
          <p:nvPr/>
        </p:nvGrpSpPr>
        <p:grpSpPr>
          <a:xfrm>
            <a:off x="8249412" y="4632808"/>
            <a:ext cx="82296" cy="64008"/>
            <a:chOff x="8249412" y="4632808"/>
            <a:chExt cx="82296" cy="64008"/>
          </a:xfrm>
        </p:grpSpPr>
        <p:cxnSp>
          <p:nvCxnSpPr>
            <p:cNvPr id="63" name="Connector 62"/>
            <p:cNvCxnSpPr/>
            <p:nvPr/>
          </p:nvCxnSpPr>
          <p:spPr>
            <a:xfrm>
              <a:off x="8249412" y="4668469"/>
              <a:ext cx="30175" cy="28347"/>
            </a:xfrm>
            <a:prstGeom prst="line">
              <a:avLst/>
            </a:prstGeom>
            <a:ln w="13970">
              <a:solidFill>
                <a:srgbClr val="1D1D1F"/>
              </a:solidFill>
            </a:ln>
          </p:spPr>
        </p:cxnSp>
        <p:cxnSp>
          <p:nvCxnSpPr>
            <p:cNvPr id="64" name="Connector 63"/>
            <p:cNvCxnSpPr/>
            <p:nvPr/>
          </p:nvCxnSpPr>
          <p:spPr>
            <a:xfrm flipV="1">
              <a:off x="8279587" y="4632808"/>
              <a:ext cx="52121" cy="64008"/>
            </a:xfrm>
            <a:prstGeom prst="line">
              <a:avLst/>
            </a:prstGeom>
            <a:ln w="13970">
              <a:solidFill>
                <a:srgbClr val="1D1D1F"/>
              </a:solidFill>
            </a:ln>
          </p:spPr>
        </p:cxnSp>
      </p:grpSp>
      <p:sp>
        <p:nvSpPr>
          <p:cNvPr id="65" name="plan feature"/>
          <p:cNvSpPr txBox="1"/>
          <p:nvPr/>
        </p:nvSpPr>
        <p:spPr>
          <a:xfrm>
            <a:off x="8412480" y="4586173"/>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Seat management, shared Spaces packages</a:t>
            </a:r>
            <a:endParaRPr sz="960"/>
          </a:p>
        </p:txBody>
      </p:sp>
      <p:grpSp>
        <p:nvGrpSpPr>
          <p:cNvPr id="66" name="check mark"/>
          <p:cNvGrpSpPr/>
          <p:nvPr/>
        </p:nvGrpSpPr>
        <p:grpSpPr>
          <a:xfrm>
            <a:off x="8249412" y="4856836"/>
            <a:ext cx="82296" cy="64008"/>
            <a:chOff x="8249412" y="4856836"/>
            <a:chExt cx="82296" cy="64008"/>
          </a:xfrm>
        </p:grpSpPr>
        <p:cxnSp>
          <p:nvCxnSpPr>
            <p:cNvPr id="67" name="Connector 66"/>
            <p:cNvCxnSpPr/>
            <p:nvPr/>
          </p:nvCxnSpPr>
          <p:spPr>
            <a:xfrm>
              <a:off x="8249412" y="4892497"/>
              <a:ext cx="30175" cy="28347"/>
            </a:xfrm>
            <a:prstGeom prst="line">
              <a:avLst/>
            </a:prstGeom>
            <a:ln w="13970">
              <a:solidFill>
                <a:srgbClr val="1D1D1F"/>
              </a:solidFill>
            </a:ln>
          </p:spPr>
        </p:cxnSp>
        <p:cxnSp>
          <p:nvCxnSpPr>
            <p:cNvPr id="68" name="Connector 67"/>
            <p:cNvCxnSpPr/>
            <p:nvPr/>
          </p:nvCxnSpPr>
          <p:spPr>
            <a:xfrm flipV="1">
              <a:off x="8279587" y="4856836"/>
              <a:ext cx="52121" cy="64008"/>
            </a:xfrm>
            <a:prstGeom prst="line">
              <a:avLst/>
            </a:prstGeom>
            <a:ln w="13970">
              <a:solidFill>
                <a:srgbClr val="1D1D1F"/>
              </a:solidFill>
            </a:ln>
          </p:spPr>
        </p:cxnSp>
      </p:grpSp>
      <p:sp>
        <p:nvSpPr>
          <p:cNvPr id="69" name="plan feature"/>
          <p:cNvSpPr txBox="1"/>
          <p:nvPr/>
        </p:nvSpPr>
        <p:spPr>
          <a:xfrm>
            <a:off x="8412480" y="4810201"/>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Priority support, 1 business day</a:t>
            </a:r>
            <a:endParaRPr sz="960"/>
          </a:p>
        </p:txBody>
      </p:sp>
      <p:grpSp>
        <p:nvGrpSpPr>
          <p:cNvPr id="70" name="check mark"/>
          <p:cNvGrpSpPr/>
          <p:nvPr/>
        </p:nvGrpSpPr>
        <p:grpSpPr>
          <a:xfrm>
            <a:off x="8249412" y="5080864"/>
            <a:ext cx="82296" cy="64008"/>
            <a:chOff x="8249412" y="5080864"/>
            <a:chExt cx="82296" cy="64008"/>
          </a:xfrm>
        </p:grpSpPr>
        <p:cxnSp>
          <p:nvCxnSpPr>
            <p:cNvPr id="71" name="Connector 70"/>
            <p:cNvCxnSpPr/>
            <p:nvPr/>
          </p:nvCxnSpPr>
          <p:spPr>
            <a:xfrm>
              <a:off x="8249412" y="5116525"/>
              <a:ext cx="30175" cy="28347"/>
            </a:xfrm>
            <a:prstGeom prst="line">
              <a:avLst/>
            </a:prstGeom>
            <a:ln w="13970">
              <a:solidFill>
                <a:srgbClr val="1D1D1F"/>
              </a:solidFill>
            </a:ln>
          </p:spPr>
        </p:cxnSp>
        <p:cxnSp>
          <p:nvCxnSpPr>
            <p:cNvPr id="72" name="Connector 71"/>
            <p:cNvCxnSpPr/>
            <p:nvPr/>
          </p:nvCxnSpPr>
          <p:spPr>
            <a:xfrm flipV="1">
              <a:off x="8279587" y="5080864"/>
              <a:ext cx="52121" cy="64008"/>
            </a:xfrm>
            <a:prstGeom prst="line">
              <a:avLst/>
            </a:prstGeom>
            <a:ln w="13970">
              <a:solidFill>
                <a:srgbClr val="1D1D1F"/>
              </a:solidFill>
            </a:ln>
          </p:spPr>
        </p:cxnSp>
      </p:grpSp>
      <p:sp>
        <p:nvSpPr>
          <p:cNvPr id="73" name="plan feature"/>
          <p:cNvSpPr txBox="1"/>
          <p:nvPr/>
        </p:nvSpPr>
        <p:spPr>
          <a:xfrm>
            <a:off x="8412480" y="5034229"/>
            <a:ext cx="260604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Deployment .pkg for MDM</a:t>
            </a:r>
            <a:endParaRPr sz="960"/>
          </a:p>
        </p:txBody>
      </p:sp>
      <p:sp>
        <p:nvSpPr>
          <p:cNvPr id="74" name="cta aside"/>
          <p:cNvSpPr txBox="1"/>
          <p:nvPr/>
        </p:nvSpPr>
        <p:spPr>
          <a:xfrm>
            <a:off x="1859785" y="5948743"/>
            <a:ext cx="847243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14-day full Pro trial, no card · 50% student discount · 30-day refunds · Alternative held back: five feature packs at $9-19 each (all five = $39)</a:t>
            </a:r>
            <a:endParaRPr sz="102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Lemon Squeezy 5% + $0.50 per order. On-device AI; Groq optional with the buyer's own key.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Unit economics</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We keep </a:t>
            </a:r>
            <a:r>
              <a:rPr sz="3360" b="0" i="0" spc="-50">
                <a:solidFill>
                  <a:srgbClr val="1D1D1F"/>
                </a:solidFill>
                <a:latin typeface="Helvetica Neue Medium"/>
              </a:rPr>
              <a:t>about 94%</a:t>
            </a:r>
            <a:r>
              <a:rPr sz="3360" b="0" i="0" spc="-50">
                <a:solidFill>
                  <a:srgbClr val="1D1D1F"/>
                </a:solidFill>
                <a:latin typeface="Helvetica Neue Light"/>
              </a:rPr>
              <a:t> of every Pro sale.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On-device AI means no inference bill. The only variable cost is the payment fee.</a:t>
            </a:r>
            <a:endParaRPr sz="1680"/>
          </a:p>
        </p:txBody>
      </p:sp>
      <p:sp>
        <p:nvSpPr>
          <p:cNvPr id="7" name="metric card"/>
          <p:cNvSpPr/>
          <p:nvPr/>
        </p:nvSpPr>
        <p:spPr>
          <a:xfrm>
            <a:off x="7985760" y="2308708"/>
            <a:ext cx="3291840" cy="1306220"/>
          </a:xfrm>
          <a:prstGeom prst="roundRect">
            <a:avLst>
              <a:gd name="adj" fmla="val 12833"/>
            </a:avLst>
          </a:prstGeom>
          <a:solidFill>
            <a:srgbClr val="F5F5F7"/>
          </a:solidFill>
          <a:ln>
            <a:noFill/>
          </a:ln>
        </p:spPr>
        <p:txBody>
          <a:bodyPr rtlCol="0" anchor="ctr"/>
          <a:lstStyle/>
          <a:p>
            <a:pPr algn="ctr"/>
          </a:p>
        </p:txBody>
      </p:sp>
      <p:sp>
        <p:nvSpPr>
          <p:cNvPr id="8" name="metric value"/>
          <p:cNvSpPr txBox="1"/>
          <p:nvPr/>
        </p:nvSpPr>
        <p:spPr>
          <a:xfrm>
            <a:off x="8229600" y="246110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$0</a:t>
            </a:r>
            <a:endParaRPr sz="4800"/>
          </a:p>
        </p:txBody>
      </p:sp>
      <p:sp>
        <p:nvSpPr>
          <p:cNvPr id="9" name="metric label"/>
          <p:cNvSpPr txBox="1"/>
          <p:nvPr/>
        </p:nvSpPr>
        <p:spPr>
          <a:xfrm>
            <a:off x="8229600" y="3238805"/>
            <a:ext cx="2804160" cy="2237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AI cost per user</a:t>
            </a:r>
            <a:endParaRPr sz="1020"/>
          </a:p>
        </p:txBody>
      </p:sp>
      <p:sp>
        <p:nvSpPr>
          <p:cNvPr id="10" name="metric card"/>
          <p:cNvSpPr/>
          <p:nvPr/>
        </p:nvSpPr>
        <p:spPr>
          <a:xfrm>
            <a:off x="7985760" y="3797808"/>
            <a:ext cx="3291840" cy="1306220"/>
          </a:xfrm>
          <a:prstGeom prst="roundRect">
            <a:avLst>
              <a:gd name="adj" fmla="val 12833"/>
            </a:avLst>
          </a:prstGeom>
          <a:solidFill>
            <a:srgbClr val="F5F5F7"/>
          </a:solidFill>
          <a:ln>
            <a:noFill/>
          </a:ln>
        </p:spPr>
        <p:txBody>
          <a:bodyPr rtlCol="0" anchor="ctr"/>
          <a:lstStyle/>
          <a:p>
            <a:pPr algn="ctr"/>
          </a:p>
        </p:txBody>
      </p:sp>
      <p:sp>
        <p:nvSpPr>
          <p:cNvPr id="11" name="metric value"/>
          <p:cNvSpPr txBox="1"/>
          <p:nvPr/>
        </p:nvSpPr>
        <p:spPr>
          <a:xfrm>
            <a:off x="8229600" y="395020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$99/yr</a:t>
            </a:r>
            <a:endParaRPr sz="4800"/>
          </a:p>
        </p:txBody>
      </p:sp>
      <p:sp>
        <p:nvSpPr>
          <p:cNvPr id="12" name="metric label"/>
          <p:cNvSpPr txBox="1"/>
          <p:nvPr/>
        </p:nvSpPr>
        <p:spPr>
          <a:xfrm>
            <a:off x="8229600" y="4727905"/>
            <a:ext cx="2804160" cy="2237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fixed platform cost (Apple Developer Program)</a:t>
            </a:r>
            <a:endParaRPr sz="1020"/>
          </a:p>
        </p:txBody>
      </p:sp>
      <p:cxnSp>
        <p:nvCxnSpPr>
          <p:cNvPr id="13" name="row rule"/>
          <p:cNvCxnSpPr/>
          <p:nvPr/>
        </p:nvCxnSpPr>
        <p:spPr>
          <a:xfrm>
            <a:off x="7985760" y="5241188"/>
            <a:ext cx="3291840" cy="0"/>
          </a:xfrm>
          <a:prstGeom prst="line">
            <a:avLst/>
          </a:prstGeom>
          <a:ln w="9525">
            <a:solidFill>
              <a:srgbClr val="D2D2D7"/>
            </a:solidFill>
          </a:ln>
        </p:spPr>
      </p:cxnSp>
      <p:sp>
        <p:nvSpPr>
          <p:cNvPr id="14" name="row"/>
          <p:cNvSpPr txBox="1"/>
          <p:nvPr/>
        </p:nvSpPr>
        <p:spPr>
          <a:xfrm>
            <a:off x="7985760" y="5332628"/>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$99 a year fixed (Apple Developer); no MoR monthly fee</a:t>
            </a:r>
            <a:endParaRPr sz="1320"/>
          </a:p>
        </p:txBody>
      </p:sp>
      <p:cxnSp>
        <p:nvCxnSpPr>
          <p:cNvPr id="15" name="row rule"/>
          <p:cNvCxnSpPr/>
          <p:nvPr/>
        </p:nvCxnSpPr>
        <p:spPr>
          <a:xfrm>
            <a:off x="7985760" y="5910682"/>
            <a:ext cx="3291840" cy="0"/>
          </a:xfrm>
          <a:prstGeom prst="line">
            <a:avLst/>
          </a:prstGeom>
          <a:ln w="9525">
            <a:solidFill>
              <a:srgbClr val="D2D2D7"/>
            </a:solidFill>
          </a:ln>
        </p:spPr>
      </p:cxnSp>
      <p:sp>
        <p:nvSpPr>
          <p:cNvPr id="16" name="row"/>
          <p:cNvSpPr txBox="1"/>
          <p:nvPr/>
        </p:nvSpPr>
        <p:spPr>
          <a:xfrm>
            <a:off x="7985760" y="6002122"/>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3 Pro sales cover the fixed Apple fee</a:t>
            </a:r>
            <a:endParaRPr sz="1320"/>
          </a:p>
        </p:txBody>
      </p:sp>
      <p:sp>
        <p:nvSpPr>
          <p:cNvPr id="17" name="chart card"/>
          <p:cNvSpPr/>
          <p:nvPr/>
        </p:nvSpPr>
        <p:spPr>
          <a:xfrm>
            <a:off x="914400" y="2308708"/>
            <a:ext cx="6827520" cy="3939692"/>
          </a:xfrm>
          <a:prstGeom prst="roundRect">
            <a:avLst>
              <a:gd name="adj" fmla="val 4255"/>
            </a:avLst>
          </a:prstGeom>
          <a:solidFill>
            <a:srgbClr val="F5F5F7"/>
          </a:solidFill>
          <a:ln>
            <a:noFill/>
          </a:ln>
        </p:spPr>
        <p:txBody>
          <a:bodyPr rtlCol="0" anchor="ctr"/>
          <a:lstStyle/>
          <a:p>
            <a:pPr algn="ctr"/>
          </a:p>
        </p:txBody>
      </p:sp>
      <p:sp>
        <p:nvSpPr>
          <p:cNvPr id="18" name="chart title"/>
          <p:cNvSpPr txBox="1"/>
          <p:nvPr/>
        </p:nvSpPr>
        <p:spPr>
          <a:xfrm>
            <a:off x="1158240" y="2522068"/>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What we keep from one $39 Pro sale (US buyer, USD)</a:t>
            </a:r>
            <a:endParaRPr sz="1020"/>
          </a:p>
        </p:txBody>
      </p:sp>
      <p:sp>
        <p:nvSpPr>
          <p:cNvPr id="19" name="chart source"/>
          <p:cNvSpPr txBox="1"/>
          <p:nvPr/>
        </p:nvSpPr>
        <p:spPr>
          <a:xfrm>
            <a:off x="1158240" y="5796839"/>
            <a:ext cx="633984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Fee schedule from the business plan section 4. Excludes refunds </a:t>
            </a:r>
            <a:r>
              <a:rPr sz="780" b="0" i="1">
                <a:solidFill>
                  <a:srgbClr val="86868B"/>
                </a:solidFill>
                <a:latin typeface="Helvetica Neue"/>
              </a:rPr>
              <a:t>[TBD: refund rate]</a:t>
            </a:r>
            <a:r>
              <a:rPr sz="780" b="0" i="0">
                <a:solidFill>
                  <a:srgbClr val="86868B"/>
                </a:solidFill>
                <a:latin typeface="Helvetica Neue"/>
              </a:rPr>
              <a:t>, support time and DMG bandwidth (20-60 MB per download).</a:t>
            </a:r>
            <a:endParaRPr sz="780"/>
          </a:p>
        </p:txBody>
      </p:sp>
      <p:sp>
        <p:nvSpPr>
          <p:cNvPr id="20" name="chart annotation"/>
          <p:cNvSpPr txBox="1"/>
          <p:nvPr/>
        </p:nvSpPr>
        <p:spPr>
          <a:xfrm>
            <a:off x="1158240" y="5329733"/>
            <a:ext cx="633984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Non-US buyer: about +1.5% fee, net $35.97</a:t>
            </a:r>
            <a:endParaRPr sz="1020"/>
          </a:p>
          <a:p>
            <a:pPr algn="l">
              <a:lnSpc>
                <a:spcPts val="1479"/>
              </a:lnSpc>
              <a:spcBef>
                <a:spcPts val="0"/>
              </a:spcBef>
              <a:spcAft>
                <a:spcPts val="0"/>
              </a:spcAft>
            </a:pPr>
            <a:r>
              <a:rPr sz="1019" b="0" i="0">
                <a:solidFill>
                  <a:srgbClr val="6E6E73"/>
                </a:solidFill>
                <a:latin typeface="Helvetica Neue"/>
              </a:rPr>
              <a:t>Affiliate-sourced sale (30% commission): net about $24.85</a:t>
            </a:r>
            <a:endParaRPr sz="1020"/>
          </a:p>
        </p:txBody>
      </p:sp>
      <p:graphicFrame>
        <p:nvGraphicFramePr>
          <p:cNvPr id="21" name="chart"/>
          <p:cNvGraphicFramePr>
            <a:graphicFrameLocks noGrp="1"/>
          </p:cNvGraphicFramePr>
          <p:nvPr/>
        </p:nvGraphicFramePr>
        <p:xfrm>
          <a:off x="1158240" y="2820086"/>
          <a:ext cx="6339840" cy="2400376"/>
        </p:xfrm>
        <a:graphic>
          <a:graphicData uri="http://schemas.openxmlformats.org/drawingml/2006/chart">
            <c:chart xmlns:c="http://schemas.openxmlformats.org/drawingml/2006/chart" r:id="rId3"/>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Illustrative arithmetic, not a forecast.</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Unit economics · per plan</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We keep </a:t>
            </a:r>
            <a:r>
              <a:rPr sz="3360" b="0" i="0" spc="-50">
                <a:solidFill>
                  <a:srgbClr val="1D1D1F"/>
                </a:solidFill>
                <a:latin typeface="Helvetica Neue Medium"/>
              </a:rPr>
              <a:t>about 94%</a:t>
            </a:r>
            <a:r>
              <a:rPr sz="3360" b="0" i="0" spc="-50">
                <a:solidFill>
                  <a:srgbClr val="1D1D1F"/>
                </a:solidFill>
                <a:latin typeface="Helvetica Neue Light"/>
              </a:rPr>
              <a:t> of every Pro sale.</a:t>
            </a:r>
            <a:endParaRPr sz="3360"/>
          </a:p>
        </p:txBody>
      </p:sp>
      <p:sp>
        <p:nvSpPr>
          <p:cNvPr id="6" name="table title"/>
          <p:cNvSpPr txBox="1"/>
          <p:nvPr/>
        </p:nvSpPr>
        <p:spPr>
          <a:xfrm>
            <a:off x="914400" y="1819961"/>
            <a:ext cx="594360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Net per sale by plan (USD)</a:t>
            </a:r>
            <a:endParaRPr sz="1020"/>
          </a:p>
        </p:txBody>
      </p:sp>
      <p:sp>
        <p:nvSpPr>
          <p:cNvPr id="7" name="column head"/>
          <p:cNvSpPr txBox="1"/>
          <p:nvPr/>
        </p:nvSpPr>
        <p:spPr>
          <a:xfrm>
            <a:off x="1024128" y="2191131"/>
            <a:ext cx="210254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PLAN</a:t>
            </a:r>
            <a:endParaRPr sz="900"/>
          </a:p>
        </p:txBody>
      </p:sp>
      <p:sp>
        <p:nvSpPr>
          <p:cNvPr id="8" name="column head"/>
          <p:cNvSpPr txBox="1"/>
          <p:nvPr/>
        </p:nvSpPr>
        <p:spPr>
          <a:xfrm>
            <a:off x="3309556" y="2191131"/>
            <a:ext cx="80867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PRICE</a:t>
            </a:r>
            <a:endParaRPr sz="900"/>
          </a:p>
        </p:txBody>
      </p:sp>
      <p:sp>
        <p:nvSpPr>
          <p:cNvPr id="9" name="column head"/>
          <p:cNvSpPr txBox="1"/>
          <p:nvPr/>
        </p:nvSpPr>
        <p:spPr>
          <a:xfrm>
            <a:off x="4301109" y="2191131"/>
            <a:ext cx="105127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NET, US BUYER</a:t>
            </a:r>
            <a:endParaRPr sz="900"/>
          </a:p>
        </p:txBody>
      </p:sp>
      <p:sp>
        <p:nvSpPr>
          <p:cNvPr id="10" name="column head"/>
          <p:cNvSpPr txBox="1"/>
          <p:nvPr/>
        </p:nvSpPr>
        <p:spPr>
          <a:xfrm>
            <a:off x="5535263" y="2191131"/>
            <a:ext cx="1213009" cy="137617"/>
          </a:xfrm>
          <a:prstGeom prst="rect">
            <a:avLst/>
          </a:prstGeom>
          <a:noFill/>
        </p:spPr>
        <p:txBody>
          <a:bodyPr wrap="square" lIns="0" tIns="0" rIns="0" bIns="0" anchor="t">
            <a:noAutofit/>
          </a:bodyPr>
          <a:lstStyle/>
          <a:p>
            <a:pPr algn="l">
              <a:lnSpc>
                <a:spcPts val="1000"/>
              </a:lnSpc>
              <a:spcBef>
                <a:spcPts val="0"/>
              </a:spcBef>
              <a:spcAft>
                <a:spcPts val="0"/>
              </a:spcAft>
            </a:pPr>
            <a:r>
              <a:rPr sz="833" b="0" i="0" spc="33">
                <a:solidFill>
                  <a:srgbClr val="86868B"/>
                </a:solidFill>
                <a:latin typeface="Helvetica Neue Medium"/>
              </a:rPr>
              <a:t>NET, NON-US BUYER</a:t>
            </a:r>
            <a:endParaRPr sz="833"/>
          </a:p>
        </p:txBody>
      </p:sp>
      <p:cxnSp>
        <p:nvCxnSpPr>
          <p:cNvPr id="11" name="table head rule"/>
          <p:cNvCxnSpPr/>
          <p:nvPr/>
        </p:nvCxnSpPr>
        <p:spPr>
          <a:xfrm>
            <a:off x="914400" y="2438476"/>
            <a:ext cx="5943600" cy="0"/>
          </a:xfrm>
          <a:prstGeom prst="line">
            <a:avLst/>
          </a:prstGeom>
          <a:ln w="9525">
            <a:solidFill>
              <a:srgbClr val="1D1D1F"/>
            </a:solidFill>
          </a:ln>
        </p:spPr>
      </p:cxnSp>
      <p:sp>
        <p:nvSpPr>
          <p:cNvPr id="12" name="cell r1c1"/>
          <p:cNvSpPr txBox="1"/>
          <p:nvPr/>
        </p:nvSpPr>
        <p:spPr>
          <a:xfrm>
            <a:off x="1024128" y="2520772"/>
            <a:ext cx="210254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Pro</a:t>
            </a:r>
            <a:endParaRPr sz="1020"/>
          </a:p>
        </p:txBody>
      </p:sp>
      <p:sp>
        <p:nvSpPr>
          <p:cNvPr id="13" name="cell r1c2"/>
          <p:cNvSpPr txBox="1"/>
          <p:nvPr/>
        </p:nvSpPr>
        <p:spPr>
          <a:xfrm>
            <a:off x="3309556" y="2520772"/>
            <a:ext cx="808672"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$39.00</a:t>
            </a:r>
            <a:endParaRPr sz="1020"/>
          </a:p>
        </p:txBody>
      </p:sp>
      <p:sp>
        <p:nvSpPr>
          <p:cNvPr id="14" name="cell r1c3"/>
          <p:cNvSpPr txBox="1"/>
          <p:nvPr/>
        </p:nvSpPr>
        <p:spPr>
          <a:xfrm>
            <a:off x="4301109" y="2520772"/>
            <a:ext cx="105127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$36.55</a:t>
            </a:r>
            <a:endParaRPr sz="1020"/>
          </a:p>
        </p:txBody>
      </p:sp>
      <p:sp>
        <p:nvSpPr>
          <p:cNvPr id="15" name="cell r1c4"/>
          <p:cNvSpPr txBox="1"/>
          <p:nvPr/>
        </p:nvSpPr>
        <p:spPr>
          <a:xfrm>
            <a:off x="5535263" y="2520772"/>
            <a:ext cx="1213009"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$35.97</a:t>
            </a:r>
            <a:endParaRPr sz="1020"/>
          </a:p>
        </p:txBody>
      </p:sp>
      <p:cxnSp>
        <p:nvCxnSpPr>
          <p:cNvPr id="16" name="row rule"/>
          <p:cNvCxnSpPr/>
          <p:nvPr/>
        </p:nvCxnSpPr>
        <p:spPr>
          <a:xfrm>
            <a:off x="914400" y="2777947"/>
            <a:ext cx="5943600" cy="0"/>
          </a:xfrm>
          <a:prstGeom prst="line">
            <a:avLst/>
          </a:prstGeom>
          <a:ln w="9525">
            <a:solidFill>
              <a:srgbClr val="D2D2D7"/>
            </a:solidFill>
          </a:ln>
        </p:spPr>
      </p:cxnSp>
      <p:sp>
        <p:nvSpPr>
          <p:cNvPr id="17" name="cell r2c1"/>
          <p:cNvSpPr txBox="1"/>
          <p:nvPr/>
        </p:nvSpPr>
        <p:spPr>
          <a:xfrm>
            <a:off x="1024128" y="2860243"/>
            <a:ext cx="210254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Pro, launch week</a:t>
            </a:r>
            <a:endParaRPr sz="1020"/>
          </a:p>
        </p:txBody>
      </p:sp>
      <p:sp>
        <p:nvSpPr>
          <p:cNvPr id="18" name="cell r2c2"/>
          <p:cNvSpPr txBox="1"/>
          <p:nvPr/>
        </p:nvSpPr>
        <p:spPr>
          <a:xfrm>
            <a:off x="3309556" y="2860243"/>
            <a:ext cx="808672"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$29.00</a:t>
            </a:r>
            <a:endParaRPr sz="1020"/>
          </a:p>
        </p:txBody>
      </p:sp>
      <p:sp>
        <p:nvSpPr>
          <p:cNvPr id="19" name="cell r2c3"/>
          <p:cNvSpPr txBox="1"/>
          <p:nvPr/>
        </p:nvSpPr>
        <p:spPr>
          <a:xfrm>
            <a:off x="4301109" y="2860243"/>
            <a:ext cx="105127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$27.05</a:t>
            </a:r>
            <a:endParaRPr sz="1020"/>
          </a:p>
        </p:txBody>
      </p:sp>
      <p:sp>
        <p:nvSpPr>
          <p:cNvPr id="20" name="cell r2c4"/>
          <p:cNvSpPr txBox="1"/>
          <p:nvPr/>
        </p:nvSpPr>
        <p:spPr>
          <a:xfrm>
            <a:off x="5535263" y="2860243"/>
            <a:ext cx="1213009"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$26.62</a:t>
            </a:r>
            <a:endParaRPr sz="1020"/>
          </a:p>
        </p:txBody>
      </p:sp>
      <p:cxnSp>
        <p:nvCxnSpPr>
          <p:cNvPr id="21" name="row rule"/>
          <p:cNvCxnSpPr/>
          <p:nvPr/>
        </p:nvCxnSpPr>
        <p:spPr>
          <a:xfrm>
            <a:off x="914400" y="3117418"/>
            <a:ext cx="5943600" cy="0"/>
          </a:xfrm>
          <a:prstGeom prst="line">
            <a:avLst/>
          </a:prstGeom>
          <a:ln w="9525">
            <a:solidFill>
              <a:srgbClr val="D2D2D7"/>
            </a:solidFill>
          </a:ln>
        </p:spPr>
      </p:cxnSp>
      <p:sp>
        <p:nvSpPr>
          <p:cNvPr id="22" name="cell r3c1"/>
          <p:cNvSpPr txBox="1"/>
          <p:nvPr/>
        </p:nvSpPr>
        <p:spPr>
          <a:xfrm>
            <a:off x="1024128" y="3199714"/>
            <a:ext cx="210254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Pro, student</a:t>
            </a:r>
            <a:endParaRPr sz="1020"/>
          </a:p>
        </p:txBody>
      </p:sp>
      <p:sp>
        <p:nvSpPr>
          <p:cNvPr id="23" name="cell r3c2"/>
          <p:cNvSpPr txBox="1"/>
          <p:nvPr/>
        </p:nvSpPr>
        <p:spPr>
          <a:xfrm>
            <a:off x="3309556" y="3199714"/>
            <a:ext cx="808672"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$19.50</a:t>
            </a:r>
            <a:endParaRPr sz="1020"/>
          </a:p>
        </p:txBody>
      </p:sp>
      <p:sp>
        <p:nvSpPr>
          <p:cNvPr id="24" name="cell r3c3"/>
          <p:cNvSpPr txBox="1"/>
          <p:nvPr/>
        </p:nvSpPr>
        <p:spPr>
          <a:xfrm>
            <a:off x="4301109" y="3199714"/>
            <a:ext cx="105127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$18.03</a:t>
            </a:r>
            <a:endParaRPr sz="1020"/>
          </a:p>
        </p:txBody>
      </p:sp>
      <p:sp>
        <p:nvSpPr>
          <p:cNvPr id="25" name="cell r3c4"/>
          <p:cNvSpPr txBox="1"/>
          <p:nvPr/>
        </p:nvSpPr>
        <p:spPr>
          <a:xfrm>
            <a:off x="5535263" y="3199714"/>
            <a:ext cx="1213009"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$17.73</a:t>
            </a:r>
            <a:endParaRPr sz="1020"/>
          </a:p>
        </p:txBody>
      </p:sp>
      <p:cxnSp>
        <p:nvCxnSpPr>
          <p:cNvPr id="26" name="row rule"/>
          <p:cNvCxnSpPr/>
          <p:nvPr/>
        </p:nvCxnSpPr>
        <p:spPr>
          <a:xfrm>
            <a:off x="914400" y="3456889"/>
            <a:ext cx="5943600" cy="0"/>
          </a:xfrm>
          <a:prstGeom prst="line">
            <a:avLst/>
          </a:prstGeom>
          <a:ln w="9525">
            <a:solidFill>
              <a:srgbClr val="D2D2D7"/>
            </a:solidFill>
          </a:ln>
        </p:spPr>
      </p:cxnSp>
      <p:sp>
        <p:nvSpPr>
          <p:cNvPr id="27" name="cell r4c1"/>
          <p:cNvSpPr txBox="1"/>
          <p:nvPr/>
        </p:nvSpPr>
        <p:spPr>
          <a:xfrm>
            <a:off x="1024128" y="3539185"/>
            <a:ext cx="2102548" cy="349758"/>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Team, per seat-year (3-seat order)</a:t>
            </a:r>
            <a:endParaRPr sz="1020"/>
          </a:p>
        </p:txBody>
      </p:sp>
      <p:sp>
        <p:nvSpPr>
          <p:cNvPr id="28" name="cell r4c2"/>
          <p:cNvSpPr txBox="1"/>
          <p:nvPr/>
        </p:nvSpPr>
        <p:spPr>
          <a:xfrm>
            <a:off x="3309556" y="3539185"/>
            <a:ext cx="808672" cy="349758"/>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$96.00</a:t>
            </a:r>
            <a:endParaRPr sz="1020"/>
          </a:p>
        </p:txBody>
      </p:sp>
      <p:sp>
        <p:nvSpPr>
          <p:cNvPr id="29" name="cell r4c3"/>
          <p:cNvSpPr txBox="1"/>
          <p:nvPr/>
        </p:nvSpPr>
        <p:spPr>
          <a:xfrm>
            <a:off x="4301109" y="3539185"/>
            <a:ext cx="1051274" cy="349758"/>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$90.55</a:t>
            </a:r>
            <a:endParaRPr sz="1020"/>
          </a:p>
        </p:txBody>
      </p:sp>
      <p:sp>
        <p:nvSpPr>
          <p:cNvPr id="30" name="cell r4c4"/>
          <p:cNvSpPr txBox="1"/>
          <p:nvPr/>
        </p:nvSpPr>
        <p:spPr>
          <a:xfrm>
            <a:off x="5535263" y="3539185"/>
            <a:ext cx="1213009" cy="349758"/>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$89.11</a:t>
            </a:r>
            <a:endParaRPr sz="1020"/>
          </a:p>
        </p:txBody>
      </p:sp>
      <p:sp>
        <p:nvSpPr>
          <p:cNvPr id="31" name="table basis"/>
          <p:cNvSpPr txBox="1"/>
          <p:nvPr/>
        </p:nvSpPr>
        <p:spPr>
          <a:xfrm>
            <a:off x="914400" y="4199839"/>
            <a:ext cx="59436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Basis: Lemon Squeezy 5% + $0.50 per order; +1.5% non-US; +0.5% on subscriptions (Team). Team row = (3 x $96 - 5.5% - $0.50) / 3.</a:t>
            </a:r>
            <a:endParaRPr sz="1020"/>
          </a:p>
        </p:txBody>
      </p:sp>
      <p:sp>
        <p:nvSpPr>
          <p:cNvPr id="32" name="chart card"/>
          <p:cNvSpPr/>
          <p:nvPr/>
        </p:nvSpPr>
        <p:spPr>
          <a:xfrm>
            <a:off x="7101840" y="1819961"/>
            <a:ext cx="4175760" cy="4428439"/>
          </a:xfrm>
          <a:prstGeom prst="roundRect">
            <a:avLst>
              <a:gd name="adj" fmla="val 4014"/>
            </a:avLst>
          </a:prstGeom>
          <a:solidFill>
            <a:srgbClr val="FFFFFF"/>
          </a:solidFill>
          <a:ln w="9525">
            <a:solidFill>
              <a:srgbClr val="86868B"/>
            </a:solidFill>
            <a:prstDash val="dash"/>
          </a:ln>
        </p:spPr>
        <p:txBody>
          <a:bodyPr rtlCol="0" anchor="ctr"/>
          <a:lstStyle/>
          <a:p>
            <a:pPr algn="ctr"/>
          </a:p>
        </p:txBody>
      </p:sp>
      <p:sp>
        <p:nvSpPr>
          <p:cNvPr id="33" name="chart title"/>
          <p:cNvSpPr txBox="1"/>
          <p:nvPr/>
        </p:nvSpPr>
        <p:spPr>
          <a:xfrm>
            <a:off x="7345680" y="2033321"/>
            <a:ext cx="368808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86868B"/>
                </a:solidFill>
                <a:latin typeface="Helvetica Neue Medium"/>
              </a:rPr>
              <a:t>Illustrative only: net revenue if a share of ONE year's Mac shipments bought Pro</a:t>
            </a:r>
            <a:endParaRPr sz="1020"/>
          </a:p>
        </p:txBody>
      </p:sp>
      <p:sp>
        <p:nvSpPr>
          <p:cNvPr id="34" name="chart source"/>
          <p:cNvSpPr txBox="1"/>
          <p:nvPr/>
        </p:nvSpPr>
        <p:spPr>
          <a:xfrm>
            <a:off x="7345680" y="5796839"/>
            <a:ext cx="368808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IDC preliminary 2025 shipments (via 9to5Mac) and the SparkV business plan.</a:t>
            </a:r>
            <a:endParaRPr sz="780"/>
          </a:p>
        </p:txBody>
      </p:sp>
      <p:sp>
        <p:nvSpPr>
          <p:cNvPr id="35" name="chart annotation"/>
          <p:cNvSpPr txBox="1"/>
          <p:nvPr/>
        </p:nvSpPr>
        <p:spPr>
          <a:xfrm>
            <a:off x="7345680" y="5329733"/>
            <a:ext cx="368808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Arithmetic on 25.6M (IDC 2025) x share x $36.55. Not a forecast. Our forecast: </a:t>
            </a:r>
            <a:r>
              <a:rPr sz="1019" b="0" i="1">
                <a:solidFill>
                  <a:srgbClr val="86868B"/>
                </a:solidFill>
                <a:latin typeface="Helvetica Neue"/>
              </a:rPr>
              <a:t>[TBD: revenue plan]</a:t>
            </a:r>
            <a:endParaRPr sz="1020"/>
          </a:p>
        </p:txBody>
      </p:sp>
      <p:graphicFrame>
        <p:nvGraphicFramePr>
          <p:cNvPr id="36" name="chart"/>
          <p:cNvGraphicFramePr>
            <a:graphicFrameLocks noGrp="1"/>
          </p:cNvGraphicFramePr>
          <p:nvPr/>
        </p:nvGraphicFramePr>
        <p:xfrm>
          <a:off x="7345680" y="2519172"/>
          <a:ext cx="3688080" cy="2701290"/>
        </p:xfrm>
        <a:graphic>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30-day launch plan.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15</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Go to market</a:t>
            </a:r>
            <a:endParaRPr sz="1320"/>
          </a:p>
        </p:txBody>
      </p:sp>
      <p:sp>
        <p:nvSpPr>
          <p:cNvPr id="5" name="headline"/>
          <p:cNvSpPr txBox="1"/>
          <p:nvPr/>
        </p:nvSpPr>
        <p:spPr>
          <a:xfrm>
            <a:off x="914400" y="1067257"/>
            <a:ext cx="10363200" cy="519349"/>
          </a:xfrm>
          <a:prstGeom prst="rect">
            <a:avLst/>
          </a:prstGeom>
          <a:noFill/>
        </p:spPr>
        <p:txBody>
          <a:bodyPr wrap="square" lIns="0" tIns="0" rIns="0" bIns="0" anchor="t">
            <a:noAutofit/>
          </a:bodyPr>
          <a:lstStyle/>
          <a:p>
            <a:pPr algn="l">
              <a:lnSpc>
                <a:spcPts val="4086"/>
              </a:lnSpc>
              <a:spcBef>
                <a:spcPts val="0"/>
              </a:spcBef>
              <a:spcAft>
                <a:spcPts val="0"/>
              </a:spcAft>
            </a:pPr>
            <a:r>
              <a:rPr sz="3647" b="0" i="0" spc="-55">
                <a:solidFill>
                  <a:srgbClr val="1D1D1F"/>
                </a:solidFill>
                <a:latin typeface="Helvetica Neue Light"/>
              </a:rPr>
              <a:t>Go to market: waitlist to </a:t>
            </a:r>
            <a:r>
              <a:rPr sz="3647" b="0" i="0" spc="-55">
                <a:solidFill>
                  <a:srgbClr val="1D1D1F"/>
                </a:solidFill>
                <a:latin typeface="Helvetica Neue Medium"/>
              </a:rPr>
              <a:t>Product Hunt in 30 days.</a:t>
            </a:r>
            <a:endParaRPr sz="3648"/>
          </a:p>
        </p:txBody>
      </p:sp>
      <p:sp>
        <p:nvSpPr>
          <p:cNvPr id="6" name="lead"/>
          <p:cNvSpPr txBox="1"/>
          <p:nvPr/>
        </p:nvSpPr>
        <p:spPr>
          <a:xfrm>
            <a:off x="914400" y="178472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Demo-first and creator-led. Affiliates earn 30%, only when a sale happens.</a:t>
            </a:r>
            <a:endParaRPr sz="1680"/>
          </a:p>
        </p:txBody>
      </p:sp>
      <p:cxnSp>
        <p:nvCxnSpPr>
          <p:cNvPr id="7" name="rail 1 rail"/>
          <p:cNvCxnSpPr/>
          <p:nvPr/>
        </p:nvCxnSpPr>
        <p:spPr>
          <a:xfrm>
            <a:off x="914400" y="2889626"/>
            <a:ext cx="10363200" cy="0"/>
          </a:xfrm>
          <a:prstGeom prst="line">
            <a:avLst/>
          </a:prstGeom>
          <a:ln w="9525">
            <a:solidFill>
              <a:srgbClr val="D2D2D7"/>
            </a:solidFill>
          </a:ln>
        </p:spPr>
      </p:cxnSp>
      <p:sp>
        <p:nvSpPr>
          <p:cNvPr id="8" name="rail 1 date"/>
          <p:cNvSpPr txBox="1"/>
          <p:nvPr/>
        </p:nvSpPr>
        <p:spPr>
          <a:xfrm>
            <a:off x="914400" y="248683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1-3</a:t>
            </a:r>
            <a:endParaRPr sz="1680"/>
          </a:p>
        </p:txBody>
      </p:sp>
      <p:sp>
        <p:nvSpPr>
          <p:cNvPr id="9" name="rail 1 dot"/>
          <p:cNvSpPr/>
          <p:nvPr/>
        </p:nvSpPr>
        <p:spPr>
          <a:xfrm>
            <a:off x="914400" y="2839334"/>
            <a:ext cx="100584" cy="100584"/>
          </a:xfrm>
          <a:prstGeom prst="ellipse">
            <a:avLst/>
          </a:prstGeom>
          <a:solidFill>
            <a:srgbClr val="6E6E73"/>
          </a:solidFill>
          <a:ln>
            <a:noFill/>
          </a:ln>
        </p:spPr>
        <p:txBody>
          <a:bodyPr rtlCol="0" anchor="ctr"/>
          <a:lstStyle/>
          <a:p>
            <a:pPr algn="ctr"/>
          </a:p>
        </p:txBody>
      </p:sp>
      <p:sp>
        <p:nvSpPr>
          <p:cNvPr id="10" name="rail 1 text"/>
          <p:cNvSpPr txBox="1"/>
          <p:nvPr/>
        </p:nvSpPr>
        <p:spPr>
          <a:xfrm>
            <a:off x="914400" y="3072506"/>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Apple Developer ID, Lemon Squeezy products, domain</a:t>
            </a:r>
            <a:endParaRPr sz="1320"/>
          </a:p>
        </p:txBody>
      </p:sp>
      <p:sp>
        <p:nvSpPr>
          <p:cNvPr id="11" name="rail 1 date"/>
          <p:cNvSpPr txBox="1"/>
          <p:nvPr/>
        </p:nvSpPr>
        <p:spPr>
          <a:xfrm>
            <a:off x="3035808" y="248683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4-7</a:t>
            </a:r>
            <a:endParaRPr sz="1680"/>
          </a:p>
        </p:txBody>
      </p:sp>
      <p:sp>
        <p:nvSpPr>
          <p:cNvPr id="12" name="rail 1 dot"/>
          <p:cNvSpPr/>
          <p:nvPr/>
        </p:nvSpPr>
        <p:spPr>
          <a:xfrm>
            <a:off x="3035808" y="2839334"/>
            <a:ext cx="100584" cy="100584"/>
          </a:xfrm>
          <a:prstGeom prst="ellipse">
            <a:avLst/>
          </a:prstGeom>
          <a:solidFill>
            <a:srgbClr val="6E6E73"/>
          </a:solidFill>
          <a:ln>
            <a:noFill/>
          </a:ln>
        </p:spPr>
        <p:txBody>
          <a:bodyPr rtlCol="0" anchor="ctr"/>
          <a:lstStyle/>
          <a:p>
            <a:pPr algn="ctr"/>
          </a:p>
        </p:txBody>
      </p:sp>
      <p:sp>
        <p:nvSpPr>
          <p:cNvPr id="13" name="rail 1 text"/>
          <p:cNvSpPr txBox="1"/>
          <p:nvPr/>
        </p:nvSpPr>
        <p:spPr>
          <a:xfrm>
            <a:off x="3035808" y="3072506"/>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Legal pages; Face Unlock out of the sold build</a:t>
            </a:r>
            <a:endParaRPr sz="1320"/>
          </a:p>
        </p:txBody>
      </p:sp>
      <p:sp>
        <p:nvSpPr>
          <p:cNvPr id="14" name="rail 1 date"/>
          <p:cNvSpPr txBox="1"/>
          <p:nvPr/>
        </p:nvSpPr>
        <p:spPr>
          <a:xfrm>
            <a:off x="5157216" y="248683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8-12</a:t>
            </a:r>
            <a:endParaRPr sz="1680"/>
          </a:p>
        </p:txBody>
      </p:sp>
      <p:sp>
        <p:nvSpPr>
          <p:cNvPr id="15" name="rail 1 dot"/>
          <p:cNvSpPr/>
          <p:nvPr/>
        </p:nvSpPr>
        <p:spPr>
          <a:xfrm>
            <a:off x="5157216" y="2839334"/>
            <a:ext cx="100584" cy="100584"/>
          </a:xfrm>
          <a:prstGeom prst="ellipse">
            <a:avLst/>
          </a:prstGeom>
          <a:solidFill>
            <a:srgbClr val="6E6E73"/>
          </a:solidFill>
          <a:ln>
            <a:noFill/>
          </a:ln>
        </p:spPr>
        <p:txBody>
          <a:bodyPr rtlCol="0" anchor="ctr"/>
          <a:lstStyle/>
          <a:p>
            <a:pPr algn="ctr"/>
          </a:p>
        </p:txBody>
      </p:sp>
      <p:sp>
        <p:nvSpPr>
          <p:cNvPr id="16" name="rail 1 text"/>
          <p:cNvSpPr txBox="1"/>
          <p:nvPr/>
        </p:nvSpPr>
        <p:spPr>
          <a:xfrm>
            <a:off x="5157216" y="3072506"/>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Licensing, trial, Sparkle updates, notarization</a:t>
            </a:r>
            <a:endParaRPr sz="1320"/>
          </a:p>
        </p:txBody>
      </p:sp>
      <p:sp>
        <p:nvSpPr>
          <p:cNvPr id="17" name="rail 1 date"/>
          <p:cNvSpPr txBox="1"/>
          <p:nvPr/>
        </p:nvSpPr>
        <p:spPr>
          <a:xfrm>
            <a:off x="7278624" y="248683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13-15</a:t>
            </a:r>
            <a:endParaRPr sz="1680"/>
          </a:p>
        </p:txBody>
      </p:sp>
      <p:sp>
        <p:nvSpPr>
          <p:cNvPr id="18" name="rail 1 dot"/>
          <p:cNvSpPr/>
          <p:nvPr/>
        </p:nvSpPr>
        <p:spPr>
          <a:xfrm>
            <a:off x="7278624" y="2839334"/>
            <a:ext cx="100584" cy="100584"/>
          </a:xfrm>
          <a:prstGeom prst="ellipse">
            <a:avLst/>
          </a:prstGeom>
          <a:solidFill>
            <a:srgbClr val="6E6E73"/>
          </a:solidFill>
          <a:ln>
            <a:noFill/>
          </a:ln>
        </p:spPr>
        <p:txBody>
          <a:bodyPr rtlCol="0" anchor="ctr"/>
          <a:lstStyle/>
          <a:p>
            <a:pPr algn="ctr"/>
          </a:p>
        </p:txBody>
      </p:sp>
      <p:sp>
        <p:nvSpPr>
          <p:cNvPr id="19" name="rail 1 text"/>
          <p:cNvSpPr txBox="1"/>
          <p:nvPr/>
        </p:nvSpPr>
        <p:spPr>
          <a:xfrm>
            <a:off x="7278624" y="3072506"/>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Clean-Mac install and update test</a:t>
            </a:r>
            <a:endParaRPr sz="1320"/>
          </a:p>
        </p:txBody>
      </p:sp>
      <p:sp>
        <p:nvSpPr>
          <p:cNvPr id="20" name="rail 1 date"/>
          <p:cNvSpPr txBox="1"/>
          <p:nvPr/>
        </p:nvSpPr>
        <p:spPr>
          <a:xfrm>
            <a:off x="9400032" y="2486833"/>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16-18</a:t>
            </a:r>
            <a:endParaRPr sz="1680"/>
          </a:p>
        </p:txBody>
      </p:sp>
      <p:sp>
        <p:nvSpPr>
          <p:cNvPr id="21" name="rail 1 dot"/>
          <p:cNvSpPr/>
          <p:nvPr/>
        </p:nvSpPr>
        <p:spPr>
          <a:xfrm>
            <a:off x="9400032" y="2839334"/>
            <a:ext cx="100584" cy="100584"/>
          </a:xfrm>
          <a:prstGeom prst="ellipse">
            <a:avLst/>
          </a:prstGeom>
          <a:solidFill>
            <a:srgbClr val="6E6E73"/>
          </a:solidFill>
          <a:ln>
            <a:noFill/>
          </a:ln>
        </p:spPr>
        <p:txBody>
          <a:bodyPr rtlCol="0" anchor="ctr"/>
          <a:lstStyle/>
          <a:p>
            <a:pPr algn="ctr"/>
          </a:p>
        </p:txBody>
      </p:sp>
      <p:sp>
        <p:nvSpPr>
          <p:cNvPr id="22" name="rail 1 text"/>
          <p:cNvSpPr txBox="1"/>
          <p:nvPr/>
        </p:nvSpPr>
        <p:spPr>
          <a:xfrm>
            <a:off x="9400032" y="3072506"/>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Landing page, pricing, waitlist</a:t>
            </a:r>
            <a:endParaRPr sz="1320"/>
          </a:p>
        </p:txBody>
      </p:sp>
      <p:cxnSp>
        <p:nvCxnSpPr>
          <p:cNvPr id="23" name="rail 2 rail"/>
          <p:cNvCxnSpPr/>
          <p:nvPr/>
        </p:nvCxnSpPr>
        <p:spPr>
          <a:xfrm>
            <a:off x="914400" y="4616470"/>
            <a:ext cx="10363200" cy="0"/>
          </a:xfrm>
          <a:prstGeom prst="line">
            <a:avLst/>
          </a:prstGeom>
          <a:ln w="9525">
            <a:solidFill>
              <a:srgbClr val="D2D2D7"/>
            </a:solidFill>
          </a:ln>
        </p:spPr>
      </p:cxnSp>
      <p:sp>
        <p:nvSpPr>
          <p:cNvPr id="24" name="rail 2 date"/>
          <p:cNvSpPr txBox="1"/>
          <p:nvPr/>
        </p:nvSpPr>
        <p:spPr>
          <a:xfrm>
            <a:off x="914400" y="4213677"/>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19-22</a:t>
            </a:r>
            <a:endParaRPr sz="1680"/>
          </a:p>
        </p:txBody>
      </p:sp>
      <p:sp>
        <p:nvSpPr>
          <p:cNvPr id="25" name="rail 2 dot"/>
          <p:cNvSpPr/>
          <p:nvPr/>
        </p:nvSpPr>
        <p:spPr>
          <a:xfrm>
            <a:off x="914400" y="4566178"/>
            <a:ext cx="100584" cy="100584"/>
          </a:xfrm>
          <a:prstGeom prst="ellipse">
            <a:avLst/>
          </a:prstGeom>
          <a:solidFill>
            <a:srgbClr val="6E6E73"/>
          </a:solidFill>
          <a:ln>
            <a:noFill/>
          </a:ln>
        </p:spPr>
        <p:txBody>
          <a:bodyPr rtlCol="0" anchor="ctr"/>
          <a:lstStyle/>
          <a:p>
            <a:pPr algn="ctr"/>
          </a:p>
        </p:txBody>
      </p:sp>
      <p:sp>
        <p:nvSpPr>
          <p:cNvPr id="26" name="rail 2 text"/>
          <p:cNvSpPr txBox="1"/>
          <p:nvPr/>
        </p:nvSpPr>
        <p:spPr>
          <a:xfrm>
            <a:off x="914400" y="4799350"/>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Demo video, 5 Shorts, keys to 10-15 creators</a:t>
            </a:r>
            <a:endParaRPr sz="1320"/>
          </a:p>
        </p:txBody>
      </p:sp>
      <p:sp>
        <p:nvSpPr>
          <p:cNvPr id="27" name="rail 2 date"/>
          <p:cNvSpPr txBox="1"/>
          <p:nvPr/>
        </p:nvSpPr>
        <p:spPr>
          <a:xfrm>
            <a:off x="3035808" y="4213677"/>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23-25</a:t>
            </a:r>
            <a:endParaRPr sz="1680"/>
          </a:p>
        </p:txBody>
      </p:sp>
      <p:sp>
        <p:nvSpPr>
          <p:cNvPr id="28" name="rail 2 dot"/>
          <p:cNvSpPr/>
          <p:nvPr/>
        </p:nvSpPr>
        <p:spPr>
          <a:xfrm>
            <a:off x="3035808" y="4566178"/>
            <a:ext cx="100584" cy="100584"/>
          </a:xfrm>
          <a:prstGeom prst="ellipse">
            <a:avLst/>
          </a:prstGeom>
          <a:solidFill>
            <a:srgbClr val="6E6E73"/>
          </a:solidFill>
          <a:ln>
            <a:noFill/>
          </a:ln>
        </p:spPr>
        <p:txBody>
          <a:bodyPr rtlCol="0" anchor="ctr"/>
          <a:lstStyle/>
          <a:p>
            <a:pPr algn="ctr"/>
          </a:p>
        </p:txBody>
      </p:sp>
      <p:sp>
        <p:nvSpPr>
          <p:cNvPr id="29" name="rail 2 text"/>
          <p:cNvSpPr txBox="1"/>
          <p:nvPr/>
        </p:nvSpPr>
        <p:spPr>
          <a:xfrm>
            <a:off x="3035808" y="4799350"/>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Private beta, 30-50 users, 5 testimonials</a:t>
            </a:r>
            <a:endParaRPr sz="1320"/>
          </a:p>
        </p:txBody>
      </p:sp>
      <p:sp>
        <p:nvSpPr>
          <p:cNvPr id="30" name="rail 2 date"/>
          <p:cNvSpPr txBox="1"/>
          <p:nvPr/>
        </p:nvSpPr>
        <p:spPr>
          <a:xfrm>
            <a:off x="5157216" y="4213677"/>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 26</a:t>
            </a:r>
            <a:endParaRPr sz="1680"/>
          </a:p>
        </p:txBody>
      </p:sp>
      <p:sp>
        <p:nvSpPr>
          <p:cNvPr id="31" name="rail 2 dot"/>
          <p:cNvSpPr/>
          <p:nvPr/>
        </p:nvSpPr>
        <p:spPr>
          <a:xfrm>
            <a:off x="5157216" y="4566178"/>
            <a:ext cx="100584" cy="100584"/>
          </a:xfrm>
          <a:prstGeom prst="ellipse">
            <a:avLst/>
          </a:prstGeom>
          <a:solidFill>
            <a:srgbClr val="6E6E73"/>
          </a:solidFill>
          <a:ln>
            <a:noFill/>
          </a:ln>
        </p:spPr>
        <p:txBody>
          <a:bodyPr rtlCol="0" anchor="ctr"/>
          <a:lstStyle/>
          <a:p>
            <a:pPr algn="ctr"/>
          </a:p>
        </p:txBody>
      </p:sp>
      <p:sp>
        <p:nvSpPr>
          <p:cNvPr id="32" name="rail 2 text"/>
          <p:cNvSpPr txBox="1"/>
          <p:nvPr/>
        </p:nvSpPr>
        <p:spPr>
          <a:xfrm>
            <a:off x="5157216" y="4799350"/>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Ship 1.0 at the launch price</a:t>
            </a:r>
            <a:endParaRPr sz="1320"/>
          </a:p>
        </p:txBody>
      </p:sp>
      <p:sp>
        <p:nvSpPr>
          <p:cNvPr id="33" name="rail 2 date"/>
          <p:cNvSpPr txBox="1"/>
          <p:nvPr/>
        </p:nvSpPr>
        <p:spPr>
          <a:xfrm>
            <a:off x="7278624" y="4213677"/>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 27</a:t>
            </a:r>
            <a:endParaRPr sz="1680"/>
          </a:p>
        </p:txBody>
      </p:sp>
      <p:sp>
        <p:nvSpPr>
          <p:cNvPr id="34" name="rail 2 dot"/>
          <p:cNvSpPr/>
          <p:nvPr/>
        </p:nvSpPr>
        <p:spPr>
          <a:xfrm>
            <a:off x="7278624" y="4543318"/>
            <a:ext cx="146304" cy="146304"/>
          </a:xfrm>
          <a:prstGeom prst="ellipse">
            <a:avLst/>
          </a:prstGeom>
          <a:solidFill>
            <a:srgbClr val="F01822"/>
          </a:solidFill>
          <a:ln>
            <a:noFill/>
          </a:ln>
        </p:spPr>
        <p:txBody>
          <a:bodyPr rtlCol="0" anchor="ctr"/>
          <a:lstStyle/>
          <a:p>
            <a:pPr algn="ctr"/>
          </a:p>
        </p:txBody>
      </p:sp>
      <p:sp>
        <p:nvSpPr>
          <p:cNvPr id="35" name="rail 2 text"/>
          <p:cNvSpPr txBox="1"/>
          <p:nvPr/>
        </p:nvSpPr>
        <p:spPr>
          <a:xfrm>
            <a:off x="7278624" y="4799350"/>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Product Hunt (Tue/Wed), r/macapps, X, LinkedIn, waitlist email</a:t>
            </a:r>
            <a:endParaRPr sz="1320"/>
          </a:p>
        </p:txBody>
      </p:sp>
      <p:sp>
        <p:nvSpPr>
          <p:cNvPr id="36" name="rail 2 date"/>
          <p:cNvSpPr txBox="1"/>
          <p:nvPr/>
        </p:nvSpPr>
        <p:spPr>
          <a:xfrm>
            <a:off x="9400032" y="4213677"/>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28-30</a:t>
            </a:r>
            <a:endParaRPr sz="1680"/>
          </a:p>
        </p:txBody>
      </p:sp>
      <p:sp>
        <p:nvSpPr>
          <p:cNvPr id="37" name="rail 2 dot"/>
          <p:cNvSpPr/>
          <p:nvPr/>
        </p:nvSpPr>
        <p:spPr>
          <a:xfrm>
            <a:off x="9400032" y="4566178"/>
            <a:ext cx="100584" cy="100584"/>
          </a:xfrm>
          <a:prstGeom prst="ellipse">
            <a:avLst/>
          </a:prstGeom>
          <a:solidFill>
            <a:srgbClr val="6E6E73"/>
          </a:solidFill>
          <a:ln>
            <a:noFill/>
          </a:ln>
        </p:spPr>
        <p:txBody>
          <a:bodyPr rtlCol="0" anchor="ctr"/>
          <a:lstStyle/>
          <a:p>
            <a:pPr algn="ctr"/>
          </a:p>
        </p:txBody>
      </p:sp>
      <p:sp>
        <p:nvSpPr>
          <p:cNvPr id="38" name="rail 2 text"/>
          <p:cNvSpPr txBox="1"/>
          <p:nvPr/>
        </p:nvSpPr>
        <p:spPr>
          <a:xfrm>
            <a:off x="9400032" y="4799350"/>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Show HN, affiliates open, retrospective</a:t>
            </a:r>
            <a:endParaRPr sz="132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16</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Go to market · channels</a:t>
            </a:r>
            <a:endParaRPr sz="1320"/>
          </a:p>
        </p:txBody>
      </p:sp>
      <p:sp>
        <p:nvSpPr>
          <p:cNvPr id="5" name="headline"/>
          <p:cNvSpPr txBox="1"/>
          <p:nvPr/>
        </p:nvSpPr>
        <p:spPr>
          <a:xfrm>
            <a:off x="914400" y="1067257"/>
            <a:ext cx="10363200" cy="519349"/>
          </a:xfrm>
          <a:prstGeom prst="rect">
            <a:avLst/>
          </a:prstGeom>
          <a:noFill/>
        </p:spPr>
        <p:txBody>
          <a:bodyPr wrap="square" lIns="0" tIns="0" rIns="0" bIns="0" anchor="t">
            <a:noAutofit/>
          </a:bodyPr>
          <a:lstStyle/>
          <a:p>
            <a:pPr algn="l">
              <a:lnSpc>
                <a:spcPts val="4086"/>
              </a:lnSpc>
              <a:spcBef>
                <a:spcPts val="0"/>
              </a:spcBef>
              <a:spcAft>
                <a:spcPts val="0"/>
              </a:spcAft>
            </a:pPr>
            <a:r>
              <a:rPr sz="3647" b="0" i="0" spc="-55">
                <a:solidFill>
                  <a:srgbClr val="1D1D1F"/>
                </a:solidFill>
                <a:latin typeface="Helvetica Neue Light"/>
              </a:rPr>
              <a:t>Go to market: waitlist to </a:t>
            </a:r>
            <a:r>
              <a:rPr sz="3647" b="0" i="0" spc="-55">
                <a:solidFill>
                  <a:srgbClr val="1D1D1F"/>
                </a:solidFill>
                <a:latin typeface="Helvetica Neue Medium"/>
              </a:rPr>
              <a:t>Product Hunt in 30 days.</a:t>
            </a:r>
            <a:endParaRPr sz="3648"/>
          </a:p>
        </p:txBody>
      </p:sp>
      <p:cxnSp>
        <p:nvCxnSpPr>
          <p:cNvPr id="6" name="point rule"/>
          <p:cNvCxnSpPr/>
          <p:nvPr/>
        </p:nvCxnSpPr>
        <p:spPr>
          <a:xfrm>
            <a:off x="914400" y="1998086"/>
            <a:ext cx="3291840" cy="0"/>
          </a:xfrm>
          <a:prstGeom prst="line">
            <a:avLst/>
          </a:prstGeom>
          <a:ln w="9525">
            <a:solidFill>
              <a:srgbClr val="D2D2D7"/>
            </a:solidFill>
          </a:ln>
        </p:spPr>
      </p:cxnSp>
      <p:sp>
        <p:nvSpPr>
          <p:cNvPr id="7" name="point"/>
          <p:cNvSpPr txBox="1"/>
          <p:nvPr/>
        </p:nvSpPr>
        <p:spPr>
          <a:xfrm>
            <a:off x="914400" y="2135246"/>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Product Hunt, r/macapps App Pile, Show HN</a:t>
            </a:r>
            <a:endParaRPr sz="1320"/>
          </a:p>
        </p:txBody>
      </p:sp>
      <p:cxnSp>
        <p:nvCxnSpPr>
          <p:cNvPr id="8" name="point rule"/>
          <p:cNvCxnSpPr/>
          <p:nvPr/>
        </p:nvCxnSpPr>
        <p:spPr>
          <a:xfrm>
            <a:off x="4450080" y="1998086"/>
            <a:ext cx="3291840" cy="0"/>
          </a:xfrm>
          <a:prstGeom prst="line">
            <a:avLst/>
          </a:prstGeom>
          <a:ln w="9525">
            <a:solidFill>
              <a:srgbClr val="D2D2D7"/>
            </a:solidFill>
          </a:ln>
        </p:spPr>
      </p:cxnSp>
      <p:sp>
        <p:nvSpPr>
          <p:cNvPr id="9" name="point"/>
          <p:cNvSpPr txBox="1"/>
          <p:nvPr/>
        </p:nvSpPr>
        <p:spPr>
          <a:xfrm>
            <a:off x="4450080" y="2135246"/>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YouTube: one 2-4 min demo plus a 30 s Short per feature</a:t>
            </a:r>
            <a:endParaRPr sz="1320"/>
          </a:p>
        </p:txBody>
      </p:sp>
      <p:cxnSp>
        <p:nvCxnSpPr>
          <p:cNvPr id="10" name="point rule"/>
          <p:cNvCxnSpPr/>
          <p:nvPr/>
        </p:nvCxnSpPr>
        <p:spPr>
          <a:xfrm>
            <a:off x="7985760" y="1998086"/>
            <a:ext cx="3291840" cy="0"/>
          </a:xfrm>
          <a:prstGeom prst="line">
            <a:avLst/>
          </a:prstGeom>
          <a:ln w="9525">
            <a:solidFill>
              <a:srgbClr val="D2D2D7"/>
            </a:solidFill>
          </a:ln>
        </p:spPr>
      </p:cxnSp>
      <p:sp>
        <p:nvSpPr>
          <p:cNvPr id="11" name="point"/>
          <p:cNvSpPr txBox="1"/>
          <p:nvPr/>
        </p:nvSpPr>
        <p:spPr>
          <a:xfrm>
            <a:off x="7985760" y="2135246"/>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Comparison pages: SparkV vs NotchNook, Alcove, boring.notch</a:t>
            </a:r>
            <a:endParaRPr sz="1320"/>
          </a:p>
        </p:txBody>
      </p:sp>
      <p:sp>
        <p:nvSpPr>
          <p:cNvPr id="12" name="row label"/>
          <p:cNvSpPr txBox="1"/>
          <p:nvPr/>
        </p:nvSpPr>
        <p:spPr>
          <a:xfrm>
            <a:off x="914400" y="2987619"/>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CHANNELS</a:t>
            </a:r>
            <a:endParaRPr sz="900"/>
          </a:p>
        </p:txBody>
      </p:sp>
      <p:sp>
        <p:nvSpPr>
          <p:cNvPr id="13" name="channel chip"/>
          <p:cNvSpPr/>
          <p:nvPr/>
        </p:nvSpPr>
        <p:spPr>
          <a:xfrm>
            <a:off x="914400" y="3253252"/>
            <a:ext cx="1108912" cy="324993"/>
          </a:xfrm>
          <a:prstGeom prst="roundRect">
            <a:avLst>
              <a:gd name="adj" fmla="val 50000"/>
            </a:avLst>
          </a:prstGeom>
          <a:noFill/>
          <a:ln w="9525">
            <a:solidFill>
              <a:srgbClr val="1D1D1F"/>
            </a:solidFill>
          </a:ln>
        </p:spPr>
        <p:txBody>
          <a:bodyPr rtlCol="0" anchor="ctr"/>
          <a:lstStyle/>
          <a:p>
            <a:pPr algn="ctr"/>
          </a:p>
        </p:txBody>
      </p:sp>
      <p:sp>
        <p:nvSpPr>
          <p:cNvPr id="14" name="channel chip text"/>
          <p:cNvSpPr txBox="1"/>
          <p:nvPr/>
        </p:nvSpPr>
        <p:spPr>
          <a:xfrm>
            <a:off x="1036320" y="3321832"/>
            <a:ext cx="865072"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Product Hunt</a:t>
            </a:r>
            <a:endParaRPr sz="1020"/>
          </a:p>
        </p:txBody>
      </p:sp>
      <p:sp>
        <p:nvSpPr>
          <p:cNvPr id="15" name="channel chip"/>
          <p:cNvSpPr/>
          <p:nvPr/>
        </p:nvSpPr>
        <p:spPr>
          <a:xfrm>
            <a:off x="2151328" y="3253252"/>
            <a:ext cx="952677" cy="324993"/>
          </a:xfrm>
          <a:prstGeom prst="roundRect">
            <a:avLst>
              <a:gd name="adj" fmla="val 50000"/>
            </a:avLst>
          </a:prstGeom>
          <a:noFill/>
          <a:ln w="9525">
            <a:solidFill>
              <a:srgbClr val="1D1D1F"/>
            </a:solidFill>
          </a:ln>
        </p:spPr>
        <p:txBody>
          <a:bodyPr rtlCol="0" anchor="ctr"/>
          <a:lstStyle/>
          <a:p>
            <a:pPr algn="ctr"/>
          </a:p>
        </p:txBody>
      </p:sp>
      <p:sp>
        <p:nvSpPr>
          <p:cNvPr id="16" name="channel chip text"/>
          <p:cNvSpPr txBox="1"/>
          <p:nvPr/>
        </p:nvSpPr>
        <p:spPr>
          <a:xfrm>
            <a:off x="2273248" y="3321832"/>
            <a:ext cx="708837"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r/macapps</a:t>
            </a:r>
            <a:endParaRPr sz="1020"/>
          </a:p>
        </p:txBody>
      </p:sp>
      <p:sp>
        <p:nvSpPr>
          <p:cNvPr id="17" name="channel chip"/>
          <p:cNvSpPr/>
          <p:nvPr/>
        </p:nvSpPr>
        <p:spPr>
          <a:xfrm>
            <a:off x="3232021" y="3253252"/>
            <a:ext cx="2415332" cy="324993"/>
          </a:xfrm>
          <a:prstGeom prst="roundRect">
            <a:avLst>
              <a:gd name="adj" fmla="val 50000"/>
            </a:avLst>
          </a:prstGeom>
          <a:noFill/>
          <a:ln w="9525">
            <a:solidFill>
              <a:srgbClr val="1D1D1F"/>
            </a:solidFill>
          </a:ln>
        </p:spPr>
        <p:txBody>
          <a:bodyPr rtlCol="0" anchor="ctr"/>
          <a:lstStyle/>
          <a:p>
            <a:pPr algn="ctr"/>
          </a:p>
        </p:txBody>
      </p:sp>
      <p:sp>
        <p:nvSpPr>
          <p:cNvPr id="18" name="channel chip text"/>
          <p:cNvSpPr txBox="1"/>
          <p:nvPr/>
        </p:nvSpPr>
        <p:spPr>
          <a:xfrm>
            <a:off x="3353941" y="3321832"/>
            <a:ext cx="2171492"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YouTube creators (20k-300k subs)</a:t>
            </a:r>
            <a:endParaRPr sz="1020"/>
          </a:p>
        </p:txBody>
      </p:sp>
      <p:sp>
        <p:nvSpPr>
          <p:cNvPr id="19" name="channel chip"/>
          <p:cNvSpPr/>
          <p:nvPr/>
        </p:nvSpPr>
        <p:spPr>
          <a:xfrm>
            <a:off x="5775369" y="3253252"/>
            <a:ext cx="3198444" cy="324993"/>
          </a:xfrm>
          <a:prstGeom prst="roundRect">
            <a:avLst>
              <a:gd name="adj" fmla="val 50000"/>
            </a:avLst>
          </a:prstGeom>
          <a:noFill/>
          <a:ln w="9525">
            <a:solidFill>
              <a:srgbClr val="1D1D1F"/>
            </a:solidFill>
          </a:ln>
        </p:spPr>
        <p:txBody>
          <a:bodyPr rtlCol="0" anchor="ctr"/>
          <a:lstStyle/>
          <a:p>
            <a:pPr algn="ctr"/>
          </a:p>
        </p:txBody>
      </p:sp>
      <p:sp>
        <p:nvSpPr>
          <p:cNvPr id="20" name="channel chip text"/>
          <p:cNvSpPr txBox="1"/>
          <p:nvPr/>
        </p:nvSpPr>
        <p:spPr>
          <a:xfrm>
            <a:off x="5897289" y="3321832"/>
            <a:ext cx="2954604"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Lemon Squeezy affiliates (30%, 30-day cookie)</a:t>
            </a:r>
            <a:endParaRPr sz="1020"/>
          </a:p>
        </p:txBody>
      </p:sp>
      <p:sp>
        <p:nvSpPr>
          <p:cNvPr id="21" name="channel chip"/>
          <p:cNvSpPr/>
          <p:nvPr/>
        </p:nvSpPr>
        <p:spPr>
          <a:xfrm>
            <a:off x="9101829" y="3253252"/>
            <a:ext cx="1839145" cy="324993"/>
          </a:xfrm>
          <a:prstGeom prst="roundRect">
            <a:avLst>
              <a:gd name="adj" fmla="val 50000"/>
            </a:avLst>
          </a:prstGeom>
          <a:noFill/>
          <a:ln w="9525">
            <a:solidFill>
              <a:srgbClr val="1D1D1F"/>
            </a:solidFill>
          </a:ln>
        </p:spPr>
        <p:txBody>
          <a:bodyPr rtlCol="0" anchor="ctr"/>
          <a:lstStyle/>
          <a:p>
            <a:pPr algn="ctr"/>
          </a:p>
        </p:txBody>
      </p:sp>
      <p:sp>
        <p:nvSpPr>
          <p:cNvPr id="22" name="channel chip text"/>
          <p:cNvSpPr txBox="1"/>
          <p:nvPr/>
        </p:nvSpPr>
        <p:spPr>
          <a:xfrm>
            <a:off x="9223749" y="3321832"/>
            <a:ext cx="1595305"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Show HN / Indie Hackers</a:t>
            </a:r>
            <a:endParaRPr sz="1020"/>
          </a:p>
        </p:txBody>
      </p:sp>
      <p:sp>
        <p:nvSpPr>
          <p:cNvPr id="23" name="channel chip"/>
          <p:cNvSpPr/>
          <p:nvPr/>
        </p:nvSpPr>
        <p:spPr>
          <a:xfrm>
            <a:off x="914400" y="3706261"/>
            <a:ext cx="1429591" cy="324993"/>
          </a:xfrm>
          <a:prstGeom prst="roundRect">
            <a:avLst>
              <a:gd name="adj" fmla="val 50000"/>
            </a:avLst>
          </a:prstGeom>
          <a:noFill/>
          <a:ln w="9525">
            <a:solidFill>
              <a:srgbClr val="1D1D1F"/>
            </a:solidFill>
          </a:ln>
        </p:spPr>
        <p:txBody>
          <a:bodyPr rtlCol="0" anchor="ctr"/>
          <a:lstStyle/>
          <a:p>
            <a:pPr algn="ctr"/>
          </a:p>
        </p:txBody>
      </p:sp>
      <p:sp>
        <p:nvSpPr>
          <p:cNvPr id="24" name="channel chip text"/>
          <p:cNvSpPr txBox="1"/>
          <p:nvPr/>
        </p:nvSpPr>
        <p:spPr>
          <a:xfrm>
            <a:off x="1036320" y="3774841"/>
            <a:ext cx="1185751"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Setapp (month 3+)</a:t>
            </a:r>
            <a:endParaRPr sz="1020"/>
          </a:p>
        </p:txBody>
      </p:sp>
      <p:sp>
        <p:nvSpPr>
          <p:cNvPr id="25" name="row label"/>
          <p:cNvSpPr txBox="1"/>
          <p:nvPr/>
        </p:nvSpPr>
        <p:spPr>
          <a:xfrm>
            <a:off x="914400" y="4397014"/>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TARGETS</a:t>
            </a:r>
            <a:endParaRPr sz="900"/>
          </a:p>
        </p:txBody>
      </p:sp>
      <p:sp>
        <p:nvSpPr>
          <p:cNvPr id="26" name="target tile"/>
          <p:cNvSpPr/>
          <p:nvPr/>
        </p:nvSpPr>
        <p:spPr>
          <a:xfrm>
            <a:off x="914400" y="4662648"/>
            <a:ext cx="2407920" cy="572262"/>
          </a:xfrm>
          <a:prstGeom prst="roundRect">
            <a:avLst>
              <a:gd name="adj" fmla="val 18641"/>
            </a:avLst>
          </a:prstGeom>
          <a:solidFill>
            <a:srgbClr val="FFFFFF"/>
          </a:solidFill>
          <a:ln w="9525">
            <a:solidFill>
              <a:srgbClr val="86868B"/>
            </a:solidFill>
            <a:prstDash val="dash"/>
          </a:ln>
        </p:spPr>
        <p:txBody>
          <a:bodyPr rtlCol="0" anchor="ctr"/>
          <a:lstStyle/>
          <a:p>
            <a:pPr algn="ctr"/>
          </a:p>
        </p:txBody>
      </p:sp>
      <p:sp>
        <p:nvSpPr>
          <p:cNvPr id="27" name="target text"/>
          <p:cNvSpPr txBox="1"/>
          <p:nvPr/>
        </p:nvSpPr>
        <p:spPr>
          <a:xfrm>
            <a:off x="1051560" y="4827011"/>
            <a:ext cx="21336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waitlist target]</a:t>
            </a:r>
            <a:endParaRPr sz="1320"/>
          </a:p>
        </p:txBody>
      </p:sp>
      <p:sp>
        <p:nvSpPr>
          <p:cNvPr id="28" name="target tile"/>
          <p:cNvSpPr/>
          <p:nvPr/>
        </p:nvSpPr>
        <p:spPr>
          <a:xfrm>
            <a:off x="3566160" y="4662648"/>
            <a:ext cx="2407920" cy="572262"/>
          </a:xfrm>
          <a:prstGeom prst="roundRect">
            <a:avLst>
              <a:gd name="adj" fmla="val 18641"/>
            </a:avLst>
          </a:prstGeom>
          <a:solidFill>
            <a:srgbClr val="FFFFFF"/>
          </a:solidFill>
          <a:ln w="9525">
            <a:solidFill>
              <a:srgbClr val="86868B"/>
            </a:solidFill>
            <a:prstDash val="dash"/>
          </a:ln>
        </p:spPr>
        <p:txBody>
          <a:bodyPr rtlCol="0" anchor="ctr"/>
          <a:lstStyle/>
          <a:p>
            <a:pPr algn="ctr"/>
          </a:p>
        </p:txBody>
      </p:sp>
      <p:sp>
        <p:nvSpPr>
          <p:cNvPr id="29" name="target text"/>
          <p:cNvSpPr txBox="1"/>
          <p:nvPr/>
        </p:nvSpPr>
        <p:spPr>
          <a:xfrm>
            <a:off x="3703320" y="4827011"/>
            <a:ext cx="21336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trial-to-paid target]</a:t>
            </a:r>
            <a:endParaRPr sz="1320"/>
          </a:p>
        </p:txBody>
      </p:sp>
      <p:sp>
        <p:nvSpPr>
          <p:cNvPr id="30" name="target tile"/>
          <p:cNvSpPr/>
          <p:nvPr/>
        </p:nvSpPr>
        <p:spPr>
          <a:xfrm>
            <a:off x="6217920" y="4662648"/>
            <a:ext cx="2407920" cy="572262"/>
          </a:xfrm>
          <a:prstGeom prst="roundRect">
            <a:avLst>
              <a:gd name="adj" fmla="val 18641"/>
            </a:avLst>
          </a:prstGeom>
          <a:solidFill>
            <a:srgbClr val="FFFFFF"/>
          </a:solidFill>
          <a:ln w="9525">
            <a:solidFill>
              <a:srgbClr val="86868B"/>
            </a:solidFill>
            <a:prstDash val="dash"/>
          </a:ln>
        </p:spPr>
        <p:txBody>
          <a:bodyPr rtlCol="0" anchor="ctr"/>
          <a:lstStyle/>
          <a:p>
            <a:pPr algn="ctr"/>
          </a:p>
        </p:txBody>
      </p:sp>
      <p:sp>
        <p:nvSpPr>
          <p:cNvPr id="31" name="target text"/>
          <p:cNvSpPr txBox="1"/>
          <p:nvPr/>
        </p:nvSpPr>
        <p:spPr>
          <a:xfrm>
            <a:off x="6355080" y="4827011"/>
            <a:ext cx="21336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CAC by channel]</a:t>
            </a:r>
            <a:endParaRPr sz="1320"/>
          </a:p>
        </p:txBody>
      </p:sp>
      <p:sp>
        <p:nvSpPr>
          <p:cNvPr id="32" name="target tile"/>
          <p:cNvSpPr/>
          <p:nvPr/>
        </p:nvSpPr>
        <p:spPr>
          <a:xfrm>
            <a:off x="8869680" y="4662648"/>
            <a:ext cx="2407920" cy="572262"/>
          </a:xfrm>
          <a:prstGeom prst="roundRect">
            <a:avLst>
              <a:gd name="adj" fmla="val 18641"/>
            </a:avLst>
          </a:prstGeom>
          <a:solidFill>
            <a:srgbClr val="FFFFFF"/>
          </a:solidFill>
          <a:ln w="9525">
            <a:solidFill>
              <a:srgbClr val="86868B"/>
            </a:solidFill>
            <a:prstDash val="dash"/>
          </a:ln>
        </p:spPr>
        <p:txBody>
          <a:bodyPr rtlCol="0" anchor="ctr"/>
          <a:lstStyle/>
          <a:p>
            <a:pPr algn="ctr"/>
          </a:p>
        </p:txBody>
      </p:sp>
      <p:sp>
        <p:nvSpPr>
          <p:cNvPr id="33" name="target text"/>
          <p:cNvSpPr txBox="1"/>
          <p:nvPr/>
        </p:nvSpPr>
        <p:spPr>
          <a:xfrm>
            <a:off x="9006840" y="4827011"/>
            <a:ext cx="21336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creator reach]</a:t>
            </a:r>
            <a:endParaRPr sz="132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Internal checks run 22 Oct 2026 against current sources (feature guide, verification summary).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17</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Traction</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Built and tested. </a:t>
            </a:r>
            <a:r>
              <a:rPr sz="3360" b="0" i="0" spc="-50">
                <a:solidFill>
                  <a:srgbClr val="1D1D1F"/>
                </a:solidFill>
                <a:latin typeface="Helvetica Neue Medium"/>
              </a:rPr>
              <a:t>Launch numbers come next.</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Pre-revenue today. This is what is verified, and what we will report.</a:t>
            </a:r>
            <a:endParaRPr sz="1680"/>
          </a:p>
        </p:txBody>
      </p:sp>
      <p:sp>
        <p:nvSpPr>
          <p:cNvPr id="7" name="row label"/>
          <p:cNvSpPr txBox="1"/>
          <p:nvPr/>
        </p:nvSpPr>
        <p:spPr>
          <a:xfrm>
            <a:off x="914400" y="2308708"/>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VERIFIED</a:t>
            </a:r>
            <a:endParaRPr sz="900"/>
          </a:p>
        </p:txBody>
      </p:sp>
      <p:sp>
        <p:nvSpPr>
          <p:cNvPr id="8" name="metric card"/>
          <p:cNvSpPr/>
          <p:nvPr/>
        </p:nvSpPr>
        <p:spPr>
          <a:xfrm>
            <a:off x="914400" y="2556053"/>
            <a:ext cx="2407920" cy="1321460"/>
          </a:xfrm>
          <a:prstGeom prst="roundRect">
            <a:avLst>
              <a:gd name="adj" fmla="val 12685"/>
            </a:avLst>
          </a:prstGeom>
          <a:solidFill>
            <a:srgbClr val="F5F5F7"/>
          </a:solidFill>
          <a:ln>
            <a:noFill/>
          </a:ln>
        </p:spPr>
        <p:txBody>
          <a:bodyPr rtlCol="0" anchor="ctr"/>
          <a:lstStyle/>
          <a:p>
            <a:pPr algn="ctr"/>
          </a:p>
        </p:txBody>
      </p:sp>
      <p:sp>
        <p:nvSpPr>
          <p:cNvPr id="9" name="metric value"/>
          <p:cNvSpPr txBox="1"/>
          <p:nvPr/>
        </p:nvSpPr>
        <p:spPr>
          <a:xfrm>
            <a:off x="1127760" y="2723693"/>
            <a:ext cx="1981200" cy="536905"/>
          </a:xfrm>
          <a:prstGeom prst="rect">
            <a:avLst/>
          </a:prstGeom>
          <a:noFill/>
        </p:spPr>
        <p:txBody>
          <a:bodyPr wrap="square" lIns="0" tIns="0" rIns="0" bIns="0" anchor="t">
            <a:noAutofit/>
          </a:bodyPr>
          <a:lstStyle/>
          <a:p>
            <a:pPr algn="l">
              <a:lnSpc>
                <a:spcPts val="4224"/>
              </a:lnSpc>
              <a:spcBef>
                <a:spcPts val="0"/>
              </a:spcBef>
              <a:spcAft>
                <a:spcPts val="0"/>
              </a:spcAft>
            </a:pPr>
            <a:r>
              <a:rPr sz="3840" b="0" i="0" spc="-77">
                <a:solidFill>
                  <a:srgbClr val="1D1D1F"/>
                </a:solidFill>
                <a:latin typeface="Helvetica Neue Light"/>
              </a:rPr>
              <a:t>29,283</a:t>
            </a:r>
            <a:endParaRPr sz="3840"/>
          </a:p>
        </p:txBody>
      </p:sp>
      <p:grpSp>
        <p:nvGrpSpPr>
          <p:cNvPr id="10" name="check mark"/>
          <p:cNvGrpSpPr/>
          <p:nvPr/>
        </p:nvGrpSpPr>
        <p:grpSpPr>
          <a:xfrm>
            <a:off x="1133246" y="3374166"/>
            <a:ext cx="98756" cy="76810"/>
            <a:chOff x="1133246" y="3374166"/>
            <a:chExt cx="98756" cy="76810"/>
          </a:xfrm>
        </p:grpSpPr>
        <p:cxnSp>
          <p:nvCxnSpPr>
            <p:cNvPr id="11" name="Connector 10"/>
            <p:cNvCxnSpPr/>
            <p:nvPr/>
          </p:nvCxnSpPr>
          <p:spPr>
            <a:xfrm>
              <a:off x="1133246" y="3416960"/>
              <a:ext cx="36211" cy="34016"/>
            </a:xfrm>
            <a:prstGeom prst="line">
              <a:avLst/>
            </a:prstGeom>
            <a:ln w="17780">
              <a:solidFill>
                <a:srgbClr val="1D8E3E"/>
              </a:solidFill>
            </a:ln>
          </p:spPr>
        </p:cxnSp>
        <p:cxnSp>
          <p:nvCxnSpPr>
            <p:cNvPr id="12" name="Connector 11"/>
            <p:cNvCxnSpPr/>
            <p:nvPr/>
          </p:nvCxnSpPr>
          <p:spPr>
            <a:xfrm flipV="1">
              <a:off x="1169457" y="3374166"/>
              <a:ext cx="62545" cy="76810"/>
            </a:xfrm>
            <a:prstGeom prst="line">
              <a:avLst/>
            </a:prstGeom>
            <a:ln w="17780">
              <a:solidFill>
                <a:srgbClr val="1D8E3E"/>
              </a:solidFill>
            </a:ln>
          </p:spPr>
        </p:cxnSp>
      </p:grpSp>
      <p:sp>
        <p:nvSpPr>
          <p:cNvPr id="13" name="metric label"/>
          <p:cNvSpPr txBox="1"/>
          <p:nvPr/>
        </p:nvSpPr>
        <p:spPr>
          <a:xfrm>
            <a:off x="1328928" y="3333750"/>
            <a:ext cx="1780032"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widget checks, 0 failures</a:t>
            </a:r>
            <a:endParaRPr sz="1020"/>
          </a:p>
        </p:txBody>
      </p:sp>
      <p:sp>
        <p:nvSpPr>
          <p:cNvPr id="14" name="metric card"/>
          <p:cNvSpPr/>
          <p:nvPr/>
        </p:nvSpPr>
        <p:spPr>
          <a:xfrm>
            <a:off x="3566160" y="2556053"/>
            <a:ext cx="2407920" cy="1321460"/>
          </a:xfrm>
          <a:prstGeom prst="roundRect">
            <a:avLst>
              <a:gd name="adj" fmla="val 12685"/>
            </a:avLst>
          </a:prstGeom>
          <a:solidFill>
            <a:srgbClr val="F5F5F7"/>
          </a:solidFill>
          <a:ln>
            <a:noFill/>
          </a:ln>
        </p:spPr>
        <p:txBody>
          <a:bodyPr rtlCol="0" anchor="ctr"/>
          <a:lstStyle/>
          <a:p>
            <a:pPr algn="ctr"/>
          </a:p>
        </p:txBody>
      </p:sp>
      <p:sp>
        <p:nvSpPr>
          <p:cNvPr id="15" name="metric value"/>
          <p:cNvSpPr txBox="1"/>
          <p:nvPr/>
        </p:nvSpPr>
        <p:spPr>
          <a:xfrm>
            <a:off x="3779520" y="2723693"/>
            <a:ext cx="1981200" cy="536905"/>
          </a:xfrm>
          <a:prstGeom prst="rect">
            <a:avLst/>
          </a:prstGeom>
          <a:noFill/>
        </p:spPr>
        <p:txBody>
          <a:bodyPr wrap="square" lIns="0" tIns="0" rIns="0" bIns="0" anchor="t">
            <a:noAutofit/>
          </a:bodyPr>
          <a:lstStyle/>
          <a:p>
            <a:pPr algn="l">
              <a:lnSpc>
                <a:spcPts val="4224"/>
              </a:lnSpc>
              <a:spcBef>
                <a:spcPts val="0"/>
              </a:spcBef>
              <a:spcAft>
                <a:spcPts val="0"/>
              </a:spcAft>
            </a:pPr>
            <a:r>
              <a:rPr sz="3840" b="0" i="0" spc="-77">
                <a:solidFill>
                  <a:srgbClr val="1D1D1F"/>
                </a:solidFill>
                <a:latin typeface="Helvetica Neue Light"/>
              </a:rPr>
              <a:t>195</a:t>
            </a:r>
            <a:endParaRPr sz="3840"/>
          </a:p>
        </p:txBody>
      </p:sp>
      <p:grpSp>
        <p:nvGrpSpPr>
          <p:cNvPr id="16" name="check mark"/>
          <p:cNvGrpSpPr/>
          <p:nvPr/>
        </p:nvGrpSpPr>
        <p:grpSpPr>
          <a:xfrm>
            <a:off x="3785006" y="3374166"/>
            <a:ext cx="98756" cy="76810"/>
            <a:chOff x="3785006" y="3374166"/>
            <a:chExt cx="98756" cy="76810"/>
          </a:xfrm>
        </p:grpSpPr>
        <p:cxnSp>
          <p:nvCxnSpPr>
            <p:cNvPr id="17" name="Connector 16"/>
            <p:cNvCxnSpPr/>
            <p:nvPr/>
          </p:nvCxnSpPr>
          <p:spPr>
            <a:xfrm>
              <a:off x="3785006" y="3416960"/>
              <a:ext cx="36211" cy="34016"/>
            </a:xfrm>
            <a:prstGeom prst="line">
              <a:avLst/>
            </a:prstGeom>
            <a:ln w="17780">
              <a:solidFill>
                <a:srgbClr val="1D8E3E"/>
              </a:solidFill>
            </a:ln>
          </p:spPr>
        </p:cxnSp>
        <p:cxnSp>
          <p:nvCxnSpPr>
            <p:cNvPr id="18" name="Connector 17"/>
            <p:cNvCxnSpPr/>
            <p:nvPr/>
          </p:nvCxnSpPr>
          <p:spPr>
            <a:xfrm flipV="1">
              <a:off x="3821217" y="3374166"/>
              <a:ext cx="62545" cy="76810"/>
            </a:xfrm>
            <a:prstGeom prst="line">
              <a:avLst/>
            </a:prstGeom>
            <a:ln w="17780">
              <a:solidFill>
                <a:srgbClr val="1D8E3E"/>
              </a:solidFill>
            </a:ln>
          </p:spPr>
        </p:cxnSp>
      </p:grpSp>
      <p:sp>
        <p:nvSpPr>
          <p:cNvPr id="19" name="metric label"/>
          <p:cNvSpPr txBox="1"/>
          <p:nvPr/>
        </p:nvSpPr>
        <p:spPr>
          <a:xfrm>
            <a:off x="3980688" y="3333750"/>
            <a:ext cx="1780032"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clipboard and paste-stack checks, 0 failures</a:t>
            </a:r>
            <a:endParaRPr sz="1020"/>
          </a:p>
        </p:txBody>
      </p:sp>
      <p:sp>
        <p:nvSpPr>
          <p:cNvPr id="20" name="metric card"/>
          <p:cNvSpPr/>
          <p:nvPr/>
        </p:nvSpPr>
        <p:spPr>
          <a:xfrm>
            <a:off x="6217920" y="2556053"/>
            <a:ext cx="2407920" cy="1321460"/>
          </a:xfrm>
          <a:prstGeom prst="roundRect">
            <a:avLst>
              <a:gd name="adj" fmla="val 12685"/>
            </a:avLst>
          </a:prstGeom>
          <a:solidFill>
            <a:srgbClr val="F5F5F7"/>
          </a:solidFill>
          <a:ln>
            <a:noFill/>
          </a:ln>
        </p:spPr>
        <p:txBody>
          <a:bodyPr rtlCol="0" anchor="ctr"/>
          <a:lstStyle/>
          <a:p>
            <a:pPr algn="ctr"/>
          </a:p>
        </p:txBody>
      </p:sp>
      <p:sp>
        <p:nvSpPr>
          <p:cNvPr id="21" name="metric value"/>
          <p:cNvSpPr txBox="1"/>
          <p:nvPr/>
        </p:nvSpPr>
        <p:spPr>
          <a:xfrm>
            <a:off x="6431280" y="2723693"/>
            <a:ext cx="1981200" cy="536905"/>
          </a:xfrm>
          <a:prstGeom prst="rect">
            <a:avLst/>
          </a:prstGeom>
          <a:noFill/>
        </p:spPr>
        <p:txBody>
          <a:bodyPr wrap="square" lIns="0" tIns="0" rIns="0" bIns="0" anchor="t">
            <a:noAutofit/>
          </a:bodyPr>
          <a:lstStyle/>
          <a:p>
            <a:pPr algn="l">
              <a:lnSpc>
                <a:spcPts val="4224"/>
              </a:lnSpc>
              <a:spcBef>
                <a:spcPts val="0"/>
              </a:spcBef>
              <a:spcAft>
                <a:spcPts val="0"/>
              </a:spcAft>
            </a:pPr>
            <a:r>
              <a:rPr sz="3840" b="0" i="0" spc="-77">
                <a:solidFill>
                  <a:srgbClr val="1D1D1F"/>
                </a:solidFill>
                <a:latin typeface="Helvetica Neue Light"/>
              </a:rPr>
              <a:t>63</a:t>
            </a:r>
            <a:endParaRPr sz="3840"/>
          </a:p>
        </p:txBody>
      </p:sp>
      <p:grpSp>
        <p:nvGrpSpPr>
          <p:cNvPr id="22" name="check mark"/>
          <p:cNvGrpSpPr/>
          <p:nvPr/>
        </p:nvGrpSpPr>
        <p:grpSpPr>
          <a:xfrm>
            <a:off x="6436766" y="3374166"/>
            <a:ext cx="98756" cy="76810"/>
            <a:chOff x="6436766" y="3374166"/>
            <a:chExt cx="98756" cy="76810"/>
          </a:xfrm>
        </p:grpSpPr>
        <p:cxnSp>
          <p:nvCxnSpPr>
            <p:cNvPr id="23" name="Connector 22"/>
            <p:cNvCxnSpPr/>
            <p:nvPr/>
          </p:nvCxnSpPr>
          <p:spPr>
            <a:xfrm>
              <a:off x="6436766" y="3416960"/>
              <a:ext cx="36211" cy="34016"/>
            </a:xfrm>
            <a:prstGeom prst="line">
              <a:avLst/>
            </a:prstGeom>
            <a:ln w="17780">
              <a:solidFill>
                <a:srgbClr val="1D8E3E"/>
              </a:solidFill>
            </a:ln>
          </p:spPr>
        </p:cxnSp>
        <p:cxnSp>
          <p:nvCxnSpPr>
            <p:cNvPr id="24" name="Connector 23"/>
            <p:cNvCxnSpPr/>
            <p:nvPr/>
          </p:nvCxnSpPr>
          <p:spPr>
            <a:xfrm flipV="1">
              <a:off x="6472977" y="3374166"/>
              <a:ext cx="62545" cy="76810"/>
            </a:xfrm>
            <a:prstGeom prst="line">
              <a:avLst/>
            </a:prstGeom>
            <a:ln w="17780">
              <a:solidFill>
                <a:srgbClr val="1D8E3E"/>
              </a:solidFill>
            </a:ln>
          </p:spPr>
        </p:cxnSp>
      </p:grpSp>
      <p:sp>
        <p:nvSpPr>
          <p:cNvPr id="25" name="metric label"/>
          <p:cNvSpPr txBox="1"/>
          <p:nvPr/>
        </p:nvSpPr>
        <p:spPr>
          <a:xfrm>
            <a:off x="6632448" y="3333750"/>
            <a:ext cx="1780032"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OCR and screen-recorder checks, 0 failures</a:t>
            </a:r>
            <a:endParaRPr sz="1020"/>
          </a:p>
        </p:txBody>
      </p:sp>
      <p:sp>
        <p:nvSpPr>
          <p:cNvPr id="26" name="metric card"/>
          <p:cNvSpPr/>
          <p:nvPr/>
        </p:nvSpPr>
        <p:spPr>
          <a:xfrm>
            <a:off x="8869680" y="2556053"/>
            <a:ext cx="2407920" cy="1321460"/>
          </a:xfrm>
          <a:prstGeom prst="roundRect">
            <a:avLst>
              <a:gd name="adj" fmla="val 12685"/>
            </a:avLst>
          </a:prstGeom>
          <a:solidFill>
            <a:srgbClr val="F5F5F7"/>
          </a:solidFill>
          <a:ln>
            <a:noFill/>
          </a:ln>
        </p:spPr>
        <p:txBody>
          <a:bodyPr rtlCol="0" anchor="ctr"/>
          <a:lstStyle/>
          <a:p>
            <a:pPr algn="ctr"/>
          </a:p>
        </p:txBody>
      </p:sp>
      <p:sp>
        <p:nvSpPr>
          <p:cNvPr id="27" name="metric value"/>
          <p:cNvSpPr txBox="1"/>
          <p:nvPr/>
        </p:nvSpPr>
        <p:spPr>
          <a:xfrm>
            <a:off x="9083040" y="2723693"/>
            <a:ext cx="1981200" cy="536905"/>
          </a:xfrm>
          <a:prstGeom prst="rect">
            <a:avLst/>
          </a:prstGeom>
          <a:noFill/>
        </p:spPr>
        <p:txBody>
          <a:bodyPr wrap="square" lIns="0" tIns="0" rIns="0" bIns="0" anchor="t">
            <a:noAutofit/>
          </a:bodyPr>
          <a:lstStyle/>
          <a:p>
            <a:pPr algn="l">
              <a:lnSpc>
                <a:spcPts val="4224"/>
              </a:lnSpc>
              <a:spcBef>
                <a:spcPts val="0"/>
              </a:spcBef>
              <a:spcAft>
                <a:spcPts val="0"/>
              </a:spcAft>
            </a:pPr>
            <a:r>
              <a:rPr sz="3840" b="0" i="0" spc="-77">
                <a:solidFill>
                  <a:srgbClr val="1D1D1F"/>
                </a:solidFill>
                <a:latin typeface="Helvetica Neue Light"/>
              </a:rPr>
              <a:t>48/48</a:t>
            </a:r>
            <a:endParaRPr sz="3840"/>
          </a:p>
        </p:txBody>
      </p:sp>
      <p:grpSp>
        <p:nvGrpSpPr>
          <p:cNvPr id="28" name="check mark"/>
          <p:cNvGrpSpPr/>
          <p:nvPr/>
        </p:nvGrpSpPr>
        <p:grpSpPr>
          <a:xfrm>
            <a:off x="9088526" y="3374166"/>
            <a:ext cx="98756" cy="76810"/>
            <a:chOff x="9088526" y="3374166"/>
            <a:chExt cx="98756" cy="76810"/>
          </a:xfrm>
        </p:grpSpPr>
        <p:cxnSp>
          <p:nvCxnSpPr>
            <p:cNvPr id="29" name="Connector 28"/>
            <p:cNvCxnSpPr/>
            <p:nvPr/>
          </p:nvCxnSpPr>
          <p:spPr>
            <a:xfrm>
              <a:off x="9088526" y="3416960"/>
              <a:ext cx="36211" cy="34016"/>
            </a:xfrm>
            <a:prstGeom prst="line">
              <a:avLst/>
            </a:prstGeom>
            <a:ln w="17780">
              <a:solidFill>
                <a:srgbClr val="1D8E3E"/>
              </a:solidFill>
            </a:ln>
          </p:spPr>
        </p:cxnSp>
        <p:cxnSp>
          <p:nvCxnSpPr>
            <p:cNvPr id="30" name="Connector 29"/>
            <p:cNvCxnSpPr/>
            <p:nvPr/>
          </p:nvCxnSpPr>
          <p:spPr>
            <a:xfrm flipV="1">
              <a:off x="9124737" y="3374166"/>
              <a:ext cx="62545" cy="76810"/>
            </a:xfrm>
            <a:prstGeom prst="line">
              <a:avLst/>
            </a:prstGeom>
            <a:ln w="17780">
              <a:solidFill>
                <a:srgbClr val="1D8E3E"/>
              </a:solidFill>
            </a:ln>
          </p:spPr>
        </p:cxnSp>
      </p:grpSp>
      <p:sp>
        <p:nvSpPr>
          <p:cNvPr id="31" name="metric label"/>
          <p:cNvSpPr txBox="1"/>
          <p:nvPr/>
        </p:nvSpPr>
        <p:spPr>
          <a:xfrm>
            <a:off x="9284208" y="3333750"/>
            <a:ext cx="1780032"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UI Audit runner self-tests</a:t>
            </a:r>
            <a:endParaRPr sz="1020"/>
          </a:p>
        </p:txBody>
      </p:sp>
      <p:sp>
        <p:nvSpPr>
          <p:cNvPr id="32" name="row label"/>
          <p:cNvSpPr txBox="1"/>
          <p:nvPr/>
        </p:nvSpPr>
        <p:spPr>
          <a:xfrm>
            <a:off x="914400" y="4197553"/>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WHAT WE WILL REPORT</a:t>
            </a:r>
            <a:endParaRPr sz="900"/>
          </a:p>
        </p:txBody>
      </p:sp>
      <p:sp>
        <p:nvSpPr>
          <p:cNvPr id="33" name="tbd tile"/>
          <p:cNvSpPr/>
          <p:nvPr/>
        </p:nvSpPr>
        <p:spPr>
          <a:xfrm>
            <a:off x="914400" y="4444898"/>
            <a:ext cx="1877568" cy="778764"/>
          </a:xfrm>
          <a:prstGeom prst="roundRect">
            <a:avLst>
              <a:gd name="adj" fmla="val 13698"/>
            </a:avLst>
          </a:prstGeom>
          <a:solidFill>
            <a:srgbClr val="FFFFFF"/>
          </a:solidFill>
          <a:ln w="9525">
            <a:solidFill>
              <a:srgbClr val="86868B"/>
            </a:solidFill>
            <a:prstDash val="dash"/>
          </a:ln>
        </p:spPr>
        <p:txBody>
          <a:bodyPr rtlCol="0" anchor="ctr"/>
          <a:lstStyle/>
          <a:p>
            <a:pPr algn="ctr"/>
          </a:p>
        </p:txBody>
      </p:sp>
      <p:sp>
        <p:nvSpPr>
          <p:cNvPr id="34" name="tbd text"/>
          <p:cNvSpPr txBox="1"/>
          <p:nvPr/>
        </p:nvSpPr>
        <p:spPr>
          <a:xfrm>
            <a:off x="1051560" y="4590974"/>
            <a:ext cx="1603248" cy="486613"/>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waitlist signups]</a:t>
            </a:r>
            <a:endParaRPr sz="1320"/>
          </a:p>
        </p:txBody>
      </p:sp>
      <p:sp>
        <p:nvSpPr>
          <p:cNvPr id="35" name="tbd tile"/>
          <p:cNvSpPr/>
          <p:nvPr/>
        </p:nvSpPr>
        <p:spPr>
          <a:xfrm>
            <a:off x="3035808" y="4444898"/>
            <a:ext cx="1877568" cy="778764"/>
          </a:xfrm>
          <a:prstGeom prst="roundRect">
            <a:avLst>
              <a:gd name="adj" fmla="val 13698"/>
            </a:avLst>
          </a:prstGeom>
          <a:solidFill>
            <a:srgbClr val="FFFFFF"/>
          </a:solidFill>
          <a:ln w="9525">
            <a:solidFill>
              <a:srgbClr val="86868B"/>
            </a:solidFill>
            <a:prstDash val="dash"/>
          </a:ln>
        </p:spPr>
        <p:txBody>
          <a:bodyPr rtlCol="0" anchor="ctr"/>
          <a:lstStyle/>
          <a:p>
            <a:pPr algn="ctr"/>
          </a:p>
        </p:txBody>
      </p:sp>
      <p:sp>
        <p:nvSpPr>
          <p:cNvPr id="36" name="tbd text"/>
          <p:cNvSpPr txBox="1"/>
          <p:nvPr/>
        </p:nvSpPr>
        <p:spPr>
          <a:xfrm>
            <a:off x="3172968" y="4712513"/>
            <a:ext cx="1603248"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beta users]</a:t>
            </a:r>
            <a:endParaRPr sz="1320"/>
          </a:p>
        </p:txBody>
      </p:sp>
      <p:sp>
        <p:nvSpPr>
          <p:cNvPr id="37" name="tbd tile"/>
          <p:cNvSpPr/>
          <p:nvPr/>
        </p:nvSpPr>
        <p:spPr>
          <a:xfrm>
            <a:off x="5157216" y="4444898"/>
            <a:ext cx="1877568" cy="778764"/>
          </a:xfrm>
          <a:prstGeom prst="roundRect">
            <a:avLst>
              <a:gd name="adj" fmla="val 13698"/>
            </a:avLst>
          </a:prstGeom>
          <a:solidFill>
            <a:srgbClr val="FFFFFF"/>
          </a:solidFill>
          <a:ln w="9525">
            <a:solidFill>
              <a:srgbClr val="86868B"/>
            </a:solidFill>
            <a:prstDash val="dash"/>
          </a:ln>
        </p:spPr>
        <p:txBody>
          <a:bodyPr rtlCol="0" anchor="ctr"/>
          <a:lstStyle/>
          <a:p>
            <a:pPr algn="ctr"/>
          </a:p>
        </p:txBody>
      </p:sp>
      <p:sp>
        <p:nvSpPr>
          <p:cNvPr id="38" name="tbd text"/>
          <p:cNvSpPr txBox="1"/>
          <p:nvPr/>
        </p:nvSpPr>
        <p:spPr>
          <a:xfrm>
            <a:off x="5294376" y="4712513"/>
            <a:ext cx="1603248"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trial starts]</a:t>
            </a:r>
            <a:endParaRPr sz="1320"/>
          </a:p>
        </p:txBody>
      </p:sp>
      <p:sp>
        <p:nvSpPr>
          <p:cNvPr id="39" name="tbd tile"/>
          <p:cNvSpPr/>
          <p:nvPr/>
        </p:nvSpPr>
        <p:spPr>
          <a:xfrm>
            <a:off x="7278624" y="4444898"/>
            <a:ext cx="1877568" cy="778764"/>
          </a:xfrm>
          <a:prstGeom prst="roundRect">
            <a:avLst>
              <a:gd name="adj" fmla="val 13698"/>
            </a:avLst>
          </a:prstGeom>
          <a:solidFill>
            <a:srgbClr val="FFFFFF"/>
          </a:solidFill>
          <a:ln w="9525">
            <a:solidFill>
              <a:srgbClr val="86868B"/>
            </a:solidFill>
            <a:prstDash val="dash"/>
          </a:ln>
        </p:spPr>
        <p:txBody>
          <a:bodyPr rtlCol="0" anchor="ctr"/>
          <a:lstStyle/>
          <a:p>
            <a:pPr algn="ctr"/>
          </a:p>
        </p:txBody>
      </p:sp>
      <p:sp>
        <p:nvSpPr>
          <p:cNvPr id="40" name="tbd text"/>
          <p:cNvSpPr txBox="1"/>
          <p:nvPr/>
        </p:nvSpPr>
        <p:spPr>
          <a:xfrm>
            <a:off x="7415784" y="4590974"/>
            <a:ext cx="1603248" cy="486613"/>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paid conversions]</a:t>
            </a:r>
            <a:endParaRPr sz="1320"/>
          </a:p>
        </p:txBody>
      </p:sp>
      <p:sp>
        <p:nvSpPr>
          <p:cNvPr id="41" name="tbd tile"/>
          <p:cNvSpPr/>
          <p:nvPr/>
        </p:nvSpPr>
        <p:spPr>
          <a:xfrm>
            <a:off x="9400032" y="4444898"/>
            <a:ext cx="1877568" cy="778764"/>
          </a:xfrm>
          <a:prstGeom prst="roundRect">
            <a:avLst>
              <a:gd name="adj" fmla="val 13698"/>
            </a:avLst>
          </a:prstGeom>
          <a:solidFill>
            <a:srgbClr val="FFFFFF"/>
          </a:solidFill>
          <a:ln w="9525">
            <a:solidFill>
              <a:srgbClr val="86868B"/>
            </a:solidFill>
            <a:prstDash val="dash"/>
          </a:ln>
        </p:spPr>
        <p:txBody>
          <a:bodyPr rtlCol="0" anchor="ctr"/>
          <a:lstStyle/>
          <a:p>
            <a:pPr algn="ctr"/>
          </a:p>
        </p:txBody>
      </p:sp>
      <p:sp>
        <p:nvSpPr>
          <p:cNvPr id="42" name="tbd text"/>
          <p:cNvSpPr txBox="1"/>
          <p:nvPr/>
        </p:nvSpPr>
        <p:spPr>
          <a:xfrm>
            <a:off x="9537192" y="4712513"/>
            <a:ext cx="1603248"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revenue]</a:t>
            </a:r>
            <a:endParaRPr sz="1320"/>
          </a:p>
        </p:txBody>
      </p:sp>
      <p:cxnSp>
        <p:nvCxnSpPr>
          <p:cNvPr id="43" name="line rule"/>
          <p:cNvCxnSpPr/>
          <p:nvPr/>
        </p:nvCxnSpPr>
        <p:spPr>
          <a:xfrm>
            <a:off x="914400" y="5624627"/>
            <a:ext cx="3291840" cy="0"/>
          </a:xfrm>
          <a:prstGeom prst="line">
            <a:avLst/>
          </a:prstGeom>
          <a:ln w="9525">
            <a:solidFill>
              <a:srgbClr val="D2D2D7"/>
            </a:solidFill>
          </a:ln>
        </p:spPr>
      </p:cxnSp>
      <p:sp>
        <p:nvSpPr>
          <p:cNvPr id="44" name="line"/>
          <p:cNvSpPr txBox="1"/>
          <p:nvPr/>
        </p:nvSpPr>
        <p:spPr>
          <a:xfrm>
            <a:off x="91440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Full app compiles; every tab, tile and hotkey is wired</a:t>
            </a:r>
            <a:endParaRPr sz="1320"/>
          </a:p>
        </p:txBody>
      </p:sp>
      <p:cxnSp>
        <p:nvCxnSpPr>
          <p:cNvPr id="45" name="line rule"/>
          <p:cNvCxnSpPr/>
          <p:nvPr/>
        </p:nvCxnSpPr>
        <p:spPr>
          <a:xfrm>
            <a:off x="4450080" y="5624627"/>
            <a:ext cx="3291840" cy="0"/>
          </a:xfrm>
          <a:prstGeom prst="line">
            <a:avLst/>
          </a:prstGeom>
          <a:ln w="9525">
            <a:solidFill>
              <a:srgbClr val="D2D2D7"/>
            </a:solidFill>
          </a:ln>
        </p:spPr>
      </p:cxnSp>
      <p:sp>
        <p:nvSpPr>
          <p:cNvPr id="46" name="line"/>
          <p:cNvSpPr txBox="1"/>
          <p:nvPr/>
        </p:nvSpPr>
        <p:spPr>
          <a:xfrm>
            <a:off x="445008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50 real views rendered with sample data</a:t>
            </a:r>
            <a:endParaRPr sz="1320"/>
          </a:p>
        </p:txBody>
      </p:sp>
      <p:cxnSp>
        <p:nvCxnSpPr>
          <p:cNvPr id="47" name="line rule"/>
          <p:cNvCxnSpPr/>
          <p:nvPr/>
        </p:nvCxnSpPr>
        <p:spPr>
          <a:xfrm>
            <a:off x="7985760" y="5624627"/>
            <a:ext cx="3291840" cy="0"/>
          </a:xfrm>
          <a:prstGeom prst="line">
            <a:avLst/>
          </a:prstGeom>
          <a:ln w="9525">
            <a:solidFill>
              <a:srgbClr val="D2D2D7"/>
            </a:solidFill>
          </a:ln>
        </p:spPr>
      </p:cxnSp>
      <p:sp>
        <p:nvSpPr>
          <p:cNvPr id="48" name="line"/>
          <p:cNvSpPr txBox="1"/>
          <p:nvPr/>
        </p:nvSpPr>
        <p:spPr>
          <a:xfrm>
            <a:off x="7985760" y="5761787"/>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Open: Browser Flows self-test not clean; live hardware checks pending</a:t>
            </a:r>
            <a:endParaRPr sz="132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launch blockers.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18</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Roadmap and risks</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Four known blockers, </a:t>
            </a:r>
            <a:r>
              <a:rPr sz="3840" b="0" i="0" spc="-58">
                <a:solidFill>
                  <a:srgbClr val="1D1D1F"/>
                </a:solidFill>
                <a:latin typeface="Helvetica Neue Medium"/>
              </a:rPr>
              <a:t>all scheduled.</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stands between the build and the first sale, and what comes after.</a:t>
            </a:r>
            <a:endParaRPr sz="1680"/>
          </a:p>
        </p:txBody>
      </p:sp>
      <p:sp>
        <p:nvSpPr>
          <p:cNvPr id="7" name="lane label"/>
          <p:cNvSpPr txBox="1"/>
          <p:nvPr/>
        </p:nvSpPr>
        <p:spPr>
          <a:xfrm>
            <a:off x="914400" y="2894609"/>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BEFORE THE FIRST SALE</a:t>
            </a:r>
            <a:endParaRPr sz="900"/>
          </a:p>
        </p:txBody>
      </p:sp>
      <p:sp>
        <p:nvSpPr>
          <p:cNvPr id="8" name="lane caption"/>
          <p:cNvSpPr txBox="1"/>
          <p:nvPr/>
        </p:nvSpPr>
        <p:spPr>
          <a:xfrm>
            <a:off x="914400" y="3141955"/>
            <a:ext cx="103632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Before sale: signing, licensing, the face model, Node.js</a:t>
            </a:r>
            <a:endParaRPr sz="1320"/>
          </a:p>
        </p:txBody>
      </p:sp>
      <p:sp>
        <p:nvSpPr>
          <p:cNvPr id="9" name="lane card"/>
          <p:cNvSpPr/>
          <p:nvPr/>
        </p:nvSpPr>
        <p:spPr>
          <a:xfrm>
            <a:off x="914400" y="3659810"/>
            <a:ext cx="2407920" cy="2208124"/>
          </a:xfrm>
          <a:prstGeom prst="roundRect">
            <a:avLst>
              <a:gd name="adj" fmla="val 7591"/>
            </a:avLst>
          </a:prstGeom>
          <a:solidFill>
            <a:srgbClr val="F5F5F7"/>
          </a:solidFill>
          <a:ln>
            <a:noFill/>
          </a:ln>
        </p:spPr>
        <p:txBody>
          <a:bodyPr rtlCol="0" anchor="ctr"/>
          <a:lstStyle/>
          <a:p>
            <a:pPr algn="ctr"/>
          </a:p>
        </p:txBody>
      </p:sp>
      <p:sp>
        <p:nvSpPr>
          <p:cNvPr id="10" name="lane index"/>
          <p:cNvSpPr txBox="1"/>
          <p:nvPr/>
        </p:nvSpPr>
        <p:spPr>
          <a:xfrm>
            <a:off x="1112520" y="3842690"/>
            <a:ext cx="2011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11" name="lane title"/>
          <p:cNvSpPr txBox="1"/>
          <p:nvPr/>
        </p:nvSpPr>
        <p:spPr>
          <a:xfrm>
            <a:off x="1112520" y="4108323"/>
            <a:ext cx="2011680" cy="512521"/>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Developer ID + notarization</a:t>
            </a:r>
            <a:endParaRPr sz="1680"/>
          </a:p>
        </p:txBody>
      </p:sp>
      <p:sp>
        <p:nvSpPr>
          <p:cNvPr id="12" name="lane detail"/>
          <p:cNvSpPr txBox="1"/>
          <p:nvPr/>
        </p:nvSpPr>
        <p:spPr>
          <a:xfrm>
            <a:off x="1112520" y="4712284"/>
            <a:ext cx="201168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Self-signed today; Developer ID cert, notarize and staple (days 1-3, 8-12)</a:t>
            </a:r>
            <a:endParaRPr sz="1320"/>
          </a:p>
        </p:txBody>
      </p:sp>
      <p:sp>
        <p:nvSpPr>
          <p:cNvPr id="13" name="lane card"/>
          <p:cNvSpPr/>
          <p:nvPr/>
        </p:nvSpPr>
        <p:spPr>
          <a:xfrm>
            <a:off x="3566160" y="3659810"/>
            <a:ext cx="2407920" cy="2208124"/>
          </a:xfrm>
          <a:prstGeom prst="roundRect">
            <a:avLst>
              <a:gd name="adj" fmla="val 7591"/>
            </a:avLst>
          </a:prstGeom>
          <a:solidFill>
            <a:srgbClr val="F5F5F7"/>
          </a:solidFill>
          <a:ln>
            <a:noFill/>
          </a:ln>
        </p:spPr>
        <p:txBody>
          <a:bodyPr rtlCol="0" anchor="ctr"/>
          <a:lstStyle/>
          <a:p>
            <a:pPr algn="ctr"/>
          </a:p>
        </p:txBody>
      </p:sp>
      <p:sp>
        <p:nvSpPr>
          <p:cNvPr id="14" name="lane index"/>
          <p:cNvSpPr txBox="1"/>
          <p:nvPr/>
        </p:nvSpPr>
        <p:spPr>
          <a:xfrm>
            <a:off x="3764280" y="3842690"/>
            <a:ext cx="2011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5" name="lane title"/>
          <p:cNvSpPr txBox="1"/>
          <p:nvPr/>
        </p:nvSpPr>
        <p:spPr>
          <a:xfrm>
            <a:off x="3764280" y="4108323"/>
            <a:ext cx="2011680" cy="512521"/>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Licensing, trial, paywall</a:t>
            </a:r>
            <a:endParaRPr sz="1680"/>
          </a:p>
        </p:txBody>
      </p:sp>
      <p:sp>
        <p:nvSpPr>
          <p:cNvPr id="16" name="lane detail"/>
          <p:cNvSpPr txBox="1"/>
          <p:nvPr/>
        </p:nvSpPr>
        <p:spPr>
          <a:xfrm>
            <a:off x="3764280" y="4712284"/>
            <a:ext cx="201168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Not in the app yet; Lemon Squeezy License API; about 4-6 days of work</a:t>
            </a:r>
            <a:endParaRPr sz="1320"/>
          </a:p>
        </p:txBody>
      </p:sp>
      <p:sp>
        <p:nvSpPr>
          <p:cNvPr id="17" name="lane card"/>
          <p:cNvSpPr/>
          <p:nvPr/>
        </p:nvSpPr>
        <p:spPr>
          <a:xfrm>
            <a:off x="6217920" y="3659810"/>
            <a:ext cx="2407920" cy="2208124"/>
          </a:xfrm>
          <a:prstGeom prst="roundRect">
            <a:avLst>
              <a:gd name="adj" fmla="val 7591"/>
            </a:avLst>
          </a:prstGeom>
          <a:solidFill>
            <a:srgbClr val="F5F5F7"/>
          </a:solidFill>
          <a:ln>
            <a:noFill/>
          </a:ln>
        </p:spPr>
        <p:txBody>
          <a:bodyPr rtlCol="0" anchor="ctr"/>
          <a:lstStyle/>
          <a:p>
            <a:pPr algn="ctr"/>
          </a:p>
        </p:txBody>
      </p:sp>
      <p:sp>
        <p:nvSpPr>
          <p:cNvPr id="18" name="lane index"/>
          <p:cNvSpPr txBox="1"/>
          <p:nvPr/>
        </p:nvSpPr>
        <p:spPr>
          <a:xfrm>
            <a:off x="6416040" y="3842690"/>
            <a:ext cx="2011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9" name="lane title"/>
          <p:cNvSpPr txBox="1"/>
          <p:nvPr/>
        </p:nvSpPr>
        <p:spPr>
          <a:xfrm>
            <a:off x="6416040" y="4108323"/>
            <a:ext cx="2011680" cy="512521"/>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Face Unlock model</a:t>
            </a:r>
            <a:endParaRPr sz="1680"/>
          </a:p>
        </p:txBody>
      </p:sp>
      <p:sp>
        <p:nvSpPr>
          <p:cNvPr id="20" name="lane detail"/>
          <p:cNvSpPr txBox="1"/>
          <p:nvPr/>
        </p:nvSpPr>
        <p:spPr>
          <a:xfrm>
            <a:off x="6416040" y="4712284"/>
            <a:ext cx="201168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ArcFace weights are non-commercial: Face Unlock is left out of 1.0</a:t>
            </a:r>
            <a:endParaRPr sz="1320"/>
          </a:p>
        </p:txBody>
      </p:sp>
      <p:sp>
        <p:nvSpPr>
          <p:cNvPr id="21" name="lane card"/>
          <p:cNvSpPr/>
          <p:nvPr/>
        </p:nvSpPr>
        <p:spPr>
          <a:xfrm>
            <a:off x="8869680" y="3659810"/>
            <a:ext cx="2407920" cy="2208124"/>
          </a:xfrm>
          <a:prstGeom prst="roundRect">
            <a:avLst>
              <a:gd name="adj" fmla="val 7591"/>
            </a:avLst>
          </a:prstGeom>
          <a:solidFill>
            <a:srgbClr val="F5F5F7"/>
          </a:solidFill>
          <a:ln>
            <a:noFill/>
          </a:ln>
        </p:spPr>
        <p:txBody>
          <a:bodyPr rtlCol="0" anchor="ctr"/>
          <a:lstStyle/>
          <a:p>
            <a:pPr algn="ctr"/>
          </a:p>
        </p:txBody>
      </p:sp>
      <p:sp>
        <p:nvSpPr>
          <p:cNvPr id="22" name="lane index"/>
          <p:cNvSpPr txBox="1"/>
          <p:nvPr/>
        </p:nvSpPr>
        <p:spPr>
          <a:xfrm>
            <a:off x="9067800" y="3842690"/>
            <a:ext cx="2011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23" name="lane title"/>
          <p:cNvSpPr txBox="1"/>
          <p:nvPr/>
        </p:nvSpPr>
        <p:spPr>
          <a:xfrm>
            <a:off x="9067800" y="4108323"/>
            <a:ext cx="2011680" cy="512521"/>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Node.js for dev tools</a:t>
            </a:r>
            <a:endParaRPr sz="1680"/>
          </a:p>
        </p:txBody>
      </p:sp>
      <p:sp>
        <p:nvSpPr>
          <p:cNvPr id="24" name="lane detail"/>
          <p:cNvSpPr txBox="1"/>
          <p:nvPr/>
        </p:nvSpPr>
        <p:spPr>
          <a:xfrm>
            <a:off x="9067800" y="4712284"/>
            <a:ext cx="201168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List as a requirement, or bundle a signed Node (+40-100 MB)</a:t>
            </a:r>
            <a:endParaRPr sz="132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Roadmap and risks</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After launch (</a:t>
            </a:r>
            <a:r>
              <a:rPr sz="3840" b="0" i="1" spc="-58">
                <a:solidFill>
                  <a:srgbClr val="86868B"/>
                </a:solidFill>
                <a:latin typeface="Helvetica Neue Light"/>
              </a:rPr>
              <a:t>[TBD: order and dates]</a:t>
            </a:r>
            <a:r>
              <a:rPr sz="3840" b="0" i="0" spc="-58">
                <a:solidFill>
                  <a:srgbClr val="1D1D1F"/>
                </a:solidFill>
                <a:latin typeface="Helvetica Neue Light"/>
              </a:rPr>
              <a:t>)</a:t>
            </a:r>
            <a:endParaRPr sz="3840"/>
          </a:p>
        </p:txBody>
      </p:sp>
      <p:sp>
        <p:nvSpPr>
          <p:cNvPr id="6" name="lane label"/>
          <p:cNvSpPr txBox="1"/>
          <p:nvPr/>
        </p:nvSpPr>
        <p:spPr>
          <a:xfrm>
            <a:off x="914400" y="2522220"/>
            <a:ext cx="1036320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AFTER LAUNCH</a:t>
            </a:r>
            <a:endParaRPr sz="900"/>
          </a:p>
        </p:txBody>
      </p:sp>
      <p:sp>
        <p:nvSpPr>
          <p:cNvPr id="7" name="lane caption"/>
          <p:cNvSpPr txBox="1"/>
          <p:nvPr/>
        </p:nvSpPr>
        <p:spPr>
          <a:xfrm>
            <a:off x="914400" y="2769565"/>
            <a:ext cx="103632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After launch: Setapp, packs, Team sync, reliability</a:t>
            </a:r>
            <a:endParaRPr sz="1320"/>
          </a:p>
        </p:txBody>
      </p:sp>
      <p:sp>
        <p:nvSpPr>
          <p:cNvPr id="8" name="lane card"/>
          <p:cNvSpPr/>
          <p:nvPr/>
        </p:nvSpPr>
        <p:spPr>
          <a:xfrm>
            <a:off x="914400" y="3287420"/>
            <a:ext cx="1877568" cy="2464156"/>
          </a:xfrm>
          <a:prstGeom prst="roundRect">
            <a:avLst>
              <a:gd name="adj" fmla="val 8928"/>
            </a:avLst>
          </a:prstGeom>
          <a:solidFill>
            <a:srgbClr val="FFFFFF"/>
          </a:solidFill>
          <a:ln w="9525">
            <a:solidFill>
              <a:srgbClr val="86868B"/>
            </a:solidFill>
            <a:prstDash val="dash"/>
          </a:ln>
        </p:spPr>
        <p:txBody>
          <a:bodyPr rtlCol="0" anchor="ctr"/>
          <a:lstStyle/>
          <a:p>
            <a:pPr algn="ctr"/>
          </a:p>
        </p:txBody>
      </p:sp>
      <p:sp>
        <p:nvSpPr>
          <p:cNvPr id="9" name="lane index"/>
          <p:cNvSpPr txBox="1"/>
          <p:nvPr/>
        </p:nvSpPr>
        <p:spPr>
          <a:xfrm>
            <a:off x="1112520" y="3470300"/>
            <a:ext cx="148132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10" name="lane title"/>
          <p:cNvSpPr txBox="1"/>
          <p:nvPr/>
        </p:nvSpPr>
        <p:spPr>
          <a:xfrm>
            <a:off x="1112520" y="3735934"/>
            <a:ext cx="1481328" cy="768553"/>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Setapp channel</a:t>
            </a:r>
            <a:endParaRPr sz="1680"/>
          </a:p>
        </p:txBody>
      </p:sp>
      <p:sp>
        <p:nvSpPr>
          <p:cNvPr id="11" name="lane detail"/>
          <p:cNvSpPr txBox="1"/>
          <p:nvPr/>
        </p:nvSpPr>
        <p:spPr>
          <a:xfrm>
            <a:off x="1112520" y="4595927"/>
            <a:ext cx="148132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From month 3, once reviews exist</a:t>
            </a:r>
            <a:endParaRPr sz="1320"/>
          </a:p>
        </p:txBody>
      </p:sp>
      <p:sp>
        <p:nvSpPr>
          <p:cNvPr id="12" name="lane card"/>
          <p:cNvSpPr/>
          <p:nvPr/>
        </p:nvSpPr>
        <p:spPr>
          <a:xfrm>
            <a:off x="3035808" y="3287420"/>
            <a:ext cx="1877568" cy="2464156"/>
          </a:xfrm>
          <a:prstGeom prst="roundRect">
            <a:avLst>
              <a:gd name="adj" fmla="val 8928"/>
            </a:avLst>
          </a:prstGeom>
          <a:solidFill>
            <a:srgbClr val="FFFFFF"/>
          </a:solidFill>
          <a:ln w="9525">
            <a:solidFill>
              <a:srgbClr val="86868B"/>
            </a:solidFill>
            <a:prstDash val="dash"/>
          </a:ln>
        </p:spPr>
        <p:txBody>
          <a:bodyPr rtlCol="0" anchor="ctr"/>
          <a:lstStyle/>
          <a:p>
            <a:pPr algn="ctr"/>
          </a:p>
        </p:txBody>
      </p:sp>
      <p:sp>
        <p:nvSpPr>
          <p:cNvPr id="13" name="lane index"/>
          <p:cNvSpPr txBox="1"/>
          <p:nvPr/>
        </p:nvSpPr>
        <p:spPr>
          <a:xfrm>
            <a:off x="3233928" y="3470300"/>
            <a:ext cx="148132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4" name="lane title"/>
          <p:cNvSpPr txBox="1"/>
          <p:nvPr/>
        </p:nvSpPr>
        <p:spPr>
          <a:xfrm>
            <a:off x="3233928" y="3735934"/>
            <a:ext cx="1481328" cy="768553"/>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Feature packs</a:t>
            </a:r>
            <a:endParaRPr sz="1680"/>
          </a:p>
        </p:txBody>
      </p:sp>
      <p:sp>
        <p:nvSpPr>
          <p:cNvPr id="15" name="lane detail"/>
          <p:cNvSpPr txBox="1"/>
          <p:nvPr/>
        </p:nvSpPr>
        <p:spPr>
          <a:xfrm>
            <a:off x="3233928" y="4595927"/>
            <a:ext cx="148132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e.g. a Meetings-only pack as a cheaper entry</a:t>
            </a:r>
            <a:endParaRPr sz="1320"/>
          </a:p>
        </p:txBody>
      </p:sp>
      <p:sp>
        <p:nvSpPr>
          <p:cNvPr id="16" name="lane card"/>
          <p:cNvSpPr/>
          <p:nvPr/>
        </p:nvSpPr>
        <p:spPr>
          <a:xfrm>
            <a:off x="5157216" y="3287420"/>
            <a:ext cx="1877568" cy="2464156"/>
          </a:xfrm>
          <a:prstGeom prst="roundRect">
            <a:avLst>
              <a:gd name="adj" fmla="val 8928"/>
            </a:avLst>
          </a:prstGeom>
          <a:solidFill>
            <a:srgbClr val="FFFFFF"/>
          </a:solidFill>
          <a:ln w="9525">
            <a:solidFill>
              <a:srgbClr val="86868B"/>
            </a:solidFill>
            <a:prstDash val="dash"/>
          </a:ln>
        </p:spPr>
        <p:txBody>
          <a:bodyPr rtlCol="0" anchor="ctr"/>
          <a:lstStyle/>
          <a:p>
            <a:pPr algn="ctr"/>
          </a:p>
        </p:txBody>
      </p:sp>
      <p:sp>
        <p:nvSpPr>
          <p:cNvPr id="17" name="lane index"/>
          <p:cNvSpPr txBox="1"/>
          <p:nvPr/>
        </p:nvSpPr>
        <p:spPr>
          <a:xfrm>
            <a:off x="5355336" y="3470300"/>
            <a:ext cx="148132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8" name="lane title"/>
          <p:cNvSpPr txBox="1"/>
          <p:nvPr/>
        </p:nvSpPr>
        <p:spPr>
          <a:xfrm>
            <a:off x="5355336" y="3735934"/>
            <a:ext cx="1481328" cy="768553"/>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Team: live Spaces sync</a:t>
            </a:r>
            <a:endParaRPr sz="1680"/>
          </a:p>
        </p:txBody>
      </p:sp>
      <p:sp>
        <p:nvSpPr>
          <p:cNvPr id="19" name="lane detail"/>
          <p:cNvSpPr txBox="1"/>
          <p:nvPr/>
        </p:nvSpPr>
        <p:spPr>
          <a:xfrm>
            <a:off x="5355336" y="4595927"/>
            <a:ext cx="148132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Not built; today Spaces share as a file package</a:t>
            </a:r>
            <a:endParaRPr sz="1320"/>
          </a:p>
        </p:txBody>
      </p:sp>
      <p:sp>
        <p:nvSpPr>
          <p:cNvPr id="20" name="lane card"/>
          <p:cNvSpPr/>
          <p:nvPr/>
        </p:nvSpPr>
        <p:spPr>
          <a:xfrm>
            <a:off x="7278624" y="3287420"/>
            <a:ext cx="1877568" cy="2464156"/>
          </a:xfrm>
          <a:prstGeom prst="roundRect">
            <a:avLst>
              <a:gd name="adj" fmla="val 8928"/>
            </a:avLst>
          </a:prstGeom>
          <a:solidFill>
            <a:srgbClr val="FFFFFF"/>
          </a:solidFill>
          <a:ln w="9525">
            <a:solidFill>
              <a:srgbClr val="86868B"/>
            </a:solidFill>
            <a:prstDash val="dash"/>
          </a:ln>
        </p:spPr>
        <p:txBody>
          <a:bodyPr rtlCol="0" anchor="ctr"/>
          <a:lstStyle/>
          <a:p>
            <a:pPr algn="ctr"/>
          </a:p>
        </p:txBody>
      </p:sp>
      <p:sp>
        <p:nvSpPr>
          <p:cNvPr id="21" name="lane index"/>
          <p:cNvSpPr txBox="1"/>
          <p:nvPr/>
        </p:nvSpPr>
        <p:spPr>
          <a:xfrm>
            <a:off x="7476744" y="3470300"/>
            <a:ext cx="148132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22" name="lane title"/>
          <p:cNvSpPr txBox="1"/>
          <p:nvPr/>
        </p:nvSpPr>
        <p:spPr>
          <a:xfrm>
            <a:off x="7476744" y="3735934"/>
            <a:ext cx="1481328" cy="768553"/>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Browser Flows reliability</a:t>
            </a:r>
            <a:endParaRPr sz="1680"/>
          </a:p>
        </p:txBody>
      </p:sp>
      <p:sp>
        <p:nvSpPr>
          <p:cNvPr id="23" name="lane detail"/>
          <p:cNvSpPr txBox="1"/>
          <p:nvPr/>
        </p:nvSpPr>
        <p:spPr>
          <a:xfrm>
            <a:off x="7476744" y="4595927"/>
            <a:ext cx="148132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Self-test must pass cleanly before it leaves beta</a:t>
            </a:r>
            <a:endParaRPr sz="1320"/>
          </a:p>
        </p:txBody>
      </p:sp>
      <p:sp>
        <p:nvSpPr>
          <p:cNvPr id="24" name="lane card"/>
          <p:cNvSpPr/>
          <p:nvPr/>
        </p:nvSpPr>
        <p:spPr>
          <a:xfrm>
            <a:off x="9400032" y="3287420"/>
            <a:ext cx="1877568" cy="2464156"/>
          </a:xfrm>
          <a:prstGeom prst="roundRect">
            <a:avLst>
              <a:gd name="adj" fmla="val 8928"/>
            </a:avLst>
          </a:prstGeom>
          <a:solidFill>
            <a:srgbClr val="FFFFFF"/>
          </a:solidFill>
          <a:ln w="9525">
            <a:solidFill>
              <a:srgbClr val="86868B"/>
            </a:solidFill>
            <a:prstDash val="dash"/>
          </a:ln>
        </p:spPr>
        <p:txBody>
          <a:bodyPr rtlCol="0" anchor="ctr"/>
          <a:lstStyle/>
          <a:p>
            <a:pPr algn="ctr"/>
          </a:p>
        </p:txBody>
      </p:sp>
      <p:sp>
        <p:nvSpPr>
          <p:cNvPr id="25" name="lane index"/>
          <p:cNvSpPr txBox="1"/>
          <p:nvPr/>
        </p:nvSpPr>
        <p:spPr>
          <a:xfrm>
            <a:off x="9598152" y="3470300"/>
            <a:ext cx="148132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05</a:t>
            </a:r>
            <a:endParaRPr sz="900"/>
          </a:p>
        </p:txBody>
      </p:sp>
      <p:sp>
        <p:nvSpPr>
          <p:cNvPr id="26" name="lane title"/>
          <p:cNvSpPr txBox="1"/>
          <p:nvPr/>
        </p:nvSpPr>
        <p:spPr>
          <a:xfrm>
            <a:off x="9598152" y="3735934"/>
            <a:ext cx="1481328" cy="768553"/>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Commercial face model</a:t>
            </a:r>
            <a:endParaRPr sz="1680"/>
          </a:p>
        </p:txBody>
      </p:sp>
      <p:sp>
        <p:nvSpPr>
          <p:cNvPr id="27" name="lane detail"/>
          <p:cNvSpPr txBox="1"/>
          <p:nvPr/>
        </p:nvSpPr>
        <p:spPr>
          <a:xfrm>
            <a:off x="9598152" y="4595927"/>
            <a:ext cx="148132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1">
                <a:solidFill>
                  <a:srgbClr val="86868B"/>
                </a:solidFill>
                <a:latin typeface="Helvetica Neue"/>
              </a:rPr>
              <a:t>[TBD: licensed or replacement model]</a:t>
            </a:r>
            <a:endParaRPr sz="132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Studio: sparkv.si, read 22 Oct 2026.</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20</a:t>
            </a:r>
            <a:endParaRPr sz="840"/>
          </a:p>
        </p:txBody>
      </p:sp>
      <p:sp>
        <p:nvSpPr>
          <p:cNvPr id="4" name="headline"/>
          <p:cNvSpPr txBox="1"/>
          <p:nvPr/>
        </p:nvSpPr>
        <p:spPr>
          <a:xfrm>
            <a:off x="914400" y="731520"/>
            <a:ext cx="10363200" cy="707593"/>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Team</a:t>
            </a:r>
            <a:endParaRPr sz="4800"/>
          </a:p>
        </p:txBody>
      </p:sp>
      <p:sp>
        <p:nvSpPr>
          <p:cNvPr id="5" name="lead"/>
          <p:cNvSpPr txBox="1"/>
          <p:nvPr/>
        </p:nvSpPr>
        <p:spPr>
          <a:xfrm>
            <a:off x="914400" y="1637233"/>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1">
                <a:solidFill>
                  <a:srgbClr val="86868B"/>
                </a:solidFill>
                <a:latin typeface="Helvetica Neue"/>
              </a:rPr>
              <a:t>[TBD: one line on why this team wins]</a:t>
            </a:r>
            <a:endParaRPr sz="1680"/>
          </a:p>
        </p:txBody>
      </p:sp>
      <p:sp>
        <p:nvSpPr>
          <p:cNvPr id="6" name="team card"/>
          <p:cNvSpPr/>
          <p:nvPr/>
        </p:nvSpPr>
        <p:spPr>
          <a:xfrm>
            <a:off x="914400" y="2293620"/>
            <a:ext cx="3291840" cy="3436925"/>
          </a:xfrm>
          <a:prstGeom prst="roundRect">
            <a:avLst>
              <a:gd name="adj" fmla="val 5092"/>
            </a:avLst>
          </a:prstGeom>
          <a:solidFill>
            <a:srgbClr val="F5F5F7"/>
          </a:solidFill>
          <a:ln>
            <a:noFill/>
          </a:ln>
        </p:spPr>
        <p:txBody>
          <a:bodyPr rtlCol="0" anchor="ctr"/>
          <a:lstStyle/>
          <a:p>
            <a:pPr algn="ctr"/>
          </a:p>
        </p:txBody>
      </p:sp>
      <p:sp>
        <p:nvSpPr>
          <p:cNvPr id="7" name="photo slot"/>
          <p:cNvSpPr/>
          <p:nvPr/>
        </p:nvSpPr>
        <p:spPr>
          <a:xfrm>
            <a:off x="1943100" y="2506980"/>
            <a:ext cx="1234440" cy="1234440"/>
          </a:xfrm>
          <a:prstGeom prst="ellipse">
            <a:avLst/>
          </a:prstGeom>
          <a:solidFill>
            <a:srgbClr val="FFFFFF"/>
          </a:solidFill>
          <a:ln w="9525">
            <a:solidFill>
              <a:srgbClr val="86868B"/>
            </a:solidFill>
            <a:prstDash val="dash"/>
          </a:ln>
        </p:spPr>
        <p:txBody>
          <a:bodyPr rtlCol="0" anchor="ctr"/>
          <a:lstStyle/>
          <a:p>
            <a:pPr algn="ctr"/>
          </a:p>
        </p:txBody>
      </p:sp>
      <p:sp>
        <p:nvSpPr>
          <p:cNvPr id="8" name="photo placeholder"/>
          <p:cNvSpPr txBox="1"/>
          <p:nvPr/>
        </p:nvSpPr>
        <p:spPr>
          <a:xfrm>
            <a:off x="2128266" y="3030055"/>
            <a:ext cx="864108"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1">
                <a:solidFill>
                  <a:srgbClr val="86868B"/>
                </a:solidFill>
                <a:latin typeface="Helvetica Neue"/>
              </a:rPr>
              <a:t>[TBD: photo]</a:t>
            </a:r>
            <a:endParaRPr sz="1020"/>
          </a:p>
        </p:txBody>
      </p:sp>
      <p:sp>
        <p:nvSpPr>
          <p:cNvPr id="9" name="team field"/>
          <p:cNvSpPr txBox="1"/>
          <p:nvPr/>
        </p:nvSpPr>
        <p:spPr>
          <a:xfrm>
            <a:off x="1127760" y="3970020"/>
            <a:ext cx="2865120" cy="512521"/>
          </a:xfrm>
          <a:prstGeom prst="rect">
            <a:avLst/>
          </a:prstGeom>
          <a:noFill/>
        </p:spPr>
        <p:txBody>
          <a:bodyPr wrap="square" lIns="0" tIns="0" rIns="0" bIns="0" anchor="t">
            <a:noAutofit/>
          </a:bodyPr>
          <a:lstStyle/>
          <a:p>
            <a:pPr algn="ctr">
              <a:lnSpc>
                <a:spcPts val="2016"/>
              </a:lnSpc>
              <a:spcBef>
                <a:spcPts val="0"/>
              </a:spcBef>
              <a:spcAft>
                <a:spcPts val="0"/>
              </a:spcAft>
            </a:pPr>
            <a:r>
              <a:rPr sz="1680" b="0" i="1">
                <a:solidFill>
                  <a:srgbClr val="86868B"/>
                </a:solidFill>
                <a:latin typeface="Helvetica Neue Medium"/>
              </a:rPr>
              <a:t>[TBD: founder name]</a:t>
            </a:r>
            <a:endParaRPr sz="1680"/>
          </a:p>
        </p:txBody>
      </p:sp>
      <p:sp>
        <p:nvSpPr>
          <p:cNvPr id="10" name="team field"/>
          <p:cNvSpPr txBox="1"/>
          <p:nvPr/>
        </p:nvSpPr>
        <p:spPr>
          <a:xfrm>
            <a:off x="1127760" y="4555693"/>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role]</a:t>
            </a:r>
            <a:endParaRPr sz="1320"/>
          </a:p>
        </p:txBody>
      </p:sp>
      <p:sp>
        <p:nvSpPr>
          <p:cNvPr id="11" name="team field"/>
          <p:cNvSpPr txBox="1"/>
          <p:nvPr/>
        </p:nvSpPr>
        <p:spPr>
          <a:xfrm>
            <a:off x="1127760" y="4872380"/>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one proof point]</a:t>
            </a:r>
            <a:endParaRPr sz="1320"/>
          </a:p>
        </p:txBody>
      </p:sp>
      <p:sp>
        <p:nvSpPr>
          <p:cNvPr id="12" name="team card"/>
          <p:cNvSpPr/>
          <p:nvPr/>
        </p:nvSpPr>
        <p:spPr>
          <a:xfrm>
            <a:off x="4450080" y="2293620"/>
            <a:ext cx="3291840" cy="3436925"/>
          </a:xfrm>
          <a:prstGeom prst="roundRect">
            <a:avLst>
              <a:gd name="adj" fmla="val 5092"/>
            </a:avLst>
          </a:prstGeom>
          <a:solidFill>
            <a:srgbClr val="F5F5F7"/>
          </a:solidFill>
          <a:ln>
            <a:noFill/>
          </a:ln>
        </p:spPr>
        <p:txBody>
          <a:bodyPr rtlCol="0" anchor="ctr"/>
          <a:lstStyle/>
          <a:p>
            <a:pPr algn="ctr"/>
          </a:p>
        </p:txBody>
      </p:sp>
      <p:sp>
        <p:nvSpPr>
          <p:cNvPr id="13" name="photo slot"/>
          <p:cNvSpPr/>
          <p:nvPr/>
        </p:nvSpPr>
        <p:spPr>
          <a:xfrm>
            <a:off x="5478780" y="2506980"/>
            <a:ext cx="1234440" cy="1234440"/>
          </a:xfrm>
          <a:prstGeom prst="ellipse">
            <a:avLst/>
          </a:prstGeom>
          <a:solidFill>
            <a:srgbClr val="FFFFFF"/>
          </a:solidFill>
          <a:ln w="9525">
            <a:solidFill>
              <a:srgbClr val="86868B"/>
            </a:solidFill>
            <a:prstDash val="dash"/>
          </a:ln>
        </p:spPr>
        <p:txBody>
          <a:bodyPr rtlCol="0" anchor="ctr"/>
          <a:lstStyle/>
          <a:p>
            <a:pPr algn="ctr"/>
          </a:p>
        </p:txBody>
      </p:sp>
      <p:sp>
        <p:nvSpPr>
          <p:cNvPr id="14" name="photo placeholder"/>
          <p:cNvSpPr txBox="1"/>
          <p:nvPr/>
        </p:nvSpPr>
        <p:spPr>
          <a:xfrm>
            <a:off x="5663946" y="3030055"/>
            <a:ext cx="864108"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1">
                <a:solidFill>
                  <a:srgbClr val="86868B"/>
                </a:solidFill>
                <a:latin typeface="Helvetica Neue"/>
              </a:rPr>
              <a:t>[TBD: photo]</a:t>
            </a:r>
            <a:endParaRPr sz="1020"/>
          </a:p>
        </p:txBody>
      </p:sp>
      <p:sp>
        <p:nvSpPr>
          <p:cNvPr id="15" name="team field"/>
          <p:cNvSpPr txBox="1"/>
          <p:nvPr/>
        </p:nvSpPr>
        <p:spPr>
          <a:xfrm>
            <a:off x="4663440" y="3970020"/>
            <a:ext cx="2865120" cy="512521"/>
          </a:xfrm>
          <a:prstGeom prst="rect">
            <a:avLst/>
          </a:prstGeom>
          <a:noFill/>
        </p:spPr>
        <p:txBody>
          <a:bodyPr wrap="square" lIns="0" tIns="0" rIns="0" bIns="0" anchor="t">
            <a:noAutofit/>
          </a:bodyPr>
          <a:lstStyle/>
          <a:p>
            <a:pPr algn="ctr">
              <a:lnSpc>
                <a:spcPts val="2016"/>
              </a:lnSpc>
              <a:spcBef>
                <a:spcPts val="0"/>
              </a:spcBef>
              <a:spcAft>
                <a:spcPts val="0"/>
              </a:spcAft>
            </a:pPr>
            <a:r>
              <a:rPr sz="1680" b="0" i="1">
                <a:solidFill>
                  <a:srgbClr val="86868B"/>
                </a:solidFill>
                <a:latin typeface="Helvetica Neue Medium"/>
              </a:rPr>
              <a:t>[TBD: co-founder / first hire]</a:t>
            </a:r>
            <a:endParaRPr sz="1680"/>
          </a:p>
        </p:txBody>
      </p:sp>
      <p:sp>
        <p:nvSpPr>
          <p:cNvPr id="16" name="team field"/>
          <p:cNvSpPr txBox="1"/>
          <p:nvPr/>
        </p:nvSpPr>
        <p:spPr>
          <a:xfrm>
            <a:off x="4663440" y="4555693"/>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role]</a:t>
            </a:r>
            <a:endParaRPr sz="1320"/>
          </a:p>
        </p:txBody>
      </p:sp>
      <p:sp>
        <p:nvSpPr>
          <p:cNvPr id="17" name="team field"/>
          <p:cNvSpPr txBox="1"/>
          <p:nvPr/>
        </p:nvSpPr>
        <p:spPr>
          <a:xfrm>
            <a:off x="4663440" y="4872380"/>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a:t>
            </a:r>
            <a:endParaRPr sz="1320"/>
          </a:p>
        </p:txBody>
      </p:sp>
      <p:sp>
        <p:nvSpPr>
          <p:cNvPr id="18" name="team card"/>
          <p:cNvSpPr/>
          <p:nvPr/>
        </p:nvSpPr>
        <p:spPr>
          <a:xfrm>
            <a:off x="7985760" y="2293620"/>
            <a:ext cx="3291840" cy="3436925"/>
          </a:xfrm>
          <a:prstGeom prst="roundRect">
            <a:avLst>
              <a:gd name="adj" fmla="val 5092"/>
            </a:avLst>
          </a:prstGeom>
          <a:solidFill>
            <a:srgbClr val="F5F5F7"/>
          </a:solidFill>
          <a:ln>
            <a:noFill/>
          </a:ln>
        </p:spPr>
        <p:txBody>
          <a:bodyPr rtlCol="0" anchor="ctr"/>
          <a:lstStyle/>
          <a:p>
            <a:pPr algn="ctr"/>
          </a:p>
        </p:txBody>
      </p:sp>
      <p:sp>
        <p:nvSpPr>
          <p:cNvPr id="19" name="photo slot"/>
          <p:cNvSpPr/>
          <p:nvPr/>
        </p:nvSpPr>
        <p:spPr>
          <a:xfrm>
            <a:off x="9014460" y="2506980"/>
            <a:ext cx="1234440" cy="1234440"/>
          </a:xfrm>
          <a:prstGeom prst="ellipse">
            <a:avLst/>
          </a:prstGeom>
          <a:solidFill>
            <a:srgbClr val="FFFFFF"/>
          </a:solidFill>
          <a:ln w="9525">
            <a:solidFill>
              <a:srgbClr val="86868B"/>
            </a:solidFill>
            <a:prstDash val="dash"/>
          </a:ln>
        </p:spPr>
        <p:txBody>
          <a:bodyPr rtlCol="0" anchor="ctr"/>
          <a:lstStyle/>
          <a:p>
            <a:pPr algn="ctr"/>
          </a:p>
        </p:txBody>
      </p:sp>
      <p:sp>
        <p:nvSpPr>
          <p:cNvPr id="20" name="photo placeholder"/>
          <p:cNvSpPr txBox="1"/>
          <p:nvPr/>
        </p:nvSpPr>
        <p:spPr>
          <a:xfrm>
            <a:off x="9199626" y="3030055"/>
            <a:ext cx="864108"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1">
                <a:solidFill>
                  <a:srgbClr val="86868B"/>
                </a:solidFill>
                <a:latin typeface="Helvetica Neue"/>
              </a:rPr>
              <a:t>[TBD: photo]</a:t>
            </a:r>
            <a:endParaRPr sz="1020"/>
          </a:p>
        </p:txBody>
      </p:sp>
      <p:sp>
        <p:nvSpPr>
          <p:cNvPr id="21" name="team field"/>
          <p:cNvSpPr txBox="1"/>
          <p:nvPr/>
        </p:nvSpPr>
        <p:spPr>
          <a:xfrm>
            <a:off x="8199120" y="3970020"/>
            <a:ext cx="2865120" cy="512521"/>
          </a:xfrm>
          <a:prstGeom prst="rect">
            <a:avLst/>
          </a:prstGeom>
          <a:noFill/>
        </p:spPr>
        <p:txBody>
          <a:bodyPr wrap="square" lIns="0" tIns="0" rIns="0" bIns="0" anchor="t">
            <a:noAutofit/>
          </a:bodyPr>
          <a:lstStyle/>
          <a:p>
            <a:pPr algn="ctr">
              <a:lnSpc>
                <a:spcPts val="2016"/>
              </a:lnSpc>
              <a:spcBef>
                <a:spcPts val="0"/>
              </a:spcBef>
              <a:spcAft>
                <a:spcPts val="0"/>
              </a:spcAft>
            </a:pPr>
            <a:r>
              <a:rPr sz="1680" b="0" i="1">
                <a:solidFill>
                  <a:srgbClr val="86868B"/>
                </a:solidFill>
                <a:latin typeface="Helvetica Neue Medium"/>
              </a:rPr>
              <a:t>[TBD: advisor]</a:t>
            </a:r>
            <a:endParaRPr sz="1680"/>
          </a:p>
        </p:txBody>
      </p:sp>
      <p:sp>
        <p:nvSpPr>
          <p:cNvPr id="22" name="team field"/>
          <p:cNvSpPr txBox="1"/>
          <p:nvPr/>
        </p:nvSpPr>
        <p:spPr>
          <a:xfrm>
            <a:off x="8199120" y="4555693"/>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role]</a:t>
            </a:r>
            <a:endParaRPr sz="1320"/>
          </a:p>
        </p:txBody>
      </p:sp>
      <p:sp>
        <p:nvSpPr>
          <p:cNvPr id="23" name="team field"/>
          <p:cNvSpPr txBox="1"/>
          <p:nvPr/>
        </p:nvSpPr>
        <p:spPr>
          <a:xfrm>
            <a:off x="8199120" y="4872380"/>
            <a:ext cx="286512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a:t>
            </a:r>
            <a:endParaRPr sz="1320"/>
          </a:p>
        </p:txBody>
      </p:sp>
      <p:sp>
        <p:nvSpPr>
          <p:cNvPr id="24" name="studio line"/>
          <p:cNvSpPr txBox="1"/>
          <p:nvPr/>
        </p:nvSpPr>
        <p:spPr>
          <a:xfrm>
            <a:off x="914400" y="6004865"/>
            <a:ext cx="103632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6E6E73"/>
                </a:solidFill>
                <a:latin typeface="Helvetica Neue"/>
              </a:rPr>
              <a:t>Built at SparkV, a software studio in Telangana, India (sparkv.si)</a:t>
            </a:r>
            <a:endParaRPr sz="132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21</a:t>
            </a:r>
            <a:endParaRPr sz="840"/>
          </a:p>
        </p:txBody>
      </p:sp>
      <p:sp>
        <p:nvSpPr>
          <p:cNvPr id="3" name="headline"/>
          <p:cNvSpPr txBox="1"/>
          <p:nvPr/>
        </p:nvSpPr>
        <p:spPr>
          <a:xfrm>
            <a:off x="914400" y="1051560"/>
            <a:ext cx="5943600" cy="707593"/>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The ask</a:t>
            </a:r>
            <a:endParaRPr sz="4800"/>
          </a:p>
        </p:txBody>
      </p:sp>
      <p:sp>
        <p:nvSpPr>
          <p:cNvPr id="4" name="lead"/>
          <p:cNvSpPr txBox="1"/>
          <p:nvPr/>
        </p:nvSpPr>
        <p:spPr>
          <a:xfrm>
            <a:off x="914400" y="1957273"/>
            <a:ext cx="594360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Raising </a:t>
            </a:r>
            <a:r>
              <a:rPr sz="1680" b="0" i="1">
                <a:solidFill>
                  <a:srgbClr val="86868B"/>
                </a:solidFill>
                <a:latin typeface="Helvetica Neue"/>
              </a:rPr>
              <a:t>[TBD: amount]</a:t>
            </a:r>
            <a:r>
              <a:rPr sz="1680" b="0" i="0">
                <a:solidFill>
                  <a:srgbClr val="6E6E73"/>
                </a:solidFill>
                <a:latin typeface="Helvetica Neue"/>
              </a:rPr>
              <a:t> on </a:t>
            </a:r>
            <a:r>
              <a:rPr sz="1680" b="0" i="1">
                <a:solidFill>
                  <a:srgbClr val="86868B"/>
                </a:solidFill>
                <a:latin typeface="Helvetica Neue"/>
              </a:rPr>
              <a:t>[TBD: instrument and terms]</a:t>
            </a:r>
            <a:r>
              <a:rPr sz="1680" b="0" i="0">
                <a:solidFill>
                  <a:srgbClr val="6E6E73"/>
                </a:solidFill>
                <a:latin typeface="Helvetica Neue"/>
              </a:rPr>
              <a:t> for </a:t>
            </a:r>
            <a:r>
              <a:rPr sz="1680" b="0" i="1">
                <a:solidFill>
                  <a:srgbClr val="86868B"/>
                </a:solidFill>
                <a:latin typeface="Helvetica Neue"/>
              </a:rPr>
              <a:t>[TBD: months]</a:t>
            </a:r>
            <a:r>
              <a:rPr sz="1680" b="0" i="0">
                <a:solidFill>
                  <a:srgbClr val="6E6E73"/>
                </a:solidFill>
                <a:latin typeface="Helvetica Neue"/>
              </a:rPr>
              <a:t> of runway.</a:t>
            </a:r>
            <a:endParaRPr sz="1680"/>
          </a:p>
        </p:txBody>
      </p:sp>
      <p:cxnSp>
        <p:nvCxnSpPr>
          <p:cNvPr id="5" name="row rule"/>
          <p:cNvCxnSpPr/>
          <p:nvPr/>
        </p:nvCxnSpPr>
        <p:spPr>
          <a:xfrm>
            <a:off x="914400" y="2949550"/>
            <a:ext cx="5943600" cy="0"/>
          </a:xfrm>
          <a:prstGeom prst="line">
            <a:avLst/>
          </a:prstGeom>
          <a:ln w="9525">
            <a:solidFill>
              <a:srgbClr val="D2D2D7"/>
            </a:solidFill>
          </a:ln>
        </p:spPr>
      </p:cxnSp>
      <p:sp>
        <p:nvSpPr>
          <p:cNvPr id="6" name="row"/>
          <p:cNvSpPr txBox="1"/>
          <p:nvPr/>
        </p:nvSpPr>
        <p:spPr>
          <a:xfrm>
            <a:off x="914400" y="3071470"/>
            <a:ext cx="59436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Milestone: </a:t>
            </a:r>
            <a:r>
              <a:rPr sz="1320" b="0" i="1">
                <a:solidFill>
                  <a:srgbClr val="86868B"/>
                </a:solidFill>
                <a:latin typeface="Helvetica Neue"/>
              </a:rPr>
              <a:t>[TBD: paid users or revenue]</a:t>
            </a:r>
            <a:r>
              <a:rPr sz="1320" b="0" i="0">
                <a:solidFill>
                  <a:srgbClr val="1D1D1F"/>
                </a:solidFill>
                <a:latin typeface="Helvetica Neue"/>
              </a:rPr>
              <a:t> by </a:t>
            </a:r>
            <a:r>
              <a:rPr sz="1320" b="0" i="1">
                <a:solidFill>
                  <a:srgbClr val="86868B"/>
                </a:solidFill>
                <a:latin typeface="Helvetica Neue"/>
              </a:rPr>
              <a:t>[TBD: date]</a:t>
            </a:r>
            <a:endParaRPr sz="1320"/>
          </a:p>
        </p:txBody>
      </p:sp>
      <p:cxnSp>
        <p:nvCxnSpPr>
          <p:cNvPr id="7" name="row rule"/>
          <p:cNvCxnSpPr/>
          <p:nvPr/>
        </p:nvCxnSpPr>
        <p:spPr>
          <a:xfrm>
            <a:off x="914400" y="3436925"/>
            <a:ext cx="5943600" cy="0"/>
          </a:xfrm>
          <a:prstGeom prst="line">
            <a:avLst/>
          </a:prstGeom>
          <a:ln w="9525">
            <a:solidFill>
              <a:srgbClr val="D2D2D7"/>
            </a:solidFill>
          </a:ln>
        </p:spPr>
      </p:cxnSp>
      <p:sp>
        <p:nvSpPr>
          <p:cNvPr id="8" name="row"/>
          <p:cNvSpPr txBox="1"/>
          <p:nvPr/>
        </p:nvSpPr>
        <p:spPr>
          <a:xfrm>
            <a:off x="914400" y="3558845"/>
            <a:ext cx="59436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Next step: a 20-minute live demo on your Mac</a:t>
            </a:r>
            <a:endParaRPr sz="1320"/>
          </a:p>
        </p:txBody>
      </p:sp>
      <p:sp>
        <p:nvSpPr>
          <p:cNvPr id="9" name="cta"/>
          <p:cNvSpPr/>
          <p:nvPr/>
        </p:nvSpPr>
        <p:spPr>
          <a:xfrm>
            <a:off x="914400" y="4122420"/>
            <a:ext cx="1131488"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sparkv.si</a:t>
            </a:r>
            <a:endParaRPr sz="1200"/>
          </a:p>
        </p:txBody>
      </p:sp>
      <p:sp>
        <p:nvSpPr>
          <p:cNvPr id="10" name="cta beside"/>
          <p:cNvSpPr txBox="1"/>
          <p:nvPr/>
        </p:nvSpPr>
        <p:spPr>
          <a:xfrm>
            <a:off x="2259248" y="4234015"/>
            <a:ext cx="1274381"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1">
                <a:solidFill>
                  <a:srgbClr val="86868B"/>
                </a:solidFill>
                <a:latin typeface="Helvetica Neue"/>
              </a:rPr>
              <a:t>[TBD: founder email]</a:t>
            </a:r>
            <a:endParaRPr sz="1020"/>
          </a:p>
        </p:txBody>
      </p:sp>
      <p:sp>
        <p:nvSpPr>
          <p:cNvPr id="11" name="chart card"/>
          <p:cNvSpPr/>
          <p:nvPr/>
        </p:nvSpPr>
        <p:spPr>
          <a:xfrm>
            <a:off x="7985760" y="1051560"/>
            <a:ext cx="3291840" cy="5196840"/>
          </a:xfrm>
          <a:prstGeom prst="roundRect">
            <a:avLst>
              <a:gd name="adj" fmla="val 5092"/>
            </a:avLst>
          </a:prstGeom>
          <a:solidFill>
            <a:srgbClr val="FFFFFF"/>
          </a:solidFill>
          <a:ln>
            <a:noFill/>
          </a:ln>
        </p:spPr>
        <p:txBody>
          <a:bodyPr rtlCol="0" anchor="ctr"/>
          <a:lstStyle/>
          <a:p>
            <a:pPr algn="ctr"/>
          </a:p>
        </p:txBody>
      </p:sp>
      <p:sp>
        <p:nvSpPr>
          <p:cNvPr id="12" name="chart title"/>
          <p:cNvSpPr txBox="1"/>
          <p:nvPr/>
        </p:nvSpPr>
        <p:spPr>
          <a:xfrm>
            <a:off x="8229600" y="1264920"/>
            <a:ext cx="280416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Use of funds</a:t>
            </a:r>
            <a:endParaRPr sz="1020"/>
          </a:p>
        </p:txBody>
      </p:sp>
      <p:sp>
        <p:nvSpPr>
          <p:cNvPr id="13" name="chart source"/>
          <p:cNvSpPr txBox="1"/>
          <p:nvPr/>
        </p:nvSpPr>
        <p:spPr>
          <a:xfrm>
            <a:off x="8229600" y="5796839"/>
            <a:ext cx="2804160" cy="238201"/>
          </a:xfrm>
          <a:prstGeom prst="rect">
            <a:avLst/>
          </a:prstGeom>
          <a:noFill/>
        </p:spPr>
        <p:txBody>
          <a:bodyPr wrap="square" lIns="0" tIns="0" rIns="0" bIns="0" anchor="t">
            <a:noAutofit/>
          </a:bodyPr>
          <a:lstStyle/>
          <a:p>
            <a:pPr algn="l">
              <a:lnSpc>
                <a:spcPts val="936"/>
              </a:lnSpc>
              <a:spcBef>
                <a:spcPts val="0"/>
              </a:spcBef>
              <a:spcAft>
                <a:spcPts val="0"/>
              </a:spcAft>
            </a:pPr>
            <a:r>
              <a:rPr sz="780" b="0" i="1">
                <a:solidFill>
                  <a:srgbClr val="86868B"/>
                </a:solidFill>
                <a:latin typeface="Helvetica Neue"/>
              </a:rPr>
              <a:t>[TBD: % of the round per bucket. Equal slices are placeholders, not a split.]</a:t>
            </a:r>
            <a:endParaRPr sz="780"/>
          </a:p>
        </p:txBody>
      </p:sp>
      <p:sp>
        <p:nvSpPr>
          <p:cNvPr id="14" name="legend swatch"/>
          <p:cNvSpPr/>
          <p:nvPr/>
        </p:nvSpPr>
        <p:spPr>
          <a:xfrm>
            <a:off x="8229600" y="4672584"/>
            <a:ext cx="109728" cy="109728"/>
          </a:xfrm>
          <a:prstGeom prst="roundRect">
            <a:avLst>
              <a:gd name="adj" fmla="val 16666"/>
            </a:avLst>
          </a:prstGeom>
          <a:solidFill>
            <a:srgbClr val="86868B"/>
          </a:solidFill>
          <a:ln>
            <a:noFill/>
          </a:ln>
        </p:spPr>
        <p:txBody>
          <a:bodyPr rtlCol="0" anchor="ctr"/>
          <a:lstStyle/>
          <a:p>
            <a:pPr algn="ctr"/>
          </a:p>
        </p:txBody>
      </p:sp>
      <p:sp>
        <p:nvSpPr>
          <p:cNvPr id="15" name="legend label"/>
          <p:cNvSpPr txBox="1"/>
          <p:nvPr/>
        </p:nvSpPr>
        <p:spPr>
          <a:xfrm>
            <a:off x="8430768" y="4608576"/>
            <a:ext cx="1642872" cy="256032"/>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Product and engineering</a:t>
            </a:r>
            <a:endParaRPr sz="1020"/>
          </a:p>
        </p:txBody>
      </p:sp>
      <p:sp>
        <p:nvSpPr>
          <p:cNvPr id="16" name="legend value"/>
          <p:cNvSpPr txBox="1"/>
          <p:nvPr/>
        </p:nvSpPr>
        <p:spPr>
          <a:xfrm>
            <a:off x="10119360" y="4608576"/>
            <a:ext cx="914400" cy="256032"/>
          </a:xfrm>
          <a:prstGeom prst="rect">
            <a:avLst/>
          </a:prstGeom>
          <a:noFill/>
        </p:spPr>
        <p:txBody>
          <a:bodyPr wrap="square" lIns="0" tIns="0" rIns="0" bIns="0" anchor="t">
            <a:noAutofit/>
          </a:bodyPr>
          <a:lstStyle/>
          <a:p>
            <a:pPr algn="r">
              <a:lnSpc>
                <a:spcPts val="1479"/>
              </a:lnSpc>
              <a:spcBef>
                <a:spcPts val="0"/>
              </a:spcBef>
              <a:spcAft>
                <a:spcPts val="0"/>
              </a:spcAft>
            </a:pPr>
            <a:r>
              <a:rPr sz="1019" b="0" i="1">
                <a:solidFill>
                  <a:srgbClr val="86868B"/>
                </a:solidFill>
                <a:latin typeface="Helvetica Neue Medium"/>
              </a:rPr>
              <a:t>[TBD: %]</a:t>
            </a:r>
            <a:endParaRPr sz="1020"/>
          </a:p>
        </p:txBody>
      </p:sp>
      <p:sp>
        <p:nvSpPr>
          <p:cNvPr id="17" name="legend swatch"/>
          <p:cNvSpPr/>
          <p:nvPr/>
        </p:nvSpPr>
        <p:spPr>
          <a:xfrm>
            <a:off x="8229600" y="4946904"/>
            <a:ext cx="109728" cy="109728"/>
          </a:xfrm>
          <a:prstGeom prst="roundRect">
            <a:avLst>
              <a:gd name="adj" fmla="val 16666"/>
            </a:avLst>
          </a:prstGeom>
          <a:solidFill>
            <a:srgbClr val="AEAEB2"/>
          </a:solidFill>
          <a:ln>
            <a:noFill/>
          </a:ln>
        </p:spPr>
        <p:txBody>
          <a:bodyPr rtlCol="0" anchor="ctr"/>
          <a:lstStyle/>
          <a:p>
            <a:pPr algn="ctr"/>
          </a:p>
        </p:txBody>
      </p:sp>
      <p:sp>
        <p:nvSpPr>
          <p:cNvPr id="18" name="legend label"/>
          <p:cNvSpPr txBox="1"/>
          <p:nvPr/>
        </p:nvSpPr>
        <p:spPr>
          <a:xfrm>
            <a:off x="8430768" y="4882896"/>
            <a:ext cx="1642872" cy="256032"/>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Go to market</a:t>
            </a:r>
            <a:endParaRPr sz="1020"/>
          </a:p>
        </p:txBody>
      </p:sp>
      <p:sp>
        <p:nvSpPr>
          <p:cNvPr id="19" name="legend value"/>
          <p:cNvSpPr txBox="1"/>
          <p:nvPr/>
        </p:nvSpPr>
        <p:spPr>
          <a:xfrm>
            <a:off x="10119360" y="4882896"/>
            <a:ext cx="914400" cy="256032"/>
          </a:xfrm>
          <a:prstGeom prst="rect">
            <a:avLst/>
          </a:prstGeom>
          <a:noFill/>
        </p:spPr>
        <p:txBody>
          <a:bodyPr wrap="square" lIns="0" tIns="0" rIns="0" bIns="0" anchor="t">
            <a:noAutofit/>
          </a:bodyPr>
          <a:lstStyle/>
          <a:p>
            <a:pPr algn="r">
              <a:lnSpc>
                <a:spcPts val="1479"/>
              </a:lnSpc>
              <a:spcBef>
                <a:spcPts val="0"/>
              </a:spcBef>
              <a:spcAft>
                <a:spcPts val="0"/>
              </a:spcAft>
            </a:pPr>
            <a:r>
              <a:rPr sz="1019" b="0" i="1">
                <a:solidFill>
                  <a:srgbClr val="86868B"/>
                </a:solidFill>
                <a:latin typeface="Helvetica Neue Medium"/>
              </a:rPr>
              <a:t>[TBD: %]</a:t>
            </a:r>
            <a:endParaRPr sz="1020"/>
          </a:p>
        </p:txBody>
      </p:sp>
      <p:sp>
        <p:nvSpPr>
          <p:cNvPr id="20" name="legend swatch"/>
          <p:cNvSpPr/>
          <p:nvPr/>
        </p:nvSpPr>
        <p:spPr>
          <a:xfrm>
            <a:off x="8229600" y="5221224"/>
            <a:ext cx="109728" cy="109728"/>
          </a:xfrm>
          <a:prstGeom prst="roundRect">
            <a:avLst>
              <a:gd name="adj" fmla="val 16666"/>
            </a:avLst>
          </a:prstGeom>
          <a:solidFill>
            <a:srgbClr val="D2D2D7"/>
          </a:solidFill>
          <a:ln>
            <a:noFill/>
          </a:ln>
        </p:spPr>
        <p:txBody>
          <a:bodyPr rtlCol="0" anchor="ctr"/>
          <a:lstStyle/>
          <a:p>
            <a:pPr algn="ctr"/>
          </a:p>
        </p:txBody>
      </p:sp>
      <p:sp>
        <p:nvSpPr>
          <p:cNvPr id="21" name="legend label"/>
          <p:cNvSpPr txBox="1"/>
          <p:nvPr/>
        </p:nvSpPr>
        <p:spPr>
          <a:xfrm>
            <a:off x="8430768" y="5157216"/>
            <a:ext cx="1642872" cy="256032"/>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Legal and compliance</a:t>
            </a:r>
            <a:endParaRPr sz="1020"/>
          </a:p>
        </p:txBody>
      </p:sp>
      <p:sp>
        <p:nvSpPr>
          <p:cNvPr id="22" name="legend value"/>
          <p:cNvSpPr txBox="1"/>
          <p:nvPr/>
        </p:nvSpPr>
        <p:spPr>
          <a:xfrm>
            <a:off x="10119360" y="5157216"/>
            <a:ext cx="914400" cy="256032"/>
          </a:xfrm>
          <a:prstGeom prst="rect">
            <a:avLst/>
          </a:prstGeom>
          <a:noFill/>
        </p:spPr>
        <p:txBody>
          <a:bodyPr wrap="square" lIns="0" tIns="0" rIns="0" bIns="0" anchor="t">
            <a:noAutofit/>
          </a:bodyPr>
          <a:lstStyle/>
          <a:p>
            <a:pPr algn="r">
              <a:lnSpc>
                <a:spcPts val="1479"/>
              </a:lnSpc>
              <a:spcBef>
                <a:spcPts val="0"/>
              </a:spcBef>
              <a:spcAft>
                <a:spcPts val="0"/>
              </a:spcAft>
            </a:pPr>
            <a:r>
              <a:rPr sz="1019" b="0" i="1">
                <a:solidFill>
                  <a:srgbClr val="86868B"/>
                </a:solidFill>
                <a:latin typeface="Helvetica Neue Medium"/>
              </a:rPr>
              <a:t>[TBD: %]</a:t>
            </a:r>
            <a:endParaRPr sz="1020"/>
          </a:p>
        </p:txBody>
      </p:sp>
      <p:sp>
        <p:nvSpPr>
          <p:cNvPr id="23" name="legend swatch"/>
          <p:cNvSpPr/>
          <p:nvPr/>
        </p:nvSpPr>
        <p:spPr>
          <a:xfrm>
            <a:off x="8229600" y="5495544"/>
            <a:ext cx="109728" cy="109728"/>
          </a:xfrm>
          <a:prstGeom prst="roundRect">
            <a:avLst>
              <a:gd name="adj" fmla="val 16666"/>
            </a:avLst>
          </a:prstGeom>
          <a:solidFill>
            <a:srgbClr val="E8E8ED"/>
          </a:solidFill>
          <a:ln>
            <a:noFill/>
          </a:ln>
        </p:spPr>
        <p:txBody>
          <a:bodyPr rtlCol="0" anchor="ctr"/>
          <a:lstStyle/>
          <a:p>
            <a:pPr algn="ctr"/>
          </a:p>
        </p:txBody>
      </p:sp>
      <p:sp>
        <p:nvSpPr>
          <p:cNvPr id="24" name="legend label"/>
          <p:cNvSpPr txBox="1"/>
          <p:nvPr/>
        </p:nvSpPr>
        <p:spPr>
          <a:xfrm>
            <a:off x="8430768" y="5431536"/>
            <a:ext cx="1642872" cy="256032"/>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Support and operations</a:t>
            </a:r>
            <a:endParaRPr sz="1020"/>
          </a:p>
        </p:txBody>
      </p:sp>
      <p:sp>
        <p:nvSpPr>
          <p:cNvPr id="25" name="legend value"/>
          <p:cNvSpPr txBox="1"/>
          <p:nvPr/>
        </p:nvSpPr>
        <p:spPr>
          <a:xfrm>
            <a:off x="10119360" y="5431536"/>
            <a:ext cx="914400" cy="256032"/>
          </a:xfrm>
          <a:prstGeom prst="rect">
            <a:avLst/>
          </a:prstGeom>
          <a:noFill/>
        </p:spPr>
        <p:txBody>
          <a:bodyPr wrap="square" lIns="0" tIns="0" rIns="0" bIns="0" anchor="t">
            <a:noAutofit/>
          </a:bodyPr>
          <a:lstStyle/>
          <a:p>
            <a:pPr algn="r">
              <a:lnSpc>
                <a:spcPts val="1479"/>
              </a:lnSpc>
              <a:spcBef>
                <a:spcPts val="0"/>
              </a:spcBef>
              <a:spcAft>
                <a:spcPts val="0"/>
              </a:spcAft>
            </a:pPr>
            <a:r>
              <a:rPr sz="1019" b="0" i="1">
                <a:solidFill>
                  <a:srgbClr val="86868B"/>
                </a:solidFill>
                <a:latin typeface="Helvetica Neue Medium"/>
              </a:rPr>
              <a:t>[TBD: %]</a:t>
            </a:r>
            <a:endParaRPr sz="1020"/>
          </a:p>
        </p:txBody>
      </p:sp>
      <p:graphicFrame>
        <p:nvGraphicFramePr>
          <p:cNvPr id="26" name="chart"/>
          <p:cNvGraphicFramePr>
            <a:graphicFrameLocks noGrp="1"/>
          </p:cNvGraphicFramePr>
          <p:nvPr/>
        </p:nvGraphicFramePr>
        <p:xfrm>
          <a:off x="8229600" y="1562938"/>
          <a:ext cx="2804160" cy="2804160"/>
        </p:xfrm>
        <a:graphic>
          <a:graphicData uri="http://schemas.openxmlformats.org/drawingml/2006/chart">
            <c:chart xmlns:c="http://schemas.openxmlformats.org/drawingml/2006/chart" r:id="rId3"/>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Captions are the render file names.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A1</a:t>
            </a:r>
            <a:endParaRPr sz="840"/>
          </a:p>
        </p:txBody>
      </p:sp>
      <p:sp>
        <p:nvSpPr>
          <p:cNvPr id="4" name="headline"/>
          <p:cNvSpPr txBox="1"/>
          <p:nvPr/>
        </p:nvSpPr>
        <p:spPr>
          <a:xfrm>
            <a:off x="914400" y="731520"/>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Appendix: every feature, one hover</a:t>
            </a:r>
            <a:endParaRPr sz="3360"/>
          </a:p>
        </p:txBody>
      </p:sp>
      <p:sp>
        <p:nvSpPr>
          <p:cNvPr id="5" name="lead"/>
          <p:cNvSpPr txBox="1"/>
          <p:nvPr/>
        </p:nvSpPr>
        <p:spPr>
          <a:xfrm>
            <a:off x="914400" y="1408024"/>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Real renders from the current code with sample data.</a:t>
            </a:r>
            <a:endParaRPr sz="1680"/>
          </a:p>
        </p:txBody>
      </p:sp>
      <p:pic>
        <p:nvPicPr>
          <p:cNvPr id="6" name="grid render 02-widgets.png" descr="02-widgets.png"/>
          <p:cNvPicPr>
            <a:picLocks noChangeAspect="1"/>
          </p:cNvPicPr>
          <p:nvPr/>
        </p:nvPicPr>
        <p:blipFill>
          <a:blip r:embed="rId3"/>
          <a:stretch>
            <a:fillRect/>
          </a:stretch>
        </p:blipFill>
        <p:spPr>
          <a:xfrm>
            <a:off x="914400" y="2319042"/>
            <a:ext cx="2407920" cy="731819"/>
          </a:xfrm>
          <a:prstGeom prst="roundRect">
            <a:avLst>
              <a:gd name="adj" fmla="val 10412"/>
            </a:avLst>
          </a:prstGeom>
        </p:spPr>
      </p:pic>
      <p:sp>
        <p:nvSpPr>
          <p:cNvPr id="7" name="grid caption"/>
          <p:cNvSpPr txBox="1"/>
          <p:nvPr/>
        </p:nvSpPr>
        <p:spPr>
          <a:xfrm>
            <a:off x="914400" y="314230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Widgets</a:t>
            </a:r>
            <a:endParaRPr sz="1020"/>
          </a:p>
        </p:txBody>
      </p:sp>
      <p:pic>
        <p:nvPicPr>
          <p:cNvPr id="8" name="grid render 04-tray.png" descr="04-tray.png"/>
          <p:cNvPicPr>
            <a:picLocks noChangeAspect="1"/>
          </p:cNvPicPr>
          <p:nvPr/>
        </p:nvPicPr>
        <p:blipFill>
          <a:blip r:embed="rId4"/>
          <a:stretch>
            <a:fillRect/>
          </a:stretch>
        </p:blipFill>
        <p:spPr>
          <a:xfrm>
            <a:off x="3566160" y="2319042"/>
            <a:ext cx="2407920" cy="731819"/>
          </a:xfrm>
          <a:prstGeom prst="roundRect">
            <a:avLst>
              <a:gd name="adj" fmla="val 10412"/>
            </a:avLst>
          </a:prstGeom>
        </p:spPr>
      </p:pic>
      <p:sp>
        <p:nvSpPr>
          <p:cNvPr id="9" name="grid caption"/>
          <p:cNvSpPr txBox="1"/>
          <p:nvPr/>
        </p:nvSpPr>
        <p:spPr>
          <a:xfrm>
            <a:off x="3566160" y="314230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Tray</a:t>
            </a:r>
            <a:endParaRPr sz="1020"/>
          </a:p>
        </p:txBody>
      </p:sp>
      <p:pic>
        <p:nvPicPr>
          <p:cNvPr id="10" name="grid render 06-today.png" descr="06-today.png"/>
          <p:cNvPicPr>
            <a:picLocks noChangeAspect="1"/>
          </p:cNvPicPr>
          <p:nvPr/>
        </p:nvPicPr>
        <p:blipFill>
          <a:blip r:embed="rId5"/>
          <a:stretch>
            <a:fillRect/>
          </a:stretch>
        </p:blipFill>
        <p:spPr>
          <a:xfrm>
            <a:off x="6217920" y="2319042"/>
            <a:ext cx="2407920" cy="554766"/>
          </a:xfrm>
          <a:prstGeom prst="roundRect">
            <a:avLst>
              <a:gd name="adj" fmla="val 13735"/>
            </a:avLst>
          </a:prstGeom>
        </p:spPr>
      </p:pic>
      <p:sp>
        <p:nvSpPr>
          <p:cNvPr id="11" name="grid caption"/>
          <p:cNvSpPr txBox="1"/>
          <p:nvPr/>
        </p:nvSpPr>
        <p:spPr>
          <a:xfrm>
            <a:off x="6217920" y="314230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Today</a:t>
            </a:r>
            <a:endParaRPr sz="1020"/>
          </a:p>
        </p:txBody>
      </p:sp>
      <p:pic>
        <p:nvPicPr>
          <p:cNvPr id="12" name="grid render 07-converter.png" descr="07-converter.png"/>
          <p:cNvPicPr>
            <a:picLocks noChangeAspect="1"/>
          </p:cNvPicPr>
          <p:nvPr/>
        </p:nvPicPr>
        <p:blipFill>
          <a:blip r:embed="rId6"/>
          <a:stretch>
            <a:fillRect/>
          </a:stretch>
        </p:blipFill>
        <p:spPr>
          <a:xfrm>
            <a:off x="8869680" y="2319042"/>
            <a:ext cx="2407920" cy="731819"/>
          </a:xfrm>
          <a:prstGeom prst="roundRect">
            <a:avLst>
              <a:gd name="adj" fmla="val 10412"/>
            </a:avLst>
          </a:prstGeom>
        </p:spPr>
      </p:pic>
      <p:sp>
        <p:nvSpPr>
          <p:cNvPr id="13" name="grid caption"/>
          <p:cNvSpPr txBox="1"/>
          <p:nvPr/>
        </p:nvSpPr>
        <p:spPr>
          <a:xfrm>
            <a:off x="8869680" y="314230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Converter</a:t>
            </a:r>
            <a:endParaRPr sz="1020"/>
          </a:p>
        </p:txBody>
      </p:sp>
      <p:pic>
        <p:nvPicPr>
          <p:cNvPr id="14" name="grid render 08-spaces.png" descr="08-spaces.png"/>
          <p:cNvPicPr>
            <a:picLocks noChangeAspect="1"/>
          </p:cNvPicPr>
          <p:nvPr/>
        </p:nvPicPr>
        <p:blipFill>
          <a:blip r:embed="rId7"/>
          <a:stretch>
            <a:fillRect/>
          </a:stretch>
        </p:blipFill>
        <p:spPr>
          <a:xfrm>
            <a:off x="914400" y="3604911"/>
            <a:ext cx="2407920" cy="554766"/>
          </a:xfrm>
          <a:prstGeom prst="roundRect">
            <a:avLst>
              <a:gd name="adj" fmla="val 13735"/>
            </a:avLst>
          </a:prstGeom>
        </p:spPr>
      </p:pic>
      <p:sp>
        <p:nvSpPr>
          <p:cNvPr id="15" name="grid caption"/>
          <p:cNvSpPr txBox="1"/>
          <p:nvPr/>
        </p:nvSpPr>
        <p:spPr>
          <a:xfrm>
            <a:off x="914400" y="442817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Spaces</a:t>
            </a:r>
            <a:endParaRPr sz="1020"/>
          </a:p>
        </p:txBody>
      </p:sp>
      <p:pic>
        <p:nvPicPr>
          <p:cNvPr id="16" name="grid render 11-flow.png" descr="11-flow.png"/>
          <p:cNvPicPr>
            <a:picLocks noChangeAspect="1"/>
          </p:cNvPicPr>
          <p:nvPr/>
        </p:nvPicPr>
        <p:blipFill>
          <a:blip r:embed="rId8"/>
          <a:stretch>
            <a:fillRect/>
          </a:stretch>
        </p:blipFill>
        <p:spPr>
          <a:xfrm>
            <a:off x="3566160" y="3604911"/>
            <a:ext cx="2407920" cy="554766"/>
          </a:xfrm>
          <a:prstGeom prst="roundRect">
            <a:avLst>
              <a:gd name="adj" fmla="val 13735"/>
            </a:avLst>
          </a:prstGeom>
        </p:spPr>
      </p:pic>
      <p:sp>
        <p:nvSpPr>
          <p:cNvPr id="17" name="grid caption"/>
          <p:cNvSpPr txBox="1"/>
          <p:nvPr/>
        </p:nvSpPr>
        <p:spPr>
          <a:xfrm>
            <a:off x="3566160" y="442817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Flow</a:t>
            </a:r>
            <a:endParaRPr sz="1020"/>
          </a:p>
        </p:txBody>
      </p:sp>
      <p:pic>
        <p:nvPicPr>
          <p:cNvPr id="18" name="grid render 13-clipboard.png" descr="13-clipboard.png"/>
          <p:cNvPicPr>
            <a:picLocks noChangeAspect="1"/>
          </p:cNvPicPr>
          <p:nvPr/>
        </p:nvPicPr>
        <p:blipFill>
          <a:blip r:embed="rId9"/>
          <a:stretch>
            <a:fillRect/>
          </a:stretch>
        </p:blipFill>
        <p:spPr>
          <a:xfrm>
            <a:off x="6217920" y="3604911"/>
            <a:ext cx="2407920" cy="731819"/>
          </a:xfrm>
          <a:prstGeom prst="roundRect">
            <a:avLst>
              <a:gd name="adj" fmla="val 10412"/>
            </a:avLst>
          </a:prstGeom>
        </p:spPr>
      </p:pic>
      <p:sp>
        <p:nvSpPr>
          <p:cNvPr id="19" name="grid caption"/>
          <p:cNvSpPr txBox="1"/>
          <p:nvPr/>
        </p:nvSpPr>
        <p:spPr>
          <a:xfrm>
            <a:off x="6217920" y="442817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Clipboard</a:t>
            </a:r>
            <a:endParaRPr sz="1020"/>
          </a:p>
        </p:txBody>
      </p:sp>
      <p:pic>
        <p:nvPicPr>
          <p:cNvPr id="20" name="grid render 15-universal-search.png" descr="15-universal-search.png"/>
          <p:cNvPicPr>
            <a:picLocks noChangeAspect="1"/>
          </p:cNvPicPr>
          <p:nvPr/>
        </p:nvPicPr>
        <p:blipFill>
          <a:blip r:embed="rId10"/>
          <a:stretch>
            <a:fillRect/>
          </a:stretch>
        </p:blipFill>
        <p:spPr>
          <a:xfrm>
            <a:off x="8869680" y="3604911"/>
            <a:ext cx="2407920" cy="731819"/>
          </a:xfrm>
          <a:prstGeom prst="roundRect">
            <a:avLst>
              <a:gd name="adj" fmla="val 10412"/>
            </a:avLst>
          </a:prstGeom>
        </p:spPr>
      </p:pic>
      <p:sp>
        <p:nvSpPr>
          <p:cNvPr id="21" name="grid caption"/>
          <p:cNvSpPr txBox="1"/>
          <p:nvPr/>
        </p:nvSpPr>
        <p:spPr>
          <a:xfrm>
            <a:off x="8869680" y="4428170"/>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Universal Search</a:t>
            </a:r>
            <a:endParaRPr sz="1020"/>
          </a:p>
        </p:txBody>
      </p:sp>
      <p:pic>
        <p:nvPicPr>
          <p:cNvPr id="22" name="grid render 28-focus.png" descr="28-focus.png"/>
          <p:cNvPicPr>
            <a:picLocks noChangeAspect="1"/>
          </p:cNvPicPr>
          <p:nvPr/>
        </p:nvPicPr>
        <p:blipFill>
          <a:blip r:embed="rId11"/>
          <a:stretch>
            <a:fillRect/>
          </a:stretch>
        </p:blipFill>
        <p:spPr>
          <a:xfrm>
            <a:off x="914400" y="4890780"/>
            <a:ext cx="2407920" cy="554766"/>
          </a:xfrm>
          <a:prstGeom prst="roundRect">
            <a:avLst>
              <a:gd name="adj" fmla="val 13735"/>
            </a:avLst>
          </a:prstGeom>
        </p:spPr>
      </p:pic>
      <p:sp>
        <p:nvSpPr>
          <p:cNvPr id="23" name="grid caption"/>
          <p:cNvSpPr txBox="1"/>
          <p:nvPr/>
        </p:nvSpPr>
        <p:spPr>
          <a:xfrm>
            <a:off x="914400" y="5714039"/>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Focus</a:t>
            </a:r>
            <a:endParaRPr sz="1020"/>
          </a:p>
        </p:txBody>
      </p:sp>
      <p:pic>
        <p:nvPicPr>
          <p:cNvPr id="24" name="grid render 31-downloads.png" descr="31-downloads.png"/>
          <p:cNvPicPr>
            <a:picLocks noChangeAspect="1"/>
          </p:cNvPicPr>
          <p:nvPr/>
        </p:nvPicPr>
        <p:blipFill>
          <a:blip r:embed="rId12"/>
          <a:stretch>
            <a:fillRect/>
          </a:stretch>
        </p:blipFill>
        <p:spPr>
          <a:xfrm>
            <a:off x="3566160" y="4890780"/>
            <a:ext cx="2407920" cy="731819"/>
          </a:xfrm>
          <a:prstGeom prst="roundRect">
            <a:avLst>
              <a:gd name="adj" fmla="val 10412"/>
            </a:avLst>
          </a:prstGeom>
        </p:spPr>
      </p:pic>
      <p:sp>
        <p:nvSpPr>
          <p:cNvPr id="25" name="grid caption"/>
          <p:cNvSpPr txBox="1"/>
          <p:nvPr/>
        </p:nvSpPr>
        <p:spPr>
          <a:xfrm>
            <a:off x="3566160" y="5714039"/>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Downloads</a:t>
            </a:r>
            <a:endParaRPr sz="1020"/>
          </a:p>
        </p:txBody>
      </p:sp>
      <p:pic>
        <p:nvPicPr>
          <p:cNvPr id="26" name="grid render 17-reply-drafter.png" descr="17-reply-drafter.png"/>
          <p:cNvPicPr>
            <a:picLocks noChangeAspect="1"/>
          </p:cNvPicPr>
          <p:nvPr/>
        </p:nvPicPr>
        <p:blipFill>
          <a:blip r:embed="rId13"/>
          <a:stretch>
            <a:fillRect/>
          </a:stretch>
        </p:blipFill>
        <p:spPr>
          <a:xfrm>
            <a:off x="6217920" y="4890780"/>
            <a:ext cx="2407920" cy="731819"/>
          </a:xfrm>
          <a:prstGeom prst="roundRect">
            <a:avLst>
              <a:gd name="adj" fmla="val 10412"/>
            </a:avLst>
          </a:prstGeom>
        </p:spPr>
      </p:pic>
      <p:sp>
        <p:nvSpPr>
          <p:cNvPr id="27" name="grid caption"/>
          <p:cNvSpPr txBox="1"/>
          <p:nvPr/>
        </p:nvSpPr>
        <p:spPr>
          <a:xfrm>
            <a:off x="6217920" y="5714039"/>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Reply Drafter</a:t>
            </a:r>
            <a:endParaRPr sz="1020"/>
          </a:p>
        </p:txBody>
      </p:sp>
      <p:pic>
        <p:nvPicPr>
          <p:cNvPr id="28" name="grid render 23-job-agent.png" descr="23-job-agent.png"/>
          <p:cNvPicPr>
            <a:picLocks noChangeAspect="1"/>
          </p:cNvPicPr>
          <p:nvPr/>
        </p:nvPicPr>
        <p:blipFill>
          <a:blip r:embed="rId14"/>
          <a:stretch>
            <a:fillRect/>
          </a:stretch>
        </p:blipFill>
        <p:spPr>
          <a:xfrm>
            <a:off x="8869680" y="4890780"/>
            <a:ext cx="2407920" cy="554766"/>
          </a:xfrm>
          <a:prstGeom prst="roundRect">
            <a:avLst>
              <a:gd name="adj" fmla="val 13735"/>
            </a:avLst>
          </a:prstGeom>
        </p:spPr>
      </p:pic>
      <p:sp>
        <p:nvSpPr>
          <p:cNvPr id="29" name="grid caption"/>
          <p:cNvSpPr txBox="1"/>
          <p:nvPr/>
        </p:nvSpPr>
        <p:spPr>
          <a:xfrm>
            <a:off x="8869680" y="5714039"/>
            <a:ext cx="240792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0">
                <a:solidFill>
                  <a:srgbClr val="1D1D1F"/>
                </a:solidFill>
                <a:latin typeface="Helvetica Neue Medium"/>
              </a:rPr>
              <a:t>Job Agent</a:t>
            </a:r>
            <a:endParaRPr sz="102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Public figures found by web search on 22 Oct 2026. Confirm IDC figures on idc.com.</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A2</a:t>
            </a:r>
            <a:endParaRPr sz="840"/>
          </a:p>
        </p:txBody>
      </p:sp>
      <p:sp>
        <p:nvSpPr>
          <p:cNvPr id="4" name="headline"/>
          <p:cNvSpPr txBox="1"/>
          <p:nvPr/>
        </p:nvSpPr>
        <p:spPr>
          <a:xfrm>
            <a:off x="914400" y="731520"/>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Appendix: sources</a:t>
            </a:r>
            <a:endParaRPr sz="3360"/>
          </a:p>
        </p:txBody>
      </p:sp>
      <p:sp>
        <p:nvSpPr>
          <p:cNvPr id="5" name="lead"/>
          <p:cNvSpPr txBox="1"/>
          <p:nvPr/>
        </p:nvSpPr>
        <p:spPr>
          <a:xfrm>
            <a:off x="914400" y="1408024"/>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Every number in this deck, and where it comes from.</a:t>
            </a:r>
            <a:endParaRPr sz="1680"/>
          </a:p>
        </p:txBody>
      </p:sp>
      <p:sp>
        <p:nvSpPr>
          <p:cNvPr id="6" name="source entry"/>
          <p:cNvSpPr txBox="1"/>
          <p:nvPr/>
        </p:nvSpPr>
        <p:spPr>
          <a:xfrm>
            <a:off x="914400" y="2018690"/>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SparkV Business Plan (docs/SparkV-Business-Plan.md), researched 22 Oct 2026</a:t>
            </a:r>
            <a:endParaRPr sz="1020"/>
          </a:p>
          <a:p>
            <a:pPr algn="l">
              <a:lnSpc>
                <a:spcPts val="1479"/>
              </a:lnSpc>
              <a:spcBef>
                <a:spcPts val="0"/>
              </a:spcBef>
              <a:spcAft>
                <a:spcPts val="0"/>
              </a:spcAft>
            </a:pPr>
            <a:r>
              <a:rPr sz="1019" b="0" i="0">
                <a:solidFill>
                  <a:srgbClr val="6E6E73"/>
                </a:solidFill>
                <a:latin typeface="Helvetica Neue"/>
              </a:rPr>
              <a:t>Pricing, fees, competitors, GTM, launch plan, blockers</a:t>
            </a:r>
            <a:endParaRPr sz="1020"/>
          </a:p>
          <a:p>
            <a:pPr algn="l">
              <a:lnSpc>
                <a:spcPts val="1260"/>
              </a:lnSpc>
              <a:spcBef>
                <a:spcPts val="0"/>
              </a:spcBef>
              <a:spcAft>
                <a:spcPts val="0"/>
              </a:spcAft>
            </a:pPr>
            <a:r>
              <a:rPr sz="900" b="0" i="0">
                <a:solidFill>
                  <a:srgbClr val="86868B"/>
                </a:solidFill>
                <a:latin typeface="Helvetica Neue"/>
              </a:rPr>
              <a:t>docs/SparkV-Business-Plan.md</a:t>
            </a:r>
            <a:endParaRPr sz="900"/>
          </a:p>
        </p:txBody>
      </p:sp>
      <p:sp>
        <p:nvSpPr>
          <p:cNvPr id="7" name="source entry"/>
          <p:cNvSpPr txBox="1"/>
          <p:nvPr/>
        </p:nvSpPr>
        <p:spPr>
          <a:xfrm>
            <a:off x="914400" y="2701138"/>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SparkV Feature Guide (docs/SparkV-Feature-Guide.md), checks run 22 Oct 2026</a:t>
            </a:r>
            <a:endParaRPr sz="1020"/>
          </a:p>
          <a:p>
            <a:pPr algn="l">
              <a:lnSpc>
                <a:spcPts val="1479"/>
              </a:lnSpc>
              <a:spcBef>
                <a:spcPts val="0"/>
              </a:spcBef>
              <a:spcAft>
                <a:spcPts val="0"/>
              </a:spcAft>
            </a:pPr>
            <a:r>
              <a:rPr sz="1019" b="0" i="0">
                <a:solidFill>
                  <a:srgbClr val="6E6E73"/>
                </a:solidFill>
                <a:latin typeface="Helvetica Neue"/>
              </a:rPr>
              <a:t>Features, verification status, test results</a:t>
            </a:r>
            <a:endParaRPr sz="1020"/>
          </a:p>
          <a:p>
            <a:pPr algn="l">
              <a:lnSpc>
                <a:spcPts val="1260"/>
              </a:lnSpc>
              <a:spcBef>
                <a:spcPts val="0"/>
              </a:spcBef>
              <a:spcAft>
                <a:spcPts val="0"/>
              </a:spcAft>
            </a:pPr>
            <a:r>
              <a:rPr sz="900" b="0" i="0">
                <a:solidFill>
                  <a:srgbClr val="86868B"/>
                </a:solidFill>
                <a:latin typeface="Helvetica Neue"/>
              </a:rPr>
              <a:t>docs/SparkV-Feature-Guide.md</a:t>
            </a:r>
            <a:endParaRPr sz="900"/>
          </a:p>
        </p:txBody>
      </p:sp>
      <p:sp>
        <p:nvSpPr>
          <p:cNvPr id="8" name="source entry"/>
          <p:cNvSpPr txBox="1"/>
          <p:nvPr/>
        </p:nvSpPr>
        <p:spPr>
          <a:xfrm>
            <a:off x="914400" y="3383585"/>
            <a:ext cx="5059680" cy="88399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IDC preliminary Q4/FY2025 PC tracker, via 9to5Mac (13 Jan 2026)</a:t>
            </a:r>
            <a:endParaRPr sz="1020"/>
          </a:p>
          <a:p>
            <a:pPr algn="l">
              <a:lnSpc>
                <a:spcPts val="1479"/>
              </a:lnSpc>
              <a:spcBef>
                <a:spcPts val="0"/>
              </a:spcBef>
              <a:spcAft>
                <a:spcPts val="0"/>
              </a:spcAft>
            </a:pPr>
            <a:r>
              <a:rPr sz="1019" b="0" i="0">
                <a:solidFill>
                  <a:srgbClr val="6E6E73"/>
                </a:solidFill>
                <a:latin typeface="Helvetica Neue"/>
              </a:rPr>
              <a:t>Apple 25.6M Macs in 2025 (+11.1%); Q4 2025 7.1M, share 9.3%. Preliminary; confirm on idc.com</a:t>
            </a:r>
            <a:endParaRPr sz="1020"/>
          </a:p>
          <a:p>
            <a:pPr algn="l">
              <a:lnSpc>
                <a:spcPts val="1260"/>
              </a:lnSpc>
              <a:spcBef>
                <a:spcPts val="0"/>
              </a:spcBef>
              <a:spcAft>
                <a:spcPts val="0"/>
              </a:spcAft>
            </a:pPr>
            <a:r>
              <a:rPr sz="900" b="0" i="0">
                <a:solidFill>
                  <a:srgbClr val="86868B"/>
                </a:solidFill>
                <a:latin typeface="Helvetica Neue"/>
              </a:rPr>
              <a:t>https://9to5mac.com/2026/01/13/apple-shipments-unchanged-as-pc-market-grew-during-</a:t>
            </a:r>
            <a:br/>
            <a:r>
              <a:rPr sz="900" b="0" i="0">
                <a:solidFill>
                  <a:srgbClr val="86868B"/>
                </a:solidFill>
                <a:latin typeface="Helvetica Neue"/>
              </a:rPr>
              <a:t>q4-2025/</a:t>
            </a:r>
            <a:endParaRPr sz="900"/>
          </a:p>
        </p:txBody>
      </p:sp>
      <p:sp>
        <p:nvSpPr>
          <p:cNvPr id="9" name="source entry"/>
          <p:cNvSpPr txBox="1"/>
          <p:nvPr/>
        </p:nvSpPr>
        <p:spPr>
          <a:xfrm>
            <a:off x="914400" y="4413885"/>
            <a:ext cx="5059680" cy="69616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IDC preliminary Q2 2025, via MacTrast (Jul 2025)</a:t>
            </a:r>
            <a:endParaRPr sz="1020"/>
          </a:p>
          <a:p>
            <a:pPr algn="l">
              <a:lnSpc>
                <a:spcPts val="1479"/>
              </a:lnSpc>
              <a:spcBef>
                <a:spcPts val="0"/>
              </a:spcBef>
              <a:spcAft>
                <a:spcPts val="0"/>
              </a:spcAft>
            </a:pPr>
            <a:r>
              <a:rPr sz="1019" b="0" i="0">
                <a:solidFill>
                  <a:srgbClr val="6E6E73"/>
                </a:solidFill>
                <a:latin typeface="Helvetica Neue"/>
              </a:rPr>
              <a:t>6.2M Macs in Q2 2025 vs 5.1M in Q2 2024 (+21.4%)</a:t>
            </a:r>
            <a:endParaRPr sz="1020"/>
          </a:p>
          <a:p>
            <a:pPr algn="l">
              <a:lnSpc>
                <a:spcPts val="1260"/>
              </a:lnSpc>
              <a:spcBef>
                <a:spcPts val="0"/>
              </a:spcBef>
              <a:spcAft>
                <a:spcPts val="0"/>
              </a:spcAft>
            </a:pPr>
            <a:r>
              <a:rPr sz="900" b="0" i="0">
                <a:solidFill>
                  <a:srgbClr val="86868B"/>
                </a:solidFill>
                <a:latin typeface="Helvetica Neue"/>
              </a:rPr>
              <a:t>https://www.mactrast.com/2025/07/new-data-released-by-idc-shows-mac-shipments-are-</a:t>
            </a:r>
            <a:br/>
            <a:r>
              <a:rPr sz="900" b="0" i="0">
                <a:solidFill>
                  <a:srgbClr val="86868B"/>
                </a:solidFill>
                <a:latin typeface="Helvetica Neue"/>
              </a:rPr>
              <a:t>continuing-to-increase/</a:t>
            </a:r>
            <a:endParaRPr sz="900"/>
          </a:p>
        </p:txBody>
      </p:sp>
      <p:sp>
        <p:nvSpPr>
          <p:cNvPr id="10" name="source entry"/>
          <p:cNvSpPr txBox="1"/>
          <p:nvPr/>
        </p:nvSpPr>
        <p:spPr>
          <a:xfrm>
            <a:off x="914400" y="5256352"/>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Apple, Oct 2018 event: 100 million active Macs, via TechCrunch (30 Oct 2018)</a:t>
            </a:r>
            <a:endParaRPr sz="1020"/>
          </a:p>
          <a:p>
            <a:pPr algn="l">
              <a:lnSpc>
                <a:spcPts val="1479"/>
              </a:lnSpc>
              <a:spcBef>
                <a:spcPts val="0"/>
              </a:spcBef>
              <a:spcAft>
                <a:spcPts val="0"/>
              </a:spcAft>
            </a:pPr>
            <a:r>
              <a:rPr sz="1019" b="0" i="0">
                <a:solidFill>
                  <a:srgbClr val="6E6E73"/>
                </a:solidFill>
                <a:latin typeface="Helvetica Neue"/>
              </a:rPr>
              <a:t>Latest public active-Mac figure found; dated, label it 2018</a:t>
            </a:r>
            <a:endParaRPr sz="1020"/>
          </a:p>
          <a:p>
            <a:pPr algn="l">
              <a:lnSpc>
                <a:spcPts val="1260"/>
              </a:lnSpc>
              <a:spcBef>
                <a:spcPts val="0"/>
              </a:spcBef>
              <a:spcAft>
                <a:spcPts val="0"/>
              </a:spcAft>
            </a:pPr>
            <a:r>
              <a:rPr sz="900" b="0" i="0">
                <a:solidFill>
                  <a:srgbClr val="86868B"/>
                </a:solidFill>
                <a:latin typeface="Helvetica Neue"/>
              </a:rPr>
              <a:t>https://techcrunch.com/2018/10/30/there-are-now-100-million-macs-in-use</a:t>
            </a:r>
            <a:endParaRPr sz="900"/>
          </a:p>
        </p:txBody>
      </p:sp>
      <p:sp>
        <p:nvSpPr>
          <p:cNvPr id="11" name="source entry"/>
          <p:cNvSpPr txBox="1"/>
          <p:nvPr/>
        </p:nvSpPr>
        <p:spPr>
          <a:xfrm>
            <a:off x="6217920" y="2018690"/>
            <a:ext cx="5059680" cy="91180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Setapp Mac Apps Report 2023 (n=1,241, mostly US), via SecurityBrief Asia (Oct 2023)</a:t>
            </a:r>
            <a:endParaRPr sz="1020"/>
          </a:p>
          <a:p>
            <a:pPr algn="l">
              <a:lnSpc>
                <a:spcPts val="1479"/>
              </a:lnSpc>
              <a:spcBef>
                <a:spcPts val="0"/>
              </a:spcBef>
              <a:spcAft>
                <a:spcPts val="0"/>
              </a:spcAft>
            </a:pPr>
            <a:r>
              <a:rPr sz="1019" b="0" i="0">
                <a:solidFill>
                  <a:srgbClr val="6E6E73"/>
                </a:solidFill>
                <a:latin typeface="Helvetica Neue"/>
              </a:rPr>
              <a:t>42% use AI apps daily; 83% paid for Mac software in the past month; 70% own an M1/M2 Mac. Survey of Setapp's audience, not a census</a:t>
            </a:r>
            <a:endParaRPr sz="1020"/>
          </a:p>
          <a:p>
            <a:pPr algn="l">
              <a:lnSpc>
                <a:spcPts val="1260"/>
              </a:lnSpc>
              <a:spcBef>
                <a:spcPts val="0"/>
              </a:spcBef>
              <a:spcAft>
                <a:spcPts val="0"/>
              </a:spcAft>
            </a:pPr>
            <a:r>
              <a:rPr sz="900" b="0" i="0">
                <a:solidFill>
                  <a:srgbClr val="86868B"/>
                </a:solidFill>
                <a:latin typeface="Helvetica Neue"/>
              </a:rPr>
              <a:t>https://securitybrief.asia/story/42-of-macos-users-use-ai-based-apps-daily-report</a:t>
            </a:r>
            <a:endParaRPr sz="900"/>
          </a:p>
        </p:txBody>
      </p:sp>
      <p:sp>
        <p:nvSpPr>
          <p:cNvPr id="12" name="source entry"/>
          <p:cNvSpPr txBox="1"/>
          <p:nvPr/>
        </p:nvSpPr>
        <p:spPr>
          <a:xfrm>
            <a:off x="6217920" y="3076804"/>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Apple Foundation Models framework, WWDC 2025, via TechCrunch (9 Jun 2025)</a:t>
            </a:r>
            <a:endParaRPr sz="1020"/>
          </a:p>
          <a:p>
            <a:pPr algn="l">
              <a:lnSpc>
                <a:spcPts val="1479"/>
              </a:lnSpc>
              <a:spcBef>
                <a:spcPts val="0"/>
              </a:spcBef>
              <a:spcAft>
                <a:spcPts val="0"/>
              </a:spcAft>
            </a:pPr>
            <a:r>
              <a:rPr sz="1019" b="0" i="0">
                <a:solidFill>
                  <a:srgbClr val="6E6E73"/>
                </a:solidFill>
                <a:latin typeface="Helvetica Neue"/>
              </a:rPr>
              <a:t>Federighi: on-device models run 'without cloud API costs' and work offline</a:t>
            </a:r>
            <a:endParaRPr sz="1020"/>
          </a:p>
          <a:p>
            <a:pPr algn="l">
              <a:lnSpc>
                <a:spcPts val="1260"/>
              </a:lnSpc>
              <a:spcBef>
                <a:spcPts val="0"/>
              </a:spcBef>
              <a:spcAft>
                <a:spcPts val="0"/>
              </a:spcAft>
            </a:pPr>
            <a:r>
              <a:rPr sz="900" b="0" i="0">
                <a:solidFill>
                  <a:srgbClr val="86868B"/>
                </a:solidFill>
                <a:latin typeface="Helvetica Neue"/>
              </a:rPr>
              <a:t>https://techcrunch.com/2025/06/09/apple-lets-developers-tap-into-its-offline-ai-models/</a:t>
            </a:r>
            <a:endParaRPr sz="900"/>
          </a:p>
        </p:txBody>
      </p:sp>
      <p:sp>
        <p:nvSpPr>
          <p:cNvPr id="13" name="source entry"/>
          <p:cNvSpPr txBox="1"/>
          <p:nvPr/>
        </p:nvSpPr>
        <p:spPr>
          <a:xfrm>
            <a:off x="6217920" y="3759251"/>
            <a:ext cx="5059680" cy="88399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Mac Pro with M2 Ultra completes Apple silicon transition, via MobileSyrup (5 Jun 2023)</a:t>
            </a:r>
            <a:endParaRPr sz="1020"/>
          </a:p>
          <a:p>
            <a:pPr algn="l">
              <a:lnSpc>
                <a:spcPts val="1479"/>
              </a:lnSpc>
              <a:spcBef>
                <a:spcPts val="0"/>
              </a:spcBef>
              <a:spcAft>
                <a:spcPts val="0"/>
              </a:spcAft>
            </a:pPr>
            <a:r>
              <a:rPr sz="1019" b="0" i="0">
                <a:solidFill>
                  <a:srgbClr val="6E6E73"/>
                </a:solidFill>
                <a:latin typeface="Helvetica Neue"/>
              </a:rPr>
              <a:t>Every Mac Apple sells since June 2023 is Apple silicon</a:t>
            </a:r>
            <a:endParaRPr sz="1020"/>
          </a:p>
          <a:p>
            <a:pPr algn="l">
              <a:lnSpc>
                <a:spcPts val="1260"/>
              </a:lnSpc>
              <a:spcBef>
                <a:spcPts val="0"/>
              </a:spcBef>
              <a:spcAft>
                <a:spcPts val="0"/>
              </a:spcAft>
            </a:pPr>
            <a:r>
              <a:rPr sz="900" b="0" i="0">
                <a:solidFill>
                  <a:srgbClr val="86868B"/>
                </a:solidFill>
                <a:latin typeface="Helvetica Neue"/>
              </a:rPr>
              <a:t>https://mobilesyrup.com/2023/06/05/apple-completes-its-transition-to-in-house-chips-with-</a:t>
            </a:r>
            <a:br/>
            <a:r>
              <a:rPr sz="900" b="0" i="0">
                <a:solidFill>
                  <a:srgbClr val="86868B"/>
                </a:solidFill>
                <a:latin typeface="Helvetica Neue"/>
              </a:rPr>
              <a:t>m2-ultra-mac-pro/</a:t>
            </a:r>
            <a:endParaRPr sz="900"/>
          </a:p>
        </p:txBody>
      </p:sp>
      <p:sp>
        <p:nvSpPr>
          <p:cNvPr id="14" name="source entry"/>
          <p:cNvSpPr txBox="1"/>
          <p:nvPr/>
        </p:nvSpPr>
        <p:spPr>
          <a:xfrm>
            <a:off x="6217920" y="4789551"/>
            <a:ext cx="5059680" cy="69616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14- and 16-inch MacBook Pro with notch, 18 Oct 2021, via Macworld</a:t>
            </a:r>
            <a:endParaRPr sz="1020"/>
          </a:p>
          <a:p>
            <a:pPr algn="l">
              <a:lnSpc>
                <a:spcPts val="1479"/>
              </a:lnSpc>
              <a:spcBef>
                <a:spcPts val="0"/>
              </a:spcBef>
              <a:spcAft>
                <a:spcPts val="0"/>
              </a:spcAft>
            </a:pPr>
            <a:r>
              <a:rPr sz="1019" b="0" i="0">
                <a:solidFill>
                  <a:srgbClr val="6E6E73"/>
                </a:solidFill>
                <a:latin typeface="Helvetica Neue"/>
              </a:rPr>
              <a:t>Notch introduced on MacBook Pro; 16-inch panel 3456x2234</a:t>
            </a:r>
            <a:endParaRPr sz="1020"/>
          </a:p>
          <a:p>
            <a:pPr algn="l">
              <a:lnSpc>
                <a:spcPts val="1260"/>
              </a:lnSpc>
              <a:spcBef>
                <a:spcPts val="0"/>
              </a:spcBef>
              <a:spcAft>
                <a:spcPts val="0"/>
              </a:spcAft>
            </a:pPr>
            <a:r>
              <a:rPr sz="900" b="0" i="0">
                <a:solidFill>
                  <a:srgbClr val="86868B"/>
                </a:solidFill>
                <a:latin typeface="Helvetica Neue"/>
              </a:rPr>
              <a:t>https://www.macworld.com/article/677726/everything-apple-announced-at-its-18-october-</a:t>
            </a:r>
            <a:br/>
            <a:r>
              <a:rPr sz="900" b="0" i="0">
                <a:solidFill>
                  <a:srgbClr val="86868B"/>
                </a:solidFill>
                <a:latin typeface="Helvetica Neue"/>
              </a:rPr>
              <a:t>event.html</a:t>
            </a:r>
            <a:endParaRPr sz="9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Public figures found by web search on 22 Oct 2026. Confirm IDC figures on idc.com.</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A3</a:t>
            </a:r>
            <a:endParaRPr sz="840"/>
          </a:p>
        </p:txBody>
      </p:sp>
      <p:sp>
        <p:nvSpPr>
          <p:cNvPr id="4" name="headline"/>
          <p:cNvSpPr txBox="1"/>
          <p:nvPr/>
        </p:nvSpPr>
        <p:spPr>
          <a:xfrm>
            <a:off x="914400" y="731520"/>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Appendix: sources</a:t>
            </a:r>
            <a:endParaRPr sz="3360"/>
          </a:p>
        </p:txBody>
      </p:sp>
      <p:sp>
        <p:nvSpPr>
          <p:cNvPr id="5" name="source entry"/>
          <p:cNvSpPr txBox="1"/>
          <p:nvPr/>
        </p:nvSpPr>
        <p:spPr>
          <a:xfrm>
            <a:off x="914400" y="1529944"/>
            <a:ext cx="5059680" cy="69616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NotchNook price, via iMore</a:t>
            </a:r>
            <a:endParaRPr sz="1020"/>
          </a:p>
          <a:p>
            <a:pPr algn="l">
              <a:lnSpc>
                <a:spcPts val="1479"/>
              </a:lnSpc>
              <a:spcBef>
                <a:spcPts val="0"/>
              </a:spcBef>
              <a:spcAft>
                <a:spcPts val="0"/>
              </a:spcAft>
            </a:pPr>
            <a:r>
              <a:rPr sz="1019" b="0" i="0">
                <a:solidFill>
                  <a:srgbClr val="6E6E73"/>
                </a:solidFill>
                <a:latin typeface="Helvetica Neue"/>
              </a:rPr>
              <a:t>$25 one-time or $3/month (business plan section 3)</a:t>
            </a:r>
            <a:endParaRPr sz="1020"/>
          </a:p>
          <a:p>
            <a:pPr algn="l">
              <a:lnSpc>
                <a:spcPts val="1260"/>
              </a:lnSpc>
              <a:spcBef>
                <a:spcPts val="0"/>
              </a:spcBef>
              <a:spcAft>
                <a:spcPts val="0"/>
              </a:spcAft>
            </a:pPr>
            <a:r>
              <a:rPr sz="900" b="0" i="0">
                <a:solidFill>
                  <a:srgbClr val="86868B"/>
                </a:solidFill>
                <a:latin typeface="Helvetica Neue"/>
              </a:rPr>
              <a:t>https://www.imore.com/apps/mac-apps/this-dollar25-app-gives-my-macbook-pro-a-</a:t>
            </a:r>
            <a:br/>
            <a:r>
              <a:rPr sz="900" b="0" i="0">
                <a:solidFill>
                  <a:srgbClr val="86868B"/>
                </a:solidFill>
                <a:latin typeface="Helvetica Neue"/>
              </a:rPr>
              <a:t>dynamic-island-and-it-was-worth-every-penny</a:t>
            </a:r>
            <a:endParaRPr sz="900"/>
          </a:p>
        </p:txBody>
      </p:sp>
      <p:sp>
        <p:nvSpPr>
          <p:cNvPr id="6" name="source entry"/>
          <p:cNvSpPr txBox="1"/>
          <p:nvPr/>
        </p:nvSpPr>
        <p:spPr>
          <a:xfrm>
            <a:off x="914400" y="2372411"/>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Alcove price, via appgefahren</a:t>
            </a:r>
            <a:endParaRPr sz="1020"/>
          </a:p>
          <a:p>
            <a:pPr algn="l">
              <a:lnSpc>
                <a:spcPts val="1479"/>
              </a:lnSpc>
              <a:spcBef>
                <a:spcPts val="0"/>
              </a:spcBef>
              <a:spcAft>
                <a:spcPts val="0"/>
              </a:spcAft>
            </a:pPr>
            <a:r>
              <a:rPr sz="1019" b="0" i="0">
                <a:solidFill>
                  <a:srgbClr val="6E6E73"/>
                </a:solidFill>
                <a:latin typeface="Helvetica Neue"/>
              </a:rPr>
              <a:t>about $13.99 one-time</a:t>
            </a:r>
            <a:endParaRPr sz="1020"/>
          </a:p>
          <a:p>
            <a:pPr algn="l">
              <a:lnSpc>
                <a:spcPts val="1260"/>
              </a:lnSpc>
              <a:spcBef>
                <a:spcPts val="0"/>
              </a:spcBef>
              <a:spcAft>
                <a:spcPts val="0"/>
              </a:spcAft>
            </a:pPr>
            <a:r>
              <a:rPr sz="900" b="0" i="0">
                <a:solidFill>
                  <a:srgbClr val="86868B"/>
                </a:solidFill>
                <a:latin typeface="Helvetica Neue"/>
              </a:rPr>
              <a:t>https://www.appgefahren.de/alcove-bringt-die-dynamic-island-auf-den-mac-394469.html</a:t>
            </a:r>
            <a:endParaRPr sz="900"/>
          </a:p>
        </p:txBody>
      </p:sp>
      <p:sp>
        <p:nvSpPr>
          <p:cNvPr id="7" name="source entry"/>
          <p:cNvSpPr txBox="1"/>
          <p:nvPr/>
        </p:nvSpPr>
        <p:spPr>
          <a:xfrm>
            <a:off x="914400" y="3054858"/>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boring.notch on GitHub</a:t>
            </a:r>
            <a:endParaRPr sz="1020"/>
          </a:p>
          <a:p>
            <a:pPr algn="l">
              <a:lnSpc>
                <a:spcPts val="1479"/>
              </a:lnSpc>
              <a:spcBef>
                <a:spcPts val="0"/>
              </a:spcBef>
              <a:spcAft>
                <a:spcPts val="0"/>
              </a:spcAft>
            </a:pPr>
            <a:r>
              <a:rPr sz="1019" b="0" i="0">
                <a:solidFill>
                  <a:srgbClr val="6E6E73"/>
                </a:solidFill>
                <a:latin typeface="Helvetica Neue"/>
              </a:rPr>
              <a:t>Free, GPL-3.0, not notarized</a:t>
            </a:r>
            <a:endParaRPr sz="1020"/>
          </a:p>
          <a:p>
            <a:pPr algn="l">
              <a:lnSpc>
                <a:spcPts val="1260"/>
              </a:lnSpc>
              <a:spcBef>
                <a:spcPts val="0"/>
              </a:spcBef>
              <a:spcAft>
                <a:spcPts val="0"/>
              </a:spcAft>
            </a:pPr>
            <a:r>
              <a:rPr sz="900" b="0" i="0">
                <a:solidFill>
                  <a:srgbClr val="86868B"/>
                </a:solidFill>
                <a:latin typeface="Helvetica Neue"/>
              </a:rPr>
              <a:t>https://github.com/TheBoredTeam/boring.notch</a:t>
            </a:r>
            <a:endParaRPr sz="900"/>
          </a:p>
        </p:txBody>
      </p:sp>
      <p:sp>
        <p:nvSpPr>
          <p:cNvPr id="8" name="source entry"/>
          <p:cNvSpPr txBox="1"/>
          <p:nvPr/>
        </p:nvSpPr>
        <p:spPr>
          <a:xfrm>
            <a:off x="914400" y="3737305"/>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Raycast Pro pricing, Raycast blog</a:t>
            </a:r>
            <a:endParaRPr sz="1020"/>
          </a:p>
          <a:p>
            <a:pPr algn="l">
              <a:lnSpc>
                <a:spcPts val="1479"/>
              </a:lnSpc>
              <a:spcBef>
                <a:spcPts val="0"/>
              </a:spcBef>
              <a:spcAft>
                <a:spcPts val="0"/>
              </a:spcAft>
            </a:pPr>
            <a:r>
              <a:rPr sz="1019" b="0" i="0">
                <a:solidFill>
                  <a:srgbClr val="6E6E73"/>
                </a:solidFill>
                <a:latin typeface="Helvetica Neue"/>
              </a:rPr>
              <a:t>$10/month or $8/month billed yearly</a:t>
            </a:r>
            <a:endParaRPr sz="1020"/>
          </a:p>
          <a:p>
            <a:pPr algn="l">
              <a:lnSpc>
                <a:spcPts val="1260"/>
              </a:lnSpc>
              <a:spcBef>
                <a:spcPts val="0"/>
              </a:spcBef>
              <a:spcAft>
                <a:spcPts val="0"/>
              </a:spcAft>
            </a:pPr>
            <a:r>
              <a:rPr sz="900" b="0" i="0">
                <a:solidFill>
                  <a:srgbClr val="86868B"/>
                </a:solidFill>
                <a:latin typeface="Helvetica Neue"/>
              </a:rPr>
              <a:t>https://www.raycast.com/blog/changing-how-raycast-ai-is-priced</a:t>
            </a:r>
            <a:endParaRPr sz="900"/>
          </a:p>
        </p:txBody>
      </p:sp>
      <p:sp>
        <p:nvSpPr>
          <p:cNvPr id="9" name="source entry"/>
          <p:cNvSpPr txBox="1"/>
          <p:nvPr/>
        </p:nvSpPr>
        <p:spPr>
          <a:xfrm>
            <a:off x="914400" y="4419752"/>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CleanShot X pricing, via toolradar</a:t>
            </a:r>
            <a:endParaRPr sz="1020"/>
          </a:p>
          <a:p>
            <a:pPr algn="l">
              <a:lnSpc>
                <a:spcPts val="1479"/>
              </a:lnSpc>
              <a:spcBef>
                <a:spcPts val="0"/>
              </a:spcBef>
              <a:spcAft>
                <a:spcPts val="0"/>
              </a:spcAft>
            </a:pPr>
            <a:r>
              <a:rPr sz="1019" b="0" i="0">
                <a:solidFill>
                  <a:srgbClr val="6E6E73"/>
                </a:solidFill>
                <a:latin typeface="Helvetica Neue"/>
              </a:rPr>
              <a:t>$29 one-time with 1 year of updates, then $19/year optional</a:t>
            </a:r>
            <a:endParaRPr sz="1020"/>
          </a:p>
          <a:p>
            <a:pPr algn="l">
              <a:lnSpc>
                <a:spcPts val="1260"/>
              </a:lnSpc>
              <a:spcBef>
                <a:spcPts val="0"/>
              </a:spcBef>
              <a:spcAft>
                <a:spcPts val="0"/>
              </a:spcAft>
            </a:pPr>
            <a:r>
              <a:rPr sz="900" b="0" i="0">
                <a:solidFill>
                  <a:srgbClr val="86868B"/>
                </a:solidFill>
                <a:latin typeface="Helvetica Neue"/>
              </a:rPr>
              <a:t>https://toolradar.com/tools/cleanshot/pricing</a:t>
            </a:r>
            <a:endParaRPr sz="900"/>
          </a:p>
        </p:txBody>
      </p:sp>
      <p:sp>
        <p:nvSpPr>
          <p:cNvPr id="10" name="source entry"/>
          <p:cNvSpPr txBox="1"/>
          <p:nvPr/>
        </p:nvSpPr>
        <p:spPr>
          <a:xfrm>
            <a:off x="914400" y="5102200"/>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Wispr Flow pricing, via getvoibe</a:t>
            </a:r>
            <a:endParaRPr sz="1020"/>
          </a:p>
          <a:p>
            <a:pPr algn="l">
              <a:lnSpc>
                <a:spcPts val="1479"/>
              </a:lnSpc>
              <a:spcBef>
                <a:spcPts val="0"/>
              </a:spcBef>
              <a:spcAft>
                <a:spcPts val="0"/>
              </a:spcAft>
            </a:pPr>
            <a:r>
              <a:rPr sz="1019" b="0" i="0">
                <a:solidFill>
                  <a:srgbClr val="6E6E73"/>
                </a:solidFill>
                <a:latin typeface="Helvetica Neue"/>
              </a:rPr>
              <a:t>Pro $15/month or $144/year</a:t>
            </a:r>
            <a:endParaRPr sz="1020"/>
          </a:p>
          <a:p>
            <a:pPr algn="l">
              <a:lnSpc>
                <a:spcPts val="1260"/>
              </a:lnSpc>
              <a:spcBef>
                <a:spcPts val="0"/>
              </a:spcBef>
              <a:spcAft>
                <a:spcPts val="0"/>
              </a:spcAft>
            </a:pPr>
            <a:r>
              <a:rPr sz="900" b="0" i="0">
                <a:solidFill>
                  <a:srgbClr val="86868B"/>
                </a:solidFill>
                <a:latin typeface="Helvetica Neue"/>
              </a:rPr>
              <a:t>https://www.getvoibe.com/resources/wispr-flow-pricing/</a:t>
            </a:r>
            <a:endParaRPr sz="900"/>
          </a:p>
        </p:txBody>
      </p:sp>
      <p:sp>
        <p:nvSpPr>
          <p:cNvPr id="11" name="source entry"/>
          <p:cNvSpPr txBox="1"/>
          <p:nvPr/>
        </p:nvSpPr>
        <p:spPr>
          <a:xfrm>
            <a:off x="6217920" y="1529944"/>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Granola pricing, Granola blog</a:t>
            </a:r>
            <a:endParaRPr sz="1020"/>
          </a:p>
          <a:p>
            <a:pPr algn="l">
              <a:lnSpc>
                <a:spcPts val="1479"/>
              </a:lnSpc>
              <a:spcBef>
                <a:spcPts val="0"/>
              </a:spcBef>
              <a:spcAft>
                <a:spcPts val="0"/>
              </a:spcAft>
            </a:pPr>
            <a:r>
              <a:rPr sz="1019" b="0" i="0">
                <a:solidFill>
                  <a:srgbClr val="6E6E73"/>
                </a:solidFill>
                <a:latin typeface="Helvetica Neue"/>
              </a:rPr>
              <a:t>Business $14/user/month</a:t>
            </a:r>
            <a:endParaRPr sz="1020"/>
          </a:p>
          <a:p>
            <a:pPr algn="l">
              <a:lnSpc>
                <a:spcPts val="1260"/>
              </a:lnSpc>
              <a:spcBef>
                <a:spcPts val="0"/>
              </a:spcBef>
              <a:spcAft>
                <a:spcPts val="0"/>
              </a:spcAft>
            </a:pPr>
            <a:r>
              <a:rPr sz="900" b="0" i="0">
                <a:solidFill>
                  <a:srgbClr val="86868B"/>
                </a:solidFill>
                <a:latin typeface="Helvetica Neue"/>
              </a:rPr>
              <a:t>https://granola.ai/blog/granola-pricing-plans-features-roi</a:t>
            </a:r>
            <a:endParaRPr sz="900"/>
          </a:p>
        </p:txBody>
      </p:sp>
      <p:sp>
        <p:nvSpPr>
          <p:cNvPr id="12" name="source entry"/>
          <p:cNvSpPr txBox="1"/>
          <p:nvPr/>
        </p:nvSpPr>
        <p:spPr>
          <a:xfrm>
            <a:off x="6217920" y="2212391"/>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Paste on the App Store</a:t>
            </a:r>
            <a:endParaRPr sz="1020"/>
          </a:p>
          <a:p>
            <a:pPr algn="l">
              <a:lnSpc>
                <a:spcPts val="1479"/>
              </a:lnSpc>
              <a:spcBef>
                <a:spcPts val="0"/>
              </a:spcBef>
              <a:spcAft>
                <a:spcPts val="0"/>
              </a:spcAft>
            </a:pPr>
            <a:r>
              <a:rPr sz="1019" b="0" i="0">
                <a:solidFill>
                  <a:srgbClr val="6E6E73"/>
                </a:solidFill>
                <a:latin typeface="Helvetica Neue"/>
              </a:rPr>
              <a:t>$3.99/month, $29.99/year or $89.99 lifetime</a:t>
            </a:r>
            <a:endParaRPr sz="1020"/>
          </a:p>
          <a:p>
            <a:pPr algn="l">
              <a:lnSpc>
                <a:spcPts val="1260"/>
              </a:lnSpc>
              <a:spcBef>
                <a:spcPts val="0"/>
              </a:spcBef>
              <a:spcAft>
                <a:spcPts val="0"/>
              </a:spcAft>
            </a:pPr>
            <a:r>
              <a:rPr sz="900" b="0" i="0">
                <a:solidFill>
                  <a:srgbClr val="86868B"/>
                </a:solidFill>
                <a:latin typeface="Helvetica Neue"/>
              </a:rPr>
              <a:t>https://apps.apple.com/app/id967805235</a:t>
            </a:r>
            <a:endParaRPr sz="900"/>
          </a:p>
        </p:txBody>
      </p:sp>
      <p:sp>
        <p:nvSpPr>
          <p:cNvPr id="13" name="source entry"/>
          <p:cNvSpPr txBox="1"/>
          <p:nvPr/>
        </p:nvSpPr>
        <p:spPr>
          <a:xfrm>
            <a:off x="6217920" y="2894838"/>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Lemon Squeezy fees, via Dodo Payments review</a:t>
            </a:r>
            <a:endParaRPr sz="1020"/>
          </a:p>
          <a:p>
            <a:pPr algn="l">
              <a:lnSpc>
                <a:spcPts val="1479"/>
              </a:lnSpc>
              <a:spcBef>
                <a:spcPts val="0"/>
              </a:spcBef>
              <a:spcAft>
                <a:spcPts val="0"/>
              </a:spcAft>
            </a:pPr>
            <a:r>
              <a:rPr sz="1019" b="0" i="0">
                <a:solidFill>
                  <a:srgbClr val="6E6E73"/>
                </a:solidFill>
                <a:latin typeface="Helvetica Neue"/>
              </a:rPr>
              <a:t>5% + 50c; about +1.5% non-US orders, +0.5% subscriptions</a:t>
            </a:r>
            <a:endParaRPr sz="1020"/>
          </a:p>
          <a:p>
            <a:pPr algn="l">
              <a:lnSpc>
                <a:spcPts val="1260"/>
              </a:lnSpc>
              <a:spcBef>
                <a:spcPts val="0"/>
              </a:spcBef>
              <a:spcAft>
                <a:spcPts val="0"/>
              </a:spcAft>
            </a:pPr>
            <a:r>
              <a:rPr sz="900" b="0" i="0">
                <a:solidFill>
                  <a:srgbClr val="86868B"/>
                </a:solidFill>
                <a:latin typeface="Helvetica Neue"/>
              </a:rPr>
              <a:t>https://dodopayments.com/blogs/lemonsqueezy-review</a:t>
            </a:r>
            <a:endParaRPr sz="900"/>
          </a:p>
        </p:txBody>
      </p:sp>
      <p:sp>
        <p:nvSpPr>
          <p:cNvPr id="14" name="source entry"/>
          <p:cNvSpPr txBox="1"/>
          <p:nvPr/>
        </p:nvSpPr>
        <p:spPr>
          <a:xfrm>
            <a:off x="6217920" y="3577285"/>
            <a:ext cx="5059680" cy="53614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sparkv.si (company site), read 22 Oct 2026</a:t>
            </a:r>
            <a:endParaRPr sz="1020"/>
          </a:p>
          <a:p>
            <a:pPr algn="l">
              <a:lnSpc>
                <a:spcPts val="1479"/>
              </a:lnSpc>
              <a:spcBef>
                <a:spcPts val="0"/>
              </a:spcBef>
              <a:spcAft>
                <a:spcPts val="0"/>
              </a:spcAft>
            </a:pPr>
            <a:r>
              <a:rPr sz="1019" b="0" i="0">
                <a:solidFill>
                  <a:srgbClr val="6E6E73"/>
                </a:solidFill>
                <a:latin typeface="Helvetica Neue"/>
              </a:rPr>
              <a:t>Software studio in Telangana, India; colour tokens</a:t>
            </a:r>
            <a:endParaRPr sz="1020"/>
          </a:p>
          <a:p>
            <a:pPr algn="l">
              <a:lnSpc>
                <a:spcPts val="1260"/>
              </a:lnSpc>
              <a:spcBef>
                <a:spcPts val="0"/>
              </a:spcBef>
              <a:spcAft>
                <a:spcPts val="0"/>
              </a:spcAft>
            </a:pPr>
            <a:r>
              <a:rPr sz="900" b="0" i="0">
                <a:solidFill>
                  <a:srgbClr val="86868B"/>
                </a:solidFill>
                <a:latin typeface="Helvetica Neue"/>
              </a:rPr>
              <a:t>https://www.sparkv.si</a:t>
            </a:r>
            <a:endParaRPr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SparkV: seed investor deck</dc:title>
  <dc:subject/>
  <dc:creator>SparkV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